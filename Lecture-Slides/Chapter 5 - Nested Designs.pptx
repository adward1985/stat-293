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8" r:id="rId2"/>
    <p:sldId id="263" r:id="rId3"/>
    <p:sldId id="256" r:id="rId4"/>
    <p:sldId id="268" r:id="rId5"/>
    <p:sldId id="269" r:id="rId6"/>
    <p:sldId id="270" r:id="rId7"/>
    <p:sldId id="271" r:id="rId8"/>
    <p:sldId id="264" r:id="rId9"/>
    <p:sldId id="305" r:id="rId10"/>
    <p:sldId id="352" r:id="rId11"/>
    <p:sldId id="272" r:id="rId12"/>
    <p:sldId id="303" r:id="rId13"/>
    <p:sldId id="354" r:id="rId14"/>
    <p:sldId id="283" r:id="rId15"/>
    <p:sldId id="282" r:id="rId16"/>
    <p:sldId id="355" r:id="rId17"/>
    <p:sldId id="284" r:id="rId18"/>
    <p:sldId id="356" r:id="rId19"/>
    <p:sldId id="285" r:id="rId20"/>
    <p:sldId id="286" r:id="rId21"/>
    <p:sldId id="265" r:id="rId22"/>
    <p:sldId id="287" r:id="rId23"/>
    <p:sldId id="289" r:id="rId24"/>
    <p:sldId id="288" r:id="rId25"/>
    <p:sldId id="290" r:id="rId26"/>
    <p:sldId id="291" r:id="rId27"/>
    <p:sldId id="293" r:id="rId28"/>
    <p:sldId id="292" r:id="rId29"/>
    <p:sldId id="266" r:id="rId30"/>
    <p:sldId id="294" r:id="rId31"/>
    <p:sldId id="358" r:id="rId32"/>
    <p:sldId id="357" r:id="rId33"/>
    <p:sldId id="304" r:id="rId34"/>
    <p:sldId id="359" r:id="rId35"/>
    <p:sldId id="295" r:id="rId36"/>
    <p:sldId id="296" r:id="rId37"/>
    <p:sldId id="267" r:id="rId38"/>
    <p:sldId id="297" r:id="rId39"/>
    <p:sldId id="360" r:id="rId40"/>
    <p:sldId id="298" r:id="rId41"/>
    <p:sldId id="299" r:id="rId42"/>
    <p:sldId id="300" r:id="rId43"/>
    <p:sldId id="302" r:id="rId44"/>
    <p:sldId id="301" r:id="rId4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472C4"/>
    <a:srgbClr val="00DA63"/>
    <a:srgbClr val="FF151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0" d="100"/>
          <a:sy n="70" d="100"/>
        </p:scale>
        <p:origin x="738"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0FD565-5A39-F955-037E-4A6BFF708DD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NZ"/>
          </a:p>
        </p:txBody>
      </p:sp>
      <p:sp>
        <p:nvSpPr>
          <p:cNvPr id="3" name="Subtitle 2">
            <a:extLst>
              <a:ext uri="{FF2B5EF4-FFF2-40B4-BE49-F238E27FC236}">
                <a16:creationId xmlns:a16="http://schemas.microsoft.com/office/drawing/2014/main" id="{1AD80BAC-3084-4644-E18F-338BE1DD8BB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NZ"/>
          </a:p>
        </p:txBody>
      </p:sp>
      <p:sp>
        <p:nvSpPr>
          <p:cNvPr id="4" name="Date Placeholder 3">
            <a:extLst>
              <a:ext uri="{FF2B5EF4-FFF2-40B4-BE49-F238E27FC236}">
                <a16:creationId xmlns:a16="http://schemas.microsoft.com/office/drawing/2014/main" id="{67D5AAD7-D1DA-01BD-0281-F02258736500}"/>
              </a:ext>
            </a:extLst>
          </p:cNvPr>
          <p:cNvSpPr>
            <a:spLocks noGrp="1"/>
          </p:cNvSpPr>
          <p:nvPr>
            <p:ph type="dt" sz="half" idx="10"/>
          </p:nvPr>
        </p:nvSpPr>
        <p:spPr/>
        <p:txBody>
          <a:bodyPr/>
          <a:lstStyle/>
          <a:p>
            <a:fld id="{F985F34D-55C0-4DA9-BBF6-9D5E25AAFE7E}" type="datetimeFigureOut">
              <a:rPr lang="en-NZ" smtClean="0"/>
              <a:t>10/08/2022</a:t>
            </a:fld>
            <a:endParaRPr lang="en-NZ"/>
          </a:p>
        </p:txBody>
      </p:sp>
      <p:sp>
        <p:nvSpPr>
          <p:cNvPr id="5" name="Footer Placeholder 4">
            <a:extLst>
              <a:ext uri="{FF2B5EF4-FFF2-40B4-BE49-F238E27FC236}">
                <a16:creationId xmlns:a16="http://schemas.microsoft.com/office/drawing/2014/main" id="{DB5A4F38-261E-B476-B4C0-C18E23CE9984}"/>
              </a:ext>
            </a:extLst>
          </p:cNvPr>
          <p:cNvSpPr>
            <a:spLocks noGrp="1"/>
          </p:cNvSpPr>
          <p:nvPr>
            <p:ph type="ftr" sz="quarter" idx="11"/>
          </p:nvPr>
        </p:nvSpPr>
        <p:spPr/>
        <p:txBody>
          <a:bodyPr/>
          <a:lstStyle/>
          <a:p>
            <a:endParaRPr lang="en-NZ"/>
          </a:p>
        </p:txBody>
      </p:sp>
      <p:sp>
        <p:nvSpPr>
          <p:cNvPr id="6" name="Slide Number Placeholder 5">
            <a:extLst>
              <a:ext uri="{FF2B5EF4-FFF2-40B4-BE49-F238E27FC236}">
                <a16:creationId xmlns:a16="http://schemas.microsoft.com/office/drawing/2014/main" id="{34ADADD2-12A0-55EA-7682-C60C15DD1A82}"/>
              </a:ext>
            </a:extLst>
          </p:cNvPr>
          <p:cNvSpPr>
            <a:spLocks noGrp="1"/>
          </p:cNvSpPr>
          <p:nvPr>
            <p:ph type="sldNum" sz="quarter" idx="12"/>
          </p:nvPr>
        </p:nvSpPr>
        <p:spPr/>
        <p:txBody>
          <a:bodyPr/>
          <a:lstStyle/>
          <a:p>
            <a:fld id="{C23BCCF9-2B22-4BA7-B175-E3882E5952EE}" type="slidenum">
              <a:rPr lang="en-NZ" smtClean="0"/>
              <a:t>‹#›</a:t>
            </a:fld>
            <a:endParaRPr lang="en-NZ"/>
          </a:p>
        </p:txBody>
      </p:sp>
    </p:spTree>
    <p:extLst>
      <p:ext uri="{BB962C8B-B14F-4D97-AF65-F5344CB8AC3E}">
        <p14:creationId xmlns:p14="http://schemas.microsoft.com/office/powerpoint/2010/main" val="409831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9B6B4D-FDD9-AB9E-1746-43CC4CB18F59}"/>
              </a:ext>
            </a:extLst>
          </p:cNvPr>
          <p:cNvSpPr>
            <a:spLocks noGrp="1"/>
          </p:cNvSpPr>
          <p:nvPr>
            <p:ph type="title"/>
          </p:nvPr>
        </p:nvSpPr>
        <p:spPr/>
        <p:txBody>
          <a:bodyPr/>
          <a:lstStyle/>
          <a:p>
            <a:r>
              <a:rPr lang="en-US"/>
              <a:t>Click to edit Master title style</a:t>
            </a:r>
            <a:endParaRPr lang="en-NZ"/>
          </a:p>
        </p:txBody>
      </p:sp>
      <p:sp>
        <p:nvSpPr>
          <p:cNvPr id="3" name="Content Placeholder 2">
            <a:extLst>
              <a:ext uri="{FF2B5EF4-FFF2-40B4-BE49-F238E27FC236}">
                <a16:creationId xmlns:a16="http://schemas.microsoft.com/office/drawing/2014/main" id="{D2C5DEED-0285-6105-CDF5-58EFC8CA43C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4" name="Date Placeholder 3">
            <a:extLst>
              <a:ext uri="{FF2B5EF4-FFF2-40B4-BE49-F238E27FC236}">
                <a16:creationId xmlns:a16="http://schemas.microsoft.com/office/drawing/2014/main" id="{4288D912-4A8C-EFC2-BF70-3DFB4B92EE08}"/>
              </a:ext>
            </a:extLst>
          </p:cNvPr>
          <p:cNvSpPr>
            <a:spLocks noGrp="1"/>
          </p:cNvSpPr>
          <p:nvPr>
            <p:ph type="dt" sz="half" idx="10"/>
          </p:nvPr>
        </p:nvSpPr>
        <p:spPr/>
        <p:txBody>
          <a:bodyPr/>
          <a:lstStyle/>
          <a:p>
            <a:fld id="{F985F34D-55C0-4DA9-BBF6-9D5E25AAFE7E}" type="datetimeFigureOut">
              <a:rPr lang="en-NZ" smtClean="0"/>
              <a:t>10/08/2022</a:t>
            </a:fld>
            <a:endParaRPr lang="en-NZ"/>
          </a:p>
        </p:txBody>
      </p:sp>
      <p:sp>
        <p:nvSpPr>
          <p:cNvPr id="5" name="Footer Placeholder 4">
            <a:extLst>
              <a:ext uri="{FF2B5EF4-FFF2-40B4-BE49-F238E27FC236}">
                <a16:creationId xmlns:a16="http://schemas.microsoft.com/office/drawing/2014/main" id="{42925E76-28F1-24B5-696E-18477A4C2A83}"/>
              </a:ext>
            </a:extLst>
          </p:cNvPr>
          <p:cNvSpPr>
            <a:spLocks noGrp="1"/>
          </p:cNvSpPr>
          <p:nvPr>
            <p:ph type="ftr" sz="quarter" idx="11"/>
          </p:nvPr>
        </p:nvSpPr>
        <p:spPr/>
        <p:txBody>
          <a:bodyPr/>
          <a:lstStyle/>
          <a:p>
            <a:endParaRPr lang="en-NZ"/>
          </a:p>
        </p:txBody>
      </p:sp>
      <p:sp>
        <p:nvSpPr>
          <p:cNvPr id="6" name="Slide Number Placeholder 5">
            <a:extLst>
              <a:ext uri="{FF2B5EF4-FFF2-40B4-BE49-F238E27FC236}">
                <a16:creationId xmlns:a16="http://schemas.microsoft.com/office/drawing/2014/main" id="{CDC26707-3296-6965-A9AA-8A59F600F03A}"/>
              </a:ext>
            </a:extLst>
          </p:cNvPr>
          <p:cNvSpPr>
            <a:spLocks noGrp="1"/>
          </p:cNvSpPr>
          <p:nvPr>
            <p:ph type="sldNum" sz="quarter" idx="12"/>
          </p:nvPr>
        </p:nvSpPr>
        <p:spPr/>
        <p:txBody>
          <a:bodyPr/>
          <a:lstStyle/>
          <a:p>
            <a:fld id="{C23BCCF9-2B22-4BA7-B175-E3882E5952EE}" type="slidenum">
              <a:rPr lang="en-NZ" smtClean="0"/>
              <a:t>‹#›</a:t>
            </a:fld>
            <a:endParaRPr lang="en-NZ"/>
          </a:p>
        </p:txBody>
      </p:sp>
    </p:spTree>
    <p:extLst>
      <p:ext uri="{BB962C8B-B14F-4D97-AF65-F5344CB8AC3E}">
        <p14:creationId xmlns:p14="http://schemas.microsoft.com/office/powerpoint/2010/main" val="19992397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E76B80-B987-D275-5E58-D105E463833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NZ"/>
          </a:p>
        </p:txBody>
      </p:sp>
      <p:sp>
        <p:nvSpPr>
          <p:cNvPr id="3" name="Text Placeholder 2">
            <a:extLst>
              <a:ext uri="{FF2B5EF4-FFF2-40B4-BE49-F238E27FC236}">
                <a16:creationId xmlns:a16="http://schemas.microsoft.com/office/drawing/2014/main" id="{1075FAAB-E6F6-7B4A-0401-645DC83FBAA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243312F-A853-A775-27C9-3FA49C10E5DB}"/>
              </a:ext>
            </a:extLst>
          </p:cNvPr>
          <p:cNvSpPr>
            <a:spLocks noGrp="1"/>
          </p:cNvSpPr>
          <p:nvPr>
            <p:ph type="dt" sz="half" idx="10"/>
          </p:nvPr>
        </p:nvSpPr>
        <p:spPr/>
        <p:txBody>
          <a:bodyPr/>
          <a:lstStyle/>
          <a:p>
            <a:fld id="{F985F34D-55C0-4DA9-BBF6-9D5E25AAFE7E}" type="datetimeFigureOut">
              <a:rPr lang="en-NZ" smtClean="0"/>
              <a:t>10/08/2022</a:t>
            </a:fld>
            <a:endParaRPr lang="en-NZ"/>
          </a:p>
        </p:txBody>
      </p:sp>
      <p:sp>
        <p:nvSpPr>
          <p:cNvPr id="5" name="Footer Placeholder 4">
            <a:extLst>
              <a:ext uri="{FF2B5EF4-FFF2-40B4-BE49-F238E27FC236}">
                <a16:creationId xmlns:a16="http://schemas.microsoft.com/office/drawing/2014/main" id="{E484A41C-9CB8-13D9-3292-70067F3EA0BE}"/>
              </a:ext>
            </a:extLst>
          </p:cNvPr>
          <p:cNvSpPr>
            <a:spLocks noGrp="1"/>
          </p:cNvSpPr>
          <p:nvPr>
            <p:ph type="ftr" sz="quarter" idx="11"/>
          </p:nvPr>
        </p:nvSpPr>
        <p:spPr/>
        <p:txBody>
          <a:bodyPr/>
          <a:lstStyle/>
          <a:p>
            <a:endParaRPr lang="en-NZ"/>
          </a:p>
        </p:txBody>
      </p:sp>
      <p:sp>
        <p:nvSpPr>
          <p:cNvPr id="6" name="Slide Number Placeholder 5">
            <a:extLst>
              <a:ext uri="{FF2B5EF4-FFF2-40B4-BE49-F238E27FC236}">
                <a16:creationId xmlns:a16="http://schemas.microsoft.com/office/drawing/2014/main" id="{60827B3A-60F0-F09F-19E7-B4ABC212C29A}"/>
              </a:ext>
            </a:extLst>
          </p:cNvPr>
          <p:cNvSpPr>
            <a:spLocks noGrp="1"/>
          </p:cNvSpPr>
          <p:nvPr>
            <p:ph type="sldNum" sz="quarter" idx="12"/>
          </p:nvPr>
        </p:nvSpPr>
        <p:spPr/>
        <p:txBody>
          <a:bodyPr/>
          <a:lstStyle/>
          <a:p>
            <a:fld id="{C23BCCF9-2B22-4BA7-B175-E3882E5952EE}" type="slidenum">
              <a:rPr lang="en-NZ" smtClean="0"/>
              <a:t>‹#›</a:t>
            </a:fld>
            <a:endParaRPr lang="en-NZ"/>
          </a:p>
        </p:txBody>
      </p:sp>
    </p:spTree>
    <p:extLst>
      <p:ext uri="{BB962C8B-B14F-4D97-AF65-F5344CB8AC3E}">
        <p14:creationId xmlns:p14="http://schemas.microsoft.com/office/powerpoint/2010/main" val="27991390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DED0B5-A5E1-8479-235E-041A9C7A215F}"/>
              </a:ext>
            </a:extLst>
          </p:cNvPr>
          <p:cNvSpPr>
            <a:spLocks noGrp="1"/>
          </p:cNvSpPr>
          <p:nvPr>
            <p:ph type="title"/>
          </p:nvPr>
        </p:nvSpPr>
        <p:spPr/>
        <p:txBody>
          <a:bodyPr/>
          <a:lstStyle/>
          <a:p>
            <a:r>
              <a:rPr lang="en-US"/>
              <a:t>Click to edit Master title style</a:t>
            </a:r>
            <a:endParaRPr lang="en-NZ"/>
          </a:p>
        </p:txBody>
      </p:sp>
      <p:sp>
        <p:nvSpPr>
          <p:cNvPr id="3" name="Content Placeholder 2">
            <a:extLst>
              <a:ext uri="{FF2B5EF4-FFF2-40B4-BE49-F238E27FC236}">
                <a16:creationId xmlns:a16="http://schemas.microsoft.com/office/drawing/2014/main" id="{3FB50ECF-CA26-A474-EC97-4E2EF814143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4" name="Content Placeholder 3">
            <a:extLst>
              <a:ext uri="{FF2B5EF4-FFF2-40B4-BE49-F238E27FC236}">
                <a16:creationId xmlns:a16="http://schemas.microsoft.com/office/drawing/2014/main" id="{7BE2A0B3-EEE1-27F8-3BEA-DD96A4DFF0F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5" name="Date Placeholder 4">
            <a:extLst>
              <a:ext uri="{FF2B5EF4-FFF2-40B4-BE49-F238E27FC236}">
                <a16:creationId xmlns:a16="http://schemas.microsoft.com/office/drawing/2014/main" id="{67930DF9-A222-687E-7600-BF6EBD4747F8}"/>
              </a:ext>
            </a:extLst>
          </p:cNvPr>
          <p:cNvSpPr>
            <a:spLocks noGrp="1"/>
          </p:cNvSpPr>
          <p:nvPr>
            <p:ph type="dt" sz="half" idx="10"/>
          </p:nvPr>
        </p:nvSpPr>
        <p:spPr/>
        <p:txBody>
          <a:bodyPr/>
          <a:lstStyle/>
          <a:p>
            <a:fld id="{F985F34D-55C0-4DA9-BBF6-9D5E25AAFE7E}" type="datetimeFigureOut">
              <a:rPr lang="en-NZ" smtClean="0"/>
              <a:t>10/08/2022</a:t>
            </a:fld>
            <a:endParaRPr lang="en-NZ"/>
          </a:p>
        </p:txBody>
      </p:sp>
      <p:sp>
        <p:nvSpPr>
          <p:cNvPr id="6" name="Footer Placeholder 5">
            <a:extLst>
              <a:ext uri="{FF2B5EF4-FFF2-40B4-BE49-F238E27FC236}">
                <a16:creationId xmlns:a16="http://schemas.microsoft.com/office/drawing/2014/main" id="{13AB6D50-02D0-2F0F-A88E-2D2D594B6221}"/>
              </a:ext>
            </a:extLst>
          </p:cNvPr>
          <p:cNvSpPr>
            <a:spLocks noGrp="1"/>
          </p:cNvSpPr>
          <p:nvPr>
            <p:ph type="ftr" sz="quarter" idx="11"/>
          </p:nvPr>
        </p:nvSpPr>
        <p:spPr/>
        <p:txBody>
          <a:bodyPr/>
          <a:lstStyle/>
          <a:p>
            <a:endParaRPr lang="en-NZ"/>
          </a:p>
        </p:txBody>
      </p:sp>
      <p:sp>
        <p:nvSpPr>
          <p:cNvPr id="7" name="Slide Number Placeholder 6">
            <a:extLst>
              <a:ext uri="{FF2B5EF4-FFF2-40B4-BE49-F238E27FC236}">
                <a16:creationId xmlns:a16="http://schemas.microsoft.com/office/drawing/2014/main" id="{7E15B152-D2DC-C799-A09B-411281A3095C}"/>
              </a:ext>
            </a:extLst>
          </p:cNvPr>
          <p:cNvSpPr>
            <a:spLocks noGrp="1"/>
          </p:cNvSpPr>
          <p:nvPr>
            <p:ph type="sldNum" sz="quarter" idx="12"/>
          </p:nvPr>
        </p:nvSpPr>
        <p:spPr/>
        <p:txBody>
          <a:bodyPr/>
          <a:lstStyle/>
          <a:p>
            <a:fld id="{C23BCCF9-2B22-4BA7-B175-E3882E5952EE}" type="slidenum">
              <a:rPr lang="en-NZ" smtClean="0"/>
              <a:t>‹#›</a:t>
            </a:fld>
            <a:endParaRPr lang="en-NZ"/>
          </a:p>
        </p:txBody>
      </p:sp>
    </p:spTree>
    <p:extLst>
      <p:ext uri="{BB962C8B-B14F-4D97-AF65-F5344CB8AC3E}">
        <p14:creationId xmlns:p14="http://schemas.microsoft.com/office/powerpoint/2010/main" val="35185540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F74E6A-23B6-A908-EB68-34CFAD9AC9F4}"/>
              </a:ext>
            </a:extLst>
          </p:cNvPr>
          <p:cNvSpPr>
            <a:spLocks noGrp="1"/>
          </p:cNvSpPr>
          <p:nvPr>
            <p:ph type="title"/>
          </p:nvPr>
        </p:nvSpPr>
        <p:spPr>
          <a:xfrm>
            <a:off x="839788" y="365125"/>
            <a:ext cx="10515600" cy="1325563"/>
          </a:xfrm>
        </p:spPr>
        <p:txBody>
          <a:bodyPr/>
          <a:lstStyle/>
          <a:p>
            <a:r>
              <a:rPr lang="en-US"/>
              <a:t>Click to edit Master title style</a:t>
            </a:r>
            <a:endParaRPr lang="en-NZ"/>
          </a:p>
        </p:txBody>
      </p:sp>
      <p:sp>
        <p:nvSpPr>
          <p:cNvPr id="3" name="Text Placeholder 2">
            <a:extLst>
              <a:ext uri="{FF2B5EF4-FFF2-40B4-BE49-F238E27FC236}">
                <a16:creationId xmlns:a16="http://schemas.microsoft.com/office/drawing/2014/main" id="{5F052559-787F-B70D-CFCD-E29BC950B84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9868265-4835-B152-6661-AEEB0284DDA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5" name="Text Placeholder 4">
            <a:extLst>
              <a:ext uri="{FF2B5EF4-FFF2-40B4-BE49-F238E27FC236}">
                <a16:creationId xmlns:a16="http://schemas.microsoft.com/office/drawing/2014/main" id="{74B6CD0B-FF21-2163-CADD-02CE979B16B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AB0D2D3-8C9F-98FC-4A58-6DB6AD5F97E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7" name="Date Placeholder 6">
            <a:extLst>
              <a:ext uri="{FF2B5EF4-FFF2-40B4-BE49-F238E27FC236}">
                <a16:creationId xmlns:a16="http://schemas.microsoft.com/office/drawing/2014/main" id="{89958149-62C9-C725-EF1C-4857954D08B2}"/>
              </a:ext>
            </a:extLst>
          </p:cNvPr>
          <p:cNvSpPr>
            <a:spLocks noGrp="1"/>
          </p:cNvSpPr>
          <p:nvPr>
            <p:ph type="dt" sz="half" idx="10"/>
          </p:nvPr>
        </p:nvSpPr>
        <p:spPr/>
        <p:txBody>
          <a:bodyPr/>
          <a:lstStyle/>
          <a:p>
            <a:fld id="{F985F34D-55C0-4DA9-BBF6-9D5E25AAFE7E}" type="datetimeFigureOut">
              <a:rPr lang="en-NZ" smtClean="0"/>
              <a:t>10/08/2022</a:t>
            </a:fld>
            <a:endParaRPr lang="en-NZ"/>
          </a:p>
        </p:txBody>
      </p:sp>
      <p:sp>
        <p:nvSpPr>
          <p:cNvPr id="8" name="Footer Placeholder 7">
            <a:extLst>
              <a:ext uri="{FF2B5EF4-FFF2-40B4-BE49-F238E27FC236}">
                <a16:creationId xmlns:a16="http://schemas.microsoft.com/office/drawing/2014/main" id="{D97F0185-FB2D-4D34-1BF1-6D32055C84DB}"/>
              </a:ext>
            </a:extLst>
          </p:cNvPr>
          <p:cNvSpPr>
            <a:spLocks noGrp="1"/>
          </p:cNvSpPr>
          <p:nvPr>
            <p:ph type="ftr" sz="quarter" idx="11"/>
          </p:nvPr>
        </p:nvSpPr>
        <p:spPr/>
        <p:txBody>
          <a:bodyPr/>
          <a:lstStyle/>
          <a:p>
            <a:endParaRPr lang="en-NZ"/>
          </a:p>
        </p:txBody>
      </p:sp>
      <p:sp>
        <p:nvSpPr>
          <p:cNvPr id="9" name="Slide Number Placeholder 8">
            <a:extLst>
              <a:ext uri="{FF2B5EF4-FFF2-40B4-BE49-F238E27FC236}">
                <a16:creationId xmlns:a16="http://schemas.microsoft.com/office/drawing/2014/main" id="{80AAFF6F-C34C-91D6-0332-A456DC4C0433}"/>
              </a:ext>
            </a:extLst>
          </p:cNvPr>
          <p:cNvSpPr>
            <a:spLocks noGrp="1"/>
          </p:cNvSpPr>
          <p:nvPr>
            <p:ph type="sldNum" sz="quarter" idx="12"/>
          </p:nvPr>
        </p:nvSpPr>
        <p:spPr/>
        <p:txBody>
          <a:bodyPr/>
          <a:lstStyle/>
          <a:p>
            <a:fld id="{C23BCCF9-2B22-4BA7-B175-E3882E5952EE}" type="slidenum">
              <a:rPr lang="en-NZ" smtClean="0"/>
              <a:t>‹#›</a:t>
            </a:fld>
            <a:endParaRPr lang="en-NZ"/>
          </a:p>
        </p:txBody>
      </p:sp>
    </p:spTree>
    <p:extLst>
      <p:ext uri="{BB962C8B-B14F-4D97-AF65-F5344CB8AC3E}">
        <p14:creationId xmlns:p14="http://schemas.microsoft.com/office/powerpoint/2010/main" val="26077683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F7717A-619F-3A63-22D9-256331BEB2FA}"/>
              </a:ext>
            </a:extLst>
          </p:cNvPr>
          <p:cNvSpPr>
            <a:spLocks noGrp="1"/>
          </p:cNvSpPr>
          <p:nvPr>
            <p:ph type="title"/>
          </p:nvPr>
        </p:nvSpPr>
        <p:spPr/>
        <p:txBody>
          <a:bodyPr/>
          <a:lstStyle/>
          <a:p>
            <a:r>
              <a:rPr lang="en-US"/>
              <a:t>Click to edit Master title style</a:t>
            </a:r>
            <a:endParaRPr lang="en-NZ"/>
          </a:p>
        </p:txBody>
      </p:sp>
      <p:sp>
        <p:nvSpPr>
          <p:cNvPr id="3" name="Date Placeholder 2">
            <a:extLst>
              <a:ext uri="{FF2B5EF4-FFF2-40B4-BE49-F238E27FC236}">
                <a16:creationId xmlns:a16="http://schemas.microsoft.com/office/drawing/2014/main" id="{ED63F4AA-4BE3-1192-EBC5-38CAD24D039E}"/>
              </a:ext>
            </a:extLst>
          </p:cNvPr>
          <p:cNvSpPr>
            <a:spLocks noGrp="1"/>
          </p:cNvSpPr>
          <p:nvPr>
            <p:ph type="dt" sz="half" idx="10"/>
          </p:nvPr>
        </p:nvSpPr>
        <p:spPr/>
        <p:txBody>
          <a:bodyPr/>
          <a:lstStyle/>
          <a:p>
            <a:fld id="{F985F34D-55C0-4DA9-BBF6-9D5E25AAFE7E}" type="datetimeFigureOut">
              <a:rPr lang="en-NZ" smtClean="0"/>
              <a:t>10/08/2022</a:t>
            </a:fld>
            <a:endParaRPr lang="en-NZ"/>
          </a:p>
        </p:txBody>
      </p:sp>
      <p:sp>
        <p:nvSpPr>
          <p:cNvPr id="4" name="Footer Placeholder 3">
            <a:extLst>
              <a:ext uri="{FF2B5EF4-FFF2-40B4-BE49-F238E27FC236}">
                <a16:creationId xmlns:a16="http://schemas.microsoft.com/office/drawing/2014/main" id="{BE02896A-8027-3615-4649-1577178B8E08}"/>
              </a:ext>
            </a:extLst>
          </p:cNvPr>
          <p:cNvSpPr>
            <a:spLocks noGrp="1"/>
          </p:cNvSpPr>
          <p:nvPr>
            <p:ph type="ftr" sz="quarter" idx="11"/>
          </p:nvPr>
        </p:nvSpPr>
        <p:spPr/>
        <p:txBody>
          <a:bodyPr/>
          <a:lstStyle/>
          <a:p>
            <a:endParaRPr lang="en-NZ"/>
          </a:p>
        </p:txBody>
      </p:sp>
      <p:sp>
        <p:nvSpPr>
          <p:cNvPr id="5" name="Slide Number Placeholder 4">
            <a:extLst>
              <a:ext uri="{FF2B5EF4-FFF2-40B4-BE49-F238E27FC236}">
                <a16:creationId xmlns:a16="http://schemas.microsoft.com/office/drawing/2014/main" id="{A9D76F69-A7EC-445E-35B7-CC2A9E2DF901}"/>
              </a:ext>
            </a:extLst>
          </p:cNvPr>
          <p:cNvSpPr>
            <a:spLocks noGrp="1"/>
          </p:cNvSpPr>
          <p:nvPr>
            <p:ph type="sldNum" sz="quarter" idx="12"/>
          </p:nvPr>
        </p:nvSpPr>
        <p:spPr/>
        <p:txBody>
          <a:bodyPr/>
          <a:lstStyle/>
          <a:p>
            <a:fld id="{C23BCCF9-2B22-4BA7-B175-E3882E5952EE}" type="slidenum">
              <a:rPr lang="en-NZ" smtClean="0"/>
              <a:t>‹#›</a:t>
            </a:fld>
            <a:endParaRPr lang="en-NZ"/>
          </a:p>
        </p:txBody>
      </p:sp>
    </p:spTree>
    <p:extLst>
      <p:ext uri="{BB962C8B-B14F-4D97-AF65-F5344CB8AC3E}">
        <p14:creationId xmlns:p14="http://schemas.microsoft.com/office/powerpoint/2010/main" val="2387505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5481608-E835-53AB-319E-7E9CC6B96E6B}"/>
              </a:ext>
            </a:extLst>
          </p:cNvPr>
          <p:cNvSpPr>
            <a:spLocks noGrp="1"/>
          </p:cNvSpPr>
          <p:nvPr>
            <p:ph type="dt" sz="half" idx="10"/>
          </p:nvPr>
        </p:nvSpPr>
        <p:spPr/>
        <p:txBody>
          <a:bodyPr/>
          <a:lstStyle/>
          <a:p>
            <a:fld id="{F985F34D-55C0-4DA9-BBF6-9D5E25AAFE7E}" type="datetimeFigureOut">
              <a:rPr lang="en-NZ" smtClean="0"/>
              <a:t>10/08/2022</a:t>
            </a:fld>
            <a:endParaRPr lang="en-NZ"/>
          </a:p>
        </p:txBody>
      </p:sp>
      <p:sp>
        <p:nvSpPr>
          <p:cNvPr id="3" name="Footer Placeholder 2">
            <a:extLst>
              <a:ext uri="{FF2B5EF4-FFF2-40B4-BE49-F238E27FC236}">
                <a16:creationId xmlns:a16="http://schemas.microsoft.com/office/drawing/2014/main" id="{FD2E3EA0-723E-0FC5-58C5-3E097963DCEE}"/>
              </a:ext>
            </a:extLst>
          </p:cNvPr>
          <p:cNvSpPr>
            <a:spLocks noGrp="1"/>
          </p:cNvSpPr>
          <p:nvPr>
            <p:ph type="ftr" sz="quarter" idx="11"/>
          </p:nvPr>
        </p:nvSpPr>
        <p:spPr/>
        <p:txBody>
          <a:bodyPr/>
          <a:lstStyle/>
          <a:p>
            <a:endParaRPr lang="en-NZ"/>
          </a:p>
        </p:txBody>
      </p:sp>
      <p:sp>
        <p:nvSpPr>
          <p:cNvPr id="4" name="Slide Number Placeholder 3">
            <a:extLst>
              <a:ext uri="{FF2B5EF4-FFF2-40B4-BE49-F238E27FC236}">
                <a16:creationId xmlns:a16="http://schemas.microsoft.com/office/drawing/2014/main" id="{2160C2F8-F222-EEEF-38CB-AE29C4CADD95}"/>
              </a:ext>
            </a:extLst>
          </p:cNvPr>
          <p:cNvSpPr>
            <a:spLocks noGrp="1"/>
          </p:cNvSpPr>
          <p:nvPr>
            <p:ph type="sldNum" sz="quarter" idx="12"/>
          </p:nvPr>
        </p:nvSpPr>
        <p:spPr/>
        <p:txBody>
          <a:bodyPr/>
          <a:lstStyle/>
          <a:p>
            <a:fld id="{C23BCCF9-2B22-4BA7-B175-E3882E5952EE}" type="slidenum">
              <a:rPr lang="en-NZ" smtClean="0"/>
              <a:t>‹#›</a:t>
            </a:fld>
            <a:endParaRPr lang="en-NZ"/>
          </a:p>
        </p:txBody>
      </p:sp>
    </p:spTree>
    <p:extLst>
      <p:ext uri="{BB962C8B-B14F-4D97-AF65-F5344CB8AC3E}">
        <p14:creationId xmlns:p14="http://schemas.microsoft.com/office/powerpoint/2010/main" val="4386296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40B6F0-C901-C5E0-19B0-A8605B220A1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NZ"/>
          </a:p>
        </p:txBody>
      </p:sp>
      <p:sp>
        <p:nvSpPr>
          <p:cNvPr id="3" name="Content Placeholder 2">
            <a:extLst>
              <a:ext uri="{FF2B5EF4-FFF2-40B4-BE49-F238E27FC236}">
                <a16:creationId xmlns:a16="http://schemas.microsoft.com/office/drawing/2014/main" id="{EFE4EE97-1B8E-BEEB-ABA2-46748B7BBF4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4" name="Text Placeholder 3">
            <a:extLst>
              <a:ext uri="{FF2B5EF4-FFF2-40B4-BE49-F238E27FC236}">
                <a16:creationId xmlns:a16="http://schemas.microsoft.com/office/drawing/2014/main" id="{EB002B40-C058-EA9F-9776-3430A1F2D7E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1A9EBFA-08DD-F7A4-BAF1-FAF3B5784580}"/>
              </a:ext>
            </a:extLst>
          </p:cNvPr>
          <p:cNvSpPr>
            <a:spLocks noGrp="1"/>
          </p:cNvSpPr>
          <p:nvPr>
            <p:ph type="dt" sz="half" idx="10"/>
          </p:nvPr>
        </p:nvSpPr>
        <p:spPr/>
        <p:txBody>
          <a:bodyPr/>
          <a:lstStyle/>
          <a:p>
            <a:fld id="{F985F34D-55C0-4DA9-BBF6-9D5E25AAFE7E}" type="datetimeFigureOut">
              <a:rPr lang="en-NZ" smtClean="0"/>
              <a:t>10/08/2022</a:t>
            </a:fld>
            <a:endParaRPr lang="en-NZ"/>
          </a:p>
        </p:txBody>
      </p:sp>
      <p:sp>
        <p:nvSpPr>
          <p:cNvPr id="6" name="Footer Placeholder 5">
            <a:extLst>
              <a:ext uri="{FF2B5EF4-FFF2-40B4-BE49-F238E27FC236}">
                <a16:creationId xmlns:a16="http://schemas.microsoft.com/office/drawing/2014/main" id="{E6F1566F-8235-40CA-9189-98DB775196BE}"/>
              </a:ext>
            </a:extLst>
          </p:cNvPr>
          <p:cNvSpPr>
            <a:spLocks noGrp="1"/>
          </p:cNvSpPr>
          <p:nvPr>
            <p:ph type="ftr" sz="quarter" idx="11"/>
          </p:nvPr>
        </p:nvSpPr>
        <p:spPr/>
        <p:txBody>
          <a:bodyPr/>
          <a:lstStyle/>
          <a:p>
            <a:endParaRPr lang="en-NZ"/>
          </a:p>
        </p:txBody>
      </p:sp>
      <p:sp>
        <p:nvSpPr>
          <p:cNvPr id="7" name="Slide Number Placeholder 6">
            <a:extLst>
              <a:ext uri="{FF2B5EF4-FFF2-40B4-BE49-F238E27FC236}">
                <a16:creationId xmlns:a16="http://schemas.microsoft.com/office/drawing/2014/main" id="{1D53AA65-5015-E4DA-12FF-B969D876DBBF}"/>
              </a:ext>
            </a:extLst>
          </p:cNvPr>
          <p:cNvSpPr>
            <a:spLocks noGrp="1"/>
          </p:cNvSpPr>
          <p:nvPr>
            <p:ph type="sldNum" sz="quarter" idx="12"/>
          </p:nvPr>
        </p:nvSpPr>
        <p:spPr/>
        <p:txBody>
          <a:bodyPr/>
          <a:lstStyle/>
          <a:p>
            <a:fld id="{C23BCCF9-2B22-4BA7-B175-E3882E5952EE}" type="slidenum">
              <a:rPr lang="en-NZ" smtClean="0"/>
              <a:t>‹#›</a:t>
            </a:fld>
            <a:endParaRPr lang="en-NZ"/>
          </a:p>
        </p:txBody>
      </p:sp>
    </p:spTree>
    <p:extLst>
      <p:ext uri="{BB962C8B-B14F-4D97-AF65-F5344CB8AC3E}">
        <p14:creationId xmlns:p14="http://schemas.microsoft.com/office/powerpoint/2010/main" val="2319756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5135D4-DAC4-6D46-8F19-2DD333456BA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NZ"/>
          </a:p>
        </p:txBody>
      </p:sp>
      <p:sp>
        <p:nvSpPr>
          <p:cNvPr id="3" name="Picture Placeholder 2">
            <a:extLst>
              <a:ext uri="{FF2B5EF4-FFF2-40B4-BE49-F238E27FC236}">
                <a16:creationId xmlns:a16="http://schemas.microsoft.com/office/drawing/2014/main" id="{4783E5A5-4035-DB3A-3C8A-FB2F69738C4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NZ"/>
          </a:p>
        </p:txBody>
      </p:sp>
      <p:sp>
        <p:nvSpPr>
          <p:cNvPr id="4" name="Text Placeholder 3">
            <a:extLst>
              <a:ext uri="{FF2B5EF4-FFF2-40B4-BE49-F238E27FC236}">
                <a16:creationId xmlns:a16="http://schemas.microsoft.com/office/drawing/2014/main" id="{6819CB9D-B48F-8FB9-0744-7826C2DE987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49446F6-768A-F883-79B3-F650B91D4A09}"/>
              </a:ext>
            </a:extLst>
          </p:cNvPr>
          <p:cNvSpPr>
            <a:spLocks noGrp="1"/>
          </p:cNvSpPr>
          <p:nvPr>
            <p:ph type="dt" sz="half" idx="10"/>
          </p:nvPr>
        </p:nvSpPr>
        <p:spPr/>
        <p:txBody>
          <a:bodyPr/>
          <a:lstStyle/>
          <a:p>
            <a:fld id="{F985F34D-55C0-4DA9-BBF6-9D5E25AAFE7E}" type="datetimeFigureOut">
              <a:rPr lang="en-NZ" smtClean="0"/>
              <a:t>10/08/2022</a:t>
            </a:fld>
            <a:endParaRPr lang="en-NZ"/>
          </a:p>
        </p:txBody>
      </p:sp>
      <p:sp>
        <p:nvSpPr>
          <p:cNvPr id="6" name="Footer Placeholder 5">
            <a:extLst>
              <a:ext uri="{FF2B5EF4-FFF2-40B4-BE49-F238E27FC236}">
                <a16:creationId xmlns:a16="http://schemas.microsoft.com/office/drawing/2014/main" id="{CB8F1A20-A106-1E98-6BF8-FA4CC442BEFD}"/>
              </a:ext>
            </a:extLst>
          </p:cNvPr>
          <p:cNvSpPr>
            <a:spLocks noGrp="1"/>
          </p:cNvSpPr>
          <p:nvPr>
            <p:ph type="ftr" sz="quarter" idx="11"/>
          </p:nvPr>
        </p:nvSpPr>
        <p:spPr/>
        <p:txBody>
          <a:bodyPr/>
          <a:lstStyle/>
          <a:p>
            <a:endParaRPr lang="en-NZ"/>
          </a:p>
        </p:txBody>
      </p:sp>
      <p:sp>
        <p:nvSpPr>
          <p:cNvPr id="7" name="Slide Number Placeholder 6">
            <a:extLst>
              <a:ext uri="{FF2B5EF4-FFF2-40B4-BE49-F238E27FC236}">
                <a16:creationId xmlns:a16="http://schemas.microsoft.com/office/drawing/2014/main" id="{B5E99D49-0232-F712-1616-B434C79A7642}"/>
              </a:ext>
            </a:extLst>
          </p:cNvPr>
          <p:cNvSpPr>
            <a:spLocks noGrp="1"/>
          </p:cNvSpPr>
          <p:nvPr>
            <p:ph type="sldNum" sz="quarter" idx="12"/>
          </p:nvPr>
        </p:nvSpPr>
        <p:spPr/>
        <p:txBody>
          <a:bodyPr/>
          <a:lstStyle/>
          <a:p>
            <a:fld id="{C23BCCF9-2B22-4BA7-B175-E3882E5952EE}" type="slidenum">
              <a:rPr lang="en-NZ" smtClean="0"/>
              <a:t>‹#›</a:t>
            </a:fld>
            <a:endParaRPr lang="en-NZ"/>
          </a:p>
        </p:txBody>
      </p:sp>
    </p:spTree>
    <p:extLst>
      <p:ext uri="{BB962C8B-B14F-4D97-AF65-F5344CB8AC3E}">
        <p14:creationId xmlns:p14="http://schemas.microsoft.com/office/powerpoint/2010/main" val="10775496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94DA6C-80AF-10A4-6198-C311769E8264}"/>
              </a:ext>
            </a:extLst>
          </p:cNvPr>
          <p:cNvSpPr>
            <a:spLocks noGrp="1"/>
          </p:cNvSpPr>
          <p:nvPr>
            <p:ph type="title"/>
          </p:nvPr>
        </p:nvSpPr>
        <p:spPr/>
        <p:txBody>
          <a:bodyPr/>
          <a:lstStyle/>
          <a:p>
            <a:r>
              <a:rPr lang="en-US"/>
              <a:t>Click to edit Master title style</a:t>
            </a:r>
            <a:endParaRPr lang="en-NZ"/>
          </a:p>
        </p:txBody>
      </p:sp>
      <p:sp>
        <p:nvSpPr>
          <p:cNvPr id="3" name="Vertical Text Placeholder 2">
            <a:extLst>
              <a:ext uri="{FF2B5EF4-FFF2-40B4-BE49-F238E27FC236}">
                <a16:creationId xmlns:a16="http://schemas.microsoft.com/office/drawing/2014/main" id="{ADB6C5E7-FC70-D6E8-1805-495DCA10E15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4" name="Date Placeholder 3">
            <a:extLst>
              <a:ext uri="{FF2B5EF4-FFF2-40B4-BE49-F238E27FC236}">
                <a16:creationId xmlns:a16="http://schemas.microsoft.com/office/drawing/2014/main" id="{A63A0D3C-E5E7-BDB8-0A4C-6D1BB457A140}"/>
              </a:ext>
            </a:extLst>
          </p:cNvPr>
          <p:cNvSpPr>
            <a:spLocks noGrp="1"/>
          </p:cNvSpPr>
          <p:nvPr>
            <p:ph type="dt" sz="half" idx="10"/>
          </p:nvPr>
        </p:nvSpPr>
        <p:spPr/>
        <p:txBody>
          <a:bodyPr/>
          <a:lstStyle/>
          <a:p>
            <a:fld id="{F985F34D-55C0-4DA9-BBF6-9D5E25AAFE7E}" type="datetimeFigureOut">
              <a:rPr lang="en-NZ" smtClean="0"/>
              <a:t>10/08/2022</a:t>
            </a:fld>
            <a:endParaRPr lang="en-NZ"/>
          </a:p>
        </p:txBody>
      </p:sp>
      <p:sp>
        <p:nvSpPr>
          <p:cNvPr id="5" name="Footer Placeholder 4">
            <a:extLst>
              <a:ext uri="{FF2B5EF4-FFF2-40B4-BE49-F238E27FC236}">
                <a16:creationId xmlns:a16="http://schemas.microsoft.com/office/drawing/2014/main" id="{D34AE893-234B-6CFE-06BE-F2B5A5628681}"/>
              </a:ext>
            </a:extLst>
          </p:cNvPr>
          <p:cNvSpPr>
            <a:spLocks noGrp="1"/>
          </p:cNvSpPr>
          <p:nvPr>
            <p:ph type="ftr" sz="quarter" idx="11"/>
          </p:nvPr>
        </p:nvSpPr>
        <p:spPr/>
        <p:txBody>
          <a:bodyPr/>
          <a:lstStyle/>
          <a:p>
            <a:endParaRPr lang="en-NZ"/>
          </a:p>
        </p:txBody>
      </p:sp>
      <p:sp>
        <p:nvSpPr>
          <p:cNvPr id="6" name="Slide Number Placeholder 5">
            <a:extLst>
              <a:ext uri="{FF2B5EF4-FFF2-40B4-BE49-F238E27FC236}">
                <a16:creationId xmlns:a16="http://schemas.microsoft.com/office/drawing/2014/main" id="{BC5A1D29-1157-C2E4-B4B2-BB78D1BE7D71}"/>
              </a:ext>
            </a:extLst>
          </p:cNvPr>
          <p:cNvSpPr>
            <a:spLocks noGrp="1"/>
          </p:cNvSpPr>
          <p:nvPr>
            <p:ph type="sldNum" sz="quarter" idx="12"/>
          </p:nvPr>
        </p:nvSpPr>
        <p:spPr/>
        <p:txBody>
          <a:bodyPr/>
          <a:lstStyle/>
          <a:p>
            <a:fld id="{C23BCCF9-2B22-4BA7-B175-E3882E5952EE}" type="slidenum">
              <a:rPr lang="en-NZ" smtClean="0"/>
              <a:t>‹#›</a:t>
            </a:fld>
            <a:endParaRPr lang="en-NZ"/>
          </a:p>
        </p:txBody>
      </p:sp>
    </p:spTree>
    <p:extLst>
      <p:ext uri="{BB962C8B-B14F-4D97-AF65-F5344CB8AC3E}">
        <p14:creationId xmlns:p14="http://schemas.microsoft.com/office/powerpoint/2010/main" val="3674094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2AD74B3-7AE4-558D-903C-D56F572CCB7F}"/>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NZ"/>
          </a:p>
        </p:txBody>
      </p:sp>
      <p:sp>
        <p:nvSpPr>
          <p:cNvPr id="3" name="Vertical Text Placeholder 2">
            <a:extLst>
              <a:ext uri="{FF2B5EF4-FFF2-40B4-BE49-F238E27FC236}">
                <a16:creationId xmlns:a16="http://schemas.microsoft.com/office/drawing/2014/main" id="{5F572766-8BA6-2C7D-9F25-5F0E6B2ED53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4" name="Date Placeholder 3">
            <a:extLst>
              <a:ext uri="{FF2B5EF4-FFF2-40B4-BE49-F238E27FC236}">
                <a16:creationId xmlns:a16="http://schemas.microsoft.com/office/drawing/2014/main" id="{07C8C709-37A2-DC0A-865B-06F164644608}"/>
              </a:ext>
            </a:extLst>
          </p:cNvPr>
          <p:cNvSpPr>
            <a:spLocks noGrp="1"/>
          </p:cNvSpPr>
          <p:nvPr>
            <p:ph type="dt" sz="half" idx="10"/>
          </p:nvPr>
        </p:nvSpPr>
        <p:spPr/>
        <p:txBody>
          <a:bodyPr/>
          <a:lstStyle/>
          <a:p>
            <a:fld id="{F985F34D-55C0-4DA9-BBF6-9D5E25AAFE7E}" type="datetimeFigureOut">
              <a:rPr lang="en-NZ" smtClean="0"/>
              <a:t>10/08/2022</a:t>
            </a:fld>
            <a:endParaRPr lang="en-NZ"/>
          </a:p>
        </p:txBody>
      </p:sp>
      <p:sp>
        <p:nvSpPr>
          <p:cNvPr id="5" name="Footer Placeholder 4">
            <a:extLst>
              <a:ext uri="{FF2B5EF4-FFF2-40B4-BE49-F238E27FC236}">
                <a16:creationId xmlns:a16="http://schemas.microsoft.com/office/drawing/2014/main" id="{8246F1CA-E805-A515-B1CB-5AAFB159B787}"/>
              </a:ext>
            </a:extLst>
          </p:cNvPr>
          <p:cNvSpPr>
            <a:spLocks noGrp="1"/>
          </p:cNvSpPr>
          <p:nvPr>
            <p:ph type="ftr" sz="quarter" idx="11"/>
          </p:nvPr>
        </p:nvSpPr>
        <p:spPr/>
        <p:txBody>
          <a:bodyPr/>
          <a:lstStyle/>
          <a:p>
            <a:endParaRPr lang="en-NZ"/>
          </a:p>
        </p:txBody>
      </p:sp>
      <p:sp>
        <p:nvSpPr>
          <p:cNvPr id="6" name="Slide Number Placeholder 5">
            <a:extLst>
              <a:ext uri="{FF2B5EF4-FFF2-40B4-BE49-F238E27FC236}">
                <a16:creationId xmlns:a16="http://schemas.microsoft.com/office/drawing/2014/main" id="{001004AF-3DB5-EFF3-5A0A-3FD7985AE573}"/>
              </a:ext>
            </a:extLst>
          </p:cNvPr>
          <p:cNvSpPr>
            <a:spLocks noGrp="1"/>
          </p:cNvSpPr>
          <p:nvPr>
            <p:ph type="sldNum" sz="quarter" idx="12"/>
          </p:nvPr>
        </p:nvSpPr>
        <p:spPr/>
        <p:txBody>
          <a:bodyPr/>
          <a:lstStyle/>
          <a:p>
            <a:fld id="{C23BCCF9-2B22-4BA7-B175-E3882E5952EE}" type="slidenum">
              <a:rPr lang="en-NZ" smtClean="0"/>
              <a:t>‹#›</a:t>
            </a:fld>
            <a:endParaRPr lang="en-NZ"/>
          </a:p>
        </p:txBody>
      </p:sp>
    </p:spTree>
    <p:extLst>
      <p:ext uri="{BB962C8B-B14F-4D97-AF65-F5344CB8AC3E}">
        <p14:creationId xmlns:p14="http://schemas.microsoft.com/office/powerpoint/2010/main" val="27453378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333FAC5-3376-87D9-3F18-A30652A9C41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NZ"/>
          </a:p>
        </p:txBody>
      </p:sp>
      <p:sp>
        <p:nvSpPr>
          <p:cNvPr id="3" name="Text Placeholder 2">
            <a:extLst>
              <a:ext uri="{FF2B5EF4-FFF2-40B4-BE49-F238E27FC236}">
                <a16:creationId xmlns:a16="http://schemas.microsoft.com/office/drawing/2014/main" id="{F3E678AF-EE91-FDC9-261E-AED17D68C97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4" name="Date Placeholder 3">
            <a:extLst>
              <a:ext uri="{FF2B5EF4-FFF2-40B4-BE49-F238E27FC236}">
                <a16:creationId xmlns:a16="http://schemas.microsoft.com/office/drawing/2014/main" id="{3FC19F61-AC76-D855-7E80-602170AB700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985F34D-55C0-4DA9-BBF6-9D5E25AAFE7E}" type="datetimeFigureOut">
              <a:rPr lang="en-NZ" smtClean="0"/>
              <a:t>10/08/2022</a:t>
            </a:fld>
            <a:endParaRPr lang="en-NZ"/>
          </a:p>
        </p:txBody>
      </p:sp>
      <p:sp>
        <p:nvSpPr>
          <p:cNvPr id="5" name="Footer Placeholder 4">
            <a:extLst>
              <a:ext uri="{FF2B5EF4-FFF2-40B4-BE49-F238E27FC236}">
                <a16:creationId xmlns:a16="http://schemas.microsoft.com/office/drawing/2014/main" id="{1C70F441-1BC0-AAC0-7DCB-E1DECD7FCD6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NZ"/>
          </a:p>
        </p:txBody>
      </p:sp>
      <p:sp>
        <p:nvSpPr>
          <p:cNvPr id="6" name="Slide Number Placeholder 5">
            <a:extLst>
              <a:ext uri="{FF2B5EF4-FFF2-40B4-BE49-F238E27FC236}">
                <a16:creationId xmlns:a16="http://schemas.microsoft.com/office/drawing/2014/main" id="{CFDA6104-2A06-2DBD-4023-C04105E7CBD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23BCCF9-2B22-4BA7-B175-E3882E5952EE}" type="slidenum">
              <a:rPr lang="en-NZ" smtClean="0"/>
              <a:t>‹#›</a:t>
            </a:fld>
            <a:endParaRPr lang="en-NZ"/>
          </a:p>
        </p:txBody>
      </p:sp>
    </p:spTree>
    <p:extLst>
      <p:ext uri="{BB962C8B-B14F-4D97-AF65-F5344CB8AC3E}">
        <p14:creationId xmlns:p14="http://schemas.microsoft.com/office/powerpoint/2010/main" val="262372406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8" Type="http://schemas.openxmlformats.org/officeDocument/2006/relationships/image" Target="../media/image11.png"/><Relationship Id="rId7" Type="http://schemas.openxmlformats.org/officeDocument/2006/relationships/image" Target="../media/image83.png"/><Relationship Id="rId2" Type="http://schemas.openxmlformats.org/officeDocument/2006/relationships/image" Target="../media/image10.png"/><Relationship Id="rId1" Type="http://schemas.openxmlformats.org/officeDocument/2006/relationships/slideLayout" Target="../slideLayouts/slideLayout7.xml"/><Relationship Id="rId6" Type="http://schemas.openxmlformats.org/officeDocument/2006/relationships/image" Target="../media/image82.png"/><Relationship Id="rId11" Type="http://schemas.openxmlformats.org/officeDocument/2006/relationships/image" Target="../media/image13.png"/><Relationship Id="rId5" Type="http://schemas.openxmlformats.org/officeDocument/2006/relationships/image" Target="../media/image81.png"/><Relationship Id="rId10" Type="http://schemas.openxmlformats.org/officeDocument/2006/relationships/image" Target="../media/image86.png"/><Relationship Id="rId4" Type="http://schemas.openxmlformats.org/officeDocument/2006/relationships/image" Target="../media/image79.png"/><Relationship Id="rId9" Type="http://schemas.openxmlformats.org/officeDocument/2006/relationships/image" Target="../media/image12.png"/></Relationships>
</file>

<file path=ppt/slides/_rels/slide11.xml.rels><?xml version="1.0" encoding="UTF-8" standalone="yes"?>
<Relationships xmlns="http://schemas.openxmlformats.org/package/2006/relationships"><Relationship Id="rId8" Type="http://schemas.openxmlformats.org/officeDocument/2006/relationships/image" Target="../media/image111.png"/><Relationship Id="rId3" Type="http://schemas.openxmlformats.org/officeDocument/2006/relationships/image" Target="../media/image610.png"/><Relationship Id="rId7" Type="http://schemas.openxmlformats.org/officeDocument/2006/relationships/image" Target="../media/image100.png"/><Relationship Id="rId2" Type="http://schemas.openxmlformats.org/officeDocument/2006/relationships/image" Target="../media/image510.png"/><Relationship Id="rId1" Type="http://schemas.openxmlformats.org/officeDocument/2006/relationships/slideLayout" Target="../slideLayouts/slideLayout1.xml"/><Relationship Id="rId6" Type="http://schemas.openxmlformats.org/officeDocument/2006/relationships/image" Target="../media/image90.png"/><Relationship Id="rId5" Type="http://schemas.openxmlformats.org/officeDocument/2006/relationships/image" Target="../media/image80.png"/><Relationship Id="rId4" Type="http://schemas.openxmlformats.org/officeDocument/2006/relationships/image" Target="../media/image75.png"/></Relationships>
</file>

<file path=ppt/slides/_rels/slide12.xml.rels><?xml version="1.0" encoding="UTF-8" standalone="yes"?>
<Relationships xmlns="http://schemas.openxmlformats.org/package/2006/relationships"><Relationship Id="rId3" Type="http://schemas.openxmlformats.org/officeDocument/2006/relationships/image" Target="../media/image131.png"/><Relationship Id="rId7" Type="http://schemas.openxmlformats.org/officeDocument/2006/relationships/image" Target="../media/image17.png"/><Relationship Id="rId2" Type="http://schemas.openxmlformats.org/officeDocument/2006/relationships/image" Target="../media/image121.png"/><Relationship Id="rId1" Type="http://schemas.openxmlformats.org/officeDocument/2006/relationships/slideLayout" Target="../slideLayouts/slideLayout1.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13.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6.png"/><Relationship Id="rId7" Type="http://schemas.openxmlformats.org/officeDocument/2006/relationships/image" Target="../media/image18.png"/><Relationship Id="rId2" Type="http://schemas.openxmlformats.org/officeDocument/2006/relationships/image" Target="../media/image5.png"/><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 Id="rId9" Type="http://schemas.openxmlformats.org/officeDocument/2006/relationships/image" Target="../media/image20.png"/></Relationships>
</file>

<file path=ppt/slides/_rels/slide1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20.png"/><Relationship Id="rId2" Type="http://schemas.openxmlformats.org/officeDocument/2006/relationships/image" Target="../media/image110.png"/><Relationship Id="rId1" Type="http://schemas.openxmlformats.org/officeDocument/2006/relationships/slideLayout" Target="../slideLayouts/slideLayout1.xml"/><Relationship Id="rId6" Type="http://schemas.openxmlformats.org/officeDocument/2006/relationships/image" Target="../media/image150.png"/><Relationship Id="rId5" Type="http://schemas.openxmlformats.org/officeDocument/2006/relationships/image" Target="../media/image140.png"/><Relationship Id="rId4" Type="http://schemas.openxmlformats.org/officeDocument/2006/relationships/image" Target="../media/image130.png"/></Relationships>
</file>

<file path=ppt/slides/_rels/slide1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1.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17.xml.rels><?xml version="1.0" encoding="UTF-8" standalone="yes"?>
<Relationships xmlns="http://schemas.openxmlformats.org/package/2006/relationships"><Relationship Id="rId3" Type="http://schemas.openxmlformats.org/officeDocument/2006/relationships/image" Target="../media/image200.png"/><Relationship Id="rId2" Type="http://schemas.openxmlformats.org/officeDocument/2006/relationships/image" Target="../media/image201.png"/><Relationship Id="rId1" Type="http://schemas.openxmlformats.org/officeDocument/2006/relationships/slideLayout" Target="../slideLayouts/slideLayout1.xml"/><Relationship Id="rId4" Type="http://schemas.openxmlformats.org/officeDocument/2006/relationships/image" Target="../media/image27.png"/></Relationships>
</file>

<file path=ppt/slides/_rels/slide1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1.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s>
</file>

<file path=ppt/slides/_rels/slide19.xml.rels><?xml version="1.0" encoding="UTF-8" standalone="yes"?>
<Relationships xmlns="http://schemas.openxmlformats.org/package/2006/relationships"><Relationship Id="rId8" Type="http://schemas.openxmlformats.org/officeDocument/2006/relationships/image" Target="../media/image350.png"/><Relationship Id="rId13" Type="http://schemas.openxmlformats.org/officeDocument/2006/relationships/image" Target="../media/image40.png"/><Relationship Id="rId3" Type="http://schemas.openxmlformats.org/officeDocument/2006/relationships/image" Target="../media/image240.png"/><Relationship Id="rId7" Type="http://schemas.openxmlformats.org/officeDocument/2006/relationships/image" Target="../media/image35.png"/><Relationship Id="rId12" Type="http://schemas.openxmlformats.org/officeDocument/2006/relationships/image" Target="../media/image39.png"/><Relationship Id="rId2" Type="http://schemas.openxmlformats.org/officeDocument/2006/relationships/image" Target="../media/image33.png"/><Relationship Id="rId1" Type="http://schemas.openxmlformats.org/officeDocument/2006/relationships/slideLayout" Target="../slideLayouts/slideLayout1.xml"/><Relationship Id="rId6" Type="http://schemas.openxmlformats.org/officeDocument/2006/relationships/image" Target="../media/image270.png"/><Relationship Id="rId11" Type="http://schemas.openxmlformats.org/officeDocument/2006/relationships/image" Target="../media/image38.png"/><Relationship Id="rId5" Type="http://schemas.openxmlformats.org/officeDocument/2006/relationships/image" Target="../media/image34.png"/><Relationship Id="rId10" Type="http://schemas.openxmlformats.org/officeDocument/2006/relationships/image" Target="../media/image37.png"/><Relationship Id="rId4" Type="http://schemas.openxmlformats.org/officeDocument/2006/relationships/image" Target="../media/image250.png"/><Relationship Id="rId9" Type="http://schemas.openxmlformats.org/officeDocument/2006/relationships/image" Target="../media/image36.png"/></Relationships>
</file>

<file path=ppt/slides/_rels/slide20.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1.xml"/><Relationship Id="rId6" Type="http://schemas.openxmlformats.org/officeDocument/2006/relationships/image" Target="../media/image44.png"/><Relationship Id="rId5" Type="http://schemas.openxmlformats.org/officeDocument/2006/relationships/image" Target="../media/image43.png"/><Relationship Id="rId4" Type="http://schemas.openxmlformats.org/officeDocument/2006/relationships/image" Target="../media/image240.png"/></Relationships>
</file>

<file path=ppt/slides/_rels/slide2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1.xml"/><Relationship Id="rId6" Type="http://schemas.openxmlformats.org/officeDocument/2006/relationships/image" Target="../media/image50.png"/><Relationship Id="rId5" Type="http://schemas.openxmlformats.org/officeDocument/2006/relationships/image" Target="../media/image49.png"/><Relationship Id="rId4" Type="http://schemas.openxmlformats.org/officeDocument/2006/relationships/image" Target="../media/image48.png"/></Relationships>
</file>

<file path=ppt/slides/_rels/slide25.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slideLayout" Target="../slideLayouts/slideLayout1.xml"/><Relationship Id="rId5" Type="http://schemas.openxmlformats.org/officeDocument/2006/relationships/image" Target="../media/image54.png"/><Relationship Id="rId4" Type="http://schemas.openxmlformats.org/officeDocument/2006/relationships/image" Target="../media/image53.png"/></Relationships>
</file>

<file path=ppt/slides/_rels/slide26.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5.png"/><Relationship Id="rId1" Type="http://schemas.openxmlformats.org/officeDocument/2006/relationships/slideLayout" Target="../slideLayouts/slideLayout1.xml"/><Relationship Id="rId4" Type="http://schemas.openxmlformats.org/officeDocument/2006/relationships/image" Target="../media/image57.png"/></Relationships>
</file>

<file path=ppt/slides/_rels/slide27.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58.png"/><Relationship Id="rId1" Type="http://schemas.openxmlformats.org/officeDocument/2006/relationships/slideLayout" Target="../slideLayouts/slideLayout1.xml"/><Relationship Id="rId5" Type="http://schemas.openxmlformats.org/officeDocument/2006/relationships/image" Target="../media/image61.png"/><Relationship Id="rId4" Type="http://schemas.openxmlformats.org/officeDocument/2006/relationships/image" Target="../media/image60.png"/></Relationships>
</file>

<file path=ppt/slides/_rels/slide28.xml.rels><?xml version="1.0" encoding="UTF-8" standalone="yes"?>
<Relationships xmlns="http://schemas.openxmlformats.org/package/2006/relationships"><Relationship Id="rId8" Type="http://schemas.openxmlformats.org/officeDocument/2006/relationships/image" Target="../media/image65.png"/><Relationship Id="rId3" Type="http://schemas.openxmlformats.org/officeDocument/2006/relationships/image" Target="../media/image60.png"/><Relationship Id="rId7" Type="http://schemas.openxmlformats.org/officeDocument/2006/relationships/image" Target="../media/image64.png"/><Relationship Id="rId2" Type="http://schemas.openxmlformats.org/officeDocument/2006/relationships/image" Target="../media/image58.png"/><Relationship Id="rId1" Type="http://schemas.openxmlformats.org/officeDocument/2006/relationships/slideLayout" Target="../slideLayouts/slideLayout1.xml"/><Relationship Id="rId6" Type="http://schemas.openxmlformats.org/officeDocument/2006/relationships/image" Target="../media/image63.png"/><Relationship Id="rId5" Type="http://schemas.openxmlformats.org/officeDocument/2006/relationships/image" Target="../media/image62.png"/><Relationship Id="rId4" Type="http://schemas.openxmlformats.org/officeDocument/2006/relationships/image" Target="../media/image59.png"/></Relationships>
</file>

<file path=ppt/slides/_rels/slide2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521.png"/><Relationship Id="rId2" Type="http://schemas.openxmlformats.org/officeDocument/2006/relationships/image" Target="../media/image500.png"/><Relationship Id="rId1" Type="http://schemas.openxmlformats.org/officeDocument/2006/relationships/slideLayout" Target="../slideLayouts/slideLayout1.xml"/><Relationship Id="rId5" Type="http://schemas.openxmlformats.org/officeDocument/2006/relationships/image" Target="../media/image530.png"/><Relationship Id="rId4" Type="http://schemas.openxmlformats.org/officeDocument/2006/relationships/image" Target="../media/image520.png"/></Relationships>
</file>

<file path=ppt/slides/_rels/slide31.xml.rels><?xml version="1.0" encoding="UTF-8" standalone="yes"?>
<Relationships xmlns="http://schemas.openxmlformats.org/package/2006/relationships"><Relationship Id="rId8" Type="http://schemas.openxmlformats.org/officeDocument/2006/relationships/image" Target="../media/image67.png"/><Relationship Id="rId7" Type="http://schemas.openxmlformats.org/officeDocument/2006/relationships/image" Target="../media/image830.png"/><Relationship Id="rId12" Type="http://schemas.openxmlformats.org/officeDocument/2006/relationships/image" Target="../media/image71.png"/><Relationship Id="rId2" Type="http://schemas.openxmlformats.org/officeDocument/2006/relationships/image" Target="../media/image10.png"/><Relationship Id="rId1" Type="http://schemas.openxmlformats.org/officeDocument/2006/relationships/slideLayout" Target="../slideLayouts/slideLayout7.xml"/><Relationship Id="rId6" Type="http://schemas.openxmlformats.org/officeDocument/2006/relationships/image" Target="../media/image66.png"/><Relationship Id="rId11" Type="http://schemas.openxmlformats.org/officeDocument/2006/relationships/image" Target="../media/image70.png"/><Relationship Id="rId5" Type="http://schemas.openxmlformats.org/officeDocument/2006/relationships/image" Target="../media/image810.png"/><Relationship Id="rId10" Type="http://schemas.openxmlformats.org/officeDocument/2006/relationships/image" Target="../media/image69.png"/><Relationship Id="rId4" Type="http://schemas.openxmlformats.org/officeDocument/2006/relationships/image" Target="../media/image790.png"/><Relationship Id="rId9" Type="http://schemas.openxmlformats.org/officeDocument/2006/relationships/image" Target="../media/image68.png"/></Relationships>
</file>

<file path=ppt/slides/_rels/slide32.xml.rels><?xml version="1.0" encoding="UTF-8" standalone="yes"?>
<Relationships xmlns="http://schemas.openxmlformats.org/package/2006/relationships"><Relationship Id="rId8" Type="http://schemas.openxmlformats.org/officeDocument/2006/relationships/image" Target="../media/image84.png"/><Relationship Id="rId3" Type="http://schemas.openxmlformats.org/officeDocument/2006/relationships/image" Target="../media/image73.png"/><Relationship Id="rId7" Type="http://schemas.openxmlformats.org/officeDocument/2006/relationships/image" Target="../media/image78.png"/><Relationship Id="rId2" Type="http://schemas.openxmlformats.org/officeDocument/2006/relationships/image" Target="../media/image72.png"/><Relationship Id="rId1" Type="http://schemas.openxmlformats.org/officeDocument/2006/relationships/slideLayout" Target="../slideLayouts/slideLayout1.xml"/><Relationship Id="rId6" Type="http://schemas.openxmlformats.org/officeDocument/2006/relationships/image" Target="../media/image77.png"/><Relationship Id="rId5" Type="http://schemas.openxmlformats.org/officeDocument/2006/relationships/image" Target="../media/image76.png"/><Relationship Id="rId4" Type="http://schemas.openxmlformats.org/officeDocument/2006/relationships/image" Target="../media/image74.png"/><Relationship Id="rId9" Type="http://schemas.openxmlformats.org/officeDocument/2006/relationships/image" Target="../media/image85.png"/></Relationships>
</file>

<file path=ppt/slides/_rels/slide33.xml.rels><?xml version="1.0" encoding="UTF-8" standalone="yes"?>
<Relationships xmlns="http://schemas.openxmlformats.org/package/2006/relationships"><Relationship Id="rId3" Type="http://schemas.openxmlformats.org/officeDocument/2006/relationships/image" Target="../media/image521.png"/><Relationship Id="rId2" Type="http://schemas.openxmlformats.org/officeDocument/2006/relationships/image" Target="../media/image581.png"/><Relationship Id="rId1" Type="http://schemas.openxmlformats.org/officeDocument/2006/relationships/slideLayout" Target="../slideLayouts/slideLayout1.xml"/><Relationship Id="rId6" Type="http://schemas.openxmlformats.org/officeDocument/2006/relationships/image" Target="../media/image600.png"/><Relationship Id="rId5" Type="http://schemas.openxmlformats.org/officeDocument/2006/relationships/image" Target="../media/image530.png"/><Relationship Id="rId4" Type="http://schemas.openxmlformats.org/officeDocument/2006/relationships/image" Target="../media/image591.png"/></Relationships>
</file>

<file path=ppt/slides/_rels/slide34.xml.rels><?xml version="1.0" encoding="UTF-8" standalone="yes"?>
<Relationships xmlns="http://schemas.openxmlformats.org/package/2006/relationships"><Relationship Id="rId3" Type="http://schemas.openxmlformats.org/officeDocument/2006/relationships/image" Target="../media/image73.png"/><Relationship Id="rId7" Type="http://schemas.openxmlformats.org/officeDocument/2006/relationships/image" Target="../media/image88.png"/><Relationship Id="rId2" Type="http://schemas.openxmlformats.org/officeDocument/2006/relationships/image" Target="../media/image72.png"/><Relationship Id="rId1" Type="http://schemas.openxmlformats.org/officeDocument/2006/relationships/slideLayout" Target="../slideLayouts/slideLayout1.xml"/><Relationship Id="rId6" Type="http://schemas.openxmlformats.org/officeDocument/2006/relationships/image" Target="../media/image87.png"/><Relationship Id="rId5" Type="http://schemas.openxmlformats.org/officeDocument/2006/relationships/image" Target="../media/image76.png"/><Relationship Id="rId4" Type="http://schemas.openxmlformats.org/officeDocument/2006/relationships/image" Target="../media/image74.png"/></Relationships>
</file>

<file path=ppt/slides/_rels/slide35.xml.rels><?xml version="1.0" encoding="UTF-8" standalone="yes"?>
<Relationships xmlns="http://schemas.openxmlformats.org/package/2006/relationships"><Relationship Id="rId3" Type="http://schemas.openxmlformats.org/officeDocument/2006/relationships/image" Target="../media/image560.png"/><Relationship Id="rId2" Type="http://schemas.openxmlformats.org/officeDocument/2006/relationships/image" Target="../media/image89.png"/><Relationship Id="rId1" Type="http://schemas.openxmlformats.org/officeDocument/2006/relationships/slideLayout" Target="../slideLayouts/slideLayout1.xml"/><Relationship Id="rId4" Type="http://schemas.openxmlformats.org/officeDocument/2006/relationships/image" Target="../media/image890.png"/></Relationships>
</file>

<file path=ppt/slides/_rels/slide36.xml.rels><?xml version="1.0" encoding="UTF-8" standalone="yes"?>
<Relationships xmlns="http://schemas.openxmlformats.org/package/2006/relationships"><Relationship Id="rId8" Type="http://schemas.openxmlformats.org/officeDocument/2006/relationships/image" Target="../media/image96.png"/><Relationship Id="rId13" Type="http://schemas.openxmlformats.org/officeDocument/2006/relationships/image" Target="../media/image101.png"/><Relationship Id="rId3" Type="http://schemas.openxmlformats.org/officeDocument/2006/relationships/image" Target="../media/image91.png"/><Relationship Id="rId7" Type="http://schemas.openxmlformats.org/officeDocument/2006/relationships/image" Target="../media/image95.png"/><Relationship Id="rId12" Type="http://schemas.openxmlformats.org/officeDocument/2006/relationships/image" Target="../media/image99.png"/><Relationship Id="rId2" Type="http://schemas.openxmlformats.org/officeDocument/2006/relationships/image" Target="../media/image240.png"/><Relationship Id="rId1" Type="http://schemas.openxmlformats.org/officeDocument/2006/relationships/slideLayout" Target="../slideLayouts/slideLayout1.xml"/><Relationship Id="rId6" Type="http://schemas.openxmlformats.org/officeDocument/2006/relationships/image" Target="../media/image94.png"/><Relationship Id="rId11" Type="http://schemas.openxmlformats.org/officeDocument/2006/relationships/image" Target="../media/image33.png"/><Relationship Id="rId5" Type="http://schemas.openxmlformats.org/officeDocument/2006/relationships/image" Target="../media/image93.png"/><Relationship Id="rId10" Type="http://schemas.openxmlformats.org/officeDocument/2006/relationships/image" Target="../media/image98.png"/><Relationship Id="rId4" Type="http://schemas.openxmlformats.org/officeDocument/2006/relationships/image" Target="../media/image92.png"/><Relationship Id="rId9" Type="http://schemas.openxmlformats.org/officeDocument/2006/relationships/image" Target="../media/image97.png"/></Relationships>
</file>

<file path=ppt/slides/_rels/slide3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image" Target="../media/image102.png"/><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openxmlformats.org/officeDocument/2006/relationships/image" Target="../media/image104.png"/><Relationship Id="rId2" Type="http://schemas.openxmlformats.org/officeDocument/2006/relationships/image" Target="../media/image103.png"/><Relationship Id="rId1" Type="http://schemas.openxmlformats.org/officeDocument/2006/relationships/slideLayout" Target="../slideLayouts/slideLayout1.xml"/><Relationship Id="rId5" Type="http://schemas.openxmlformats.org/officeDocument/2006/relationships/image" Target="../media/image106.png"/><Relationship Id="rId4" Type="http://schemas.openxmlformats.org/officeDocument/2006/relationships/image" Target="../media/image105.png"/></Relationships>
</file>

<file path=ppt/slides/_rels/slide41.xml.rels><?xml version="1.0" encoding="UTF-8" standalone="yes"?>
<Relationships xmlns="http://schemas.openxmlformats.org/package/2006/relationships"><Relationship Id="rId3" Type="http://schemas.openxmlformats.org/officeDocument/2006/relationships/image" Target="../media/image108.png"/><Relationship Id="rId2" Type="http://schemas.openxmlformats.org/officeDocument/2006/relationships/image" Target="../media/image107.png"/><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3" Type="http://schemas.openxmlformats.org/officeDocument/2006/relationships/image" Target="../media/image700.png"/><Relationship Id="rId2" Type="http://schemas.openxmlformats.org/officeDocument/2006/relationships/image" Target="../media/image109.png"/><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3" Type="http://schemas.openxmlformats.org/officeDocument/2006/relationships/image" Target="../media/image113.png"/><Relationship Id="rId2" Type="http://schemas.openxmlformats.org/officeDocument/2006/relationships/image" Target="../media/image112.png"/><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3" Type="http://schemas.openxmlformats.org/officeDocument/2006/relationships/image" Target="../media/image113.png"/><Relationship Id="rId2" Type="http://schemas.openxmlformats.org/officeDocument/2006/relationships/image" Target="../media/image112.png"/><Relationship Id="rId1" Type="http://schemas.openxmlformats.org/officeDocument/2006/relationships/slideLayout" Target="../slideLayouts/slideLayout1.xml"/><Relationship Id="rId5" Type="http://schemas.openxmlformats.org/officeDocument/2006/relationships/image" Target="../media/image115.png"/><Relationship Id="rId4" Type="http://schemas.openxmlformats.org/officeDocument/2006/relationships/image" Target="../media/image114.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1" name="Rectangle 70">
            <a:extLst>
              <a:ext uri="{FF2B5EF4-FFF2-40B4-BE49-F238E27FC236}">
                <a16:creationId xmlns:a16="http://schemas.microsoft.com/office/drawing/2014/main" id="{AB8C311F-7253-4AED-9701-7FC0708C4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030" name="Rectangle 72">
            <a:extLst>
              <a:ext uri="{FF2B5EF4-FFF2-40B4-BE49-F238E27FC236}">
                <a16:creationId xmlns:a16="http://schemas.microsoft.com/office/drawing/2014/main" id="{FD073016-B734-483B-8953-5BADEE1451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38600" y="0"/>
            <a:ext cx="8157458" cy="6858000"/>
          </a:xfrm>
          <a:prstGeom prst="rect">
            <a:avLst/>
          </a:prstGeom>
          <a:gradFill>
            <a:gsLst>
              <a:gs pos="2000">
                <a:schemeClr val="accent1"/>
              </a:gs>
              <a:gs pos="78000">
                <a:schemeClr val="accent1">
                  <a:lumMod val="50000"/>
                </a:schemeClr>
              </a:gs>
              <a:gs pos="100000">
                <a:srgbClr val="000000">
                  <a:alpha val="85000"/>
                </a:srgb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031" name="Rectangle 74">
            <a:extLst>
              <a:ext uri="{FF2B5EF4-FFF2-40B4-BE49-F238E27FC236}">
                <a16:creationId xmlns:a16="http://schemas.microsoft.com/office/drawing/2014/main" id="{90A7EAB6-59D3-4325-8DE6-E0CA4009CE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4537" y="1839884"/>
            <a:ext cx="8157460" cy="5017687"/>
          </a:xfrm>
          <a:prstGeom prst="rect">
            <a:avLst/>
          </a:prstGeom>
          <a:gradFill>
            <a:gsLst>
              <a:gs pos="0">
                <a:schemeClr val="accent1">
                  <a:lumMod val="60000"/>
                  <a:lumOff val="40000"/>
                  <a:alpha val="30000"/>
                </a:schemeClr>
              </a:gs>
              <a:gs pos="100000">
                <a:srgbClr val="000000">
                  <a:alpha val="44000"/>
                </a:srgbClr>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032" name="Rectangle 76">
            <a:extLst>
              <a:ext uri="{FF2B5EF4-FFF2-40B4-BE49-F238E27FC236}">
                <a16:creationId xmlns:a16="http://schemas.microsoft.com/office/drawing/2014/main" id="{A8D57A06-A426-446D-B02C-A2DC6B62E4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063179" y="-33131"/>
            <a:ext cx="6857999" cy="6923403"/>
          </a:xfrm>
          <a:prstGeom prst="rect">
            <a:avLst/>
          </a:prstGeom>
          <a:gradFill>
            <a:gsLst>
              <a:gs pos="56000">
                <a:schemeClr val="accent1">
                  <a:lumMod val="60000"/>
                  <a:lumOff val="40000"/>
                  <a:alpha val="0"/>
                </a:schemeClr>
              </a:gs>
              <a:gs pos="100000">
                <a:schemeClr val="accent1"/>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pic>
        <p:nvPicPr>
          <p:cNvPr id="1026" name="Picture 2" descr="Programmes and courses | Study at Wellington | Victoria University of  Wellington">
            <a:extLst>
              <a:ext uri="{FF2B5EF4-FFF2-40B4-BE49-F238E27FC236}">
                <a16:creationId xmlns:a16="http://schemas.microsoft.com/office/drawing/2014/main" id="{087F352A-9067-4A20-840B-9F57464891DB}"/>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85" r="1" b="1"/>
          <a:stretch/>
        </p:blipFill>
        <p:spPr bwMode="auto">
          <a:xfrm>
            <a:off x="457200" y="457200"/>
            <a:ext cx="11277600" cy="594360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DF6EF4C4-5CC1-4D9D-A4EE-9A6C2CC6D81C}"/>
              </a:ext>
            </a:extLst>
          </p:cNvPr>
          <p:cNvSpPr txBox="1"/>
          <p:nvPr/>
        </p:nvSpPr>
        <p:spPr>
          <a:xfrm>
            <a:off x="3858329" y="913501"/>
            <a:ext cx="6923403" cy="116955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NZ" sz="3500" b="1" i="0" u="sng" strike="noStrike" kern="1200" cap="none" spc="0" normalizeH="0" baseline="0" noProof="0" dirty="0">
                <a:ln>
                  <a:noFill/>
                </a:ln>
                <a:solidFill>
                  <a:prstClr val="white"/>
                </a:solidFill>
                <a:effectLst/>
                <a:uLnTx/>
                <a:uFillTx/>
                <a:latin typeface="Calibri" panose="020F0502020204030204"/>
                <a:ea typeface="+mn-ea"/>
                <a:cs typeface="+mn-cs"/>
              </a:rPr>
              <a:t>STATS 293 </a:t>
            </a:r>
            <a:br>
              <a:rPr kumimoji="0" lang="en-NZ" sz="3500" b="1" i="0" u="none" strike="noStrike" kern="1200" cap="none" spc="0" normalizeH="0" baseline="0" noProof="0">
                <a:ln>
                  <a:noFill/>
                </a:ln>
                <a:solidFill>
                  <a:prstClr val="white"/>
                </a:solidFill>
                <a:effectLst/>
                <a:uLnTx/>
                <a:uFillTx/>
                <a:latin typeface="Calibri" panose="020F0502020204030204"/>
                <a:ea typeface="+mn-ea"/>
                <a:cs typeface="+mn-cs"/>
              </a:rPr>
            </a:br>
            <a:r>
              <a:rPr kumimoji="0" lang="en-NZ" sz="3500" b="0" i="0" u="none" strike="noStrike" kern="1200" cap="none" spc="0" normalizeH="0" baseline="0" noProof="0">
                <a:ln>
                  <a:noFill/>
                </a:ln>
                <a:solidFill>
                  <a:prstClr val="white"/>
                </a:solidFill>
                <a:effectLst/>
                <a:uLnTx/>
                <a:uFillTx/>
                <a:latin typeface="Calibri" panose="020F0502020204030204"/>
                <a:ea typeface="+mn-ea"/>
                <a:cs typeface="+mn-cs"/>
              </a:rPr>
              <a:t>Applied </a:t>
            </a:r>
            <a:r>
              <a:rPr kumimoji="0" lang="en-NZ" sz="3500" b="0" i="0" u="none" strike="noStrike" kern="1200" cap="none" spc="0" normalizeH="0" baseline="0" noProof="0" dirty="0">
                <a:ln>
                  <a:noFill/>
                </a:ln>
                <a:solidFill>
                  <a:prstClr val="white"/>
                </a:solidFill>
                <a:effectLst/>
                <a:uLnTx/>
                <a:uFillTx/>
                <a:latin typeface="Calibri" panose="020F0502020204030204"/>
                <a:ea typeface="+mn-ea"/>
                <a:cs typeface="+mn-cs"/>
              </a:rPr>
              <a:t>Statistics with R</a:t>
            </a:r>
          </a:p>
        </p:txBody>
      </p:sp>
      <p:sp>
        <p:nvSpPr>
          <p:cNvPr id="17" name="TextBox 16">
            <a:extLst>
              <a:ext uri="{FF2B5EF4-FFF2-40B4-BE49-F238E27FC236}">
                <a16:creationId xmlns:a16="http://schemas.microsoft.com/office/drawing/2014/main" id="{15E15834-4C1C-48A4-9F77-1A195C7F3F70}"/>
              </a:ext>
            </a:extLst>
          </p:cNvPr>
          <p:cNvSpPr txBox="1"/>
          <p:nvPr/>
        </p:nvSpPr>
        <p:spPr>
          <a:xfrm>
            <a:off x="4038600" y="4646474"/>
            <a:ext cx="6923403" cy="52322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NZ" sz="2800" b="0" i="0" u="none" strike="noStrike" kern="1200" cap="none" spc="0" normalizeH="0" baseline="0" noProof="0" dirty="0">
                <a:ln>
                  <a:noFill/>
                </a:ln>
                <a:solidFill>
                  <a:prstClr val="white"/>
                </a:solidFill>
                <a:effectLst/>
                <a:uLnTx/>
                <a:uFillTx/>
                <a:latin typeface="Calibri" panose="020F0502020204030204"/>
                <a:ea typeface="+mn-ea"/>
                <a:cs typeface="+mn-cs"/>
              </a:rPr>
              <a:t>Chapter </a:t>
            </a:r>
            <a:r>
              <a:rPr lang="en-NZ" sz="2800" dirty="0">
                <a:solidFill>
                  <a:prstClr val="white"/>
                </a:solidFill>
                <a:latin typeface="Calibri" panose="020F0502020204030204"/>
              </a:rPr>
              <a:t>5</a:t>
            </a:r>
            <a:r>
              <a:rPr kumimoji="0" lang="en-NZ" sz="2800" b="0" i="0" u="none" strike="noStrike" kern="1200" cap="none" spc="0" normalizeH="0" baseline="0" noProof="0" dirty="0">
                <a:ln>
                  <a:noFill/>
                </a:ln>
                <a:solidFill>
                  <a:prstClr val="white"/>
                </a:solidFill>
                <a:effectLst/>
                <a:uLnTx/>
                <a:uFillTx/>
                <a:latin typeface="Calibri" panose="020F0502020204030204"/>
                <a:ea typeface="+mn-ea"/>
                <a:cs typeface="+mn-cs"/>
              </a:rPr>
              <a:t> – Nested Designs</a:t>
            </a:r>
          </a:p>
        </p:txBody>
      </p:sp>
    </p:spTree>
    <p:extLst>
      <p:ext uri="{BB962C8B-B14F-4D97-AF65-F5344CB8AC3E}">
        <p14:creationId xmlns:p14="http://schemas.microsoft.com/office/powerpoint/2010/main" val="41418058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1" name="Rectangle 70">
            <a:extLst>
              <a:ext uri="{FF2B5EF4-FFF2-40B4-BE49-F238E27FC236}">
                <a16:creationId xmlns:a16="http://schemas.microsoft.com/office/drawing/2014/main" id="{AB8C311F-7253-4AED-9701-7FC0708C4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030" name="Rectangle 72">
            <a:extLst>
              <a:ext uri="{FF2B5EF4-FFF2-40B4-BE49-F238E27FC236}">
                <a16:creationId xmlns:a16="http://schemas.microsoft.com/office/drawing/2014/main" id="{FD073016-B734-483B-8953-5BADEE1451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38600" y="0"/>
            <a:ext cx="8157458" cy="6858000"/>
          </a:xfrm>
          <a:prstGeom prst="rect">
            <a:avLst/>
          </a:prstGeom>
          <a:gradFill>
            <a:gsLst>
              <a:gs pos="2000">
                <a:schemeClr val="accent1"/>
              </a:gs>
              <a:gs pos="78000">
                <a:schemeClr val="accent1">
                  <a:lumMod val="50000"/>
                </a:schemeClr>
              </a:gs>
              <a:gs pos="100000">
                <a:srgbClr val="000000">
                  <a:alpha val="85000"/>
                </a:srgb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031" name="Rectangle 74">
            <a:extLst>
              <a:ext uri="{FF2B5EF4-FFF2-40B4-BE49-F238E27FC236}">
                <a16:creationId xmlns:a16="http://schemas.microsoft.com/office/drawing/2014/main" id="{90A7EAB6-59D3-4325-8DE6-E0CA4009CE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4537" y="1839884"/>
            <a:ext cx="8157460" cy="5017687"/>
          </a:xfrm>
          <a:prstGeom prst="rect">
            <a:avLst/>
          </a:prstGeom>
          <a:gradFill>
            <a:gsLst>
              <a:gs pos="0">
                <a:schemeClr val="accent1">
                  <a:lumMod val="60000"/>
                  <a:lumOff val="40000"/>
                  <a:alpha val="30000"/>
                </a:schemeClr>
              </a:gs>
              <a:gs pos="100000">
                <a:srgbClr val="000000">
                  <a:alpha val="44000"/>
                </a:srgbClr>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032" name="Rectangle 76">
            <a:extLst>
              <a:ext uri="{FF2B5EF4-FFF2-40B4-BE49-F238E27FC236}">
                <a16:creationId xmlns:a16="http://schemas.microsoft.com/office/drawing/2014/main" id="{A8D57A06-A426-446D-B02C-A2DC6B62E4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063179" y="-33131"/>
            <a:ext cx="6857999" cy="6923403"/>
          </a:xfrm>
          <a:prstGeom prst="rect">
            <a:avLst/>
          </a:prstGeom>
          <a:gradFill>
            <a:gsLst>
              <a:gs pos="56000">
                <a:schemeClr val="accent1">
                  <a:lumMod val="60000"/>
                  <a:lumOff val="40000"/>
                  <a:alpha val="0"/>
                </a:schemeClr>
              </a:gs>
              <a:gs pos="100000">
                <a:schemeClr val="accent1"/>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9" name="TextBox 8">
            <a:extLst>
              <a:ext uri="{FF2B5EF4-FFF2-40B4-BE49-F238E27FC236}">
                <a16:creationId xmlns:a16="http://schemas.microsoft.com/office/drawing/2014/main" id="{7F14062D-E1C1-4F63-B0FD-D013BDA5782B}"/>
              </a:ext>
            </a:extLst>
          </p:cNvPr>
          <p:cNvSpPr txBox="1"/>
          <p:nvPr/>
        </p:nvSpPr>
        <p:spPr>
          <a:xfrm>
            <a:off x="43707" y="2844225"/>
            <a:ext cx="12104586" cy="78483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NZ" sz="4500" b="1" dirty="0">
                <a:solidFill>
                  <a:srgbClr val="FFC000"/>
                </a:solidFill>
                <a:latin typeface="Calibri" panose="020F0502020204030204"/>
              </a:rPr>
              <a:t>5</a:t>
            </a:r>
            <a:r>
              <a:rPr kumimoji="0" lang="en-NZ" sz="4500" b="1" i="0" u="none" strike="noStrike" kern="1200" cap="none" spc="0" normalizeH="0" baseline="0" noProof="0" dirty="0">
                <a:ln>
                  <a:noFill/>
                </a:ln>
                <a:solidFill>
                  <a:srgbClr val="FFC000"/>
                </a:solidFill>
                <a:effectLst/>
                <a:uLnTx/>
                <a:uFillTx/>
                <a:latin typeface="Calibri" panose="020F0502020204030204"/>
                <a:ea typeface="+mn-ea"/>
                <a:cs typeface="+mn-cs"/>
              </a:rPr>
              <a:t>.1 – Crossed vs Nested Designs</a:t>
            </a:r>
          </a:p>
        </p:txBody>
      </p:sp>
      <p:pic>
        <p:nvPicPr>
          <p:cNvPr id="10" name="Picture 2" descr="Te Herenga Waka—Victoria University of Wellington | Universities New  Zealand - Te Pōkai Tara">
            <a:extLst>
              <a:ext uri="{FF2B5EF4-FFF2-40B4-BE49-F238E27FC236}">
                <a16:creationId xmlns:a16="http://schemas.microsoft.com/office/drawing/2014/main" id="{078A8151-9BD3-4B62-8210-A87BCD0941E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116733"/>
            <a:ext cx="2185386" cy="7412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437478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2">
            <a:extLst>
              <a:ext uri="{FF2B5EF4-FFF2-40B4-BE49-F238E27FC236}">
                <a16:creationId xmlns:a16="http://schemas.microsoft.com/office/drawing/2014/main" id="{FCA3135E-12FE-4808-B68B-466D5B0EBCB1}"/>
              </a:ext>
            </a:extLst>
          </p:cNvPr>
          <p:cNvSpPr txBox="1">
            <a:spLocks/>
          </p:cNvSpPr>
          <p:nvPr/>
        </p:nvSpPr>
        <p:spPr>
          <a:xfrm>
            <a:off x="8775510" y="86139"/>
            <a:ext cx="3313855"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600" dirty="0">
                <a:solidFill>
                  <a:srgbClr val="DEDDDD"/>
                </a:solidFill>
                <a:latin typeface="Gidole"/>
                <a:ea typeface="游ゴシック" panose="020B0400000000000000" pitchFamily="34" charset="-128"/>
              </a:rPr>
              <a:t>5</a:t>
            </a:r>
            <a:r>
              <a:rPr kumimoji="1" lang="en-US" altLang="ja-JP"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rPr>
              <a:t>.1 – Crossed vs Nested Designs</a:t>
            </a:r>
            <a:endParaRPr kumimoji="1" lang="ja-JP" altLang="en-US"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endParaRPr>
          </a:p>
        </p:txBody>
      </p:sp>
      <p:sp>
        <p:nvSpPr>
          <p:cNvPr id="5" name="Title 6">
            <a:extLst>
              <a:ext uri="{FF2B5EF4-FFF2-40B4-BE49-F238E27FC236}">
                <a16:creationId xmlns:a16="http://schemas.microsoft.com/office/drawing/2014/main" id="{2BD5844C-C201-4666-ADB9-681CBA48DCC1}"/>
              </a:ext>
            </a:extLst>
          </p:cNvPr>
          <p:cNvSpPr txBox="1">
            <a:spLocks/>
          </p:cNvSpPr>
          <p:nvPr/>
        </p:nvSpPr>
        <p:spPr>
          <a:xfrm>
            <a:off x="251224" y="237833"/>
            <a:ext cx="8168429" cy="607201"/>
          </a:xfrm>
          <a:prstGeom prst="rect">
            <a:avLst/>
          </a:prstGeom>
        </p:spPr>
        <p:txBody>
          <a:bodyPr anchor="t">
            <a:normAutofit/>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pPr marL="0" marR="0" lvl="0" indent="0" algn="l" defTabSz="914324" rtl="0" eaLnBrk="1" fontAlgn="auto" latinLnBrk="0" hangingPunct="1">
              <a:lnSpc>
                <a:spcPct val="90000"/>
              </a:lnSpc>
              <a:spcBef>
                <a:spcPct val="0"/>
              </a:spcBef>
              <a:spcAft>
                <a:spcPts val="0"/>
              </a:spcAft>
              <a:buClrTx/>
              <a:buSzTx/>
              <a:buFontTx/>
              <a:buNone/>
              <a:tabLst/>
              <a:defRPr/>
            </a:pPr>
            <a:r>
              <a:rPr lang="en-US" altLang="ja-JP" b="1" u="sng" dirty="0">
                <a:solidFill>
                  <a:prstClr val="black"/>
                </a:solidFill>
                <a:latin typeface="Calibri" panose="020F0502020204030204"/>
                <a:ea typeface="游ゴシック Light" panose="020B0300000000000000" pitchFamily="34" charset="-128"/>
              </a:rPr>
              <a:t>5</a:t>
            </a:r>
            <a:r>
              <a:rPr kumimoji="1" lang="en-US" altLang="ja-JP"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rPr>
              <a:t>.1a – Crossed Designs:</a:t>
            </a:r>
            <a:endParaRPr kumimoji="1" lang="ja-JP" altLang="en-US"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endParaRPr>
          </a:p>
        </p:txBody>
      </p:sp>
      <p:sp>
        <p:nvSpPr>
          <p:cNvPr id="10" name="Slide Number Placeholder 3">
            <a:extLst>
              <a:ext uri="{FF2B5EF4-FFF2-40B4-BE49-F238E27FC236}">
                <a16:creationId xmlns:a16="http://schemas.microsoft.com/office/drawing/2014/main" id="{B0C9041D-77F0-4656-90D4-0E84B7AC6B27}"/>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54AD89C-DF1E-4948-B597-5DD47B34A9CA}" type="slidenum">
              <a:rPr kumimoji="1" lang="ja-JP" altLang="en-US" sz="4000" b="0" i="0" u="none" strike="noStrike" kern="1200" cap="none" spc="0" normalizeH="0" baseline="0" noProof="0" smtClean="0">
                <a:ln>
                  <a:noFill/>
                </a:ln>
                <a:solidFill>
                  <a:srgbClr val="575454">
                    <a:lumMod val="20000"/>
                    <a:lumOff val="80000"/>
                  </a:srgbClr>
                </a:solidFill>
                <a:effectLst/>
                <a:uLnTx/>
                <a:uFillTx/>
                <a:latin typeface="Coo Hew"/>
                <a:ea typeface="游ゴシック" panose="020B0400000000000000"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1" lang="ja-JP" altLang="en-US" sz="4000" b="0" i="0" u="none" strike="noStrike" kern="1200" cap="none" spc="0" normalizeH="0" baseline="0" noProof="0" dirty="0">
              <a:ln>
                <a:noFill/>
              </a:ln>
              <a:solidFill>
                <a:srgbClr val="575454">
                  <a:lumMod val="20000"/>
                  <a:lumOff val="80000"/>
                </a:srgbClr>
              </a:solidFill>
              <a:effectLst/>
              <a:uLnTx/>
              <a:uFillTx/>
              <a:latin typeface="Coo Hew"/>
              <a:ea typeface="游ゴシック" panose="020B0400000000000000" pitchFamily="34" charset="-128"/>
              <a:cs typeface="+mn-cs"/>
            </a:endParaRPr>
          </a:p>
        </p:txBody>
      </p:sp>
      <p:sp>
        <p:nvSpPr>
          <p:cNvPr id="11" name="Text Placeholder 5">
            <a:extLst>
              <a:ext uri="{FF2B5EF4-FFF2-40B4-BE49-F238E27FC236}">
                <a16:creationId xmlns:a16="http://schemas.microsoft.com/office/drawing/2014/main" id="{C67FD996-886D-F16A-C1CE-1BD052717B7A}"/>
              </a:ext>
            </a:extLst>
          </p:cNvPr>
          <p:cNvSpPr txBox="1">
            <a:spLocks/>
          </p:cNvSpPr>
          <p:nvPr/>
        </p:nvSpPr>
        <p:spPr>
          <a:xfrm>
            <a:off x="312362" y="897289"/>
            <a:ext cx="11777003" cy="100949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lang="en-NZ" altLang="ja-JP" sz="1800" dirty="0">
                <a:solidFill>
                  <a:prstClr val="black"/>
                </a:solidFill>
                <a:latin typeface="Calibri" panose="020F0502020204030204"/>
                <a:ea typeface="游ゴシック" panose="020B0400000000000000" pitchFamily="34" charset="-128"/>
              </a:rPr>
              <a:t>Suppose we have a response variable </a:t>
            </a:r>
            <a:r>
              <a:rPr lang="en-NZ" altLang="ja-JP" sz="1800" b="1" i="1" dirty="0">
                <a:solidFill>
                  <a:prstClr val="black"/>
                </a:solidFill>
                <a:latin typeface="Calibri" panose="020F0502020204030204"/>
                <a:ea typeface="游ゴシック" panose="020B0400000000000000" pitchFamily="34" charset="-128"/>
              </a:rPr>
              <a:t>Y</a:t>
            </a:r>
            <a:r>
              <a:rPr lang="en-NZ" altLang="ja-JP" sz="1800" dirty="0">
                <a:solidFill>
                  <a:prstClr val="black"/>
                </a:solidFill>
                <a:latin typeface="Calibri" panose="020F0502020204030204"/>
                <a:ea typeface="游ゴシック" panose="020B0400000000000000" pitchFamily="34" charset="-128"/>
              </a:rPr>
              <a:t> which is modelled as a function of</a:t>
            </a:r>
          </a:p>
          <a:p>
            <a:pPr marL="971493" lvl="1" indent="-285750" algn="just">
              <a:lnSpc>
                <a:spcPct val="100000"/>
              </a:lnSpc>
              <a:spcBef>
                <a:spcPts val="0"/>
              </a:spcBef>
              <a:buFontTx/>
              <a:buChar char="-"/>
              <a:defRPr/>
            </a:pPr>
            <a:r>
              <a:rPr lang="en-NZ" altLang="ja-JP" sz="1800" dirty="0">
                <a:solidFill>
                  <a:prstClr val="black"/>
                </a:solidFill>
                <a:latin typeface="Calibri" panose="020F0502020204030204"/>
                <a:ea typeface="游ゴシック" panose="020B0400000000000000" pitchFamily="34" charset="-128"/>
              </a:rPr>
              <a:t>A factor </a:t>
            </a:r>
            <a:r>
              <a:rPr lang="en-NZ" altLang="ja-JP" sz="1800" b="1" i="1" dirty="0">
                <a:solidFill>
                  <a:prstClr val="black"/>
                </a:solidFill>
                <a:latin typeface="Calibri" panose="020F0502020204030204"/>
                <a:ea typeface="游ゴシック" panose="020B0400000000000000" pitchFamily="34" charset="-128"/>
              </a:rPr>
              <a:t>A</a:t>
            </a:r>
            <a:r>
              <a:rPr lang="en-NZ" altLang="ja-JP" sz="1800" dirty="0">
                <a:solidFill>
                  <a:prstClr val="black"/>
                </a:solidFill>
                <a:latin typeface="Calibri" panose="020F0502020204030204"/>
                <a:ea typeface="游ゴシック" panose="020B0400000000000000" pitchFamily="34" charset="-128"/>
              </a:rPr>
              <a:t> with </a:t>
            </a:r>
            <a:r>
              <a:rPr lang="en-NZ" altLang="ja-JP" sz="1800" b="1" i="1" dirty="0" err="1">
                <a:solidFill>
                  <a:prstClr val="black"/>
                </a:solidFill>
                <a:latin typeface="Calibri" panose="020F0502020204030204"/>
                <a:ea typeface="游ゴシック" panose="020B0400000000000000" pitchFamily="34" charset="-128"/>
              </a:rPr>
              <a:t>i</a:t>
            </a:r>
            <a:r>
              <a:rPr lang="en-NZ" altLang="ja-JP" sz="1800" b="1" i="1" dirty="0">
                <a:solidFill>
                  <a:prstClr val="black"/>
                </a:solidFill>
                <a:latin typeface="Calibri" panose="020F0502020204030204"/>
                <a:ea typeface="游ゴシック" panose="020B0400000000000000" pitchFamily="34" charset="-128"/>
              </a:rPr>
              <a:t> = 1, … , a </a:t>
            </a:r>
            <a:r>
              <a:rPr lang="en-NZ" altLang="ja-JP" sz="1800" dirty="0">
                <a:solidFill>
                  <a:prstClr val="black"/>
                </a:solidFill>
                <a:latin typeface="Calibri" panose="020F0502020204030204"/>
                <a:ea typeface="游ゴシック" panose="020B0400000000000000" pitchFamily="34" charset="-128"/>
              </a:rPr>
              <a:t>levels </a:t>
            </a:r>
          </a:p>
          <a:p>
            <a:pPr marL="971493" lvl="1" indent="-285750" algn="just">
              <a:lnSpc>
                <a:spcPct val="100000"/>
              </a:lnSpc>
              <a:spcBef>
                <a:spcPts val="0"/>
              </a:spcBef>
              <a:buFontTx/>
              <a:buChar char="-"/>
              <a:defRPr/>
            </a:pPr>
            <a:r>
              <a:rPr lang="en-NZ" altLang="ja-JP" sz="1800" dirty="0">
                <a:solidFill>
                  <a:prstClr val="black"/>
                </a:solidFill>
                <a:latin typeface="Calibri" panose="020F0502020204030204"/>
                <a:ea typeface="游ゴシック" panose="020B0400000000000000" pitchFamily="34" charset="-128"/>
              </a:rPr>
              <a:t>A factor </a:t>
            </a:r>
            <a:r>
              <a:rPr lang="en-NZ" altLang="ja-JP" sz="1800" b="1" i="1" dirty="0">
                <a:solidFill>
                  <a:prstClr val="black"/>
                </a:solidFill>
                <a:latin typeface="Calibri" panose="020F0502020204030204"/>
                <a:ea typeface="游ゴシック" panose="020B0400000000000000" pitchFamily="34" charset="-128"/>
              </a:rPr>
              <a:t>B</a:t>
            </a:r>
            <a:r>
              <a:rPr lang="en-NZ" altLang="ja-JP" sz="1800" dirty="0">
                <a:solidFill>
                  <a:prstClr val="black"/>
                </a:solidFill>
                <a:latin typeface="Calibri" panose="020F0502020204030204"/>
                <a:ea typeface="游ゴシック" panose="020B0400000000000000" pitchFamily="34" charset="-128"/>
              </a:rPr>
              <a:t> with </a:t>
            </a:r>
            <a:r>
              <a:rPr lang="en-NZ" altLang="ja-JP" sz="1800" b="1" i="1" dirty="0">
                <a:solidFill>
                  <a:prstClr val="black"/>
                </a:solidFill>
                <a:latin typeface="Calibri" panose="020F0502020204030204"/>
                <a:ea typeface="游ゴシック" panose="020B0400000000000000" pitchFamily="34" charset="-128"/>
              </a:rPr>
              <a:t>j = 1, … , b</a:t>
            </a:r>
            <a:r>
              <a:rPr lang="en-NZ" altLang="ja-JP" sz="1800" dirty="0">
                <a:solidFill>
                  <a:prstClr val="black"/>
                </a:solidFill>
                <a:latin typeface="Calibri" panose="020F0502020204030204"/>
                <a:ea typeface="游ゴシック" panose="020B0400000000000000" pitchFamily="34" charset="-128"/>
              </a:rPr>
              <a:t> levels</a:t>
            </a:r>
          </a:p>
        </p:txBody>
      </p:sp>
      <p:sp>
        <p:nvSpPr>
          <p:cNvPr id="12" name="Text Placeholder 5">
            <a:extLst>
              <a:ext uri="{FF2B5EF4-FFF2-40B4-BE49-F238E27FC236}">
                <a16:creationId xmlns:a16="http://schemas.microsoft.com/office/drawing/2014/main" id="{96063C0A-C59C-95B3-8876-9857C1E4167B}"/>
              </a:ext>
            </a:extLst>
          </p:cNvPr>
          <p:cNvSpPr txBox="1">
            <a:spLocks/>
          </p:cNvSpPr>
          <p:nvPr/>
        </p:nvSpPr>
        <p:spPr>
          <a:xfrm>
            <a:off x="312362" y="2157915"/>
            <a:ext cx="11777003" cy="67534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lang="en-NZ" altLang="ja-JP" sz="1800" dirty="0">
                <a:solidFill>
                  <a:prstClr val="black"/>
                </a:solidFill>
                <a:latin typeface="Calibri" panose="020F0502020204030204"/>
                <a:ea typeface="游ゴシック" panose="020B0400000000000000" pitchFamily="34" charset="-128"/>
              </a:rPr>
              <a:t>In a </a:t>
            </a:r>
            <a:r>
              <a:rPr lang="en-NZ" altLang="ja-JP" sz="1800" b="1" dirty="0">
                <a:solidFill>
                  <a:srgbClr val="C00000"/>
                </a:solidFill>
                <a:latin typeface="Calibri" panose="020F0502020204030204"/>
                <a:ea typeface="游ゴシック" panose="020B0400000000000000" pitchFamily="34" charset="-128"/>
              </a:rPr>
              <a:t>crossed design </a:t>
            </a:r>
            <a:r>
              <a:rPr lang="en-NZ" altLang="ja-JP" sz="1800" dirty="0">
                <a:solidFill>
                  <a:prstClr val="black"/>
                </a:solidFill>
                <a:latin typeface="Calibri" panose="020F0502020204030204"/>
                <a:ea typeface="游ゴシック" panose="020B0400000000000000" pitchFamily="34" charset="-128"/>
              </a:rPr>
              <a:t>every level of Factor </a:t>
            </a:r>
            <a:r>
              <a:rPr lang="en-NZ" altLang="ja-JP" sz="1800" b="1" i="1" dirty="0">
                <a:solidFill>
                  <a:prstClr val="black"/>
                </a:solidFill>
                <a:latin typeface="Calibri" panose="020F0502020204030204"/>
                <a:ea typeface="游ゴシック" panose="020B0400000000000000" pitchFamily="34" charset="-128"/>
              </a:rPr>
              <a:t>B</a:t>
            </a:r>
            <a:r>
              <a:rPr lang="en-NZ" altLang="ja-JP" sz="1800" dirty="0">
                <a:solidFill>
                  <a:prstClr val="black"/>
                </a:solidFill>
                <a:latin typeface="Calibri" panose="020F0502020204030204"/>
                <a:ea typeface="游ゴシック" panose="020B0400000000000000" pitchFamily="34" charset="-128"/>
              </a:rPr>
              <a:t> occurs with every level of Factor </a:t>
            </a:r>
            <a:r>
              <a:rPr lang="en-NZ" altLang="ja-JP" sz="1800" b="1" i="1" dirty="0">
                <a:solidFill>
                  <a:prstClr val="black"/>
                </a:solidFill>
                <a:latin typeface="Calibri" panose="020F0502020204030204"/>
                <a:ea typeface="游ゴシック" panose="020B0400000000000000" pitchFamily="34" charset="-128"/>
              </a:rPr>
              <a:t>A</a:t>
            </a:r>
            <a:r>
              <a:rPr lang="en-NZ" altLang="ja-JP" sz="1800" dirty="0">
                <a:solidFill>
                  <a:prstClr val="black"/>
                </a:solidFill>
                <a:latin typeface="Calibri" panose="020F0502020204030204"/>
                <a:ea typeface="游ゴシック" panose="020B0400000000000000" pitchFamily="34" charset="-128"/>
              </a:rPr>
              <a:t>. </a:t>
            </a: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lang="en-NZ" altLang="ja-JP" sz="1800" dirty="0">
                <a:solidFill>
                  <a:prstClr val="black"/>
                </a:solidFill>
                <a:latin typeface="Calibri" panose="020F0502020204030204"/>
                <a:ea typeface="游ゴシック" panose="020B0400000000000000" pitchFamily="34" charset="-128"/>
              </a:rPr>
              <a:t>All the designs we have encountered so far have been crossed designs.</a:t>
            </a:r>
          </a:p>
        </p:txBody>
      </p:sp>
      <p:sp>
        <p:nvSpPr>
          <p:cNvPr id="13" name="Text Placeholder 5">
            <a:extLst>
              <a:ext uri="{FF2B5EF4-FFF2-40B4-BE49-F238E27FC236}">
                <a16:creationId xmlns:a16="http://schemas.microsoft.com/office/drawing/2014/main" id="{512A1C79-E44B-B5FA-DFD5-A1B3669280A2}"/>
              </a:ext>
            </a:extLst>
          </p:cNvPr>
          <p:cNvSpPr txBox="1">
            <a:spLocks/>
          </p:cNvSpPr>
          <p:nvPr/>
        </p:nvSpPr>
        <p:spPr>
          <a:xfrm>
            <a:off x="630072" y="3199826"/>
            <a:ext cx="10931856" cy="79749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gn="just">
              <a:lnSpc>
                <a:spcPct val="100000"/>
              </a:lnSpc>
              <a:defRPr/>
            </a:pPr>
            <a:r>
              <a:rPr kumimoji="1" lang="en-NZ" altLang="ja-JP" sz="2000" b="0" i="0" u="none" strike="noStrike" kern="1200" cap="none" spc="0" normalizeH="0" baseline="0" noProof="0" dirty="0">
                <a:ln>
                  <a:noFill/>
                </a:ln>
                <a:solidFill>
                  <a:srgbClr val="0070C0"/>
                </a:solidFill>
                <a:effectLst/>
                <a:uLnTx/>
                <a:uFillTx/>
                <a:latin typeface="Calibri" panose="020F0502020204030204"/>
                <a:ea typeface="游ゴシック" panose="020B0400000000000000" pitchFamily="34" charset="-128"/>
                <a:cs typeface="+mn-cs"/>
              </a:rPr>
              <a:t>A company is interested in whether </a:t>
            </a:r>
            <a:r>
              <a:rPr lang="en-NZ" altLang="ja-JP" sz="2000" dirty="0">
                <a:solidFill>
                  <a:srgbClr val="0070C0"/>
                </a:solidFill>
              </a:rPr>
              <a:t>two cutting methods (lengthwise or crosswise) and five </a:t>
            </a:r>
            <a:r>
              <a:rPr kumimoji="1" lang="en-NZ" altLang="ja-JP" sz="2000" b="0" i="0" u="none" strike="noStrike" kern="1200" cap="none" spc="0" normalizeH="0" baseline="0" noProof="0" dirty="0">
                <a:ln>
                  <a:noFill/>
                </a:ln>
                <a:solidFill>
                  <a:srgbClr val="0070C0"/>
                </a:solidFill>
                <a:effectLst/>
                <a:uLnTx/>
                <a:uFillTx/>
                <a:latin typeface="Calibri" panose="020F0502020204030204"/>
                <a:ea typeface="游ゴシック" panose="020B0400000000000000" pitchFamily="34" charset="-128"/>
                <a:cs typeface="+mn-cs"/>
              </a:rPr>
              <a:t>production lots (labelled 1, 2, 3, 4, 5) have any effect on insulation strength. </a:t>
            </a:r>
            <a:endParaRPr kumimoji="1" lang="en-US" altLang="ja-JP" sz="2000" b="1" i="1" u="none" strike="noStrike" kern="1200" cap="none" spc="0" normalizeH="0" baseline="0" noProof="0" dirty="0">
              <a:ln>
                <a:noFill/>
              </a:ln>
              <a:solidFill>
                <a:srgbClr val="0070C0"/>
              </a:solidFill>
              <a:effectLst/>
              <a:uLnTx/>
              <a:uFillTx/>
              <a:latin typeface="Calibri" panose="020F0502020204030204"/>
              <a:ea typeface="游ゴシック" panose="020B0400000000000000" pitchFamily="34" charset="-128"/>
              <a:cs typeface="+mn-cs"/>
            </a:endParaRPr>
          </a:p>
        </p:txBody>
      </p:sp>
      <p:graphicFrame>
        <p:nvGraphicFramePr>
          <p:cNvPr id="14" name="Table 13">
            <a:extLst>
              <a:ext uri="{FF2B5EF4-FFF2-40B4-BE49-F238E27FC236}">
                <a16:creationId xmlns:a16="http://schemas.microsoft.com/office/drawing/2014/main" id="{8D3A3A3E-85B8-FB1E-000D-364FD6CD5B39}"/>
              </a:ext>
            </a:extLst>
          </p:cNvPr>
          <p:cNvGraphicFramePr>
            <a:graphicFrameLocks noGrp="1"/>
          </p:cNvGraphicFramePr>
          <p:nvPr>
            <p:extLst>
              <p:ext uri="{D42A27DB-BD31-4B8C-83A1-F6EECF244321}">
                <p14:modId xmlns:p14="http://schemas.microsoft.com/office/powerpoint/2010/main" val="3021174884"/>
              </p:ext>
            </p:extLst>
          </p:nvPr>
        </p:nvGraphicFramePr>
        <p:xfrm>
          <a:off x="1055323" y="4499584"/>
          <a:ext cx="10301597" cy="1712071"/>
        </p:xfrm>
        <a:graphic>
          <a:graphicData uri="http://schemas.openxmlformats.org/drawingml/2006/table">
            <a:tbl>
              <a:tblPr/>
              <a:tblGrid>
                <a:gridCol w="700392">
                  <a:extLst>
                    <a:ext uri="{9D8B030D-6E8A-4147-A177-3AD203B41FA5}">
                      <a16:colId xmlns:a16="http://schemas.microsoft.com/office/drawing/2014/main" val="378594080"/>
                    </a:ext>
                  </a:extLst>
                </a:gridCol>
                <a:gridCol w="2042810">
                  <a:extLst>
                    <a:ext uri="{9D8B030D-6E8A-4147-A177-3AD203B41FA5}">
                      <a16:colId xmlns:a16="http://schemas.microsoft.com/office/drawing/2014/main" val="431019701"/>
                    </a:ext>
                  </a:extLst>
                </a:gridCol>
                <a:gridCol w="1823937">
                  <a:extLst>
                    <a:ext uri="{9D8B030D-6E8A-4147-A177-3AD203B41FA5}">
                      <a16:colId xmlns:a16="http://schemas.microsoft.com/office/drawing/2014/main" val="1560030749"/>
                    </a:ext>
                  </a:extLst>
                </a:gridCol>
                <a:gridCol w="1853120">
                  <a:extLst>
                    <a:ext uri="{9D8B030D-6E8A-4147-A177-3AD203B41FA5}">
                      <a16:colId xmlns:a16="http://schemas.microsoft.com/office/drawing/2014/main" val="3577755959"/>
                    </a:ext>
                  </a:extLst>
                </a:gridCol>
                <a:gridCol w="1882303">
                  <a:extLst>
                    <a:ext uri="{9D8B030D-6E8A-4147-A177-3AD203B41FA5}">
                      <a16:colId xmlns:a16="http://schemas.microsoft.com/office/drawing/2014/main" val="3538857325"/>
                    </a:ext>
                  </a:extLst>
                </a:gridCol>
                <a:gridCol w="1999035">
                  <a:extLst>
                    <a:ext uri="{9D8B030D-6E8A-4147-A177-3AD203B41FA5}">
                      <a16:colId xmlns:a16="http://schemas.microsoft.com/office/drawing/2014/main" val="4222012912"/>
                    </a:ext>
                  </a:extLst>
                </a:gridCol>
              </a:tblGrid>
              <a:tr h="0">
                <a:tc>
                  <a:txBody>
                    <a:bodyPr/>
                    <a:lstStyle/>
                    <a:p>
                      <a:pPr algn="ctr" fontAlgn="ctr"/>
                      <a:r>
                        <a:rPr lang="en-NZ" sz="1200" b="1" i="0" u="none" strike="noStrike" dirty="0">
                          <a:solidFill>
                            <a:srgbClr val="FFFFFF"/>
                          </a:solidFill>
                          <a:effectLst/>
                          <a:latin typeface="Calibri" panose="020F0502020204030204" pitchFamily="34" charset="0"/>
                        </a:rPr>
                        <a:t> </a:t>
                      </a:r>
                      <a:r>
                        <a:rPr lang="en-NZ" sz="1800" b="1" i="0" u="none" strike="noStrike" dirty="0">
                          <a:solidFill>
                            <a:srgbClr val="FFFFFF"/>
                          </a:solidFill>
                          <a:effectLst/>
                          <a:latin typeface="Calibri" panose="020F0502020204030204" pitchFamily="34" charset="0"/>
                        </a:rPr>
                        <a:t>Cut</a:t>
                      </a:r>
                      <a:endParaRPr lang="en-NZ" sz="1200" b="1" i="0" u="none" strike="noStrike" dirty="0">
                        <a:solidFill>
                          <a:srgbClr val="FFFFFF"/>
                        </a:solidFill>
                        <a:effectLst/>
                        <a:latin typeface="Calibri" panose="020F0502020204030204" pitchFamily="34" charset="0"/>
                      </a:endParaRP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2060"/>
                    </a:solidFill>
                  </a:tcPr>
                </a:tc>
                <a:tc>
                  <a:txBody>
                    <a:bodyPr/>
                    <a:lstStyle/>
                    <a:p>
                      <a:pPr algn="ctr" fontAlgn="ctr"/>
                      <a:r>
                        <a:rPr lang="en-NZ" sz="1800" b="1" i="0" u="none" strike="noStrike" dirty="0">
                          <a:solidFill>
                            <a:srgbClr val="FFFFFF"/>
                          </a:solidFill>
                          <a:effectLst/>
                          <a:latin typeface="Calibri" panose="020F0502020204030204" pitchFamily="34" charset="0"/>
                        </a:rPr>
                        <a:t>Lot 1</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2060"/>
                    </a:solidFill>
                  </a:tcPr>
                </a:tc>
                <a:tc>
                  <a:txBody>
                    <a:bodyPr/>
                    <a:lstStyle/>
                    <a:p>
                      <a:pPr algn="ctr" fontAlgn="ctr"/>
                      <a:r>
                        <a:rPr lang="en-NZ" sz="1800" b="1" i="0" u="none" strike="noStrike" dirty="0">
                          <a:solidFill>
                            <a:srgbClr val="FFFFFF"/>
                          </a:solidFill>
                          <a:effectLst/>
                          <a:latin typeface="Calibri" panose="020F0502020204030204" pitchFamily="34" charset="0"/>
                        </a:rPr>
                        <a:t>Lot 2</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2060"/>
                    </a:solidFill>
                  </a:tcPr>
                </a:tc>
                <a:tc>
                  <a:txBody>
                    <a:bodyPr/>
                    <a:lstStyle/>
                    <a:p>
                      <a:pPr algn="ctr" fontAlgn="ctr"/>
                      <a:r>
                        <a:rPr lang="en-NZ" sz="1800" b="1" i="0" u="none" strike="noStrike" dirty="0">
                          <a:solidFill>
                            <a:srgbClr val="FFFFFF"/>
                          </a:solidFill>
                          <a:effectLst/>
                          <a:latin typeface="Calibri" panose="020F0502020204030204" pitchFamily="34" charset="0"/>
                        </a:rPr>
                        <a:t>Lot 3</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2060"/>
                    </a:solidFill>
                  </a:tcPr>
                </a:tc>
                <a:tc>
                  <a:txBody>
                    <a:bodyPr/>
                    <a:lstStyle/>
                    <a:p>
                      <a:pPr algn="ctr" fontAlgn="ctr"/>
                      <a:r>
                        <a:rPr lang="en-NZ" sz="1800" b="1" i="0" u="none" strike="noStrike" dirty="0">
                          <a:solidFill>
                            <a:srgbClr val="FFFFFF"/>
                          </a:solidFill>
                          <a:effectLst/>
                          <a:latin typeface="Calibri" panose="020F0502020204030204" pitchFamily="34" charset="0"/>
                        </a:rPr>
                        <a:t>Lot 4</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2060"/>
                    </a:solidFill>
                  </a:tcPr>
                </a:tc>
                <a:tc>
                  <a:txBody>
                    <a:bodyPr/>
                    <a:lstStyle/>
                    <a:p>
                      <a:pPr algn="ctr" fontAlgn="ctr"/>
                      <a:r>
                        <a:rPr lang="en-NZ" sz="1800" b="1" i="0" u="none" strike="noStrike" dirty="0">
                          <a:solidFill>
                            <a:srgbClr val="FFFFFF"/>
                          </a:solidFill>
                          <a:effectLst/>
                          <a:latin typeface="Calibri" panose="020F0502020204030204" pitchFamily="34" charset="0"/>
                        </a:rPr>
                        <a:t>Lot 5</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2060"/>
                    </a:solidFill>
                  </a:tcPr>
                </a:tc>
                <a:extLst>
                  <a:ext uri="{0D108BD9-81ED-4DB2-BD59-A6C34878D82A}">
                    <a16:rowId xmlns:a16="http://schemas.microsoft.com/office/drawing/2014/main" val="4103422414"/>
                  </a:ext>
                </a:extLst>
              </a:tr>
              <a:tr h="714113">
                <a:tc>
                  <a:txBody>
                    <a:bodyPr/>
                    <a:lstStyle/>
                    <a:p>
                      <a:pPr algn="ctr" fontAlgn="ctr"/>
                      <a:r>
                        <a:rPr lang="en-NZ" sz="1800" b="1" i="0" u="none" strike="noStrike" dirty="0">
                          <a:solidFill>
                            <a:srgbClr val="FFFFFF"/>
                          </a:solidFill>
                          <a:effectLst/>
                          <a:latin typeface="Calibri" panose="020F0502020204030204" pitchFamily="34" charset="0"/>
                        </a:rPr>
                        <a:t>Cross</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2060"/>
                    </a:solidFill>
                  </a:tcPr>
                </a:tc>
                <a:tc>
                  <a:txBody>
                    <a:bodyPr/>
                    <a:lstStyle/>
                    <a:p>
                      <a:pPr algn="ctr" fontAlgn="ctr"/>
                      <a:r>
                        <a:rPr lang="en-NZ" sz="1200" b="0" i="0" u="none" strike="noStrike">
                          <a:solidFill>
                            <a:srgbClr val="000000"/>
                          </a:solidFill>
                          <a:effectLst/>
                          <a:latin typeface="Calibri" panose="020F0502020204030204" pitchFamily="34" charset="0"/>
                        </a:rPr>
                        <a:t>0.46, 0.67, 0.69, 0.73, 0.77, 0.78, 0.79, 0.80, 0.85, 0.89</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200" b="0" i="0" u="none" strike="noStrike">
                          <a:solidFill>
                            <a:srgbClr val="000000"/>
                          </a:solidFill>
                          <a:effectLst/>
                          <a:latin typeface="Calibri" panose="020F0502020204030204" pitchFamily="34" charset="0"/>
                        </a:rPr>
                        <a:t>0.84, 0.84, 0.86, 0.89, 1.03, 1.03, 1.06, 1.17, 1.18, 1.32</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200" b="0" i="0" u="none" strike="noStrike">
                          <a:solidFill>
                            <a:srgbClr val="000000"/>
                          </a:solidFill>
                          <a:effectLst/>
                          <a:latin typeface="Calibri" panose="020F0502020204030204" pitchFamily="34" charset="0"/>
                        </a:rPr>
                        <a:t>0.52, 0.52, 0.58, 0.59, 0.60, 0.63, 0.64, 0.65, 0.71, 0.80</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200" b="0" i="0" u="none" strike="noStrike">
                          <a:solidFill>
                            <a:srgbClr val="000000"/>
                          </a:solidFill>
                          <a:effectLst/>
                          <a:latin typeface="Calibri" panose="020F0502020204030204" pitchFamily="34" charset="0"/>
                        </a:rPr>
                        <a:t>0.81, 0.82, 0.86, 0.87, 0.88, 0.89, 0.9, 0.93, 0.97, 1.06</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200" b="0" i="0" u="none" strike="noStrike">
                          <a:solidFill>
                            <a:srgbClr val="000000"/>
                          </a:solidFill>
                          <a:effectLst/>
                          <a:latin typeface="Calibri" panose="020F0502020204030204" pitchFamily="34" charset="0"/>
                        </a:rPr>
                        <a:t>0.45, 0.47, 0.47, 0.52, 0.53, 0.54, 0.55, 0.56, 0.57, 0.6</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3701746709"/>
                  </a:ext>
                </a:extLst>
              </a:tr>
              <a:tr h="714113">
                <a:tc>
                  <a:txBody>
                    <a:bodyPr/>
                    <a:lstStyle/>
                    <a:p>
                      <a:pPr algn="ctr" fontAlgn="ctr"/>
                      <a:r>
                        <a:rPr lang="en-NZ" sz="1800" b="1" i="0" u="none" strike="noStrike" dirty="0">
                          <a:solidFill>
                            <a:srgbClr val="FFFFFF"/>
                          </a:solidFill>
                          <a:effectLst/>
                          <a:latin typeface="Calibri" panose="020F0502020204030204" pitchFamily="34" charset="0"/>
                        </a:rPr>
                        <a:t>Length</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2060"/>
                    </a:solidFill>
                  </a:tcPr>
                </a:tc>
                <a:tc>
                  <a:txBody>
                    <a:bodyPr/>
                    <a:lstStyle/>
                    <a:p>
                      <a:pPr algn="ctr" fontAlgn="ctr"/>
                      <a:r>
                        <a:rPr lang="en-NZ" sz="1200" b="0" i="0" u="none" strike="noStrike" dirty="0">
                          <a:solidFill>
                            <a:srgbClr val="000000"/>
                          </a:solidFill>
                          <a:effectLst/>
                          <a:latin typeface="Calibri" panose="020F0502020204030204" pitchFamily="34" charset="0"/>
                        </a:rPr>
                        <a:t>0.84, 0.86, 0.87, 0.88, 0.88, 0.91, 0.92, 0.93, 0.95, 1.15</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200" b="0" i="0" u="none" strike="noStrike">
                          <a:solidFill>
                            <a:srgbClr val="000000"/>
                          </a:solidFill>
                          <a:effectLst/>
                          <a:latin typeface="Calibri" panose="020F0502020204030204" pitchFamily="34" charset="0"/>
                        </a:rPr>
                        <a:t>0.80, 0.85, 0.87, 0.97, 1.00, 1.01, 1.08, 1.09, 1.14, 1.16</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200" b="0" i="0" u="none" strike="noStrike">
                          <a:solidFill>
                            <a:srgbClr val="000000"/>
                          </a:solidFill>
                          <a:effectLst/>
                          <a:latin typeface="Calibri" panose="020F0502020204030204" pitchFamily="34" charset="0"/>
                        </a:rPr>
                        <a:t>0.59, 0.63, 0.64, 0.64, 0.65, 0.68, 0.72, 0.75, 0.79, 0.81</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200" b="0" i="0" u="none" strike="noStrike" dirty="0">
                          <a:solidFill>
                            <a:srgbClr val="000000"/>
                          </a:solidFill>
                          <a:effectLst/>
                          <a:latin typeface="Calibri" panose="020F0502020204030204" pitchFamily="34" charset="0"/>
                        </a:rPr>
                        <a:t>0.79, 0.79, 0.81, 0.82, 0.84, 0.86, 0.92, 0.93, 0.96, 0.98</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200" b="0" i="0" u="none" strike="noStrike" dirty="0">
                          <a:solidFill>
                            <a:srgbClr val="000000"/>
                          </a:solidFill>
                          <a:effectLst/>
                          <a:latin typeface="Calibri" panose="020F0502020204030204" pitchFamily="34" charset="0"/>
                        </a:rPr>
                        <a:t>0.44, 0.47, 0.48, 0.49, 0.51, 0.53, 0.59, 0.61, 0.67, 0.72</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1879914665"/>
                  </a:ext>
                </a:extLst>
              </a:tr>
            </a:tbl>
          </a:graphicData>
        </a:graphic>
      </p:graphicFrame>
      <p:sp>
        <p:nvSpPr>
          <p:cNvPr id="15" name="Text Placeholder 5">
            <a:extLst>
              <a:ext uri="{FF2B5EF4-FFF2-40B4-BE49-F238E27FC236}">
                <a16:creationId xmlns:a16="http://schemas.microsoft.com/office/drawing/2014/main" id="{EC5452DF-263F-1753-0B6F-15C7A9536B4A}"/>
              </a:ext>
            </a:extLst>
          </p:cNvPr>
          <p:cNvSpPr txBox="1">
            <a:spLocks/>
          </p:cNvSpPr>
          <p:nvPr/>
        </p:nvSpPr>
        <p:spPr>
          <a:xfrm>
            <a:off x="4303288" y="4099184"/>
            <a:ext cx="4121624" cy="440152"/>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lang="en-NZ" altLang="ja-JP" sz="1800" b="1" dirty="0">
                <a:solidFill>
                  <a:srgbClr val="C00000"/>
                </a:solidFill>
                <a:latin typeface="Calibri" panose="020F0502020204030204"/>
                <a:ea typeface="游ゴシック" panose="020B0400000000000000" pitchFamily="34" charset="-128"/>
              </a:rPr>
              <a:t>Factor B</a:t>
            </a:r>
          </a:p>
        </p:txBody>
      </p:sp>
      <p:sp>
        <p:nvSpPr>
          <p:cNvPr id="16" name="Text Placeholder 5">
            <a:extLst>
              <a:ext uri="{FF2B5EF4-FFF2-40B4-BE49-F238E27FC236}">
                <a16:creationId xmlns:a16="http://schemas.microsoft.com/office/drawing/2014/main" id="{CC40C5A6-9E91-6BC0-1AAE-35B1248EBACD}"/>
              </a:ext>
            </a:extLst>
          </p:cNvPr>
          <p:cNvSpPr txBox="1">
            <a:spLocks/>
          </p:cNvSpPr>
          <p:nvPr/>
        </p:nvSpPr>
        <p:spPr>
          <a:xfrm rot="16200000">
            <a:off x="139926" y="5232684"/>
            <a:ext cx="1411344" cy="440152"/>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lang="en-NZ" altLang="ja-JP" sz="1800" b="1" dirty="0">
                <a:solidFill>
                  <a:srgbClr val="C00000"/>
                </a:solidFill>
                <a:latin typeface="Calibri" panose="020F0502020204030204"/>
                <a:ea typeface="游ゴシック" panose="020B0400000000000000" pitchFamily="34" charset="-128"/>
              </a:rPr>
              <a:t>Factor A</a:t>
            </a:r>
          </a:p>
        </p:txBody>
      </p:sp>
    </p:spTree>
    <p:extLst>
      <p:ext uri="{BB962C8B-B14F-4D97-AF65-F5344CB8AC3E}">
        <p14:creationId xmlns:p14="http://schemas.microsoft.com/office/powerpoint/2010/main" val="18098970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5" grpId="0"/>
      <p:bldP spid="16"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6">
            <a:extLst>
              <a:ext uri="{FF2B5EF4-FFF2-40B4-BE49-F238E27FC236}">
                <a16:creationId xmlns:a16="http://schemas.microsoft.com/office/drawing/2014/main" id="{2BD5844C-C201-4666-ADB9-681CBA48DCC1}"/>
              </a:ext>
            </a:extLst>
          </p:cNvPr>
          <p:cNvSpPr txBox="1">
            <a:spLocks/>
          </p:cNvSpPr>
          <p:nvPr/>
        </p:nvSpPr>
        <p:spPr>
          <a:xfrm>
            <a:off x="251224" y="237833"/>
            <a:ext cx="8168429" cy="607201"/>
          </a:xfrm>
          <a:prstGeom prst="rect">
            <a:avLst/>
          </a:prstGeom>
        </p:spPr>
        <p:txBody>
          <a:bodyPr anchor="t">
            <a:normAutofit/>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pPr marL="0" marR="0" lvl="0" indent="0" algn="l" defTabSz="914324" rtl="0" eaLnBrk="1" fontAlgn="auto" latinLnBrk="0" hangingPunct="1">
              <a:lnSpc>
                <a:spcPct val="90000"/>
              </a:lnSpc>
              <a:spcBef>
                <a:spcPct val="0"/>
              </a:spcBef>
              <a:spcAft>
                <a:spcPts val="0"/>
              </a:spcAft>
              <a:buClrTx/>
              <a:buSzTx/>
              <a:buFontTx/>
              <a:buNone/>
              <a:tabLst/>
              <a:defRPr/>
            </a:pPr>
            <a:r>
              <a:rPr lang="en-US" altLang="ja-JP" b="1" u="sng" dirty="0">
                <a:solidFill>
                  <a:prstClr val="black"/>
                </a:solidFill>
                <a:latin typeface="Calibri" panose="020F0502020204030204"/>
                <a:ea typeface="游ゴシック Light" panose="020B0300000000000000" pitchFamily="34" charset="-128"/>
              </a:rPr>
              <a:t>5</a:t>
            </a:r>
            <a:r>
              <a:rPr kumimoji="1" lang="en-US" altLang="ja-JP"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rPr>
              <a:t>.1b – Nested Designs:</a:t>
            </a:r>
            <a:endParaRPr kumimoji="1" lang="ja-JP" altLang="en-US"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endParaRPr>
          </a:p>
        </p:txBody>
      </p:sp>
      <p:sp>
        <p:nvSpPr>
          <p:cNvPr id="10" name="Slide Number Placeholder 3">
            <a:extLst>
              <a:ext uri="{FF2B5EF4-FFF2-40B4-BE49-F238E27FC236}">
                <a16:creationId xmlns:a16="http://schemas.microsoft.com/office/drawing/2014/main" id="{B0C9041D-77F0-4656-90D4-0E84B7AC6B27}"/>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54AD89C-DF1E-4948-B597-5DD47B34A9CA}" type="slidenum">
              <a:rPr kumimoji="1" lang="ja-JP" altLang="en-US" sz="4000" b="0" i="0" u="none" strike="noStrike" kern="1200" cap="none" spc="0" normalizeH="0" baseline="0" noProof="0" smtClean="0">
                <a:ln>
                  <a:noFill/>
                </a:ln>
                <a:solidFill>
                  <a:srgbClr val="575454">
                    <a:lumMod val="20000"/>
                    <a:lumOff val="80000"/>
                  </a:srgbClr>
                </a:solidFill>
                <a:effectLst/>
                <a:uLnTx/>
                <a:uFillTx/>
                <a:latin typeface="Coo Hew"/>
                <a:ea typeface="游ゴシック" panose="020B0400000000000000"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1" lang="ja-JP" altLang="en-US" sz="4000" b="0" i="0" u="none" strike="noStrike" kern="1200" cap="none" spc="0" normalizeH="0" baseline="0" noProof="0" dirty="0">
              <a:ln>
                <a:noFill/>
              </a:ln>
              <a:solidFill>
                <a:srgbClr val="575454">
                  <a:lumMod val="20000"/>
                  <a:lumOff val="80000"/>
                </a:srgbClr>
              </a:solidFill>
              <a:effectLst/>
              <a:uLnTx/>
              <a:uFillTx/>
              <a:latin typeface="Coo Hew"/>
              <a:ea typeface="游ゴシック" panose="020B0400000000000000" pitchFamily="34" charset="-128"/>
              <a:cs typeface="+mn-cs"/>
            </a:endParaRPr>
          </a:p>
        </p:txBody>
      </p:sp>
      <p:sp>
        <p:nvSpPr>
          <p:cNvPr id="11" name="Text Placeholder 5">
            <a:extLst>
              <a:ext uri="{FF2B5EF4-FFF2-40B4-BE49-F238E27FC236}">
                <a16:creationId xmlns:a16="http://schemas.microsoft.com/office/drawing/2014/main" id="{C67FD996-886D-F16A-C1CE-1BD052717B7A}"/>
              </a:ext>
            </a:extLst>
          </p:cNvPr>
          <p:cNvSpPr txBox="1">
            <a:spLocks/>
          </p:cNvSpPr>
          <p:nvPr/>
        </p:nvSpPr>
        <p:spPr>
          <a:xfrm>
            <a:off x="312362" y="901036"/>
            <a:ext cx="11777003" cy="100949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lang="en-NZ" altLang="ja-JP" sz="1800" dirty="0">
                <a:solidFill>
                  <a:prstClr val="black"/>
                </a:solidFill>
                <a:latin typeface="Calibri" panose="020F0502020204030204"/>
                <a:ea typeface="游ゴシック" panose="020B0400000000000000" pitchFamily="34" charset="-128"/>
              </a:rPr>
              <a:t>In a </a:t>
            </a:r>
            <a:r>
              <a:rPr lang="en-NZ" altLang="ja-JP" sz="1800" b="1" dirty="0">
                <a:solidFill>
                  <a:srgbClr val="C00000"/>
                </a:solidFill>
                <a:latin typeface="Calibri" panose="020F0502020204030204"/>
                <a:ea typeface="游ゴシック" panose="020B0400000000000000" pitchFamily="34" charset="-128"/>
              </a:rPr>
              <a:t>nested design</a:t>
            </a:r>
            <a:r>
              <a:rPr lang="en-NZ" altLang="ja-JP" sz="1800" dirty="0">
                <a:solidFill>
                  <a:srgbClr val="C00000"/>
                </a:solidFill>
                <a:latin typeface="Calibri" panose="020F0502020204030204"/>
                <a:ea typeface="游ゴシック" panose="020B0400000000000000" pitchFamily="34" charset="-128"/>
              </a:rPr>
              <a:t> </a:t>
            </a:r>
            <a:r>
              <a:rPr lang="en-NZ" altLang="ja-JP" sz="1800" dirty="0">
                <a:solidFill>
                  <a:prstClr val="black"/>
                </a:solidFill>
                <a:latin typeface="Calibri" panose="020F0502020204030204"/>
                <a:ea typeface="游ゴシック" panose="020B0400000000000000" pitchFamily="34" charset="-128"/>
              </a:rPr>
              <a:t>the levels of factor </a:t>
            </a:r>
            <a:r>
              <a:rPr lang="en-NZ" altLang="ja-JP" sz="1800" b="1" i="1" dirty="0">
                <a:solidFill>
                  <a:prstClr val="black"/>
                </a:solidFill>
                <a:latin typeface="Calibri" panose="020F0502020204030204"/>
                <a:ea typeface="游ゴシック" panose="020B0400000000000000" pitchFamily="34" charset="-128"/>
              </a:rPr>
              <a:t>B</a:t>
            </a:r>
            <a:r>
              <a:rPr lang="en-NZ" altLang="ja-JP" sz="1800" dirty="0">
                <a:solidFill>
                  <a:prstClr val="black"/>
                </a:solidFill>
                <a:latin typeface="Calibri" panose="020F0502020204030204"/>
                <a:ea typeface="游ゴシック" panose="020B0400000000000000" pitchFamily="34" charset="-128"/>
              </a:rPr>
              <a:t> are not identical across all levels of factor </a:t>
            </a:r>
            <a:r>
              <a:rPr lang="en-NZ" altLang="ja-JP" sz="1800" b="1" i="1" dirty="0">
                <a:solidFill>
                  <a:prstClr val="black"/>
                </a:solidFill>
                <a:latin typeface="Calibri" panose="020F0502020204030204"/>
                <a:ea typeface="游ゴシック" panose="020B0400000000000000" pitchFamily="34" charset="-128"/>
              </a:rPr>
              <a:t>A</a:t>
            </a:r>
            <a:r>
              <a:rPr lang="en-NZ" altLang="ja-JP" sz="1800" dirty="0">
                <a:solidFill>
                  <a:prstClr val="black"/>
                </a:solidFill>
                <a:latin typeface="Calibri" panose="020F0502020204030204"/>
                <a:ea typeface="游ゴシック" panose="020B0400000000000000" pitchFamily="34" charset="-128"/>
              </a:rPr>
              <a:t>, </a:t>
            </a: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lang="en-NZ" altLang="ja-JP" sz="1800" dirty="0">
                <a:solidFill>
                  <a:prstClr val="black"/>
                </a:solidFill>
                <a:latin typeface="Calibri" panose="020F0502020204030204"/>
                <a:ea typeface="游ゴシック" panose="020B0400000000000000" pitchFamily="34" charset="-128"/>
              </a:rPr>
              <a:t>i.e. only some levels of factor </a:t>
            </a:r>
            <a:r>
              <a:rPr lang="en-NZ" altLang="ja-JP" sz="1800" b="1" i="1" dirty="0">
                <a:solidFill>
                  <a:prstClr val="black"/>
                </a:solidFill>
                <a:latin typeface="Calibri" panose="020F0502020204030204"/>
                <a:ea typeface="游ゴシック" panose="020B0400000000000000" pitchFamily="34" charset="-128"/>
              </a:rPr>
              <a:t>B</a:t>
            </a:r>
            <a:r>
              <a:rPr lang="en-NZ" altLang="ja-JP" sz="1800" dirty="0">
                <a:solidFill>
                  <a:prstClr val="black"/>
                </a:solidFill>
                <a:latin typeface="Calibri" panose="020F0502020204030204"/>
                <a:ea typeface="游ゴシック" panose="020B0400000000000000" pitchFamily="34" charset="-128"/>
              </a:rPr>
              <a:t> occur within each level of factor </a:t>
            </a:r>
            <a:r>
              <a:rPr lang="en-NZ" altLang="ja-JP" sz="1800" b="1" i="1" dirty="0">
                <a:solidFill>
                  <a:prstClr val="black"/>
                </a:solidFill>
                <a:latin typeface="Calibri" panose="020F0502020204030204"/>
                <a:ea typeface="游ゴシック" panose="020B0400000000000000" pitchFamily="34" charset="-128"/>
              </a:rPr>
              <a:t>A</a:t>
            </a:r>
            <a:r>
              <a:rPr lang="en-NZ" altLang="ja-JP" sz="1800" dirty="0">
                <a:solidFill>
                  <a:prstClr val="black"/>
                </a:solidFill>
                <a:latin typeface="Calibri" panose="020F0502020204030204"/>
                <a:ea typeface="游ゴシック" panose="020B0400000000000000" pitchFamily="34" charset="-128"/>
              </a:rPr>
              <a:t>. </a:t>
            </a: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lang="en-NZ" altLang="ja-JP" sz="1800" dirty="0">
                <a:solidFill>
                  <a:prstClr val="black"/>
                </a:solidFill>
                <a:latin typeface="Calibri" panose="020F0502020204030204"/>
                <a:ea typeface="游ゴシック" panose="020B0400000000000000" pitchFamily="34" charset="-128"/>
              </a:rPr>
              <a:t>We say that the levels of </a:t>
            </a:r>
            <a:r>
              <a:rPr lang="en-NZ" altLang="ja-JP" sz="1800" b="1" i="1" dirty="0">
                <a:solidFill>
                  <a:prstClr val="black"/>
                </a:solidFill>
                <a:latin typeface="Calibri" panose="020F0502020204030204"/>
                <a:ea typeface="游ゴシック" panose="020B0400000000000000" pitchFamily="34" charset="-128"/>
              </a:rPr>
              <a:t>B</a:t>
            </a:r>
            <a:r>
              <a:rPr lang="en-NZ" altLang="ja-JP" sz="1800" dirty="0">
                <a:solidFill>
                  <a:prstClr val="black"/>
                </a:solidFill>
                <a:latin typeface="Calibri" panose="020F0502020204030204"/>
                <a:ea typeface="游ゴシック" panose="020B0400000000000000" pitchFamily="34" charset="-128"/>
              </a:rPr>
              <a:t> are ‘nested’ inside levels of factor </a:t>
            </a:r>
            <a:r>
              <a:rPr lang="en-NZ" altLang="ja-JP" sz="1800" b="1" i="1" dirty="0">
                <a:solidFill>
                  <a:prstClr val="black"/>
                </a:solidFill>
                <a:latin typeface="Calibri" panose="020F0502020204030204"/>
                <a:ea typeface="游ゴシック" panose="020B0400000000000000" pitchFamily="34" charset="-128"/>
              </a:rPr>
              <a:t>A</a:t>
            </a:r>
            <a:r>
              <a:rPr lang="en-NZ" altLang="ja-JP" sz="1800" dirty="0">
                <a:solidFill>
                  <a:prstClr val="black"/>
                </a:solidFill>
                <a:latin typeface="Calibri" panose="020F0502020204030204"/>
                <a:ea typeface="游ゴシック" panose="020B0400000000000000" pitchFamily="34" charset="-128"/>
              </a:rPr>
              <a:t>.</a:t>
            </a: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lang="en-NZ" altLang="ja-JP" sz="1800" dirty="0">
                <a:solidFill>
                  <a:prstClr val="black"/>
                </a:solidFill>
                <a:latin typeface="Calibri" panose="020F0502020204030204"/>
                <a:ea typeface="游ゴシック" panose="020B0400000000000000" pitchFamily="34" charset="-128"/>
              </a:rPr>
              <a:t>Typically, we are only interested in whether factor </a:t>
            </a:r>
            <a:r>
              <a:rPr lang="en-NZ" altLang="ja-JP" sz="1800" b="1" i="1" dirty="0">
                <a:solidFill>
                  <a:prstClr val="black"/>
                </a:solidFill>
                <a:latin typeface="Calibri" panose="020F0502020204030204"/>
                <a:ea typeface="游ゴシック" panose="020B0400000000000000" pitchFamily="34" charset="-128"/>
              </a:rPr>
              <a:t>A</a:t>
            </a:r>
            <a:r>
              <a:rPr lang="en-NZ" altLang="ja-JP" sz="1800" dirty="0">
                <a:solidFill>
                  <a:prstClr val="black"/>
                </a:solidFill>
                <a:latin typeface="Calibri" panose="020F0502020204030204"/>
                <a:ea typeface="游ゴシック" panose="020B0400000000000000" pitchFamily="34" charset="-128"/>
              </a:rPr>
              <a:t> has any effect on the response variable. </a:t>
            </a:r>
          </a:p>
        </p:txBody>
      </p:sp>
      <p:sp>
        <p:nvSpPr>
          <p:cNvPr id="17" name="Text Placeholder 5">
            <a:extLst>
              <a:ext uri="{FF2B5EF4-FFF2-40B4-BE49-F238E27FC236}">
                <a16:creationId xmlns:a16="http://schemas.microsoft.com/office/drawing/2014/main" id="{F854F11A-87A0-F4E8-2591-53FB43E2CDAD}"/>
              </a:ext>
            </a:extLst>
          </p:cNvPr>
          <p:cNvSpPr txBox="1">
            <a:spLocks/>
          </p:cNvSpPr>
          <p:nvPr/>
        </p:nvSpPr>
        <p:spPr>
          <a:xfrm>
            <a:off x="503895" y="2530793"/>
            <a:ext cx="6312836" cy="1965278"/>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7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rPr>
              <a:t>Response Variable </a:t>
            </a:r>
            <a:r>
              <a:rPr kumimoji="1" lang="en-NZ" altLang="ja-JP" sz="17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rPr>
              <a:t>	     Student</a:t>
            </a:r>
            <a:r>
              <a:rPr kumimoji="1" lang="en-NZ" altLang="ja-JP" sz="1700" b="0" i="0" u="none" strike="noStrike" kern="1200" cap="none" spc="0" normalizeH="0" noProof="0" dirty="0">
                <a:ln>
                  <a:noFill/>
                </a:ln>
                <a:solidFill>
                  <a:prstClr val="black"/>
                </a:solidFill>
                <a:effectLst/>
                <a:uLnTx/>
                <a:uFillTx/>
                <a:latin typeface="Calibri" panose="020F0502020204030204"/>
                <a:ea typeface="游ゴシック" panose="020B0400000000000000" pitchFamily="34" charset="-128"/>
              </a:rPr>
              <a:t> scores on a math test</a:t>
            </a:r>
            <a:endParaRPr kumimoji="1" lang="en-NZ" altLang="ja-JP" sz="17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lang="en-NZ" altLang="ja-JP" sz="1700" b="1" dirty="0">
                <a:solidFill>
                  <a:prstClr val="black"/>
                </a:solidFill>
                <a:latin typeface="Calibri" panose="020F0502020204030204"/>
                <a:ea typeface="游ゴシック" panose="020B0400000000000000" pitchFamily="34" charset="-128"/>
              </a:rPr>
              <a:t>Factor A</a:t>
            </a:r>
            <a:r>
              <a:rPr lang="en-NZ" altLang="ja-JP" sz="1700" dirty="0">
                <a:solidFill>
                  <a:prstClr val="black"/>
                </a:solidFill>
                <a:latin typeface="Calibri" panose="020F0502020204030204"/>
                <a:ea typeface="游ゴシック" panose="020B0400000000000000" pitchFamily="34" charset="-128"/>
              </a:rPr>
              <a:t>    	     School</a:t>
            </a: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lang="en-NZ" altLang="ja-JP" sz="1700" b="1" dirty="0">
                <a:solidFill>
                  <a:prstClr val="black"/>
                </a:solidFill>
                <a:latin typeface="Calibri" panose="020F0502020204030204"/>
                <a:ea typeface="游ゴシック" panose="020B0400000000000000" pitchFamily="34" charset="-128"/>
              </a:rPr>
              <a:t>Factor A</a:t>
            </a:r>
            <a:r>
              <a:rPr kumimoji="1" lang="en-NZ" altLang="ja-JP" sz="17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rPr>
              <a:t> Levels </a:t>
            </a:r>
            <a:r>
              <a:rPr lang="en-NZ" altLang="ja-JP" sz="1700" b="1" dirty="0">
                <a:solidFill>
                  <a:prstClr val="black"/>
                </a:solidFill>
                <a:latin typeface="Calibri" panose="020F0502020204030204"/>
                <a:ea typeface="游ゴシック" panose="020B0400000000000000" pitchFamily="34" charset="-128"/>
              </a:rPr>
              <a:t>    	     </a:t>
            </a:r>
            <a:r>
              <a:rPr lang="en-NZ" altLang="ja-JP" sz="1700" i="0" dirty="0">
                <a:solidFill>
                  <a:prstClr val="black"/>
                </a:solidFill>
                <a:latin typeface="Calibri" panose="020F0502020204030204"/>
                <a:ea typeface="游ゴシック" panose="020B0400000000000000" pitchFamily="34" charset="-128"/>
              </a:rPr>
              <a:t>Lowton High, </a:t>
            </a:r>
            <a:r>
              <a:rPr lang="en-NZ" altLang="ja-JP" sz="1700" i="0" dirty="0" err="1">
                <a:solidFill>
                  <a:prstClr val="black"/>
                </a:solidFill>
                <a:latin typeface="Calibri" panose="020F0502020204030204"/>
                <a:ea typeface="游ゴシック" panose="020B0400000000000000" pitchFamily="34" charset="-128"/>
              </a:rPr>
              <a:t>Westleigh</a:t>
            </a:r>
            <a:r>
              <a:rPr lang="en-NZ" altLang="ja-JP" sz="1700" i="0" dirty="0">
                <a:solidFill>
                  <a:prstClr val="black"/>
                </a:solidFill>
                <a:latin typeface="Calibri" panose="020F0502020204030204"/>
                <a:ea typeface="游ゴシック" panose="020B0400000000000000" pitchFamily="34" charset="-128"/>
              </a:rPr>
              <a:t> High, Bedford High</a:t>
            </a:r>
            <a:endParaRPr kumimoji="1" lang="en-NZ" altLang="ja-JP" sz="1700" b="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endParaRPr>
          </a:p>
          <a:p>
            <a:pPr lvl="0" algn="just">
              <a:lnSpc>
                <a:spcPct val="100000"/>
              </a:lnSpc>
              <a:defRPr/>
            </a:pPr>
            <a:r>
              <a:rPr lang="en-NZ" altLang="ja-JP" sz="1700" b="1" dirty="0">
                <a:solidFill>
                  <a:prstClr val="black"/>
                </a:solidFill>
              </a:rPr>
              <a:t>Factor B</a:t>
            </a:r>
            <a:r>
              <a:rPr lang="en-NZ" altLang="ja-JP" sz="1700" dirty="0">
                <a:solidFill>
                  <a:prstClr val="black"/>
                </a:solidFill>
              </a:rPr>
              <a:t> </a:t>
            </a:r>
            <a:r>
              <a:rPr lang="en-NZ" altLang="ja-JP" sz="1700" dirty="0">
                <a:solidFill>
                  <a:prstClr val="black"/>
                </a:solidFill>
                <a:latin typeface="Calibri" panose="020F0502020204030204"/>
                <a:ea typeface="游ゴシック" panose="020B0400000000000000" pitchFamily="34" charset="-128"/>
              </a:rPr>
              <a:t>	     	     Teacher</a:t>
            </a:r>
          </a:p>
          <a:p>
            <a:pPr lvl="0" algn="just">
              <a:lnSpc>
                <a:spcPct val="100000"/>
              </a:lnSpc>
              <a:defRPr/>
            </a:pPr>
            <a:r>
              <a:rPr lang="en-NZ" altLang="ja-JP" sz="1700" b="1" dirty="0">
                <a:solidFill>
                  <a:prstClr val="black"/>
                </a:solidFill>
              </a:rPr>
              <a:t>Factor B Levels </a:t>
            </a:r>
            <a:r>
              <a:rPr lang="en-NZ" altLang="ja-JP" sz="1700" dirty="0">
                <a:solidFill>
                  <a:prstClr val="black"/>
                </a:solidFill>
                <a:latin typeface="Calibri" panose="020F0502020204030204"/>
                <a:ea typeface="游ゴシック" panose="020B0400000000000000" pitchFamily="34" charset="-128"/>
              </a:rPr>
              <a:t>	     Lowton      -&gt; (Mr Crompton, Mrs Turner)</a:t>
            </a:r>
          </a:p>
          <a:p>
            <a:pPr lvl="0" algn="just">
              <a:lnSpc>
                <a:spcPct val="100000"/>
              </a:lnSpc>
              <a:defRPr/>
            </a:pPr>
            <a:r>
              <a:rPr kumimoji="1" lang="en-NZ" altLang="ja-JP" sz="1700" b="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rPr>
              <a:t>		</a:t>
            </a:r>
            <a:r>
              <a:rPr kumimoji="1" lang="en-NZ" altLang="ja-JP" sz="1700" b="1" u="none" strike="noStrike" kern="1200" cap="none" spc="0" normalizeH="0" noProof="0" dirty="0">
                <a:ln>
                  <a:noFill/>
                </a:ln>
                <a:solidFill>
                  <a:prstClr val="black"/>
                </a:solidFill>
                <a:effectLst/>
                <a:uLnTx/>
                <a:uFillTx/>
                <a:latin typeface="Calibri" panose="020F0502020204030204"/>
                <a:ea typeface="游ゴシック" panose="020B0400000000000000" pitchFamily="34" charset="-128"/>
              </a:rPr>
              <a:t>     </a:t>
            </a:r>
            <a:r>
              <a:rPr kumimoji="1" lang="en-NZ" altLang="ja-JP" sz="1700" u="none" strike="noStrike" kern="1200" cap="none" spc="0" normalizeH="0" noProof="0" dirty="0" err="1">
                <a:ln>
                  <a:noFill/>
                </a:ln>
                <a:solidFill>
                  <a:prstClr val="black"/>
                </a:solidFill>
                <a:effectLst/>
                <a:uLnTx/>
                <a:uFillTx/>
                <a:latin typeface="Calibri" panose="020F0502020204030204"/>
                <a:ea typeface="游ゴシック" panose="020B0400000000000000" pitchFamily="34" charset="-128"/>
              </a:rPr>
              <a:t>Westleigh</a:t>
            </a:r>
            <a:r>
              <a:rPr kumimoji="1" lang="en-NZ" altLang="ja-JP" sz="1700" u="none" strike="noStrike" kern="1200" cap="none" spc="0" normalizeH="0" noProof="0" dirty="0">
                <a:ln>
                  <a:noFill/>
                </a:ln>
                <a:solidFill>
                  <a:prstClr val="black"/>
                </a:solidFill>
                <a:effectLst/>
                <a:uLnTx/>
                <a:uFillTx/>
                <a:latin typeface="Calibri" panose="020F0502020204030204"/>
                <a:ea typeface="游ゴシック" panose="020B0400000000000000" pitchFamily="34" charset="-128"/>
              </a:rPr>
              <a:t>  -&gt; (Mrs Smith, Mrs Young)</a:t>
            </a:r>
          </a:p>
          <a:p>
            <a:pPr lvl="0" algn="just">
              <a:lnSpc>
                <a:spcPct val="100000"/>
              </a:lnSpc>
              <a:defRPr/>
            </a:pPr>
            <a:r>
              <a:rPr lang="en-NZ" altLang="ja-JP" sz="1700" baseline="0" dirty="0">
                <a:solidFill>
                  <a:prstClr val="black"/>
                </a:solidFill>
                <a:latin typeface="Calibri" panose="020F0502020204030204"/>
                <a:ea typeface="游ゴシック" panose="020B0400000000000000" pitchFamily="34" charset="-128"/>
              </a:rPr>
              <a:t>		</a:t>
            </a:r>
            <a:r>
              <a:rPr lang="en-NZ" altLang="ja-JP" sz="1700" dirty="0">
                <a:solidFill>
                  <a:prstClr val="black"/>
                </a:solidFill>
                <a:latin typeface="Calibri" panose="020F0502020204030204"/>
                <a:ea typeface="游ゴシック" panose="020B0400000000000000" pitchFamily="34" charset="-128"/>
              </a:rPr>
              <a:t>     Bedford     -&gt; (Mr Green, Mr Thomas)</a:t>
            </a:r>
            <a:endParaRPr kumimoji="1" lang="en-NZ" altLang="ja-JP" sz="170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700" b="0"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endParaRPr>
          </a:p>
        </p:txBody>
      </p:sp>
      <p:sp>
        <p:nvSpPr>
          <p:cNvPr id="18" name="Text Placeholder 5">
            <a:extLst>
              <a:ext uri="{FF2B5EF4-FFF2-40B4-BE49-F238E27FC236}">
                <a16:creationId xmlns:a16="http://schemas.microsoft.com/office/drawing/2014/main" id="{FB7D1DBF-E633-C4E8-B22C-833F5193763C}"/>
              </a:ext>
            </a:extLst>
          </p:cNvPr>
          <p:cNvSpPr txBox="1">
            <a:spLocks/>
          </p:cNvSpPr>
          <p:nvPr/>
        </p:nvSpPr>
        <p:spPr>
          <a:xfrm>
            <a:off x="312362" y="2110996"/>
            <a:ext cx="10931856" cy="476038"/>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800" b="0" i="0" u="none" strike="noStrike" kern="1200" cap="none" spc="0" normalizeH="0" baseline="0" noProof="0" dirty="0">
                <a:ln>
                  <a:noFill/>
                </a:ln>
                <a:solidFill>
                  <a:srgbClr val="0070C0"/>
                </a:solidFill>
                <a:effectLst/>
                <a:uLnTx/>
                <a:uFillTx/>
                <a:latin typeface="Calibri" panose="020F0502020204030204"/>
                <a:ea typeface="游ゴシック" panose="020B0400000000000000" pitchFamily="34" charset="-128"/>
                <a:cs typeface="+mn-cs"/>
              </a:rPr>
              <a:t>Do the</a:t>
            </a:r>
            <a:r>
              <a:rPr kumimoji="1" lang="en-NZ" altLang="ja-JP" sz="1800" b="0" i="0" u="none" strike="noStrike" kern="1200" cap="none" spc="0" normalizeH="0" noProof="0" dirty="0">
                <a:ln>
                  <a:noFill/>
                </a:ln>
                <a:solidFill>
                  <a:srgbClr val="0070C0"/>
                </a:solidFill>
                <a:effectLst/>
                <a:uLnTx/>
                <a:uFillTx/>
                <a:latin typeface="Calibri" panose="020F0502020204030204"/>
                <a:ea typeface="游ゴシック" panose="020B0400000000000000" pitchFamily="34" charset="-128"/>
                <a:cs typeface="+mn-cs"/>
              </a:rPr>
              <a:t> scores that students attain on a maths test differ by school and teacher?</a:t>
            </a:r>
            <a:endParaRPr kumimoji="1" lang="en-US" altLang="ja-JP" sz="1800" b="1" i="1" u="none" strike="noStrike" kern="1200" cap="none" spc="0" normalizeH="0" baseline="0" noProof="0" dirty="0">
              <a:ln>
                <a:noFill/>
              </a:ln>
              <a:solidFill>
                <a:srgbClr val="0070C0"/>
              </a:solidFill>
              <a:effectLst/>
              <a:uLnTx/>
              <a:uFillTx/>
              <a:latin typeface="Calibri" panose="020F0502020204030204"/>
              <a:ea typeface="游ゴシック" panose="020B0400000000000000" pitchFamily="34" charset="-128"/>
              <a:cs typeface="+mn-cs"/>
            </a:endParaRPr>
          </a:p>
        </p:txBody>
      </p:sp>
      <p:sp>
        <p:nvSpPr>
          <p:cNvPr id="19" name="Text Placeholder 5">
            <a:extLst>
              <a:ext uri="{FF2B5EF4-FFF2-40B4-BE49-F238E27FC236}">
                <a16:creationId xmlns:a16="http://schemas.microsoft.com/office/drawing/2014/main" id="{CD1A1421-FA4A-E5DA-E404-258019B958AE}"/>
              </a:ext>
            </a:extLst>
          </p:cNvPr>
          <p:cNvSpPr txBox="1">
            <a:spLocks/>
          </p:cNvSpPr>
          <p:nvPr/>
        </p:nvSpPr>
        <p:spPr>
          <a:xfrm>
            <a:off x="7532765" y="3542140"/>
            <a:ext cx="3711453" cy="100949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lang="en-NZ" altLang="ja-JP" sz="1600" i="1" dirty="0">
                <a:solidFill>
                  <a:schemeClr val="bg2">
                    <a:lumMod val="50000"/>
                  </a:schemeClr>
                </a:solidFill>
                <a:latin typeface="Calibri" panose="020F0502020204030204"/>
                <a:ea typeface="游ゴシック" panose="020B0400000000000000" pitchFamily="34" charset="-128"/>
              </a:rPr>
              <a:t>Since the levels of factor B (teachers) are specific to the levels of factor A (school) this is a nested design</a:t>
            </a:r>
          </a:p>
        </p:txBody>
      </p:sp>
      <p:sp>
        <p:nvSpPr>
          <p:cNvPr id="2" name="Right Brace 1">
            <a:extLst>
              <a:ext uri="{FF2B5EF4-FFF2-40B4-BE49-F238E27FC236}">
                <a16:creationId xmlns:a16="http://schemas.microsoft.com/office/drawing/2014/main" id="{DFBADF1F-FEB2-9390-4AAC-19EF296DA975}"/>
              </a:ext>
            </a:extLst>
          </p:cNvPr>
          <p:cNvSpPr/>
          <p:nvPr/>
        </p:nvSpPr>
        <p:spPr>
          <a:xfrm>
            <a:off x="6925913" y="3486578"/>
            <a:ext cx="245660" cy="1009493"/>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NZ"/>
          </a:p>
        </p:txBody>
      </p:sp>
      <mc:AlternateContent xmlns:mc="http://schemas.openxmlformats.org/markup-compatibility/2006" xmlns:a14="http://schemas.microsoft.com/office/drawing/2010/main">
        <mc:Choice Requires="a14">
          <p:graphicFrame>
            <p:nvGraphicFramePr>
              <p:cNvPr id="20" name="Table 19">
                <a:extLst>
                  <a:ext uri="{FF2B5EF4-FFF2-40B4-BE49-F238E27FC236}">
                    <a16:creationId xmlns:a16="http://schemas.microsoft.com/office/drawing/2014/main" id="{A96E66C7-B151-269E-09ED-D7E9AD79F484}"/>
                  </a:ext>
                </a:extLst>
              </p:cNvPr>
              <p:cNvGraphicFramePr>
                <a:graphicFrameLocks noGrp="1"/>
              </p:cNvGraphicFramePr>
              <p:nvPr>
                <p:extLst>
                  <p:ext uri="{D42A27DB-BD31-4B8C-83A1-F6EECF244321}">
                    <p14:modId xmlns:p14="http://schemas.microsoft.com/office/powerpoint/2010/main" val="2670795726"/>
                  </p:ext>
                </p:extLst>
              </p:nvPr>
            </p:nvGraphicFramePr>
            <p:xfrm>
              <a:off x="1529189" y="5021470"/>
              <a:ext cx="9715029" cy="1281803"/>
            </p:xfrm>
            <a:graphic>
              <a:graphicData uri="http://schemas.openxmlformats.org/drawingml/2006/table">
                <a:tbl>
                  <a:tblPr/>
                  <a:tblGrid>
                    <a:gridCol w="1710823">
                      <a:extLst>
                        <a:ext uri="{9D8B030D-6E8A-4147-A177-3AD203B41FA5}">
                          <a16:colId xmlns:a16="http://schemas.microsoft.com/office/drawing/2014/main" val="431019701"/>
                        </a:ext>
                      </a:extLst>
                    </a:gridCol>
                    <a:gridCol w="1527520">
                      <a:extLst>
                        <a:ext uri="{9D8B030D-6E8A-4147-A177-3AD203B41FA5}">
                          <a16:colId xmlns:a16="http://schemas.microsoft.com/office/drawing/2014/main" val="1560030749"/>
                        </a:ext>
                      </a:extLst>
                    </a:gridCol>
                    <a:gridCol w="1551961">
                      <a:extLst>
                        <a:ext uri="{9D8B030D-6E8A-4147-A177-3AD203B41FA5}">
                          <a16:colId xmlns:a16="http://schemas.microsoft.com/office/drawing/2014/main" val="3577755959"/>
                        </a:ext>
                      </a:extLst>
                    </a:gridCol>
                    <a:gridCol w="1576401">
                      <a:extLst>
                        <a:ext uri="{9D8B030D-6E8A-4147-A177-3AD203B41FA5}">
                          <a16:colId xmlns:a16="http://schemas.microsoft.com/office/drawing/2014/main" val="3538857325"/>
                        </a:ext>
                      </a:extLst>
                    </a:gridCol>
                    <a:gridCol w="1674162">
                      <a:extLst>
                        <a:ext uri="{9D8B030D-6E8A-4147-A177-3AD203B41FA5}">
                          <a16:colId xmlns:a16="http://schemas.microsoft.com/office/drawing/2014/main" val="4222012912"/>
                        </a:ext>
                      </a:extLst>
                    </a:gridCol>
                    <a:gridCol w="1674162">
                      <a:extLst>
                        <a:ext uri="{9D8B030D-6E8A-4147-A177-3AD203B41FA5}">
                          <a16:colId xmlns:a16="http://schemas.microsoft.com/office/drawing/2014/main" val="2622364620"/>
                        </a:ext>
                      </a:extLst>
                    </a:gridCol>
                  </a:tblGrid>
                  <a:tr h="50650">
                    <a:tc gridSpan="2">
                      <a:txBody>
                        <a:bodyPr/>
                        <a:lstStyle/>
                        <a:p>
                          <a:pPr algn="ctr" fontAlgn="ctr"/>
                          <a:r>
                            <a:rPr lang="en-NZ" sz="1800" b="1" i="0" u="none" strike="noStrike" dirty="0">
                              <a:solidFill>
                                <a:srgbClr val="FFFFFF"/>
                              </a:solidFill>
                              <a:effectLst/>
                              <a:latin typeface="Calibri" panose="020F0502020204030204" pitchFamily="34" charset="0"/>
                            </a:rPr>
                            <a:t>Lowton High</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2060"/>
                        </a:solidFill>
                      </a:tcPr>
                    </a:tc>
                    <a:tc hMerge="1">
                      <a:txBody>
                        <a:bodyPr/>
                        <a:lstStyle/>
                        <a:p>
                          <a:pPr algn="ctr" fontAlgn="ctr"/>
                          <a:endParaRPr lang="en-NZ" sz="1800" b="1" i="0" u="none" strike="noStrike" dirty="0">
                            <a:solidFill>
                              <a:srgbClr val="FFFFFF"/>
                            </a:solidFill>
                            <a:effectLst/>
                            <a:latin typeface="Calibri" panose="020F0502020204030204" pitchFamily="34" charset="0"/>
                          </a:endParaRP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2060"/>
                        </a:solidFill>
                      </a:tcPr>
                    </a:tc>
                    <a:tc gridSpan="2">
                      <a:txBody>
                        <a:bodyPr/>
                        <a:lstStyle/>
                        <a:p>
                          <a:pPr algn="ctr" fontAlgn="ctr"/>
                          <a:r>
                            <a:rPr lang="en-NZ" sz="1800" b="1" i="0" u="none" strike="noStrike" dirty="0" err="1">
                              <a:solidFill>
                                <a:srgbClr val="FFFFFF"/>
                              </a:solidFill>
                              <a:effectLst/>
                              <a:latin typeface="Calibri" panose="020F0502020204030204" pitchFamily="34" charset="0"/>
                            </a:rPr>
                            <a:t>Westleigh</a:t>
                          </a:r>
                          <a:r>
                            <a:rPr lang="en-NZ" sz="1800" b="1" i="0" u="none" strike="noStrike" dirty="0">
                              <a:solidFill>
                                <a:srgbClr val="FFFFFF"/>
                              </a:solidFill>
                              <a:effectLst/>
                              <a:latin typeface="Calibri" panose="020F0502020204030204" pitchFamily="34" charset="0"/>
                            </a:rPr>
                            <a:t> High</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00000"/>
                        </a:solidFill>
                      </a:tcPr>
                    </a:tc>
                    <a:tc hMerge="1">
                      <a:txBody>
                        <a:bodyPr/>
                        <a:lstStyle/>
                        <a:p>
                          <a:pPr algn="ctr" fontAlgn="ctr"/>
                          <a:endParaRPr lang="en-NZ" sz="1800" b="1" i="0" u="none" strike="noStrike" dirty="0">
                            <a:solidFill>
                              <a:srgbClr val="FFFFFF"/>
                            </a:solidFill>
                            <a:effectLst/>
                            <a:latin typeface="Calibri" panose="020F0502020204030204" pitchFamily="34" charset="0"/>
                          </a:endParaRP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2060"/>
                        </a:solidFill>
                      </a:tcPr>
                    </a:tc>
                    <a:tc gridSpan="2">
                      <a:txBody>
                        <a:bodyPr/>
                        <a:lstStyle/>
                        <a:p>
                          <a:pPr algn="ctr" fontAlgn="ctr"/>
                          <a:r>
                            <a:rPr lang="en-NZ" sz="1800" b="1" i="0" u="none" strike="noStrike" dirty="0">
                              <a:solidFill>
                                <a:srgbClr val="FFFFFF"/>
                              </a:solidFill>
                              <a:effectLst/>
                              <a:latin typeface="Calibri" panose="020F0502020204030204" pitchFamily="34" charset="0"/>
                            </a:rPr>
                            <a:t>Bedford High</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B050"/>
                        </a:solidFill>
                      </a:tcPr>
                    </a:tc>
                    <a:tc hMerge="1">
                      <a:txBody>
                        <a:bodyPr/>
                        <a:lstStyle/>
                        <a:p>
                          <a:pPr algn="ctr" fontAlgn="ctr"/>
                          <a:endParaRPr lang="en-NZ" sz="1800" b="1" i="0" u="none" strike="noStrike" dirty="0">
                            <a:solidFill>
                              <a:srgbClr val="FFFFFF"/>
                            </a:solidFill>
                            <a:effectLst/>
                            <a:latin typeface="Calibri" panose="020F0502020204030204" pitchFamily="34" charset="0"/>
                          </a:endParaRP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2060"/>
                        </a:solidFill>
                      </a:tcPr>
                    </a:tc>
                    <a:extLst>
                      <a:ext uri="{0D108BD9-81ED-4DB2-BD59-A6C34878D82A}">
                        <a16:rowId xmlns:a16="http://schemas.microsoft.com/office/drawing/2014/main" val="2591049508"/>
                      </a:ext>
                    </a:extLst>
                  </a:tr>
                  <a:tr h="0">
                    <a:tc>
                      <a:txBody>
                        <a:bodyPr/>
                        <a:lstStyle/>
                        <a:p>
                          <a:pPr algn="ctr" fontAlgn="ctr"/>
                          <a:r>
                            <a:rPr lang="en-NZ" sz="1800" b="1" i="0" u="none" strike="noStrike" dirty="0">
                              <a:solidFill>
                                <a:srgbClr val="FFFFFF"/>
                              </a:solidFill>
                              <a:effectLst/>
                              <a:latin typeface="Calibri" panose="020F0502020204030204" pitchFamily="34" charset="0"/>
                            </a:rPr>
                            <a:t>Mr Crompton</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70C0"/>
                        </a:solidFill>
                      </a:tcPr>
                    </a:tc>
                    <a:tc>
                      <a:txBody>
                        <a:bodyPr/>
                        <a:lstStyle/>
                        <a:p>
                          <a:pPr algn="ctr" fontAlgn="ctr"/>
                          <a:r>
                            <a:rPr lang="en-NZ" sz="1800" b="1" i="0" u="none" strike="noStrike" dirty="0">
                              <a:solidFill>
                                <a:srgbClr val="FFFFFF"/>
                              </a:solidFill>
                              <a:effectLst/>
                              <a:latin typeface="Calibri" panose="020F0502020204030204" pitchFamily="34" charset="0"/>
                            </a:rPr>
                            <a:t>Mrs Turner</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70C0"/>
                        </a:solidFill>
                      </a:tcPr>
                    </a:tc>
                    <a:tc>
                      <a:txBody>
                        <a:bodyPr/>
                        <a:lstStyle/>
                        <a:p>
                          <a:pPr algn="ctr" fontAlgn="ctr"/>
                          <a:r>
                            <a:rPr lang="en-NZ" sz="1800" b="1" i="0" u="none" strike="noStrike" dirty="0">
                              <a:solidFill>
                                <a:srgbClr val="FFFFFF"/>
                              </a:solidFill>
                              <a:effectLst/>
                              <a:latin typeface="Calibri" panose="020F0502020204030204" pitchFamily="34" charset="0"/>
                            </a:rPr>
                            <a:t>Mrs Smith</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1515"/>
                        </a:solidFill>
                      </a:tcPr>
                    </a:tc>
                    <a:tc>
                      <a:txBody>
                        <a:bodyPr/>
                        <a:lstStyle/>
                        <a:p>
                          <a:pPr algn="ctr" fontAlgn="ctr"/>
                          <a:r>
                            <a:rPr lang="en-NZ" sz="1800" b="1" i="0" u="none" strike="noStrike" dirty="0">
                              <a:solidFill>
                                <a:srgbClr val="FFFFFF"/>
                              </a:solidFill>
                              <a:effectLst/>
                              <a:latin typeface="Calibri" panose="020F0502020204030204" pitchFamily="34" charset="0"/>
                            </a:rPr>
                            <a:t>Mrs Young</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1515"/>
                        </a:solidFill>
                      </a:tcPr>
                    </a:tc>
                    <a:tc>
                      <a:txBody>
                        <a:bodyPr/>
                        <a:lstStyle/>
                        <a:p>
                          <a:pPr algn="ctr" fontAlgn="ctr"/>
                          <a:r>
                            <a:rPr lang="en-NZ" sz="1800" b="1" i="0" u="none" strike="noStrike" dirty="0">
                              <a:solidFill>
                                <a:srgbClr val="FFFFFF"/>
                              </a:solidFill>
                              <a:effectLst/>
                              <a:latin typeface="Calibri" panose="020F0502020204030204" pitchFamily="34" charset="0"/>
                            </a:rPr>
                            <a:t>Mr Green</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DA63"/>
                        </a:solidFill>
                      </a:tcPr>
                    </a:tc>
                    <a:tc>
                      <a:txBody>
                        <a:bodyPr/>
                        <a:lstStyle/>
                        <a:p>
                          <a:pPr algn="ctr" fontAlgn="ctr"/>
                          <a:r>
                            <a:rPr lang="en-NZ" sz="1800" b="1" i="0" u="none" strike="noStrike" dirty="0">
                              <a:solidFill>
                                <a:srgbClr val="FFFFFF"/>
                              </a:solidFill>
                              <a:effectLst/>
                              <a:latin typeface="Calibri" panose="020F0502020204030204" pitchFamily="34" charset="0"/>
                            </a:rPr>
                            <a:t>Mr Thomas</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DA63"/>
                        </a:solidFill>
                      </a:tcPr>
                    </a:tc>
                    <a:extLst>
                      <a:ext uri="{0D108BD9-81ED-4DB2-BD59-A6C34878D82A}">
                        <a16:rowId xmlns:a16="http://schemas.microsoft.com/office/drawing/2014/main" val="4103422414"/>
                      </a:ext>
                    </a:extLst>
                  </a:tr>
                  <a:tr h="714113">
                    <a:tc>
                      <a:txBody>
                        <a:bodyPr/>
                        <a:lstStyle/>
                        <a:p>
                          <a:pPr algn="ctr" fontAlgn="ctr"/>
                          <a14:m>
                            <m:oMathPara xmlns:m="http://schemas.openxmlformats.org/officeDocument/2006/math">
                              <m:oMathParaPr>
                                <m:jc m:val="centerGroup"/>
                              </m:oMathParaPr>
                              <m:oMath xmlns:m="http://schemas.openxmlformats.org/officeDocument/2006/math">
                                <m:sSub>
                                  <m:sSubPr>
                                    <m:ctrlPr>
                                      <a:rPr lang="en-NZ" sz="1800" b="0" i="1" u="none" strike="noStrike" smtClean="0">
                                        <a:solidFill>
                                          <a:srgbClr val="000000"/>
                                        </a:solidFill>
                                        <a:effectLst/>
                                        <a:latin typeface="Cambria Math" panose="02040503050406030204" pitchFamily="18" charset="0"/>
                                      </a:rPr>
                                    </m:ctrlPr>
                                  </m:sSubPr>
                                  <m:e>
                                    <m:r>
                                      <a:rPr lang="en-NZ" sz="1800" b="0" i="1" u="none" strike="noStrike" smtClean="0">
                                        <a:solidFill>
                                          <a:srgbClr val="000000"/>
                                        </a:solidFill>
                                        <a:effectLst/>
                                        <a:latin typeface="Cambria Math" panose="02040503050406030204" pitchFamily="18" charset="0"/>
                                      </a:rPr>
                                      <m:t>𝑌</m:t>
                                    </m:r>
                                  </m:e>
                                  <m:sub>
                                    <m:r>
                                      <a:rPr lang="en-NZ" sz="1800" b="0" i="1" u="none" strike="noStrike" smtClean="0">
                                        <a:solidFill>
                                          <a:srgbClr val="000000"/>
                                        </a:solidFill>
                                        <a:effectLst/>
                                        <a:latin typeface="Cambria Math" panose="02040503050406030204" pitchFamily="18" charset="0"/>
                                      </a:rPr>
                                      <m:t>111 </m:t>
                                    </m:r>
                                  </m:sub>
                                </m:sSub>
                                <m:r>
                                  <a:rPr lang="en-NZ" sz="1800" b="0" i="1" u="none" strike="noStrike" smtClean="0">
                                    <a:solidFill>
                                      <a:srgbClr val="000000"/>
                                    </a:solidFill>
                                    <a:effectLst/>
                                    <a:latin typeface="Cambria Math" panose="02040503050406030204" pitchFamily="18" charset="0"/>
                                  </a:rPr>
                                  <m:t>,…,</m:t>
                                </m:r>
                                <m:sSub>
                                  <m:sSubPr>
                                    <m:ctrlPr>
                                      <a:rPr lang="en-NZ" sz="1800" b="0" i="1" u="none" strike="noStrike" smtClean="0">
                                        <a:solidFill>
                                          <a:srgbClr val="000000"/>
                                        </a:solidFill>
                                        <a:effectLst/>
                                        <a:latin typeface="Cambria Math" panose="02040503050406030204" pitchFamily="18" charset="0"/>
                                      </a:rPr>
                                    </m:ctrlPr>
                                  </m:sSubPr>
                                  <m:e>
                                    <m:r>
                                      <a:rPr lang="en-NZ" sz="1800" b="0" i="1" u="none" strike="noStrike" smtClean="0">
                                        <a:solidFill>
                                          <a:srgbClr val="000000"/>
                                        </a:solidFill>
                                        <a:effectLst/>
                                        <a:latin typeface="Cambria Math" panose="02040503050406030204" pitchFamily="18" charset="0"/>
                                      </a:rPr>
                                      <m:t>𝑌</m:t>
                                    </m:r>
                                  </m:e>
                                  <m:sub>
                                    <m:r>
                                      <a:rPr lang="en-NZ" sz="1800" b="0" i="1" u="none" strike="noStrike" smtClean="0">
                                        <a:solidFill>
                                          <a:srgbClr val="000000"/>
                                        </a:solidFill>
                                        <a:effectLst/>
                                        <a:latin typeface="Cambria Math" panose="02040503050406030204" pitchFamily="18" charset="0"/>
                                      </a:rPr>
                                      <m:t>11</m:t>
                                    </m:r>
                                    <m:r>
                                      <a:rPr lang="en-NZ" sz="1800" b="0" i="1" u="none" strike="noStrike" smtClean="0">
                                        <a:solidFill>
                                          <a:srgbClr val="000000"/>
                                        </a:solidFill>
                                        <a:effectLst/>
                                        <a:latin typeface="Cambria Math" panose="02040503050406030204" pitchFamily="18" charset="0"/>
                                      </a:rPr>
                                      <m:t>𝑛</m:t>
                                    </m:r>
                                  </m:sub>
                                </m:sSub>
                              </m:oMath>
                            </m:oMathPara>
                          </a14:m>
                          <a:endParaRPr lang="en-NZ" sz="1800" b="0" i="0" u="none" strike="noStrike" dirty="0">
                            <a:solidFill>
                              <a:srgbClr val="000000"/>
                            </a:solidFill>
                            <a:effectLst/>
                            <a:latin typeface="Calibri" panose="020F0502020204030204" pitchFamily="34" charset="0"/>
                          </a:endParaRP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NZ" sz="1800" b="0" i="1" u="none" strike="noStrike" smtClean="0">
                                        <a:solidFill>
                                          <a:srgbClr val="000000"/>
                                        </a:solidFill>
                                        <a:effectLst/>
                                        <a:latin typeface="Cambria Math" panose="02040503050406030204" pitchFamily="18" charset="0"/>
                                      </a:rPr>
                                    </m:ctrlPr>
                                  </m:sSubPr>
                                  <m:e>
                                    <m:r>
                                      <a:rPr lang="en-NZ" sz="1800" b="0" i="1" u="none" strike="noStrike" smtClean="0">
                                        <a:solidFill>
                                          <a:srgbClr val="000000"/>
                                        </a:solidFill>
                                        <a:effectLst/>
                                        <a:latin typeface="Cambria Math" panose="02040503050406030204" pitchFamily="18" charset="0"/>
                                      </a:rPr>
                                      <m:t>𝑌</m:t>
                                    </m:r>
                                  </m:e>
                                  <m:sub>
                                    <m:r>
                                      <a:rPr lang="en-NZ" sz="1800" b="0" i="1" u="none" strike="noStrike" smtClean="0">
                                        <a:solidFill>
                                          <a:srgbClr val="000000"/>
                                        </a:solidFill>
                                        <a:effectLst/>
                                        <a:latin typeface="Cambria Math" panose="02040503050406030204" pitchFamily="18" charset="0"/>
                                      </a:rPr>
                                      <m:t>121 </m:t>
                                    </m:r>
                                  </m:sub>
                                </m:sSub>
                                <m:r>
                                  <a:rPr lang="en-NZ" sz="1800" b="0" i="1" u="none" strike="noStrike" smtClean="0">
                                    <a:solidFill>
                                      <a:srgbClr val="000000"/>
                                    </a:solidFill>
                                    <a:effectLst/>
                                    <a:latin typeface="Cambria Math" panose="02040503050406030204" pitchFamily="18" charset="0"/>
                                  </a:rPr>
                                  <m:t>,…,</m:t>
                                </m:r>
                                <m:sSub>
                                  <m:sSubPr>
                                    <m:ctrlPr>
                                      <a:rPr lang="en-NZ" sz="1800" b="0" i="1" u="none" strike="noStrike" smtClean="0">
                                        <a:solidFill>
                                          <a:srgbClr val="000000"/>
                                        </a:solidFill>
                                        <a:effectLst/>
                                        <a:latin typeface="Cambria Math" panose="02040503050406030204" pitchFamily="18" charset="0"/>
                                      </a:rPr>
                                    </m:ctrlPr>
                                  </m:sSubPr>
                                  <m:e>
                                    <m:r>
                                      <a:rPr lang="en-NZ" sz="1800" b="0" i="1" u="none" strike="noStrike" smtClean="0">
                                        <a:solidFill>
                                          <a:srgbClr val="000000"/>
                                        </a:solidFill>
                                        <a:effectLst/>
                                        <a:latin typeface="Cambria Math" panose="02040503050406030204" pitchFamily="18" charset="0"/>
                                      </a:rPr>
                                      <m:t>𝑌</m:t>
                                    </m:r>
                                  </m:e>
                                  <m:sub>
                                    <m:r>
                                      <a:rPr lang="en-NZ" sz="1800" b="0" i="1" u="none" strike="noStrike" smtClean="0">
                                        <a:solidFill>
                                          <a:srgbClr val="000000"/>
                                        </a:solidFill>
                                        <a:effectLst/>
                                        <a:latin typeface="Cambria Math" panose="02040503050406030204" pitchFamily="18" charset="0"/>
                                      </a:rPr>
                                      <m:t>12</m:t>
                                    </m:r>
                                    <m:r>
                                      <a:rPr lang="en-NZ" sz="1800" b="0" i="1" u="none" strike="noStrike" smtClean="0">
                                        <a:solidFill>
                                          <a:srgbClr val="000000"/>
                                        </a:solidFill>
                                        <a:effectLst/>
                                        <a:latin typeface="Cambria Math" panose="02040503050406030204" pitchFamily="18" charset="0"/>
                                      </a:rPr>
                                      <m:t>𝑛</m:t>
                                    </m:r>
                                  </m:sub>
                                </m:sSub>
                              </m:oMath>
                            </m:oMathPara>
                          </a14:m>
                          <a:endParaRPr lang="en-NZ" sz="1800" b="0" i="0" u="none" strike="noStrike" dirty="0">
                            <a:solidFill>
                              <a:srgbClr val="000000"/>
                            </a:solidFill>
                            <a:effectLst/>
                            <a:latin typeface="Calibri" panose="020F0502020204030204" pitchFamily="34" charset="0"/>
                          </a:endParaRP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NZ" sz="1800" b="0" i="1" u="none" strike="noStrike" smtClean="0">
                                        <a:solidFill>
                                          <a:srgbClr val="000000"/>
                                        </a:solidFill>
                                        <a:effectLst/>
                                        <a:latin typeface="Cambria Math" panose="02040503050406030204" pitchFamily="18" charset="0"/>
                                      </a:rPr>
                                    </m:ctrlPr>
                                  </m:sSubPr>
                                  <m:e>
                                    <m:r>
                                      <a:rPr lang="en-NZ" sz="1800" b="0" i="1" u="none" strike="noStrike" smtClean="0">
                                        <a:solidFill>
                                          <a:srgbClr val="000000"/>
                                        </a:solidFill>
                                        <a:effectLst/>
                                        <a:latin typeface="Cambria Math" panose="02040503050406030204" pitchFamily="18" charset="0"/>
                                      </a:rPr>
                                      <m:t>𝑌</m:t>
                                    </m:r>
                                  </m:e>
                                  <m:sub>
                                    <m:r>
                                      <a:rPr lang="en-NZ" sz="1800" b="0" i="1" u="none" strike="noStrike" smtClean="0">
                                        <a:solidFill>
                                          <a:srgbClr val="000000"/>
                                        </a:solidFill>
                                        <a:effectLst/>
                                        <a:latin typeface="Cambria Math" panose="02040503050406030204" pitchFamily="18" charset="0"/>
                                      </a:rPr>
                                      <m:t>211 </m:t>
                                    </m:r>
                                  </m:sub>
                                </m:sSub>
                                <m:r>
                                  <a:rPr lang="en-NZ" sz="1800" b="0" i="1" u="none" strike="noStrike" smtClean="0">
                                    <a:solidFill>
                                      <a:srgbClr val="000000"/>
                                    </a:solidFill>
                                    <a:effectLst/>
                                    <a:latin typeface="Cambria Math" panose="02040503050406030204" pitchFamily="18" charset="0"/>
                                  </a:rPr>
                                  <m:t>,…,</m:t>
                                </m:r>
                                <m:sSub>
                                  <m:sSubPr>
                                    <m:ctrlPr>
                                      <a:rPr lang="en-NZ" sz="1800" b="0" i="1" u="none" strike="noStrike" smtClean="0">
                                        <a:solidFill>
                                          <a:srgbClr val="000000"/>
                                        </a:solidFill>
                                        <a:effectLst/>
                                        <a:latin typeface="Cambria Math" panose="02040503050406030204" pitchFamily="18" charset="0"/>
                                      </a:rPr>
                                    </m:ctrlPr>
                                  </m:sSubPr>
                                  <m:e>
                                    <m:r>
                                      <a:rPr lang="en-NZ" sz="1800" b="0" i="1" u="none" strike="noStrike" smtClean="0">
                                        <a:solidFill>
                                          <a:srgbClr val="000000"/>
                                        </a:solidFill>
                                        <a:effectLst/>
                                        <a:latin typeface="Cambria Math" panose="02040503050406030204" pitchFamily="18" charset="0"/>
                                      </a:rPr>
                                      <m:t>𝑌</m:t>
                                    </m:r>
                                  </m:e>
                                  <m:sub>
                                    <m:r>
                                      <a:rPr lang="en-NZ" sz="1800" b="0" i="1" u="none" strike="noStrike" smtClean="0">
                                        <a:solidFill>
                                          <a:srgbClr val="000000"/>
                                        </a:solidFill>
                                        <a:effectLst/>
                                        <a:latin typeface="Cambria Math" panose="02040503050406030204" pitchFamily="18" charset="0"/>
                                      </a:rPr>
                                      <m:t>21</m:t>
                                    </m:r>
                                    <m:r>
                                      <a:rPr lang="en-NZ" sz="1800" b="0" i="1" u="none" strike="noStrike" smtClean="0">
                                        <a:solidFill>
                                          <a:srgbClr val="000000"/>
                                        </a:solidFill>
                                        <a:effectLst/>
                                        <a:latin typeface="Cambria Math" panose="02040503050406030204" pitchFamily="18" charset="0"/>
                                      </a:rPr>
                                      <m:t>𝑛</m:t>
                                    </m:r>
                                  </m:sub>
                                </m:sSub>
                              </m:oMath>
                            </m:oMathPara>
                          </a14:m>
                          <a:endParaRPr lang="en-NZ" sz="1800" b="0" i="0" u="none" strike="noStrike" dirty="0">
                            <a:solidFill>
                              <a:srgbClr val="000000"/>
                            </a:solidFill>
                            <a:effectLst/>
                            <a:latin typeface="Calibri" panose="020F0502020204030204" pitchFamily="34" charset="0"/>
                          </a:endParaRP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chemeClr val="accent2">
                            <a:lumMod val="20000"/>
                            <a:lumOff val="80000"/>
                          </a:schemeClr>
                        </a:solidFill>
                      </a:tcPr>
                    </a:tc>
                    <a:tc>
                      <a:txBody>
                        <a:bodyPr/>
                        <a:lstStyle/>
                        <a:p>
                          <a:pPr algn="ctr" fontAlgn="ctr"/>
                          <a14:m>
                            <m:oMathPara xmlns:m="http://schemas.openxmlformats.org/officeDocument/2006/math">
                              <m:oMathParaPr>
                                <m:jc m:val="centerGroup"/>
                              </m:oMathParaPr>
                              <m:oMath xmlns:m="http://schemas.openxmlformats.org/officeDocument/2006/math">
                                <m:sSub>
                                  <m:sSubPr>
                                    <m:ctrlPr>
                                      <a:rPr lang="en-NZ" sz="1800" b="0" i="1" u="none" strike="noStrike" smtClean="0">
                                        <a:solidFill>
                                          <a:srgbClr val="000000"/>
                                        </a:solidFill>
                                        <a:effectLst/>
                                        <a:latin typeface="Cambria Math" panose="02040503050406030204" pitchFamily="18" charset="0"/>
                                      </a:rPr>
                                    </m:ctrlPr>
                                  </m:sSubPr>
                                  <m:e>
                                    <m:r>
                                      <a:rPr lang="en-NZ" sz="1800" b="0" i="1" u="none" strike="noStrike" smtClean="0">
                                        <a:solidFill>
                                          <a:srgbClr val="000000"/>
                                        </a:solidFill>
                                        <a:effectLst/>
                                        <a:latin typeface="Cambria Math" panose="02040503050406030204" pitchFamily="18" charset="0"/>
                                      </a:rPr>
                                      <m:t>𝑌</m:t>
                                    </m:r>
                                  </m:e>
                                  <m:sub>
                                    <m:r>
                                      <a:rPr lang="en-NZ" sz="1800" b="0" i="1" u="none" strike="noStrike" smtClean="0">
                                        <a:solidFill>
                                          <a:srgbClr val="000000"/>
                                        </a:solidFill>
                                        <a:effectLst/>
                                        <a:latin typeface="Cambria Math" panose="02040503050406030204" pitchFamily="18" charset="0"/>
                                      </a:rPr>
                                      <m:t>221 </m:t>
                                    </m:r>
                                  </m:sub>
                                </m:sSub>
                                <m:r>
                                  <a:rPr lang="en-NZ" sz="1800" b="0" i="1" u="none" strike="noStrike" smtClean="0">
                                    <a:solidFill>
                                      <a:srgbClr val="000000"/>
                                    </a:solidFill>
                                    <a:effectLst/>
                                    <a:latin typeface="Cambria Math" panose="02040503050406030204" pitchFamily="18" charset="0"/>
                                  </a:rPr>
                                  <m:t>,…,</m:t>
                                </m:r>
                                <m:sSub>
                                  <m:sSubPr>
                                    <m:ctrlPr>
                                      <a:rPr lang="en-NZ" sz="1800" b="0" i="1" u="none" strike="noStrike" smtClean="0">
                                        <a:solidFill>
                                          <a:srgbClr val="000000"/>
                                        </a:solidFill>
                                        <a:effectLst/>
                                        <a:latin typeface="Cambria Math" panose="02040503050406030204" pitchFamily="18" charset="0"/>
                                      </a:rPr>
                                    </m:ctrlPr>
                                  </m:sSubPr>
                                  <m:e>
                                    <m:r>
                                      <a:rPr lang="en-NZ" sz="1800" b="0" i="1" u="none" strike="noStrike" smtClean="0">
                                        <a:solidFill>
                                          <a:srgbClr val="000000"/>
                                        </a:solidFill>
                                        <a:effectLst/>
                                        <a:latin typeface="Cambria Math" panose="02040503050406030204" pitchFamily="18" charset="0"/>
                                      </a:rPr>
                                      <m:t>𝑌</m:t>
                                    </m:r>
                                  </m:e>
                                  <m:sub>
                                    <m:r>
                                      <a:rPr lang="en-NZ" sz="1800" b="0" i="1" u="none" strike="noStrike" smtClean="0">
                                        <a:solidFill>
                                          <a:srgbClr val="000000"/>
                                        </a:solidFill>
                                        <a:effectLst/>
                                        <a:latin typeface="Cambria Math" panose="02040503050406030204" pitchFamily="18" charset="0"/>
                                      </a:rPr>
                                      <m:t>22</m:t>
                                    </m:r>
                                    <m:r>
                                      <a:rPr lang="en-NZ" sz="1800" b="0" i="1" u="none" strike="noStrike" smtClean="0">
                                        <a:solidFill>
                                          <a:srgbClr val="000000"/>
                                        </a:solidFill>
                                        <a:effectLst/>
                                        <a:latin typeface="Cambria Math" panose="02040503050406030204" pitchFamily="18" charset="0"/>
                                      </a:rPr>
                                      <m:t>𝑛</m:t>
                                    </m:r>
                                  </m:sub>
                                </m:sSub>
                              </m:oMath>
                            </m:oMathPara>
                          </a14:m>
                          <a:endParaRPr lang="en-NZ" sz="1800" b="0" i="0" u="none" strike="noStrike" dirty="0">
                            <a:solidFill>
                              <a:srgbClr val="000000"/>
                            </a:solidFill>
                            <a:effectLst/>
                            <a:latin typeface="Calibri" panose="020F0502020204030204" pitchFamily="34" charset="0"/>
                          </a:endParaRP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chemeClr val="accent2">
                            <a:lumMod val="20000"/>
                            <a:lumOff val="80000"/>
                          </a:schemeClr>
                        </a:solidFill>
                      </a:tcPr>
                    </a:tc>
                    <a:tc>
                      <a:txBody>
                        <a:bodyPr/>
                        <a:lstStyle/>
                        <a:p>
                          <a:pPr algn="ctr" fontAlgn="ctr"/>
                          <a14:m>
                            <m:oMathPara xmlns:m="http://schemas.openxmlformats.org/officeDocument/2006/math">
                              <m:oMathParaPr>
                                <m:jc m:val="centerGroup"/>
                              </m:oMathParaPr>
                              <m:oMath xmlns:m="http://schemas.openxmlformats.org/officeDocument/2006/math">
                                <m:sSub>
                                  <m:sSubPr>
                                    <m:ctrlPr>
                                      <a:rPr lang="en-NZ" sz="1800" b="0" i="1" u="none" strike="noStrike" smtClean="0">
                                        <a:solidFill>
                                          <a:srgbClr val="000000"/>
                                        </a:solidFill>
                                        <a:effectLst/>
                                        <a:latin typeface="Cambria Math" panose="02040503050406030204" pitchFamily="18" charset="0"/>
                                      </a:rPr>
                                    </m:ctrlPr>
                                  </m:sSubPr>
                                  <m:e>
                                    <m:r>
                                      <a:rPr lang="en-NZ" sz="1800" b="0" i="1" u="none" strike="noStrike" smtClean="0">
                                        <a:solidFill>
                                          <a:srgbClr val="000000"/>
                                        </a:solidFill>
                                        <a:effectLst/>
                                        <a:latin typeface="Cambria Math" panose="02040503050406030204" pitchFamily="18" charset="0"/>
                                      </a:rPr>
                                      <m:t>𝑌</m:t>
                                    </m:r>
                                  </m:e>
                                  <m:sub>
                                    <m:r>
                                      <a:rPr lang="en-NZ" sz="1800" b="0" i="1" u="none" strike="noStrike" smtClean="0">
                                        <a:solidFill>
                                          <a:srgbClr val="000000"/>
                                        </a:solidFill>
                                        <a:effectLst/>
                                        <a:latin typeface="Cambria Math" panose="02040503050406030204" pitchFamily="18" charset="0"/>
                                      </a:rPr>
                                      <m:t>311 </m:t>
                                    </m:r>
                                  </m:sub>
                                </m:sSub>
                                <m:r>
                                  <a:rPr lang="en-NZ" sz="1800" b="0" i="1" u="none" strike="noStrike" smtClean="0">
                                    <a:solidFill>
                                      <a:srgbClr val="000000"/>
                                    </a:solidFill>
                                    <a:effectLst/>
                                    <a:latin typeface="Cambria Math" panose="02040503050406030204" pitchFamily="18" charset="0"/>
                                  </a:rPr>
                                  <m:t>,…,</m:t>
                                </m:r>
                                <m:sSub>
                                  <m:sSubPr>
                                    <m:ctrlPr>
                                      <a:rPr lang="en-NZ" sz="1800" b="0" i="1" u="none" strike="noStrike" smtClean="0">
                                        <a:solidFill>
                                          <a:srgbClr val="000000"/>
                                        </a:solidFill>
                                        <a:effectLst/>
                                        <a:latin typeface="Cambria Math" panose="02040503050406030204" pitchFamily="18" charset="0"/>
                                      </a:rPr>
                                    </m:ctrlPr>
                                  </m:sSubPr>
                                  <m:e>
                                    <m:r>
                                      <a:rPr lang="en-NZ" sz="1800" b="0" i="1" u="none" strike="noStrike" smtClean="0">
                                        <a:solidFill>
                                          <a:srgbClr val="000000"/>
                                        </a:solidFill>
                                        <a:effectLst/>
                                        <a:latin typeface="Cambria Math" panose="02040503050406030204" pitchFamily="18" charset="0"/>
                                      </a:rPr>
                                      <m:t>𝑌</m:t>
                                    </m:r>
                                  </m:e>
                                  <m:sub>
                                    <m:r>
                                      <a:rPr lang="en-NZ" sz="1800" b="0" i="1" u="none" strike="noStrike" smtClean="0">
                                        <a:solidFill>
                                          <a:srgbClr val="000000"/>
                                        </a:solidFill>
                                        <a:effectLst/>
                                        <a:latin typeface="Cambria Math" panose="02040503050406030204" pitchFamily="18" charset="0"/>
                                      </a:rPr>
                                      <m:t>31</m:t>
                                    </m:r>
                                    <m:r>
                                      <a:rPr lang="en-NZ" sz="1800" b="0" i="1" u="none" strike="noStrike" smtClean="0">
                                        <a:solidFill>
                                          <a:srgbClr val="000000"/>
                                        </a:solidFill>
                                        <a:effectLst/>
                                        <a:latin typeface="Cambria Math" panose="02040503050406030204" pitchFamily="18" charset="0"/>
                                      </a:rPr>
                                      <m:t>𝑛</m:t>
                                    </m:r>
                                  </m:sub>
                                </m:sSub>
                              </m:oMath>
                            </m:oMathPara>
                          </a14:m>
                          <a:endParaRPr lang="en-NZ" sz="1800" b="0" i="0" u="none" strike="noStrike" dirty="0">
                            <a:solidFill>
                              <a:srgbClr val="000000"/>
                            </a:solidFill>
                            <a:effectLst/>
                            <a:latin typeface="Calibri" panose="020F0502020204030204" pitchFamily="34" charset="0"/>
                          </a:endParaRP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chemeClr val="accent6">
                            <a:lumMod val="20000"/>
                            <a:lumOff val="80000"/>
                          </a:schemeClr>
                        </a:solidFill>
                      </a:tcPr>
                    </a:tc>
                    <a:tc>
                      <a:txBody>
                        <a:bodyPr/>
                        <a:lstStyle/>
                        <a:p>
                          <a:pPr algn="ctr" fontAlgn="ctr"/>
                          <a14:m>
                            <m:oMathPara xmlns:m="http://schemas.openxmlformats.org/officeDocument/2006/math">
                              <m:oMathParaPr>
                                <m:jc m:val="centerGroup"/>
                              </m:oMathParaPr>
                              <m:oMath xmlns:m="http://schemas.openxmlformats.org/officeDocument/2006/math">
                                <m:sSub>
                                  <m:sSubPr>
                                    <m:ctrlPr>
                                      <a:rPr lang="en-NZ" sz="1800" b="0" i="1" u="none" strike="noStrike" smtClean="0">
                                        <a:solidFill>
                                          <a:srgbClr val="000000"/>
                                        </a:solidFill>
                                        <a:effectLst/>
                                        <a:latin typeface="Cambria Math" panose="02040503050406030204" pitchFamily="18" charset="0"/>
                                      </a:rPr>
                                    </m:ctrlPr>
                                  </m:sSubPr>
                                  <m:e>
                                    <m:r>
                                      <a:rPr lang="en-NZ" sz="1800" b="0" i="1" u="none" strike="noStrike" smtClean="0">
                                        <a:solidFill>
                                          <a:srgbClr val="000000"/>
                                        </a:solidFill>
                                        <a:effectLst/>
                                        <a:latin typeface="Cambria Math" panose="02040503050406030204" pitchFamily="18" charset="0"/>
                                      </a:rPr>
                                      <m:t>𝑌</m:t>
                                    </m:r>
                                  </m:e>
                                  <m:sub>
                                    <m:r>
                                      <a:rPr lang="en-NZ" sz="1800" b="0" i="1" u="none" strike="noStrike" smtClean="0">
                                        <a:solidFill>
                                          <a:srgbClr val="000000"/>
                                        </a:solidFill>
                                        <a:effectLst/>
                                        <a:latin typeface="Cambria Math" panose="02040503050406030204" pitchFamily="18" charset="0"/>
                                      </a:rPr>
                                      <m:t>321 </m:t>
                                    </m:r>
                                  </m:sub>
                                </m:sSub>
                                <m:r>
                                  <a:rPr lang="en-NZ" sz="1800" b="0" i="1" u="none" strike="noStrike" smtClean="0">
                                    <a:solidFill>
                                      <a:srgbClr val="000000"/>
                                    </a:solidFill>
                                    <a:effectLst/>
                                    <a:latin typeface="Cambria Math" panose="02040503050406030204" pitchFamily="18" charset="0"/>
                                  </a:rPr>
                                  <m:t>,…,</m:t>
                                </m:r>
                                <m:sSub>
                                  <m:sSubPr>
                                    <m:ctrlPr>
                                      <a:rPr lang="en-NZ" sz="1800" b="0" i="1" u="none" strike="noStrike" smtClean="0">
                                        <a:solidFill>
                                          <a:srgbClr val="000000"/>
                                        </a:solidFill>
                                        <a:effectLst/>
                                        <a:latin typeface="Cambria Math" panose="02040503050406030204" pitchFamily="18" charset="0"/>
                                      </a:rPr>
                                    </m:ctrlPr>
                                  </m:sSubPr>
                                  <m:e>
                                    <m:r>
                                      <a:rPr lang="en-NZ" sz="1800" b="0" i="1" u="none" strike="noStrike" smtClean="0">
                                        <a:solidFill>
                                          <a:srgbClr val="000000"/>
                                        </a:solidFill>
                                        <a:effectLst/>
                                        <a:latin typeface="Cambria Math" panose="02040503050406030204" pitchFamily="18" charset="0"/>
                                      </a:rPr>
                                      <m:t>𝑌</m:t>
                                    </m:r>
                                  </m:e>
                                  <m:sub>
                                    <m:r>
                                      <a:rPr lang="en-NZ" sz="1800" b="0" i="1" u="none" strike="noStrike" smtClean="0">
                                        <a:solidFill>
                                          <a:srgbClr val="000000"/>
                                        </a:solidFill>
                                        <a:effectLst/>
                                        <a:latin typeface="Cambria Math" panose="02040503050406030204" pitchFamily="18" charset="0"/>
                                      </a:rPr>
                                      <m:t>32</m:t>
                                    </m:r>
                                    <m:r>
                                      <a:rPr lang="en-NZ" sz="1800" b="0" i="1" u="none" strike="noStrike" smtClean="0">
                                        <a:solidFill>
                                          <a:srgbClr val="000000"/>
                                        </a:solidFill>
                                        <a:effectLst/>
                                        <a:latin typeface="Cambria Math" panose="02040503050406030204" pitchFamily="18" charset="0"/>
                                      </a:rPr>
                                      <m:t>𝑛</m:t>
                                    </m:r>
                                  </m:sub>
                                </m:sSub>
                              </m:oMath>
                            </m:oMathPara>
                          </a14:m>
                          <a:endParaRPr lang="en-NZ" sz="1800" b="0" i="0" u="none" strike="noStrike" dirty="0">
                            <a:solidFill>
                              <a:srgbClr val="000000"/>
                            </a:solidFill>
                            <a:effectLst/>
                            <a:latin typeface="Calibri" panose="020F0502020204030204" pitchFamily="34" charset="0"/>
                          </a:endParaRP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3701746709"/>
                      </a:ext>
                    </a:extLst>
                  </a:tr>
                </a:tbl>
              </a:graphicData>
            </a:graphic>
          </p:graphicFrame>
        </mc:Choice>
        <mc:Fallback xmlns="">
          <p:graphicFrame>
            <p:nvGraphicFramePr>
              <p:cNvPr id="20" name="Table 19">
                <a:extLst>
                  <a:ext uri="{FF2B5EF4-FFF2-40B4-BE49-F238E27FC236}">
                    <a16:creationId xmlns:a16="http://schemas.microsoft.com/office/drawing/2014/main" id="{A96E66C7-B151-269E-09ED-D7E9AD79F484}"/>
                  </a:ext>
                </a:extLst>
              </p:cNvPr>
              <p:cNvGraphicFramePr>
                <a:graphicFrameLocks noGrp="1"/>
              </p:cNvGraphicFramePr>
              <p:nvPr>
                <p:extLst>
                  <p:ext uri="{D42A27DB-BD31-4B8C-83A1-F6EECF244321}">
                    <p14:modId xmlns:p14="http://schemas.microsoft.com/office/powerpoint/2010/main" val="2670795726"/>
                  </p:ext>
                </p:extLst>
              </p:nvPr>
            </p:nvGraphicFramePr>
            <p:xfrm>
              <a:off x="1529189" y="5021470"/>
              <a:ext cx="9715029" cy="1281803"/>
            </p:xfrm>
            <a:graphic>
              <a:graphicData uri="http://schemas.openxmlformats.org/drawingml/2006/table">
                <a:tbl>
                  <a:tblPr/>
                  <a:tblGrid>
                    <a:gridCol w="1710823">
                      <a:extLst>
                        <a:ext uri="{9D8B030D-6E8A-4147-A177-3AD203B41FA5}">
                          <a16:colId xmlns:a16="http://schemas.microsoft.com/office/drawing/2014/main" val="431019701"/>
                        </a:ext>
                      </a:extLst>
                    </a:gridCol>
                    <a:gridCol w="1527520">
                      <a:extLst>
                        <a:ext uri="{9D8B030D-6E8A-4147-A177-3AD203B41FA5}">
                          <a16:colId xmlns:a16="http://schemas.microsoft.com/office/drawing/2014/main" val="1560030749"/>
                        </a:ext>
                      </a:extLst>
                    </a:gridCol>
                    <a:gridCol w="1551961">
                      <a:extLst>
                        <a:ext uri="{9D8B030D-6E8A-4147-A177-3AD203B41FA5}">
                          <a16:colId xmlns:a16="http://schemas.microsoft.com/office/drawing/2014/main" val="3577755959"/>
                        </a:ext>
                      </a:extLst>
                    </a:gridCol>
                    <a:gridCol w="1576401">
                      <a:extLst>
                        <a:ext uri="{9D8B030D-6E8A-4147-A177-3AD203B41FA5}">
                          <a16:colId xmlns:a16="http://schemas.microsoft.com/office/drawing/2014/main" val="3538857325"/>
                        </a:ext>
                      </a:extLst>
                    </a:gridCol>
                    <a:gridCol w="1674162">
                      <a:extLst>
                        <a:ext uri="{9D8B030D-6E8A-4147-A177-3AD203B41FA5}">
                          <a16:colId xmlns:a16="http://schemas.microsoft.com/office/drawing/2014/main" val="4222012912"/>
                        </a:ext>
                      </a:extLst>
                    </a:gridCol>
                    <a:gridCol w="1674162">
                      <a:extLst>
                        <a:ext uri="{9D8B030D-6E8A-4147-A177-3AD203B41FA5}">
                          <a16:colId xmlns:a16="http://schemas.microsoft.com/office/drawing/2014/main" val="2622364620"/>
                        </a:ext>
                      </a:extLst>
                    </a:gridCol>
                  </a:tblGrid>
                  <a:tr h="283845">
                    <a:tc gridSpan="2">
                      <a:txBody>
                        <a:bodyPr/>
                        <a:lstStyle/>
                        <a:p>
                          <a:pPr algn="ctr" fontAlgn="ctr"/>
                          <a:r>
                            <a:rPr lang="en-NZ" sz="1800" b="1" i="0" u="none" strike="noStrike" dirty="0">
                              <a:solidFill>
                                <a:srgbClr val="FFFFFF"/>
                              </a:solidFill>
                              <a:effectLst/>
                              <a:latin typeface="Calibri" panose="020F0502020204030204" pitchFamily="34" charset="0"/>
                            </a:rPr>
                            <a:t>Lowton High</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2060"/>
                        </a:solidFill>
                      </a:tcPr>
                    </a:tc>
                    <a:tc hMerge="1">
                      <a:txBody>
                        <a:bodyPr/>
                        <a:lstStyle/>
                        <a:p>
                          <a:pPr algn="ctr" fontAlgn="ctr"/>
                          <a:endParaRPr lang="en-NZ" sz="1800" b="1" i="0" u="none" strike="noStrike" dirty="0">
                            <a:solidFill>
                              <a:srgbClr val="FFFFFF"/>
                            </a:solidFill>
                            <a:effectLst/>
                            <a:latin typeface="Calibri" panose="020F0502020204030204" pitchFamily="34" charset="0"/>
                          </a:endParaRP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2060"/>
                        </a:solidFill>
                      </a:tcPr>
                    </a:tc>
                    <a:tc gridSpan="2">
                      <a:txBody>
                        <a:bodyPr/>
                        <a:lstStyle/>
                        <a:p>
                          <a:pPr algn="ctr" fontAlgn="ctr"/>
                          <a:r>
                            <a:rPr lang="en-NZ" sz="1800" b="1" i="0" u="none" strike="noStrike" dirty="0" err="1">
                              <a:solidFill>
                                <a:srgbClr val="FFFFFF"/>
                              </a:solidFill>
                              <a:effectLst/>
                              <a:latin typeface="Calibri" panose="020F0502020204030204" pitchFamily="34" charset="0"/>
                            </a:rPr>
                            <a:t>Westleigh</a:t>
                          </a:r>
                          <a:r>
                            <a:rPr lang="en-NZ" sz="1800" b="1" i="0" u="none" strike="noStrike" dirty="0">
                              <a:solidFill>
                                <a:srgbClr val="FFFFFF"/>
                              </a:solidFill>
                              <a:effectLst/>
                              <a:latin typeface="Calibri" panose="020F0502020204030204" pitchFamily="34" charset="0"/>
                            </a:rPr>
                            <a:t> High</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00000"/>
                        </a:solidFill>
                      </a:tcPr>
                    </a:tc>
                    <a:tc hMerge="1">
                      <a:txBody>
                        <a:bodyPr/>
                        <a:lstStyle/>
                        <a:p>
                          <a:pPr algn="ctr" fontAlgn="ctr"/>
                          <a:endParaRPr lang="en-NZ" sz="1800" b="1" i="0" u="none" strike="noStrike" dirty="0">
                            <a:solidFill>
                              <a:srgbClr val="FFFFFF"/>
                            </a:solidFill>
                            <a:effectLst/>
                            <a:latin typeface="Calibri" panose="020F0502020204030204" pitchFamily="34" charset="0"/>
                          </a:endParaRP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2060"/>
                        </a:solidFill>
                      </a:tcPr>
                    </a:tc>
                    <a:tc gridSpan="2">
                      <a:txBody>
                        <a:bodyPr/>
                        <a:lstStyle/>
                        <a:p>
                          <a:pPr algn="ctr" fontAlgn="ctr"/>
                          <a:r>
                            <a:rPr lang="en-NZ" sz="1800" b="1" i="0" u="none" strike="noStrike" dirty="0">
                              <a:solidFill>
                                <a:srgbClr val="FFFFFF"/>
                              </a:solidFill>
                              <a:effectLst/>
                              <a:latin typeface="Calibri" panose="020F0502020204030204" pitchFamily="34" charset="0"/>
                            </a:rPr>
                            <a:t>Bedford High</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B050"/>
                        </a:solidFill>
                      </a:tcPr>
                    </a:tc>
                    <a:tc hMerge="1">
                      <a:txBody>
                        <a:bodyPr/>
                        <a:lstStyle/>
                        <a:p>
                          <a:pPr algn="ctr" fontAlgn="ctr"/>
                          <a:endParaRPr lang="en-NZ" sz="1800" b="1" i="0" u="none" strike="noStrike" dirty="0">
                            <a:solidFill>
                              <a:srgbClr val="FFFFFF"/>
                            </a:solidFill>
                            <a:effectLst/>
                            <a:latin typeface="Calibri" panose="020F0502020204030204" pitchFamily="34" charset="0"/>
                          </a:endParaRP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2060"/>
                        </a:solidFill>
                      </a:tcPr>
                    </a:tc>
                    <a:extLst>
                      <a:ext uri="{0D108BD9-81ED-4DB2-BD59-A6C34878D82A}">
                        <a16:rowId xmlns:a16="http://schemas.microsoft.com/office/drawing/2014/main" val="2591049508"/>
                      </a:ext>
                    </a:extLst>
                  </a:tr>
                  <a:tr h="283845">
                    <a:tc>
                      <a:txBody>
                        <a:bodyPr/>
                        <a:lstStyle/>
                        <a:p>
                          <a:pPr algn="ctr" fontAlgn="ctr"/>
                          <a:r>
                            <a:rPr lang="en-NZ" sz="1800" b="1" i="0" u="none" strike="noStrike" dirty="0">
                              <a:solidFill>
                                <a:srgbClr val="FFFFFF"/>
                              </a:solidFill>
                              <a:effectLst/>
                              <a:latin typeface="Calibri" panose="020F0502020204030204" pitchFamily="34" charset="0"/>
                            </a:rPr>
                            <a:t>Mr Crompton</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70C0"/>
                        </a:solidFill>
                      </a:tcPr>
                    </a:tc>
                    <a:tc>
                      <a:txBody>
                        <a:bodyPr/>
                        <a:lstStyle/>
                        <a:p>
                          <a:pPr algn="ctr" fontAlgn="ctr"/>
                          <a:r>
                            <a:rPr lang="en-NZ" sz="1800" b="1" i="0" u="none" strike="noStrike" dirty="0">
                              <a:solidFill>
                                <a:srgbClr val="FFFFFF"/>
                              </a:solidFill>
                              <a:effectLst/>
                              <a:latin typeface="Calibri" panose="020F0502020204030204" pitchFamily="34" charset="0"/>
                            </a:rPr>
                            <a:t>Mrs Turner</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70C0"/>
                        </a:solidFill>
                      </a:tcPr>
                    </a:tc>
                    <a:tc>
                      <a:txBody>
                        <a:bodyPr/>
                        <a:lstStyle/>
                        <a:p>
                          <a:pPr algn="ctr" fontAlgn="ctr"/>
                          <a:r>
                            <a:rPr lang="en-NZ" sz="1800" b="1" i="0" u="none" strike="noStrike" dirty="0">
                              <a:solidFill>
                                <a:srgbClr val="FFFFFF"/>
                              </a:solidFill>
                              <a:effectLst/>
                              <a:latin typeface="Calibri" panose="020F0502020204030204" pitchFamily="34" charset="0"/>
                            </a:rPr>
                            <a:t>Mrs Smith</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1515"/>
                        </a:solidFill>
                      </a:tcPr>
                    </a:tc>
                    <a:tc>
                      <a:txBody>
                        <a:bodyPr/>
                        <a:lstStyle/>
                        <a:p>
                          <a:pPr algn="ctr" fontAlgn="ctr"/>
                          <a:r>
                            <a:rPr lang="en-NZ" sz="1800" b="1" i="0" u="none" strike="noStrike" dirty="0">
                              <a:solidFill>
                                <a:srgbClr val="FFFFFF"/>
                              </a:solidFill>
                              <a:effectLst/>
                              <a:latin typeface="Calibri" panose="020F0502020204030204" pitchFamily="34" charset="0"/>
                            </a:rPr>
                            <a:t>Mrs Young</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1515"/>
                        </a:solidFill>
                      </a:tcPr>
                    </a:tc>
                    <a:tc>
                      <a:txBody>
                        <a:bodyPr/>
                        <a:lstStyle/>
                        <a:p>
                          <a:pPr algn="ctr" fontAlgn="ctr"/>
                          <a:r>
                            <a:rPr lang="en-NZ" sz="1800" b="1" i="0" u="none" strike="noStrike" dirty="0">
                              <a:solidFill>
                                <a:srgbClr val="FFFFFF"/>
                              </a:solidFill>
                              <a:effectLst/>
                              <a:latin typeface="Calibri" panose="020F0502020204030204" pitchFamily="34" charset="0"/>
                            </a:rPr>
                            <a:t>Mr Green</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DA63"/>
                        </a:solidFill>
                      </a:tcPr>
                    </a:tc>
                    <a:tc>
                      <a:txBody>
                        <a:bodyPr/>
                        <a:lstStyle/>
                        <a:p>
                          <a:pPr algn="ctr" fontAlgn="ctr"/>
                          <a:r>
                            <a:rPr lang="en-NZ" sz="1800" b="1" i="0" u="none" strike="noStrike" dirty="0">
                              <a:solidFill>
                                <a:srgbClr val="FFFFFF"/>
                              </a:solidFill>
                              <a:effectLst/>
                              <a:latin typeface="Calibri" panose="020F0502020204030204" pitchFamily="34" charset="0"/>
                            </a:rPr>
                            <a:t>Mr Thomas</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DA63"/>
                        </a:solidFill>
                      </a:tcPr>
                    </a:tc>
                    <a:extLst>
                      <a:ext uri="{0D108BD9-81ED-4DB2-BD59-A6C34878D82A}">
                        <a16:rowId xmlns:a16="http://schemas.microsoft.com/office/drawing/2014/main" val="4103422414"/>
                      </a:ext>
                    </a:extLst>
                  </a:tr>
                  <a:tr h="714113">
                    <a:tc>
                      <a:txBody>
                        <a:bodyPr/>
                        <a:lstStyle/>
                        <a:p>
                          <a:endParaRPr lang="en-US"/>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blipFill>
                          <a:blip r:embed="rId2"/>
                          <a:stretch>
                            <a:fillRect t="-88136" r="-467972" b="-847"/>
                          </a:stretch>
                        </a:blipFill>
                      </a:tcPr>
                    </a:tc>
                    <a:tc>
                      <a:txBody>
                        <a:bodyPr/>
                        <a:lstStyle/>
                        <a:p>
                          <a:endParaRPr lang="en-US"/>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blipFill>
                          <a:blip r:embed="rId2"/>
                          <a:stretch>
                            <a:fillRect l="-111952" t="-88136" r="-423904" b="-847"/>
                          </a:stretch>
                        </a:blipFill>
                      </a:tcPr>
                    </a:tc>
                    <a:tc>
                      <a:txBody>
                        <a:bodyPr/>
                        <a:lstStyle/>
                        <a:p>
                          <a:endParaRPr lang="en-US"/>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blipFill>
                          <a:blip r:embed="rId2"/>
                          <a:stretch>
                            <a:fillRect l="-209449" t="-88136" r="-318898" b="-847"/>
                          </a:stretch>
                        </a:blipFill>
                      </a:tcPr>
                    </a:tc>
                    <a:tc>
                      <a:txBody>
                        <a:bodyPr/>
                        <a:lstStyle/>
                        <a:p>
                          <a:endParaRPr lang="en-US"/>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blipFill>
                          <a:blip r:embed="rId2"/>
                          <a:stretch>
                            <a:fillRect l="-303475" t="-88136" r="-212741" b="-847"/>
                          </a:stretch>
                        </a:blipFill>
                      </a:tcPr>
                    </a:tc>
                    <a:tc>
                      <a:txBody>
                        <a:bodyPr/>
                        <a:lstStyle/>
                        <a:p>
                          <a:endParaRPr lang="en-US"/>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blipFill>
                          <a:blip r:embed="rId2"/>
                          <a:stretch>
                            <a:fillRect l="-380000" t="-88136" r="-100364" b="-847"/>
                          </a:stretch>
                        </a:blipFill>
                      </a:tcPr>
                    </a:tc>
                    <a:tc>
                      <a:txBody>
                        <a:bodyPr/>
                        <a:lstStyle/>
                        <a:p>
                          <a:endParaRPr lang="en-US"/>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blipFill>
                          <a:blip r:embed="rId2"/>
                          <a:stretch>
                            <a:fillRect l="-480000" t="-88136" r="-364" b="-847"/>
                          </a:stretch>
                        </a:blipFill>
                      </a:tcPr>
                    </a:tc>
                    <a:extLst>
                      <a:ext uri="{0D108BD9-81ED-4DB2-BD59-A6C34878D82A}">
                        <a16:rowId xmlns:a16="http://schemas.microsoft.com/office/drawing/2014/main" val="3701746709"/>
                      </a:ext>
                    </a:extLst>
                  </a:tr>
                </a:tbl>
              </a:graphicData>
            </a:graphic>
          </p:graphicFrame>
        </mc:Fallback>
      </mc:AlternateContent>
      <p:sp>
        <p:nvSpPr>
          <p:cNvPr id="21" name="Text Placeholder 5">
            <a:extLst>
              <a:ext uri="{FF2B5EF4-FFF2-40B4-BE49-F238E27FC236}">
                <a16:creationId xmlns:a16="http://schemas.microsoft.com/office/drawing/2014/main" id="{D5068A83-A683-1B76-C992-2EC58AA14FC5}"/>
              </a:ext>
            </a:extLst>
          </p:cNvPr>
          <p:cNvSpPr txBox="1">
            <a:spLocks/>
          </p:cNvSpPr>
          <p:nvPr/>
        </p:nvSpPr>
        <p:spPr>
          <a:xfrm>
            <a:off x="39508" y="4915868"/>
            <a:ext cx="1411344" cy="440152"/>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lang="en-NZ" altLang="ja-JP" sz="1800" b="1" dirty="0">
                <a:solidFill>
                  <a:schemeClr val="tx1"/>
                </a:solidFill>
                <a:latin typeface="Calibri" panose="020F0502020204030204"/>
                <a:ea typeface="游ゴシック" panose="020B0400000000000000" pitchFamily="34" charset="-128"/>
              </a:rPr>
              <a:t>Factor A</a:t>
            </a:r>
          </a:p>
        </p:txBody>
      </p:sp>
      <p:sp>
        <p:nvSpPr>
          <p:cNvPr id="22" name="Text Placeholder 5">
            <a:extLst>
              <a:ext uri="{FF2B5EF4-FFF2-40B4-BE49-F238E27FC236}">
                <a16:creationId xmlns:a16="http://schemas.microsoft.com/office/drawing/2014/main" id="{F7B834EB-1707-5EC3-0D87-2DFDF9EE3DD5}"/>
              </a:ext>
            </a:extLst>
          </p:cNvPr>
          <p:cNvSpPr txBox="1">
            <a:spLocks/>
          </p:cNvSpPr>
          <p:nvPr/>
        </p:nvSpPr>
        <p:spPr>
          <a:xfrm>
            <a:off x="39508" y="5246148"/>
            <a:ext cx="1411344" cy="440152"/>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lang="en-NZ" altLang="ja-JP" sz="1800" b="1" dirty="0">
                <a:solidFill>
                  <a:schemeClr val="tx1"/>
                </a:solidFill>
                <a:latin typeface="Calibri" panose="020F0502020204030204"/>
                <a:ea typeface="游ゴシック" panose="020B0400000000000000" pitchFamily="34" charset="-128"/>
              </a:rPr>
              <a:t>Factor B</a:t>
            </a:r>
          </a:p>
        </p:txBody>
      </p:sp>
      <p:sp>
        <p:nvSpPr>
          <p:cNvPr id="13" name="Footer Placeholder 2">
            <a:extLst>
              <a:ext uri="{FF2B5EF4-FFF2-40B4-BE49-F238E27FC236}">
                <a16:creationId xmlns:a16="http://schemas.microsoft.com/office/drawing/2014/main" id="{4CFB191D-BD3A-207A-9B12-079CD9C1C159}"/>
              </a:ext>
            </a:extLst>
          </p:cNvPr>
          <p:cNvSpPr txBox="1">
            <a:spLocks/>
          </p:cNvSpPr>
          <p:nvPr/>
        </p:nvSpPr>
        <p:spPr>
          <a:xfrm>
            <a:off x="8775510" y="86139"/>
            <a:ext cx="3313855"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600" dirty="0">
                <a:solidFill>
                  <a:srgbClr val="DEDDDD"/>
                </a:solidFill>
                <a:latin typeface="Gidole"/>
                <a:ea typeface="游ゴシック" panose="020B0400000000000000" pitchFamily="34" charset="-128"/>
              </a:rPr>
              <a:t>5</a:t>
            </a:r>
            <a:r>
              <a:rPr kumimoji="1" lang="en-US" altLang="ja-JP"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rPr>
              <a:t>.1 – Crossed vs Nested Designs</a:t>
            </a:r>
            <a:endParaRPr kumimoji="1" lang="ja-JP" altLang="en-US"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endParaRPr>
          </a:p>
        </p:txBody>
      </p:sp>
    </p:spTree>
    <p:extLst>
      <p:ext uri="{BB962C8B-B14F-4D97-AF65-F5344CB8AC3E}">
        <p14:creationId xmlns:p14="http://schemas.microsoft.com/office/powerpoint/2010/main" val="41619146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8"/>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18" grpId="0"/>
      <p:bldP spid="19" grpId="0"/>
      <p:bldP spid="2" grpId="0" animBg="1"/>
      <p:bldP spid="21" grpId="0"/>
      <p:bldP spid="2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6">
            <a:extLst>
              <a:ext uri="{FF2B5EF4-FFF2-40B4-BE49-F238E27FC236}">
                <a16:creationId xmlns:a16="http://schemas.microsoft.com/office/drawing/2014/main" id="{2BD5844C-C201-4666-ADB9-681CBA48DCC1}"/>
              </a:ext>
            </a:extLst>
          </p:cNvPr>
          <p:cNvSpPr txBox="1">
            <a:spLocks/>
          </p:cNvSpPr>
          <p:nvPr/>
        </p:nvSpPr>
        <p:spPr>
          <a:xfrm>
            <a:off x="251224" y="237833"/>
            <a:ext cx="8168429" cy="607201"/>
          </a:xfrm>
          <a:prstGeom prst="rect">
            <a:avLst/>
          </a:prstGeom>
        </p:spPr>
        <p:txBody>
          <a:bodyPr anchor="t">
            <a:normAutofit/>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pPr marL="0" marR="0" lvl="0" indent="0" algn="l" defTabSz="914324" rtl="0" eaLnBrk="1" fontAlgn="auto" latinLnBrk="0" hangingPunct="1">
              <a:lnSpc>
                <a:spcPct val="90000"/>
              </a:lnSpc>
              <a:spcBef>
                <a:spcPct val="0"/>
              </a:spcBef>
              <a:spcAft>
                <a:spcPts val="0"/>
              </a:spcAft>
              <a:buClrTx/>
              <a:buSzTx/>
              <a:buFontTx/>
              <a:buNone/>
              <a:tabLst/>
              <a:defRPr/>
            </a:pPr>
            <a:r>
              <a:rPr lang="en-US" altLang="ja-JP" b="1" u="sng" dirty="0">
                <a:solidFill>
                  <a:prstClr val="black"/>
                </a:solidFill>
                <a:latin typeface="Calibri" panose="020F0502020204030204"/>
                <a:ea typeface="游ゴシック Light" panose="020B0300000000000000" pitchFamily="34" charset="-128"/>
              </a:rPr>
              <a:t>5</a:t>
            </a:r>
            <a:r>
              <a:rPr kumimoji="1" lang="en-US" altLang="ja-JP"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rPr>
              <a:t>.1b – Nested Designs:</a:t>
            </a:r>
            <a:endParaRPr kumimoji="1" lang="ja-JP" altLang="en-US"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endParaRPr>
          </a:p>
        </p:txBody>
      </p:sp>
      <p:sp>
        <p:nvSpPr>
          <p:cNvPr id="10" name="Slide Number Placeholder 3">
            <a:extLst>
              <a:ext uri="{FF2B5EF4-FFF2-40B4-BE49-F238E27FC236}">
                <a16:creationId xmlns:a16="http://schemas.microsoft.com/office/drawing/2014/main" id="{B0C9041D-77F0-4656-90D4-0E84B7AC6B27}"/>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54AD89C-DF1E-4948-B597-5DD47B34A9CA}" type="slidenum">
              <a:rPr kumimoji="1" lang="ja-JP" altLang="en-US" sz="4000" b="0" i="0" u="none" strike="noStrike" kern="1200" cap="none" spc="0" normalizeH="0" baseline="0" noProof="0" smtClean="0">
                <a:ln>
                  <a:noFill/>
                </a:ln>
                <a:solidFill>
                  <a:srgbClr val="575454">
                    <a:lumMod val="20000"/>
                    <a:lumOff val="80000"/>
                  </a:srgbClr>
                </a:solidFill>
                <a:effectLst/>
                <a:uLnTx/>
                <a:uFillTx/>
                <a:latin typeface="Coo Hew"/>
                <a:ea typeface="游ゴシック" panose="020B0400000000000000"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1" lang="ja-JP" altLang="en-US" sz="4000" b="0" i="0" u="none" strike="noStrike" kern="1200" cap="none" spc="0" normalizeH="0" baseline="0" noProof="0" dirty="0">
              <a:ln>
                <a:noFill/>
              </a:ln>
              <a:solidFill>
                <a:srgbClr val="575454">
                  <a:lumMod val="20000"/>
                  <a:lumOff val="80000"/>
                </a:srgbClr>
              </a:solidFill>
              <a:effectLst/>
              <a:uLnTx/>
              <a:uFillTx/>
              <a:latin typeface="Coo Hew"/>
              <a:ea typeface="游ゴシック" panose="020B0400000000000000" pitchFamily="34" charset="-128"/>
              <a:cs typeface="+mn-cs"/>
            </a:endParaRPr>
          </a:p>
        </p:txBody>
      </p:sp>
      <p:sp>
        <p:nvSpPr>
          <p:cNvPr id="17" name="Text Placeholder 5">
            <a:extLst>
              <a:ext uri="{FF2B5EF4-FFF2-40B4-BE49-F238E27FC236}">
                <a16:creationId xmlns:a16="http://schemas.microsoft.com/office/drawing/2014/main" id="{F854F11A-87A0-F4E8-2591-53FB43E2CDAD}"/>
              </a:ext>
            </a:extLst>
          </p:cNvPr>
          <p:cNvSpPr txBox="1">
            <a:spLocks/>
          </p:cNvSpPr>
          <p:nvPr/>
        </p:nvSpPr>
        <p:spPr>
          <a:xfrm>
            <a:off x="432481" y="3064247"/>
            <a:ext cx="6312836" cy="148738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7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rPr>
              <a:t>Response Variable </a:t>
            </a:r>
            <a:r>
              <a:rPr kumimoji="1" lang="en-NZ" altLang="ja-JP" sz="17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rPr>
              <a:t>	     Student</a:t>
            </a:r>
            <a:r>
              <a:rPr kumimoji="1" lang="en-NZ" altLang="ja-JP" sz="1700" b="0" i="0" u="none" strike="noStrike" kern="1200" cap="none" spc="0" normalizeH="0" noProof="0" dirty="0">
                <a:ln>
                  <a:noFill/>
                </a:ln>
                <a:solidFill>
                  <a:prstClr val="black"/>
                </a:solidFill>
                <a:effectLst/>
                <a:uLnTx/>
                <a:uFillTx/>
                <a:latin typeface="Calibri" panose="020F0502020204030204"/>
                <a:ea typeface="游ゴシック" panose="020B0400000000000000" pitchFamily="34" charset="-128"/>
              </a:rPr>
              <a:t> scores on a math test</a:t>
            </a:r>
            <a:endParaRPr kumimoji="1" lang="en-NZ" altLang="ja-JP" sz="17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lang="en-NZ" altLang="ja-JP" sz="1700" b="1" dirty="0">
                <a:solidFill>
                  <a:prstClr val="black"/>
                </a:solidFill>
                <a:latin typeface="Calibri" panose="020F0502020204030204"/>
                <a:ea typeface="游ゴシック" panose="020B0400000000000000" pitchFamily="34" charset="-128"/>
              </a:rPr>
              <a:t>Factor A</a:t>
            </a:r>
            <a:r>
              <a:rPr lang="en-NZ" altLang="ja-JP" sz="1700" dirty="0">
                <a:solidFill>
                  <a:prstClr val="black"/>
                </a:solidFill>
                <a:latin typeface="Calibri" panose="020F0502020204030204"/>
                <a:ea typeface="游ゴシック" panose="020B0400000000000000" pitchFamily="34" charset="-128"/>
              </a:rPr>
              <a:t>    	     School</a:t>
            </a: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lang="en-NZ" altLang="ja-JP" sz="1700" b="1" dirty="0">
                <a:solidFill>
                  <a:prstClr val="black"/>
                </a:solidFill>
                <a:latin typeface="Calibri" panose="020F0502020204030204"/>
                <a:ea typeface="游ゴシック" panose="020B0400000000000000" pitchFamily="34" charset="-128"/>
              </a:rPr>
              <a:t>Factor A</a:t>
            </a:r>
            <a:r>
              <a:rPr kumimoji="1" lang="en-NZ" altLang="ja-JP" sz="17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rPr>
              <a:t> Levels </a:t>
            </a:r>
            <a:r>
              <a:rPr lang="en-NZ" altLang="ja-JP" sz="1700" b="1" dirty="0">
                <a:solidFill>
                  <a:prstClr val="black"/>
                </a:solidFill>
                <a:latin typeface="Calibri" panose="020F0502020204030204"/>
                <a:ea typeface="游ゴシック" panose="020B0400000000000000" pitchFamily="34" charset="-128"/>
              </a:rPr>
              <a:t>    	     </a:t>
            </a:r>
            <a:r>
              <a:rPr lang="en-NZ" altLang="ja-JP" sz="1700" i="0" dirty="0">
                <a:solidFill>
                  <a:prstClr val="black"/>
                </a:solidFill>
                <a:latin typeface="Calibri" panose="020F0502020204030204"/>
                <a:ea typeface="游ゴシック" panose="020B0400000000000000" pitchFamily="34" charset="-128"/>
              </a:rPr>
              <a:t>Lowton High, </a:t>
            </a:r>
            <a:r>
              <a:rPr lang="en-NZ" altLang="ja-JP" sz="1700" i="0" dirty="0" err="1">
                <a:solidFill>
                  <a:prstClr val="black"/>
                </a:solidFill>
                <a:latin typeface="Calibri" panose="020F0502020204030204"/>
                <a:ea typeface="游ゴシック" panose="020B0400000000000000" pitchFamily="34" charset="-128"/>
              </a:rPr>
              <a:t>Westleigh</a:t>
            </a:r>
            <a:r>
              <a:rPr lang="en-NZ" altLang="ja-JP" sz="1700" i="0" dirty="0">
                <a:solidFill>
                  <a:prstClr val="black"/>
                </a:solidFill>
                <a:latin typeface="Calibri" panose="020F0502020204030204"/>
                <a:ea typeface="游ゴシック" panose="020B0400000000000000" pitchFamily="34" charset="-128"/>
              </a:rPr>
              <a:t> High, Bedford High</a:t>
            </a:r>
            <a:endParaRPr kumimoji="1" lang="en-NZ" altLang="ja-JP" sz="1700" b="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endParaRPr>
          </a:p>
          <a:p>
            <a:pPr lvl="0" algn="just">
              <a:lnSpc>
                <a:spcPct val="100000"/>
              </a:lnSpc>
              <a:defRPr/>
            </a:pPr>
            <a:r>
              <a:rPr lang="en-NZ" altLang="ja-JP" sz="1700" b="1" dirty="0">
                <a:solidFill>
                  <a:prstClr val="black"/>
                </a:solidFill>
              </a:rPr>
              <a:t>Factor B</a:t>
            </a:r>
            <a:r>
              <a:rPr lang="en-NZ" altLang="ja-JP" sz="1700" dirty="0">
                <a:solidFill>
                  <a:prstClr val="black"/>
                </a:solidFill>
              </a:rPr>
              <a:t> </a:t>
            </a:r>
            <a:r>
              <a:rPr lang="en-NZ" altLang="ja-JP" sz="1700" dirty="0">
                <a:solidFill>
                  <a:prstClr val="black"/>
                </a:solidFill>
                <a:latin typeface="Calibri" panose="020F0502020204030204"/>
                <a:ea typeface="游ゴシック" panose="020B0400000000000000" pitchFamily="34" charset="-128"/>
              </a:rPr>
              <a:t>	     	     Teacher</a:t>
            </a:r>
          </a:p>
          <a:p>
            <a:pPr lvl="0" algn="just">
              <a:lnSpc>
                <a:spcPct val="100000"/>
              </a:lnSpc>
              <a:defRPr/>
            </a:pPr>
            <a:r>
              <a:rPr lang="en-NZ" altLang="ja-JP" sz="1700" b="1" dirty="0">
                <a:solidFill>
                  <a:prstClr val="black"/>
                </a:solidFill>
              </a:rPr>
              <a:t>Factor B Levels </a:t>
            </a:r>
            <a:r>
              <a:rPr lang="en-NZ" altLang="ja-JP" sz="1700" dirty="0">
                <a:solidFill>
                  <a:prstClr val="black"/>
                </a:solidFill>
                <a:latin typeface="Calibri" panose="020F0502020204030204"/>
                <a:ea typeface="游ゴシック" panose="020B0400000000000000" pitchFamily="34" charset="-128"/>
              </a:rPr>
              <a:t>	     Mr Crompton, Mrs Turner</a:t>
            </a:r>
          </a:p>
        </p:txBody>
      </p:sp>
      <p:sp>
        <p:nvSpPr>
          <p:cNvPr id="18" name="Text Placeholder 5">
            <a:extLst>
              <a:ext uri="{FF2B5EF4-FFF2-40B4-BE49-F238E27FC236}">
                <a16:creationId xmlns:a16="http://schemas.microsoft.com/office/drawing/2014/main" id="{FB7D1DBF-E633-C4E8-B22C-833F5193763C}"/>
              </a:ext>
            </a:extLst>
          </p:cNvPr>
          <p:cNvSpPr txBox="1">
            <a:spLocks/>
          </p:cNvSpPr>
          <p:nvPr/>
        </p:nvSpPr>
        <p:spPr>
          <a:xfrm>
            <a:off x="312362" y="2110996"/>
            <a:ext cx="10931856" cy="476038"/>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800" b="0" i="0" u="none" strike="noStrike" kern="1200" cap="none" spc="0" normalizeH="0" baseline="0" noProof="0" dirty="0">
                <a:ln>
                  <a:noFill/>
                </a:ln>
                <a:solidFill>
                  <a:srgbClr val="0070C0"/>
                </a:solidFill>
                <a:effectLst/>
                <a:uLnTx/>
                <a:uFillTx/>
                <a:latin typeface="Calibri" panose="020F0502020204030204"/>
                <a:ea typeface="游ゴシック" panose="020B0400000000000000" pitchFamily="34" charset="-128"/>
                <a:cs typeface="+mn-cs"/>
              </a:rPr>
              <a:t>Do the</a:t>
            </a:r>
            <a:r>
              <a:rPr kumimoji="1" lang="en-NZ" altLang="ja-JP" sz="1800" b="0" i="0" u="none" strike="noStrike" kern="1200" cap="none" spc="0" normalizeH="0" noProof="0" dirty="0">
                <a:ln>
                  <a:noFill/>
                </a:ln>
                <a:solidFill>
                  <a:srgbClr val="0070C0"/>
                </a:solidFill>
                <a:effectLst/>
                <a:uLnTx/>
                <a:uFillTx/>
                <a:latin typeface="Calibri" panose="020F0502020204030204"/>
                <a:ea typeface="游ゴシック" panose="020B0400000000000000" pitchFamily="34" charset="-128"/>
                <a:cs typeface="+mn-cs"/>
              </a:rPr>
              <a:t> scores that students attain on a maths test differ by school and teacher?</a:t>
            </a:r>
            <a:endParaRPr kumimoji="1" lang="en-US" altLang="ja-JP" sz="1800" b="1" i="1" u="none" strike="noStrike" kern="1200" cap="none" spc="0" normalizeH="0" baseline="0" noProof="0" dirty="0">
              <a:ln>
                <a:noFill/>
              </a:ln>
              <a:solidFill>
                <a:srgbClr val="0070C0"/>
              </a:solidFill>
              <a:effectLst/>
              <a:uLnTx/>
              <a:uFillTx/>
              <a:latin typeface="Calibri" panose="020F0502020204030204"/>
              <a:ea typeface="游ゴシック" panose="020B0400000000000000" pitchFamily="34" charset="-128"/>
              <a:cs typeface="+mn-cs"/>
            </a:endParaRPr>
          </a:p>
        </p:txBody>
      </p:sp>
      <p:sp>
        <p:nvSpPr>
          <p:cNvPr id="19" name="Text Placeholder 5">
            <a:extLst>
              <a:ext uri="{FF2B5EF4-FFF2-40B4-BE49-F238E27FC236}">
                <a16:creationId xmlns:a16="http://schemas.microsoft.com/office/drawing/2014/main" id="{CD1A1421-FA4A-E5DA-E404-258019B958AE}"/>
              </a:ext>
            </a:extLst>
          </p:cNvPr>
          <p:cNvSpPr txBox="1">
            <a:spLocks/>
          </p:cNvSpPr>
          <p:nvPr/>
        </p:nvSpPr>
        <p:spPr>
          <a:xfrm>
            <a:off x="7532765" y="3542140"/>
            <a:ext cx="3711453" cy="100949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lang="en-NZ" altLang="ja-JP" sz="1600" i="1" dirty="0">
                <a:solidFill>
                  <a:schemeClr val="bg2">
                    <a:lumMod val="50000"/>
                  </a:schemeClr>
                </a:solidFill>
                <a:latin typeface="Calibri" panose="020F0502020204030204"/>
                <a:ea typeface="游ゴシック" panose="020B0400000000000000" pitchFamily="34" charset="-128"/>
              </a:rPr>
              <a:t>This is a crossed design as every level of factor B (teacher) occurs with every level of factor A (school).</a:t>
            </a:r>
          </a:p>
        </p:txBody>
      </p:sp>
      <p:sp>
        <p:nvSpPr>
          <p:cNvPr id="2" name="Right Brace 1">
            <a:extLst>
              <a:ext uri="{FF2B5EF4-FFF2-40B4-BE49-F238E27FC236}">
                <a16:creationId xmlns:a16="http://schemas.microsoft.com/office/drawing/2014/main" id="{DFBADF1F-FEB2-9390-4AAC-19EF296DA975}"/>
              </a:ext>
            </a:extLst>
          </p:cNvPr>
          <p:cNvSpPr/>
          <p:nvPr/>
        </p:nvSpPr>
        <p:spPr>
          <a:xfrm>
            <a:off x="6925913" y="3486578"/>
            <a:ext cx="245660" cy="1009493"/>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NZ"/>
          </a:p>
        </p:txBody>
      </p:sp>
      <p:sp>
        <p:nvSpPr>
          <p:cNvPr id="13" name="Text Placeholder 5">
            <a:extLst>
              <a:ext uri="{FF2B5EF4-FFF2-40B4-BE49-F238E27FC236}">
                <a16:creationId xmlns:a16="http://schemas.microsoft.com/office/drawing/2014/main" id="{D0E3F40C-56D4-DD5C-01F1-200DBAECDFE6}"/>
              </a:ext>
            </a:extLst>
          </p:cNvPr>
          <p:cNvSpPr txBox="1">
            <a:spLocks/>
          </p:cNvSpPr>
          <p:nvPr/>
        </p:nvSpPr>
        <p:spPr>
          <a:xfrm>
            <a:off x="312362" y="2390920"/>
            <a:ext cx="11735044" cy="100949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lang="en-NZ" altLang="ja-JP" sz="1600" dirty="0">
                <a:solidFill>
                  <a:prstClr val="black"/>
                </a:solidFill>
                <a:latin typeface="Calibri" panose="020F0502020204030204"/>
                <a:ea typeface="游ゴシック" panose="020B0400000000000000" pitchFamily="34" charset="-128"/>
              </a:rPr>
              <a:t>In order for this experiment to be a crossed design, the same two teachers (say Mr Crompton and Mrs Turner) </a:t>
            </a: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lang="en-NZ" altLang="ja-JP" sz="1600" dirty="0">
                <a:solidFill>
                  <a:prstClr val="black"/>
                </a:solidFill>
                <a:latin typeface="Calibri" panose="020F0502020204030204"/>
                <a:ea typeface="游ゴシック" panose="020B0400000000000000" pitchFamily="34" charset="-128"/>
              </a:rPr>
              <a:t>would have to operate across all three of the schools</a:t>
            </a:r>
          </a:p>
        </p:txBody>
      </p:sp>
      <mc:AlternateContent xmlns:mc="http://schemas.openxmlformats.org/markup-compatibility/2006" xmlns:a14="http://schemas.microsoft.com/office/drawing/2010/main">
        <mc:Choice Requires="a14">
          <p:graphicFrame>
            <p:nvGraphicFramePr>
              <p:cNvPr id="14" name="Table 13">
                <a:extLst>
                  <a:ext uri="{FF2B5EF4-FFF2-40B4-BE49-F238E27FC236}">
                    <a16:creationId xmlns:a16="http://schemas.microsoft.com/office/drawing/2014/main" id="{2B412F26-7551-3C9A-DCF7-9A3DCA6B3C76}"/>
                  </a:ext>
                </a:extLst>
              </p:cNvPr>
              <p:cNvGraphicFramePr>
                <a:graphicFrameLocks noGrp="1"/>
              </p:cNvGraphicFramePr>
              <p:nvPr>
                <p:extLst>
                  <p:ext uri="{D42A27DB-BD31-4B8C-83A1-F6EECF244321}">
                    <p14:modId xmlns:p14="http://schemas.microsoft.com/office/powerpoint/2010/main" val="3544228309"/>
                  </p:ext>
                </p:extLst>
              </p:nvPr>
            </p:nvGraphicFramePr>
            <p:xfrm>
              <a:off x="2362930" y="4984610"/>
              <a:ext cx="7466140" cy="1712071"/>
            </p:xfrm>
            <a:graphic>
              <a:graphicData uri="http://schemas.openxmlformats.org/drawingml/2006/table">
                <a:tbl>
                  <a:tblPr/>
                  <a:tblGrid>
                    <a:gridCol w="1305745">
                      <a:extLst>
                        <a:ext uri="{9D8B030D-6E8A-4147-A177-3AD203B41FA5}">
                          <a16:colId xmlns:a16="http://schemas.microsoft.com/office/drawing/2014/main" val="378594080"/>
                        </a:ext>
                      </a:extLst>
                    </a:gridCol>
                    <a:gridCol w="1990764">
                      <a:extLst>
                        <a:ext uri="{9D8B030D-6E8A-4147-A177-3AD203B41FA5}">
                          <a16:colId xmlns:a16="http://schemas.microsoft.com/office/drawing/2014/main" val="3577755959"/>
                        </a:ext>
                      </a:extLst>
                    </a:gridCol>
                    <a:gridCol w="2022114">
                      <a:extLst>
                        <a:ext uri="{9D8B030D-6E8A-4147-A177-3AD203B41FA5}">
                          <a16:colId xmlns:a16="http://schemas.microsoft.com/office/drawing/2014/main" val="3538857325"/>
                        </a:ext>
                      </a:extLst>
                    </a:gridCol>
                    <a:gridCol w="2147517">
                      <a:extLst>
                        <a:ext uri="{9D8B030D-6E8A-4147-A177-3AD203B41FA5}">
                          <a16:colId xmlns:a16="http://schemas.microsoft.com/office/drawing/2014/main" val="4222012912"/>
                        </a:ext>
                      </a:extLst>
                    </a:gridCol>
                  </a:tblGrid>
                  <a:tr h="0">
                    <a:tc>
                      <a:txBody>
                        <a:bodyPr/>
                        <a:lstStyle/>
                        <a:p>
                          <a:pPr algn="ctr" fontAlgn="ctr"/>
                          <a:r>
                            <a:rPr lang="en-NZ" sz="1200" b="1" i="0" u="none" strike="noStrike" dirty="0">
                              <a:solidFill>
                                <a:srgbClr val="FFFFFF"/>
                              </a:solidFill>
                              <a:effectLst/>
                              <a:latin typeface="Calibri" panose="020F0502020204030204" pitchFamily="34" charset="0"/>
                            </a:rPr>
                            <a:t> </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2060"/>
                        </a:solidFill>
                      </a:tcPr>
                    </a:tc>
                    <a:tc>
                      <a:txBody>
                        <a:bodyPr/>
                        <a:lstStyle/>
                        <a:p>
                          <a:pPr algn="ctr" fontAlgn="ctr"/>
                          <a:r>
                            <a:rPr lang="en-NZ" sz="1800" b="1" i="0" u="none" strike="noStrike" dirty="0">
                              <a:solidFill>
                                <a:srgbClr val="FFFFFF"/>
                              </a:solidFill>
                              <a:effectLst/>
                              <a:latin typeface="Calibri" panose="020F0502020204030204" pitchFamily="34" charset="0"/>
                            </a:rPr>
                            <a:t>Lowton High</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2060"/>
                        </a:solidFill>
                      </a:tcPr>
                    </a:tc>
                    <a:tc>
                      <a:txBody>
                        <a:bodyPr/>
                        <a:lstStyle/>
                        <a:p>
                          <a:pPr algn="ctr" fontAlgn="ctr"/>
                          <a:r>
                            <a:rPr lang="en-NZ" sz="1800" b="1" i="0" u="none" strike="noStrike" dirty="0" err="1">
                              <a:solidFill>
                                <a:srgbClr val="FFFFFF"/>
                              </a:solidFill>
                              <a:effectLst/>
                              <a:latin typeface="Calibri" panose="020F0502020204030204" pitchFamily="34" charset="0"/>
                            </a:rPr>
                            <a:t>Westleigh</a:t>
                          </a:r>
                          <a:r>
                            <a:rPr lang="en-NZ" sz="1800" b="1" i="0" u="none" strike="noStrike" dirty="0">
                              <a:solidFill>
                                <a:srgbClr val="FFFFFF"/>
                              </a:solidFill>
                              <a:effectLst/>
                              <a:latin typeface="Calibri" panose="020F0502020204030204" pitchFamily="34" charset="0"/>
                            </a:rPr>
                            <a:t> High</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2060"/>
                        </a:solidFill>
                      </a:tcPr>
                    </a:tc>
                    <a:tc>
                      <a:txBody>
                        <a:bodyPr/>
                        <a:lstStyle/>
                        <a:p>
                          <a:pPr algn="ctr" fontAlgn="ctr"/>
                          <a:r>
                            <a:rPr lang="en-NZ" sz="1800" b="1" i="0" u="none" strike="noStrike" dirty="0">
                              <a:solidFill>
                                <a:srgbClr val="FFFFFF"/>
                              </a:solidFill>
                              <a:effectLst/>
                              <a:latin typeface="Calibri" panose="020F0502020204030204" pitchFamily="34" charset="0"/>
                            </a:rPr>
                            <a:t>Bedford High</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2060"/>
                        </a:solidFill>
                      </a:tcPr>
                    </a:tc>
                    <a:extLst>
                      <a:ext uri="{0D108BD9-81ED-4DB2-BD59-A6C34878D82A}">
                        <a16:rowId xmlns:a16="http://schemas.microsoft.com/office/drawing/2014/main" val="4103422414"/>
                      </a:ext>
                    </a:extLst>
                  </a:tr>
                  <a:tr h="714113">
                    <a:tc>
                      <a:txBody>
                        <a:bodyPr/>
                        <a:lstStyle/>
                        <a:p>
                          <a:pPr algn="ctr" fontAlgn="ctr"/>
                          <a:r>
                            <a:rPr lang="en-NZ" sz="1800" b="1" i="0" u="none" strike="noStrike" dirty="0">
                              <a:solidFill>
                                <a:srgbClr val="FFFFFF"/>
                              </a:solidFill>
                              <a:effectLst/>
                              <a:latin typeface="Calibri" panose="020F0502020204030204" pitchFamily="34" charset="0"/>
                            </a:rPr>
                            <a:t>Mr </a:t>
                          </a:r>
                          <a:br>
                            <a:rPr lang="en-NZ" sz="1800" b="1" i="0" u="none" strike="noStrike" dirty="0">
                              <a:solidFill>
                                <a:srgbClr val="FFFFFF"/>
                              </a:solidFill>
                              <a:effectLst/>
                              <a:latin typeface="Calibri" panose="020F0502020204030204" pitchFamily="34" charset="0"/>
                            </a:rPr>
                          </a:br>
                          <a:r>
                            <a:rPr lang="en-NZ" sz="1800" b="1" i="0" u="none" strike="noStrike" dirty="0">
                              <a:solidFill>
                                <a:srgbClr val="FFFFFF"/>
                              </a:solidFill>
                              <a:effectLst/>
                              <a:latin typeface="Calibri" panose="020F0502020204030204" pitchFamily="34" charset="0"/>
                            </a:rPr>
                            <a:t>Crompton</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2060"/>
                        </a:solidFill>
                      </a:tcPr>
                    </a:tc>
                    <a:tc>
                      <a:txBody>
                        <a:bodyPr/>
                        <a:lstStyle/>
                        <a:p>
                          <a:pPr algn="ctr" fontAlgn="ctr"/>
                          <a14:m>
                            <m:oMathPara xmlns:m="http://schemas.openxmlformats.org/officeDocument/2006/math">
                              <m:oMathParaPr>
                                <m:jc m:val="centerGroup"/>
                              </m:oMathParaPr>
                              <m:oMath xmlns:m="http://schemas.openxmlformats.org/officeDocument/2006/math">
                                <m:sSub>
                                  <m:sSubPr>
                                    <m:ctrlPr>
                                      <a:rPr lang="en-NZ" sz="1800" b="0" i="1" u="none" strike="noStrike" smtClean="0">
                                        <a:solidFill>
                                          <a:srgbClr val="000000"/>
                                        </a:solidFill>
                                        <a:effectLst/>
                                        <a:latin typeface="Cambria Math" panose="02040503050406030204" pitchFamily="18" charset="0"/>
                                      </a:rPr>
                                    </m:ctrlPr>
                                  </m:sSubPr>
                                  <m:e>
                                    <m:r>
                                      <a:rPr lang="en-NZ" sz="1800" b="0" i="1" u="none" strike="noStrike" smtClean="0">
                                        <a:solidFill>
                                          <a:srgbClr val="000000"/>
                                        </a:solidFill>
                                        <a:effectLst/>
                                        <a:latin typeface="Cambria Math" panose="02040503050406030204" pitchFamily="18" charset="0"/>
                                      </a:rPr>
                                      <m:t>𝑌</m:t>
                                    </m:r>
                                  </m:e>
                                  <m:sub>
                                    <m:r>
                                      <a:rPr lang="en-NZ" sz="1800" b="0" i="1" u="none" strike="noStrike" smtClean="0">
                                        <a:solidFill>
                                          <a:srgbClr val="000000"/>
                                        </a:solidFill>
                                        <a:effectLst/>
                                        <a:latin typeface="Cambria Math" panose="02040503050406030204" pitchFamily="18" charset="0"/>
                                      </a:rPr>
                                      <m:t>111 </m:t>
                                    </m:r>
                                  </m:sub>
                                </m:sSub>
                                <m:r>
                                  <a:rPr lang="en-NZ" sz="1800" b="0" i="1" u="none" strike="noStrike" smtClean="0">
                                    <a:solidFill>
                                      <a:srgbClr val="000000"/>
                                    </a:solidFill>
                                    <a:effectLst/>
                                    <a:latin typeface="Cambria Math" panose="02040503050406030204" pitchFamily="18" charset="0"/>
                                  </a:rPr>
                                  <m:t>,…,</m:t>
                                </m:r>
                                <m:sSub>
                                  <m:sSubPr>
                                    <m:ctrlPr>
                                      <a:rPr lang="en-NZ" sz="1800" b="0" i="1" u="none" strike="noStrike" smtClean="0">
                                        <a:solidFill>
                                          <a:srgbClr val="000000"/>
                                        </a:solidFill>
                                        <a:effectLst/>
                                        <a:latin typeface="Cambria Math" panose="02040503050406030204" pitchFamily="18" charset="0"/>
                                      </a:rPr>
                                    </m:ctrlPr>
                                  </m:sSubPr>
                                  <m:e>
                                    <m:r>
                                      <a:rPr lang="en-NZ" sz="1800" b="0" i="1" u="none" strike="noStrike" smtClean="0">
                                        <a:solidFill>
                                          <a:srgbClr val="000000"/>
                                        </a:solidFill>
                                        <a:effectLst/>
                                        <a:latin typeface="Cambria Math" panose="02040503050406030204" pitchFamily="18" charset="0"/>
                                      </a:rPr>
                                      <m:t>𝑌</m:t>
                                    </m:r>
                                  </m:e>
                                  <m:sub>
                                    <m:r>
                                      <a:rPr lang="en-NZ" sz="1800" b="0" i="1" u="none" strike="noStrike" smtClean="0">
                                        <a:solidFill>
                                          <a:srgbClr val="000000"/>
                                        </a:solidFill>
                                        <a:effectLst/>
                                        <a:latin typeface="Cambria Math" panose="02040503050406030204" pitchFamily="18" charset="0"/>
                                      </a:rPr>
                                      <m:t>11</m:t>
                                    </m:r>
                                    <m:r>
                                      <a:rPr lang="en-NZ" sz="1800" b="0" i="1" u="none" strike="noStrike" smtClean="0">
                                        <a:solidFill>
                                          <a:srgbClr val="000000"/>
                                        </a:solidFill>
                                        <a:effectLst/>
                                        <a:latin typeface="Cambria Math" panose="02040503050406030204" pitchFamily="18" charset="0"/>
                                      </a:rPr>
                                      <m:t>𝑛</m:t>
                                    </m:r>
                                  </m:sub>
                                </m:sSub>
                              </m:oMath>
                            </m:oMathPara>
                          </a14:m>
                          <a:endParaRPr lang="en-NZ" sz="1800" b="0" i="0" u="none" strike="noStrike" dirty="0">
                            <a:solidFill>
                              <a:srgbClr val="000000"/>
                            </a:solidFill>
                            <a:effectLst/>
                            <a:latin typeface="Calibri" panose="020F0502020204030204" pitchFamily="34" charset="0"/>
                          </a:endParaRP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14:m>
                            <m:oMathPara xmlns:m="http://schemas.openxmlformats.org/officeDocument/2006/math">
                              <m:oMathParaPr>
                                <m:jc m:val="centerGroup"/>
                              </m:oMathParaPr>
                              <m:oMath xmlns:m="http://schemas.openxmlformats.org/officeDocument/2006/math">
                                <m:sSub>
                                  <m:sSubPr>
                                    <m:ctrlPr>
                                      <a:rPr lang="en-NZ" sz="1800" b="0" i="1" u="none" strike="noStrike" smtClean="0">
                                        <a:solidFill>
                                          <a:srgbClr val="000000"/>
                                        </a:solidFill>
                                        <a:effectLst/>
                                        <a:latin typeface="Cambria Math" panose="02040503050406030204" pitchFamily="18" charset="0"/>
                                      </a:rPr>
                                    </m:ctrlPr>
                                  </m:sSubPr>
                                  <m:e>
                                    <m:r>
                                      <a:rPr lang="en-NZ" sz="1800" b="0" i="1" u="none" strike="noStrike" smtClean="0">
                                        <a:solidFill>
                                          <a:srgbClr val="000000"/>
                                        </a:solidFill>
                                        <a:effectLst/>
                                        <a:latin typeface="Cambria Math" panose="02040503050406030204" pitchFamily="18" charset="0"/>
                                      </a:rPr>
                                      <m:t>𝑌</m:t>
                                    </m:r>
                                  </m:e>
                                  <m:sub>
                                    <m:r>
                                      <a:rPr lang="en-NZ" sz="1800" b="0" i="1" u="none" strike="noStrike" smtClean="0">
                                        <a:solidFill>
                                          <a:srgbClr val="000000"/>
                                        </a:solidFill>
                                        <a:effectLst/>
                                        <a:latin typeface="Cambria Math" panose="02040503050406030204" pitchFamily="18" charset="0"/>
                                      </a:rPr>
                                      <m:t>211 </m:t>
                                    </m:r>
                                  </m:sub>
                                </m:sSub>
                                <m:r>
                                  <a:rPr lang="en-NZ" sz="1800" b="0" i="1" u="none" strike="noStrike" smtClean="0">
                                    <a:solidFill>
                                      <a:srgbClr val="000000"/>
                                    </a:solidFill>
                                    <a:effectLst/>
                                    <a:latin typeface="Cambria Math" panose="02040503050406030204" pitchFamily="18" charset="0"/>
                                  </a:rPr>
                                  <m:t>,…,</m:t>
                                </m:r>
                                <m:sSub>
                                  <m:sSubPr>
                                    <m:ctrlPr>
                                      <a:rPr lang="en-NZ" sz="1800" b="0" i="1" u="none" strike="noStrike" smtClean="0">
                                        <a:solidFill>
                                          <a:srgbClr val="000000"/>
                                        </a:solidFill>
                                        <a:effectLst/>
                                        <a:latin typeface="Cambria Math" panose="02040503050406030204" pitchFamily="18" charset="0"/>
                                      </a:rPr>
                                    </m:ctrlPr>
                                  </m:sSubPr>
                                  <m:e>
                                    <m:r>
                                      <a:rPr lang="en-NZ" sz="1800" b="0" i="1" u="none" strike="noStrike" smtClean="0">
                                        <a:solidFill>
                                          <a:srgbClr val="000000"/>
                                        </a:solidFill>
                                        <a:effectLst/>
                                        <a:latin typeface="Cambria Math" panose="02040503050406030204" pitchFamily="18" charset="0"/>
                                      </a:rPr>
                                      <m:t>𝑌</m:t>
                                    </m:r>
                                  </m:e>
                                  <m:sub>
                                    <m:r>
                                      <a:rPr lang="en-NZ" sz="1800" b="0" i="1" u="none" strike="noStrike" smtClean="0">
                                        <a:solidFill>
                                          <a:srgbClr val="000000"/>
                                        </a:solidFill>
                                        <a:effectLst/>
                                        <a:latin typeface="Cambria Math" panose="02040503050406030204" pitchFamily="18" charset="0"/>
                                      </a:rPr>
                                      <m:t>21</m:t>
                                    </m:r>
                                    <m:r>
                                      <a:rPr lang="en-NZ" sz="1800" b="0" i="1" u="none" strike="noStrike" smtClean="0">
                                        <a:solidFill>
                                          <a:srgbClr val="000000"/>
                                        </a:solidFill>
                                        <a:effectLst/>
                                        <a:latin typeface="Cambria Math" panose="02040503050406030204" pitchFamily="18" charset="0"/>
                                      </a:rPr>
                                      <m:t>𝑛</m:t>
                                    </m:r>
                                  </m:sub>
                                </m:sSub>
                              </m:oMath>
                            </m:oMathPara>
                          </a14:m>
                          <a:endParaRPr lang="en-NZ" sz="1800" b="0" i="0" u="none" strike="noStrike" dirty="0">
                            <a:solidFill>
                              <a:srgbClr val="000000"/>
                            </a:solidFill>
                            <a:effectLst/>
                            <a:latin typeface="Calibri" panose="020F0502020204030204" pitchFamily="34" charset="0"/>
                          </a:endParaRP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14:m>
                            <m:oMathPara xmlns:m="http://schemas.openxmlformats.org/officeDocument/2006/math">
                              <m:oMathParaPr>
                                <m:jc m:val="centerGroup"/>
                              </m:oMathParaPr>
                              <m:oMath xmlns:m="http://schemas.openxmlformats.org/officeDocument/2006/math">
                                <m:sSub>
                                  <m:sSubPr>
                                    <m:ctrlPr>
                                      <a:rPr lang="en-NZ" sz="1800" b="0" i="1" u="none" strike="noStrike" smtClean="0">
                                        <a:solidFill>
                                          <a:srgbClr val="000000"/>
                                        </a:solidFill>
                                        <a:effectLst/>
                                        <a:latin typeface="Cambria Math" panose="02040503050406030204" pitchFamily="18" charset="0"/>
                                      </a:rPr>
                                    </m:ctrlPr>
                                  </m:sSubPr>
                                  <m:e>
                                    <m:r>
                                      <a:rPr lang="en-NZ" sz="1800" b="0" i="1" u="none" strike="noStrike" smtClean="0">
                                        <a:solidFill>
                                          <a:srgbClr val="000000"/>
                                        </a:solidFill>
                                        <a:effectLst/>
                                        <a:latin typeface="Cambria Math" panose="02040503050406030204" pitchFamily="18" charset="0"/>
                                      </a:rPr>
                                      <m:t>𝑌</m:t>
                                    </m:r>
                                  </m:e>
                                  <m:sub>
                                    <m:r>
                                      <a:rPr lang="en-NZ" sz="1800" b="0" i="1" u="none" strike="noStrike" smtClean="0">
                                        <a:solidFill>
                                          <a:srgbClr val="000000"/>
                                        </a:solidFill>
                                        <a:effectLst/>
                                        <a:latin typeface="Cambria Math" panose="02040503050406030204" pitchFamily="18" charset="0"/>
                                      </a:rPr>
                                      <m:t>311 </m:t>
                                    </m:r>
                                  </m:sub>
                                </m:sSub>
                                <m:r>
                                  <a:rPr lang="en-NZ" sz="1800" b="0" i="1" u="none" strike="noStrike" smtClean="0">
                                    <a:solidFill>
                                      <a:srgbClr val="000000"/>
                                    </a:solidFill>
                                    <a:effectLst/>
                                    <a:latin typeface="Cambria Math" panose="02040503050406030204" pitchFamily="18" charset="0"/>
                                  </a:rPr>
                                  <m:t>,…,</m:t>
                                </m:r>
                                <m:sSub>
                                  <m:sSubPr>
                                    <m:ctrlPr>
                                      <a:rPr lang="en-NZ" sz="1800" b="0" i="1" u="none" strike="noStrike" smtClean="0">
                                        <a:solidFill>
                                          <a:srgbClr val="000000"/>
                                        </a:solidFill>
                                        <a:effectLst/>
                                        <a:latin typeface="Cambria Math" panose="02040503050406030204" pitchFamily="18" charset="0"/>
                                      </a:rPr>
                                    </m:ctrlPr>
                                  </m:sSubPr>
                                  <m:e>
                                    <m:r>
                                      <a:rPr lang="en-NZ" sz="1800" b="0" i="1" u="none" strike="noStrike" smtClean="0">
                                        <a:solidFill>
                                          <a:srgbClr val="000000"/>
                                        </a:solidFill>
                                        <a:effectLst/>
                                        <a:latin typeface="Cambria Math" panose="02040503050406030204" pitchFamily="18" charset="0"/>
                                      </a:rPr>
                                      <m:t>𝑌</m:t>
                                    </m:r>
                                  </m:e>
                                  <m:sub>
                                    <m:r>
                                      <a:rPr lang="en-NZ" sz="1800" b="0" i="1" u="none" strike="noStrike" smtClean="0">
                                        <a:solidFill>
                                          <a:srgbClr val="000000"/>
                                        </a:solidFill>
                                        <a:effectLst/>
                                        <a:latin typeface="Cambria Math" panose="02040503050406030204" pitchFamily="18" charset="0"/>
                                      </a:rPr>
                                      <m:t>31</m:t>
                                    </m:r>
                                    <m:r>
                                      <a:rPr lang="en-NZ" sz="1800" b="0" i="1" u="none" strike="noStrike" smtClean="0">
                                        <a:solidFill>
                                          <a:srgbClr val="000000"/>
                                        </a:solidFill>
                                        <a:effectLst/>
                                        <a:latin typeface="Cambria Math" panose="02040503050406030204" pitchFamily="18" charset="0"/>
                                      </a:rPr>
                                      <m:t>𝑛</m:t>
                                    </m:r>
                                  </m:sub>
                                </m:sSub>
                              </m:oMath>
                            </m:oMathPara>
                          </a14:m>
                          <a:endParaRPr lang="en-NZ" sz="1800" b="0" i="0" u="none" strike="noStrike" dirty="0">
                            <a:solidFill>
                              <a:srgbClr val="000000"/>
                            </a:solidFill>
                            <a:effectLst/>
                            <a:latin typeface="Calibri" panose="020F0502020204030204" pitchFamily="34" charset="0"/>
                          </a:endParaRP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3701746709"/>
                      </a:ext>
                    </a:extLst>
                  </a:tr>
                  <a:tr h="714113">
                    <a:tc>
                      <a:txBody>
                        <a:bodyPr/>
                        <a:lstStyle/>
                        <a:p>
                          <a:pPr algn="ctr" fontAlgn="ctr"/>
                          <a:r>
                            <a:rPr lang="en-NZ" sz="1800" b="1" i="0" u="none" strike="noStrike" dirty="0">
                              <a:solidFill>
                                <a:srgbClr val="FFFFFF"/>
                              </a:solidFill>
                              <a:effectLst/>
                              <a:latin typeface="Calibri" panose="020F0502020204030204" pitchFamily="34" charset="0"/>
                            </a:rPr>
                            <a:t>Mrs </a:t>
                          </a:r>
                          <a:br>
                            <a:rPr lang="en-NZ" sz="1800" b="1" i="0" u="none" strike="noStrike" dirty="0">
                              <a:solidFill>
                                <a:srgbClr val="FFFFFF"/>
                              </a:solidFill>
                              <a:effectLst/>
                              <a:latin typeface="Calibri" panose="020F0502020204030204" pitchFamily="34" charset="0"/>
                            </a:rPr>
                          </a:br>
                          <a:r>
                            <a:rPr lang="en-NZ" sz="1800" b="1" i="0" u="none" strike="noStrike" dirty="0">
                              <a:solidFill>
                                <a:srgbClr val="FFFFFF"/>
                              </a:solidFill>
                              <a:effectLst/>
                              <a:latin typeface="Calibri" panose="020F0502020204030204" pitchFamily="34" charset="0"/>
                            </a:rPr>
                            <a:t>Turner</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2060"/>
                        </a:solidFill>
                      </a:tcPr>
                    </a:tc>
                    <a:tc>
                      <a:txBody>
                        <a:bodyPr/>
                        <a:lstStyle/>
                        <a:p>
                          <a:pPr algn="ctr" fontAlgn="ctr"/>
                          <a14:m>
                            <m:oMathPara xmlns:m="http://schemas.openxmlformats.org/officeDocument/2006/math">
                              <m:oMathParaPr>
                                <m:jc m:val="centerGroup"/>
                              </m:oMathParaPr>
                              <m:oMath xmlns:m="http://schemas.openxmlformats.org/officeDocument/2006/math">
                                <m:sSub>
                                  <m:sSubPr>
                                    <m:ctrlPr>
                                      <a:rPr lang="en-NZ" sz="1800" b="0" i="1" u="none" strike="noStrike" smtClean="0">
                                        <a:solidFill>
                                          <a:srgbClr val="000000"/>
                                        </a:solidFill>
                                        <a:effectLst/>
                                        <a:latin typeface="Cambria Math" panose="02040503050406030204" pitchFamily="18" charset="0"/>
                                      </a:rPr>
                                    </m:ctrlPr>
                                  </m:sSubPr>
                                  <m:e>
                                    <m:r>
                                      <a:rPr lang="en-NZ" sz="1800" b="0" i="1" u="none" strike="noStrike" smtClean="0">
                                        <a:solidFill>
                                          <a:srgbClr val="000000"/>
                                        </a:solidFill>
                                        <a:effectLst/>
                                        <a:latin typeface="Cambria Math" panose="02040503050406030204" pitchFamily="18" charset="0"/>
                                      </a:rPr>
                                      <m:t>𝑌</m:t>
                                    </m:r>
                                  </m:e>
                                  <m:sub>
                                    <m:r>
                                      <a:rPr lang="en-NZ" sz="1800" b="0" i="1" u="none" strike="noStrike" smtClean="0">
                                        <a:solidFill>
                                          <a:srgbClr val="000000"/>
                                        </a:solidFill>
                                        <a:effectLst/>
                                        <a:latin typeface="Cambria Math" panose="02040503050406030204" pitchFamily="18" charset="0"/>
                                      </a:rPr>
                                      <m:t>121 </m:t>
                                    </m:r>
                                  </m:sub>
                                </m:sSub>
                                <m:r>
                                  <a:rPr lang="en-NZ" sz="1800" b="0" i="1" u="none" strike="noStrike" smtClean="0">
                                    <a:solidFill>
                                      <a:srgbClr val="000000"/>
                                    </a:solidFill>
                                    <a:effectLst/>
                                    <a:latin typeface="Cambria Math" panose="02040503050406030204" pitchFamily="18" charset="0"/>
                                  </a:rPr>
                                  <m:t>,…,</m:t>
                                </m:r>
                                <m:sSub>
                                  <m:sSubPr>
                                    <m:ctrlPr>
                                      <a:rPr lang="en-NZ" sz="1800" b="0" i="1" u="none" strike="noStrike" smtClean="0">
                                        <a:solidFill>
                                          <a:srgbClr val="000000"/>
                                        </a:solidFill>
                                        <a:effectLst/>
                                        <a:latin typeface="Cambria Math" panose="02040503050406030204" pitchFamily="18" charset="0"/>
                                      </a:rPr>
                                    </m:ctrlPr>
                                  </m:sSubPr>
                                  <m:e>
                                    <m:r>
                                      <a:rPr lang="en-NZ" sz="1800" b="0" i="1" u="none" strike="noStrike" smtClean="0">
                                        <a:solidFill>
                                          <a:srgbClr val="000000"/>
                                        </a:solidFill>
                                        <a:effectLst/>
                                        <a:latin typeface="Cambria Math" panose="02040503050406030204" pitchFamily="18" charset="0"/>
                                      </a:rPr>
                                      <m:t>𝑌</m:t>
                                    </m:r>
                                  </m:e>
                                  <m:sub>
                                    <m:r>
                                      <a:rPr lang="en-NZ" sz="1800" b="0" i="1" u="none" strike="noStrike" smtClean="0">
                                        <a:solidFill>
                                          <a:srgbClr val="000000"/>
                                        </a:solidFill>
                                        <a:effectLst/>
                                        <a:latin typeface="Cambria Math" panose="02040503050406030204" pitchFamily="18" charset="0"/>
                                      </a:rPr>
                                      <m:t>12</m:t>
                                    </m:r>
                                    <m:r>
                                      <a:rPr lang="en-NZ" sz="1800" b="0" i="1" u="none" strike="noStrike" smtClean="0">
                                        <a:solidFill>
                                          <a:srgbClr val="000000"/>
                                        </a:solidFill>
                                        <a:effectLst/>
                                        <a:latin typeface="Cambria Math" panose="02040503050406030204" pitchFamily="18" charset="0"/>
                                      </a:rPr>
                                      <m:t>𝑛</m:t>
                                    </m:r>
                                  </m:sub>
                                </m:sSub>
                              </m:oMath>
                            </m:oMathPara>
                          </a14:m>
                          <a:endParaRPr lang="en-NZ" sz="1800" b="0" i="0" u="none" strike="noStrike" dirty="0">
                            <a:solidFill>
                              <a:srgbClr val="000000"/>
                            </a:solidFill>
                            <a:effectLst/>
                            <a:latin typeface="Calibri" panose="020F0502020204030204" pitchFamily="34" charset="0"/>
                          </a:endParaRP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14:m>
                            <m:oMathPara xmlns:m="http://schemas.openxmlformats.org/officeDocument/2006/math">
                              <m:oMathParaPr>
                                <m:jc m:val="centerGroup"/>
                              </m:oMathParaPr>
                              <m:oMath xmlns:m="http://schemas.openxmlformats.org/officeDocument/2006/math">
                                <m:sSub>
                                  <m:sSubPr>
                                    <m:ctrlPr>
                                      <a:rPr lang="en-NZ" sz="1800" b="0" i="1" u="none" strike="noStrike" smtClean="0">
                                        <a:solidFill>
                                          <a:srgbClr val="000000"/>
                                        </a:solidFill>
                                        <a:effectLst/>
                                        <a:latin typeface="Cambria Math" panose="02040503050406030204" pitchFamily="18" charset="0"/>
                                      </a:rPr>
                                    </m:ctrlPr>
                                  </m:sSubPr>
                                  <m:e>
                                    <m:r>
                                      <a:rPr lang="en-NZ" sz="1800" b="0" i="1" u="none" strike="noStrike" smtClean="0">
                                        <a:solidFill>
                                          <a:srgbClr val="000000"/>
                                        </a:solidFill>
                                        <a:effectLst/>
                                        <a:latin typeface="Cambria Math" panose="02040503050406030204" pitchFamily="18" charset="0"/>
                                      </a:rPr>
                                      <m:t>𝑌</m:t>
                                    </m:r>
                                  </m:e>
                                  <m:sub>
                                    <m:r>
                                      <a:rPr lang="en-NZ" sz="1800" b="0" i="1" u="none" strike="noStrike" smtClean="0">
                                        <a:solidFill>
                                          <a:srgbClr val="000000"/>
                                        </a:solidFill>
                                        <a:effectLst/>
                                        <a:latin typeface="Cambria Math" panose="02040503050406030204" pitchFamily="18" charset="0"/>
                                      </a:rPr>
                                      <m:t>221 </m:t>
                                    </m:r>
                                  </m:sub>
                                </m:sSub>
                                <m:r>
                                  <a:rPr lang="en-NZ" sz="1800" b="0" i="1" u="none" strike="noStrike" smtClean="0">
                                    <a:solidFill>
                                      <a:srgbClr val="000000"/>
                                    </a:solidFill>
                                    <a:effectLst/>
                                    <a:latin typeface="Cambria Math" panose="02040503050406030204" pitchFamily="18" charset="0"/>
                                  </a:rPr>
                                  <m:t>,…,</m:t>
                                </m:r>
                                <m:sSub>
                                  <m:sSubPr>
                                    <m:ctrlPr>
                                      <a:rPr lang="en-NZ" sz="1800" b="0" i="1" u="none" strike="noStrike" smtClean="0">
                                        <a:solidFill>
                                          <a:srgbClr val="000000"/>
                                        </a:solidFill>
                                        <a:effectLst/>
                                        <a:latin typeface="Cambria Math" panose="02040503050406030204" pitchFamily="18" charset="0"/>
                                      </a:rPr>
                                    </m:ctrlPr>
                                  </m:sSubPr>
                                  <m:e>
                                    <m:r>
                                      <a:rPr lang="en-NZ" sz="1800" b="0" i="1" u="none" strike="noStrike" smtClean="0">
                                        <a:solidFill>
                                          <a:srgbClr val="000000"/>
                                        </a:solidFill>
                                        <a:effectLst/>
                                        <a:latin typeface="Cambria Math" panose="02040503050406030204" pitchFamily="18" charset="0"/>
                                      </a:rPr>
                                      <m:t>𝑌</m:t>
                                    </m:r>
                                  </m:e>
                                  <m:sub>
                                    <m:r>
                                      <a:rPr lang="en-NZ" sz="1800" b="0" i="1" u="none" strike="noStrike" smtClean="0">
                                        <a:solidFill>
                                          <a:srgbClr val="000000"/>
                                        </a:solidFill>
                                        <a:effectLst/>
                                        <a:latin typeface="Cambria Math" panose="02040503050406030204" pitchFamily="18" charset="0"/>
                                      </a:rPr>
                                      <m:t>22</m:t>
                                    </m:r>
                                    <m:r>
                                      <a:rPr lang="en-NZ" sz="1800" b="0" i="1" u="none" strike="noStrike" smtClean="0">
                                        <a:solidFill>
                                          <a:srgbClr val="000000"/>
                                        </a:solidFill>
                                        <a:effectLst/>
                                        <a:latin typeface="Cambria Math" panose="02040503050406030204" pitchFamily="18" charset="0"/>
                                      </a:rPr>
                                      <m:t>𝑛</m:t>
                                    </m:r>
                                  </m:sub>
                                </m:sSub>
                              </m:oMath>
                            </m:oMathPara>
                          </a14:m>
                          <a:endParaRPr lang="en-NZ" sz="1800" b="0" i="0" u="none" strike="noStrike" dirty="0">
                            <a:solidFill>
                              <a:srgbClr val="000000"/>
                            </a:solidFill>
                            <a:effectLst/>
                            <a:latin typeface="Calibri" panose="020F0502020204030204" pitchFamily="34" charset="0"/>
                          </a:endParaRP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14:m>
                            <m:oMathPara xmlns:m="http://schemas.openxmlformats.org/officeDocument/2006/math">
                              <m:oMathParaPr>
                                <m:jc m:val="centerGroup"/>
                              </m:oMathParaPr>
                              <m:oMath xmlns:m="http://schemas.openxmlformats.org/officeDocument/2006/math">
                                <m:sSub>
                                  <m:sSubPr>
                                    <m:ctrlPr>
                                      <a:rPr lang="en-NZ" sz="1800" b="0" i="1" u="none" strike="noStrike" smtClean="0">
                                        <a:solidFill>
                                          <a:srgbClr val="000000"/>
                                        </a:solidFill>
                                        <a:effectLst/>
                                        <a:latin typeface="Cambria Math" panose="02040503050406030204" pitchFamily="18" charset="0"/>
                                      </a:rPr>
                                    </m:ctrlPr>
                                  </m:sSubPr>
                                  <m:e>
                                    <m:r>
                                      <a:rPr lang="en-NZ" sz="1800" b="0" i="1" u="none" strike="noStrike" smtClean="0">
                                        <a:solidFill>
                                          <a:srgbClr val="000000"/>
                                        </a:solidFill>
                                        <a:effectLst/>
                                        <a:latin typeface="Cambria Math" panose="02040503050406030204" pitchFamily="18" charset="0"/>
                                      </a:rPr>
                                      <m:t>𝑌</m:t>
                                    </m:r>
                                  </m:e>
                                  <m:sub>
                                    <m:r>
                                      <a:rPr lang="en-NZ" sz="1800" b="0" i="1" u="none" strike="noStrike" smtClean="0">
                                        <a:solidFill>
                                          <a:srgbClr val="000000"/>
                                        </a:solidFill>
                                        <a:effectLst/>
                                        <a:latin typeface="Cambria Math" panose="02040503050406030204" pitchFamily="18" charset="0"/>
                                      </a:rPr>
                                      <m:t>321 </m:t>
                                    </m:r>
                                  </m:sub>
                                </m:sSub>
                                <m:r>
                                  <a:rPr lang="en-NZ" sz="1800" b="0" i="1" u="none" strike="noStrike" smtClean="0">
                                    <a:solidFill>
                                      <a:srgbClr val="000000"/>
                                    </a:solidFill>
                                    <a:effectLst/>
                                    <a:latin typeface="Cambria Math" panose="02040503050406030204" pitchFamily="18" charset="0"/>
                                  </a:rPr>
                                  <m:t>,…,</m:t>
                                </m:r>
                                <m:sSub>
                                  <m:sSubPr>
                                    <m:ctrlPr>
                                      <a:rPr lang="en-NZ" sz="1800" b="0" i="1" u="none" strike="noStrike" smtClean="0">
                                        <a:solidFill>
                                          <a:srgbClr val="000000"/>
                                        </a:solidFill>
                                        <a:effectLst/>
                                        <a:latin typeface="Cambria Math" panose="02040503050406030204" pitchFamily="18" charset="0"/>
                                      </a:rPr>
                                    </m:ctrlPr>
                                  </m:sSubPr>
                                  <m:e>
                                    <m:r>
                                      <a:rPr lang="en-NZ" sz="1800" b="0" i="1" u="none" strike="noStrike" smtClean="0">
                                        <a:solidFill>
                                          <a:srgbClr val="000000"/>
                                        </a:solidFill>
                                        <a:effectLst/>
                                        <a:latin typeface="Cambria Math" panose="02040503050406030204" pitchFamily="18" charset="0"/>
                                      </a:rPr>
                                      <m:t>𝑌</m:t>
                                    </m:r>
                                  </m:e>
                                  <m:sub>
                                    <m:r>
                                      <a:rPr lang="en-NZ" sz="1800" b="0" i="1" u="none" strike="noStrike" smtClean="0">
                                        <a:solidFill>
                                          <a:srgbClr val="000000"/>
                                        </a:solidFill>
                                        <a:effectLst/>
                                        <a:latin typeface="Cambria Math" panose="02040503050406030204" pitchFamily="18" charset="0"/>
                                      </a:rPr>
                                      <m:t>32</m:t>
                                    </m:r>
                                    <m:r>
                                      <a:rPr lang="en-NZ" sz="1800" b="0" i="1" u="none" strike="noStrike" smtClean="0">
                                        <a:solidFill>
                                          <a:srgbClr val="000000"/>
                                        </a:solidFill>
                                        <a:effectLst/>
                                        <a:latin typeface="Cambria Math" panose="02040503050406030204" pitchFamily="18" charset="0"/>
                                      </a:rPr>
                                      <m:t>𝑛</m:t>
                                    </m:r>
                                  </m:sub>
                                </m:sSub>
                              </m:oMath>
                            </m:oMathPara>
                          </a14:m>
                          <a:endParaRPr lang="en-NZ" sz="1800" b="0" i="0" u="none" strike="noStrike" dirty="0">
                            <a:solidFill>
                              <a:srgbClr val="000000"/>
                            </a:solidFill>
                            <a:effectLst/>
                            <a:latin typeface="Calibri" panose="020F0502020204030204" pitchFamily="34" charset="0"/>
                          </a:endParaRP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1879914665"/>
                      </a:ext>
                    </a:extLst>
                  </a:tr>
                </a:tbl>
              </a:graphicData>
            </a:graphic>
          </p:graphicFrame>
        </mc:Choice>
        <mc:Fallback xmlns="">
          <p:graphicFrame>
            <p:nvGraphicFramePr>
              <p:cNvPr id="14" name="Table 13">
                <a:extLst>
                  <a:ext uri="{FF2B5EF4-FFF2-40B4-BE49-F238E27FC236}">
                    <a16:creationId xmlns:a16="http://schemas.microsoft.com/office/drawing/2014/main" id="{2B412F26-7551-3C9A-DCF7-9A3DCA6B3C76}"/>
                  </a:ext>
                </a:extLst>
              </p:cNvPr>
              <p:cNvGraphicFramePr>
                <a:graphicFrameLocks noGrp="1"/>
              </p:cNvGraphicFramePr>
              <p:nvPr>
                <p:extLst>
                  <p:ext uri="{D42A27DB-BD31-4B8C-83A1-F6EECF244321}">
                    <p14:modId xmlns:p14="http://schemas.microsoft.com/office/powerpoint/2010/main" val="3544228309"/>
                  </p:ext>
                </p:extLst>
              </p:nvPr>
            </p:nvGraphicFramePr>
            <p:xfrm>
              <a:off x="2362930" y="4984610"/>
              <a:ext cx="7466140" cy="1712071"/>
            </p:xfrm>
            <a:graphic>
              <a:graphicData uri="http://schemas.openxmlformats.org/drawingml/2006/table">
                <a:tbl>
                  <a:tblPr/>
                  <a:tblGrid>
                    <a:gridCol w="1305745">
                      <a:extLst>
                        <a:ext uri="{9D8B030D-6E8A-4147-A177-3AD203B41FA5}">
                          <a16:colId xmlns:a16="http://schemas.microsoft.com/office/drawing/2014/main" val="378594080"/>
                        </a:ext>
                      </a:extLst>
                    </a:gridCol>
                    <a:gridCol w="1990764">
                      <a:extLst>
                        <a:ext uri="{9D8B030D-6E8A-4147-A177-3AD203B41FA5}">
                          <a16:colId xmlns:a16="http://schemas.microsoft.com/office/drawing/2014/main" val="3577755959"/>
                        </a:ext>
                      </a:extLst>
                    </a:gridCol>
                    <a:gridCol w="2022114">
                      <a:extLst>
                        <a:ext uri="{9D8B030D-6E8A-4147-A177-3AD203B41FA5}">
                          <a16:colId xmlns:a16="http://schemas.microsoft.com/office/drawing/2014/main" val="3538857325"/>
                        </a:ext>
                      </a:extLst>
                    </a:gridCol>
                    <a:gridCol w="2147517">
                      <a:extLst>
                        <a:ext uri="{9D8B030D-6E8A-4147-A177-3AD203B41FA5}">
                          <a16:colId xmlns:a16="http://schemas.microsoft.com/office/drawing/2014/main" val="4222012912"/>
                        </a:ext>
                      </a:extLst>
                    </a:gridCol>
                  </a:tblGrid>
                  <a:tr h="283845">
                    <a:tc>
                      <a:txBody>
                        <a:bodyPr/>
                        <a:lstStyle/>
                        <a:p>
                          <a:pPr algn="ctr" fontAlgn="ctr"/>
                          <a:r>
                            <a:rPr lang="en-NZ" sz="1200" b="1" i="0" u="none" strike="noStrike" dirty="0">
                              <a:solidFill>
                                <a:srgbClr val="FFFFFF"/>
                              </a:solidFill>
                              <a:effectLst/>
                              <a:latin typeface="Calibri" panose="020F0502020204030204" pitchFamily="34" charset="0"/>
                            </a:rPr>
                            <a:t> </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2060"/>
                        </a:solidFill>
                      </a:tcPr>
                    </a:tc>
                    <a:tc>
                      <a:txBody>
                        <a:bodyPr/>
                        <a:lstStyle/>
                        <a:p>
                          <a:pPr algn="ctr" fontAlgn="ctr"/>
                          <a:r>
                            <a:rPr lang="en-NZ" sz="1800" b="1" i="0" u="none" strike="noStrike" dirty="0">
                              <a:solidFill>
                                <a:srgbClr val="FFFFFF"/>
                              </a:solidFill>
                              <a:effectLst/>
                              <a:latin typeface="Calibri" panose="020F0502020204030204" pitchFamily="34" charset="0"/>
                            </a:rPr>
                            <a:t>Lowton High</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2060"/>
                        </a:solidFill>
                      </a:tcPr>
                    </a:tc>
                    <a:tc>
                      <a:txBody>
                        <a:bodyPr/>
                        <a:lstStyle/>
                        <a:p>
                          <a:pPr algn="ctr" fontAlgn="ctr"/>
                          <a:r>
                            <a:rPr lang="en-NZ" sz="1800" b="1" i="0" u="none" strike="noStrike" dirty="0" err="1">
                              <a:solidFill>
                                <a:srgbClr val="FFFFFF"/>
                              </a:solidFill>
                              <a:effectLst/>
                              <a:latin typeface="Calibri" panose="020F0502020204030204" pitchFamily="34" charset="0"/>
                            </a:rPr>
                            <a:t>Westleigh</a:t>
                          </a:r>
                          <a:r>
                            <a:rPr lang="en-NZ" sz="1800" b="1" i="0" u="none" strike="noStrike" dirty="0">
                              <a:solidFill>
                                <a:srgbClr val="FFFFFF"/>
                              </a:solidFill>
                              <a:effectLst/>
                              <a:latin typeface="Calibri" panose="020F0502020204030204" pitchFamily="34" charset="0"/>
                            </a:rPr>
                            <a:t> High</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2060"/>
                        </a:solidFill>
                      </a:tcPr>
                    </a:tc>
                    <a:tc>
                      <a:txBody>
                        <a:bodyPr/>
                        <a:lstStyle/>
                        <a:p>
                          <a:pPr algn="ctr" fontAlgn="ctr"/>
                          <a:r>
                            <a:rPr lang="en-NZ" sz="1800" b="1" i="0" u="none" strike="noStrike" dirty="0">
                              <a:solidFill>
                                <a:srgbClr val="FFFFFF"/>
                              </a:solidFill>
                              <a:effectLst/>
                              <a:latin typeface="Calibri" panose="020F0502020204030204" pitchFamily="34" charset="0"/>
                            </a:rPr>
                            <a:t>Bedford High</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2060"/>
                        </a:solidFill>
                      </a:tcPr>
                    </a:tc>
                    <a:extLst>
                      <a:ext uri="{0D108BD9-81ED-4DB2-BD59-A6C34878D82A}">
                        <a16:rowId xmlns:a16="http://schemas.microsoft.com/office/drawing/2014/main" val="4103422414"/>
                      </a:ext>
                    </a:extLst>
                  </a:tr>
                  <a:tr h="714113">
                    <a:tc>
                      <a:txBody>
                        <a:bodyPr/>
                        <a:lstStyle/>
                        <a:p>
                          <a:pPr algn="ctr" fontAlgn="ctr"/>
                          <a:r>
                            <a:rPr lang="en-NZ" sz="1800" b="1" i="0" u="none" strike="noStrike" dirty="0">
                              <a:solidFill>
                                <a:srgbClr val="FFFFFF"/>
                              </a:solidFill>
                              <a:effectLst/>
                              <a:latin typeface="Calibri" panose="020F0502020204030204" pitchFamily="34" charset="0"/>
                            </a:rPr>
                            <a:t>Mr </a:t>
                          </a:r>
                          <a:br>
                            <a:rPr lang="en-NZ" sz="1800" b="1" i="0" u="none" strike="noStrike" dirty="0">
                              <a:solidFill>
                                <a:srgbClr val="FFFFFF"/>
                              </a:solidFill>
                              <a:effectLst/>
                              <a:latin typeface="Calibri" panose="020F0502020204030204" pitchFamily="34" charset="0"/>
                            </a:rPr>
                          </a:br>
                          <a:r>
                            <a:rPr lang="en-NZ" sz="1800" b="1" i="0" u="none" strike="noStrike" dirty="0">
                              <a:solidFill>
                                <a:srgbClr val="FFFFFF"/>
                              </a:solidFill>
                              <a:effectLst/>
                              <a:latin typeface="Calibri" panose="020F0502020204030204" pitchFamily="34" charset="0"/>
                            </a:rPr>
                            <a:t>Crompton</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2060"/>
                        </a:solidFill>
                      </a:tcPr>
                    </a:tc>
                    <a:tc>
                      <a:txBody>
                        <a:bodyPr/>
                        <a:lstStyle/>
                        <a:p>
                          <a:endParaRPr lang="en-US"/>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blipFill>
                          <a:blip r:embed="rId2"/>
                          <a:stretch>
                            <a:fillRect l="-65443" t="-48718" r="-209786" b="-110256"/>
                          </a:stretch>
                        </a:blipFill>
                      </a:tcPr>
                    </a:tc>
                    <a:tc>
                      <a:txBody>
                        <a:bodyPr/>
                        <a:lstStyle/>
                        <a:p>
                          <a:endParaRPr lang="en-US"/>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blipFill>
                          <a:blip r:embed="rId2"/>
                          <a:stretch>
                            <a:fillRect l="-162952" t="-48718" r="-106627" b="-110256"/>
                          </a:stretch>
                        </a:blipFill>
                      </a:tcPr>
                    </a:tc>
                    <a:tc>
                      <a:txBody>
                        <a:bodyPr/>
                        <a:lstStyle/>
                        <a:p>
                          <a:endParaRPr lang="en-US"/>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blipFill>
                          <a:blip r:embed="rId2"/>
                          <a:stretch>
                            <a:fillRect l="-247309" t="-48718" r="-283" b="-110256"/>
                          </a:stretch>
                        </a:blipFill>
                      </a:tcPr>
                    </a:tc>
                    <a:extLst>
                      <a:ext uri="{0D108BD9-81ED-4DB2-BD59-A6C34878D82A}">
                        <a16:rowId xmlns:a16="http://schemas.microsoft.com/office/drawing/2014/main" val="3701746709"/>
                      </a:ext>
                    </a:extLst>
                  </a:tr>
                  <a:tr h="714113">
                    <a:tc>
                      <a:txBody>
                        <a:bodyPr/>
                        <a:lstStyle/>
                        <a:p>
                          <a:pPr algn="ctr" fontAlgn="ctr"/>
                          <a:r>
                            <a:rPr lang="en-NZ" sz="1800" b="1" i="0" u="none" strike="noStrike" dirty="0">
                              <a:solidFill>
                                <a:srgbClr val="FFFFFF"/>
                              </a:solidFill>
                              <a:effectLst/>
                              <a:latin typeface="Calibri" panose="020F0502020204030204" pitchFamily="34" charset="0"/>
                            </a:rPr>
                            <a:t>Mrs </a:t>
                          </a:r>
                          <a:br>
                            <a:rPr lang="en-NZ" sz="1800" b="1" i="0" u="none" strike="noStrike" dirty="0">
                              <a:solidFill>
                                <a:srgbClr val="FFFFFF"/>
                              </a:solidFill>
                              <a:effectLst/>
                              <a:latin typeface="Calibri" panose="020F0502020204030204" pitchFamily="34" charset="0"/>
                            </a:rPr>
                          </a:br>
                          <a:r>
                            <a:rPr lang="en-NZ" sz="1800" b="1" i="0" u="none" strike="noStrike" dirty="0">
                              <a:solidFill>
                                <a:srgbClr val="FFFFFF"/>
                              </a:solidFill>
                              <a:effectLst/>
                              <a:latin typeface="Calibri" panose="020F0502020204030204" pitchFamily="34" charset="0"/>
                            </a:rPr>
                            <a:t>Turner</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2060"/>
                        </a:solidFill>
                      </a:tcPr>
                    </a:tc>
                    <a:tc>
                      <a:txBody>
                        <a:bodyPr/>
                        <a:lstStyle/>
                        <a:p>
                          <a:endParaRPr lang="en-US"/>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blipFill>
                          <a:blip r:embed="rId2"/>
                          <a:stretch>
                            <a:fillRect l="-65443" t="-147458" r="-209786" b="-9322"/>
                          </a:stretch>
                        </a:blipFill>
                      </a:tcPr>
                    </a:tc>
                    <a:tc>
                      <a:txBody>
                        <a:bodyPr/>
                        <a:lstStyle/>
                        <a:p>
                          <a:endParaRPr lang="en-US"/>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blipFill>
                          <a:blip r:embed="rId2"/>
                          <a:stretch>
                            <a:fillRect l="-162952" t="-147458" r="-106627" b="-9322"/>
                          </a:stretch>
                        </a:blipFill>
                      </a:tcPr>
                    </a:tc>
                    <a:tc>
                      <a:txBody>
                        <a:bodyPr/>
                        <a:lstStyle/>
                        <a:p>
                          <a:endParaRPr lang="en-US"/>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blipFill>
                          <a:blip r:embed="rId2"/>
                          <a:stretch>
                            <a:fillRect l="-247309" t="-147458" r="-283" b="-9322"/>
                          </a:stretch>
                        </a:blipFill>
                      </a:tcPr>
                    </a:tc>
                    <a:extLst>
                      <a:ext uri="{0D108BD9-81ED-4DB2-BD59-A6C34878D82A}">
                        <a16:rowId xmlns:a16="http://schemas.microsoft.com/office/drawing/2014/main" val="1879914665"/>
                      </a:ext>
                    </a:extLst>
                  </a:tr>
                </a:tbl>
              </a:graphicData>
            </a:graphic>
          </p:graphicFrame>
        </mc:Fallback>
      </mc:AlternateContent>
      <p:sp>
        <p:nvSpPr>
          <p:cNvPr id="15" name="Text Placeholder 5">
            <a:extLst>
              <a:ext uri="{FF2B5EF4-FFF2-40B4-BE49-F238E27FC236}">
                <a16:creationId xmlns:a16="http://schemas.microsoft.com/office/drawing/2014/main" id="{FB52E963-504F-9D35-DAAD-2633114E3CB9}"/>
              </a:ext>
            </a:extLst>
          </p:cNvPr>
          <p:cNvSpPr txBox="1">
            <a:spLocks/>
          </p:cNvSpPr>
          <p:nvPr/>
        </p:nvSpPr>
        <p:spPr>
          <a:xfrm>
            <a:off x="3671248" y="4584210"/>
            <a:ext cx="6157822" cy="440152"/>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lang="en-NZ" altLang="ja-JP" sz="1800" b="1" dirty="0">
                <a:solidFill>
                  <a:srgbClr val="C00000"/>
                </a:solidFill>
                <a:latin typeface="Calibri" panose="020F0502020204030204"/>
                <a:ea typeface="游ゴシック" panose="020B0400000000000000" pitchFamily="34" charset="-128"/>
              </a:rPr>
              <a:t>Factor A</a:t>
            </a:r>
          </a:p>
        </p:txBody>
      </p:sp>
      <p:sp>
        <p:nvSpPr>
          <p:cNvPr id="16" name="Text Placeholder 5">
            <a:extLst>
              <a:ext uri="{FF2B5EF4-FFF2-40B4-BE49-F238E27FC236}">
                <a16:creationId xmlns:a16="http://schemas.microsoft.com/office/drawing/2014/main" id="{10AC33D9-AFD6-8FFF-E299-F44926013C19}"/>
              </a:ext>
            </a:extLst>
          </p:cNvPr>
          <p:cNvSpPr txBox="1">
            <a:spLocks/>
          </p:cNvSpPr>
          <p:nvPr/>
        </p:nvSpPr>
        <p:spPr>
          <a:xfrm rot="16200000">
            <a:off x="1308374" y="5770933"/>
            <a:ext cx="1411344" cy="440152"/>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lang="en-NZ" altLang="ja-JP" sz="1800" b="1" dirty="0">
                <a:solidFill>
                  <a:srgbClr val="C00000"/>
                </a:solidFill>
                <a:latin typeface="Calibri" panose="020F0502020204030204"/>
                <a:ea typeface="游ゴシック" panose="020B0400000000000000" pitchFamily="34" charset="-128"/>
              </a:rPr>
              <a:t>Factor B</a:t>
            </a:r>
          </a:p>
        </p:txBody>
      </p:sp>
      <p:sp>
        <p:nvSpPr>
          <p:cNvPr id="24" name="Text Placeholder 5">
            <a:extLst>
              <a:ext uri="{FF2B5EF4-FFF2-40B4-BE49-F238E27FC236}">
                <a16:creationId xmlns:a16="http://schemas.microsoft.com/office/drawing/2014/main" id="{240F2F63-FB28-57F3-02C6-63330318CD6F}"/>
              </a:ext>
            </a:extLst>
          </p:cNvPr>
          <p:cNvSpPr txBox="1">
            <a:spLocks/>
          </p:cNvSpPr>
          <p:nvPr/>
        </p:nvSpPr>
        <p:spPr>
          <a:xfrm>
            <a:off x="312362" y="901036"/>
            <a:ext cx="11777003" cy="100949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lang="en-NZ" altLang="ja-JP" sz="1800" dirty="0">
                <a:solidFill>
                  <a:prstClr val="black"/>
                </a:solidFill>
                <a:latin typeface="Calibri" panose="020F0502020204030204"/>
                <a:ea typeface="游ゴシック" panose="020B0400000000000000" pitchFamily="34" charset="-128"/>
              </a:rPr>
              <a:t>In a </a:t>
            </a:r>
            <a:r>
              <a:rPr lang="en-NZ" altLang="ja-JP" sz="1800" b="1" dirty="0">
                <a:solidFill>
                  <a:srgbClr val="C00000"/>
                </a:solidFill>
                <a:latin typeface="Calibri" panose="020F0502020204030204"/>
                <a:ea typeface="游ゴシック" panose="020B0400000000000000" pitchFamily="34" charset="-128"/>
              </a:rPr>
              <a:t>nested design</a:t>
            </a:r>
            <a:r>
              <a:rPr lang="en-NZ" altLang="ja-JP" sz="1800" dirty="0">
                <a:solidFill>
                  <a:srgbClr val="C00000"/>
                </a:solidFill>
                <a:latin typeface="Calibri" panose="020F0502020204030204"/>
                <a:ea typeface="游ゴシック" panose="020B0400000000000000" pitchFamily="34" charset="-128"/>
              </a:rPr>
              <a:t> </a:t>
            </a:r>
            <a:r>
              <a:rPr lang="en-NZ" altLang="ja-JP" sz="1800" dirty="0">
                <a:solidFill>
                  <a:prstClr val="black"/>
                </a:solidFill>
                <a:latin typeface="Calibri" panose="020F0502020204030204"/>
                <a:ea typeface="游ゴシック" panose="020B0400000000000000" pitchFamily="34" charset="-128"/>
              </a:rPr>
              <a:t>the levels of factor B are not identical across all levels of factor A, </a:t>
            </a: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lang="en-NZ" altLang="ja-JP" sz="1800" dirty="0">
                <a:solidFill>
                  <a:prstClr val="black"/>
                </a:solidFill>
                <a:latin typeface="Calibri" panose="020F0502020204030204"/>
                <a:ea typeface="游ゴシック" panose="020B0400000000000000" pitchFamily="34" charset="-128"/>
              </a:rPr>
              <a:t>i.e. only some levels of factor B occur within each level of factor A. </a:t>
            </a: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lang="en-NZ" altLang="ja-JP" sz="1800" dirty="0">
                <a:solidFill>
                  <a:prstClr val="black"/>
                </a:solidFill>
                <a:latin typeface="Calibri" panose="020F0502020204030204"/>
                <a:ea typeface="游ゴシック" panose="020B0400000000000000" pitchFamily="34" charset="-128"/>
              </a:rPr>
              <a:t>We say that the levels of B are ‘nested’ inside levels of factor A.</a:t>
            </a: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lang="en-NZ" altLang="ja-JP" sz="1800" dirty="0">
                <a:solidFill>
                  <a:prstClr val="black"/>
                </a:solidFill>
                <a:latin typeface="Calibri" panose="020F0502020204030204"/>
                <a:ea typeface="游ゴシック" panose="020B0400000000000000" pitchFamily="34" charset="-128"/>
              </a:rPr>
              <a:t>Typically, we are only interested in whether factor A has any effect on the response variable. </a:t>
            </a:r>
          </a:p>
        </p:txBody>
      </p:sp>
      <p:sp>
        <p:nvSpPr>
          <p:cNvPr id="20" name="Footer Placeholder 2">
            <a:extLst>
              <a:ext uri="{FF2B5EF4-FFF2-40B4-BE49-F238E27FC236}">
                <a16:creationId xmlns:a16="http://schemas.microsoft.com/office/drawing/2014/main" id="{20D7EC12-FC34-AACA-A267-43234901FDEC}"/>
              </a:ext>
            </a:extLst>
          </p:cNvPr>
          <p:cNvSpPr txBox="1">
            <a:spLocks/>
          </p:cNvSpPr>
          <p:nvPr/>
        </p:nvSpPr>
        <p:spPr>
          <a:xfrm>
            <a:off x="8775510" y="86139"/>
            <a:ext cx="3313855"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600" dirty="0">
                <a:solidFill>
                  <a:srgbClr val="DEDDDD"/>
                </a:solidFill>
                <a:latin typeface="Gidole"/>
                <a:ea typeface="游ゴシック" panose="020B0400000000000000" pitchFamily="34" charset="-128"/>
              </a:rPr>
              <a:t>5</a:t>
            </a:r>
            <a:r>
              <a:rPr kumimoji="1" lang="en-US" altLang="ja-JP"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rPr>
              <a:t>.1 – Crossed vs Nested Designs</a:t>
            </a:r>
            <a:endParaRPr kumimoji="1" lang="ja-JP" altLang="en-US"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endParaRPr>
          </a:p>
        </p:txBody>
      </p:sp>
    </p:spTree>
    <p:extLst>
      <p:ext uri="{BB962C8B-B14F-4D97-AF65-F5344CB8AC3E}">
        <p14:creationId xmlns:p14="http://schemas.microsoft.com/office/powerpoint/2010/main" val="36903820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2"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6">
            <a:extLst>
              <a:ext uri="{FF2B5EF4-FFF2-40B4-BE49-F238E27FC236}">
                <a16:creationId xmlns:a16="http://schemas.microsoft.com/office/drawing/2014/main" id="{2BD5844C-C201-4666-ADB9-681CBA48DCC1}"/>
              </a:ext>
            </a:extLst>
          </p:cNvPr>
          <p:cNvSpPr txBox="1">
            <a:spLocks/>
          </p:cNvSpPr>
          <p:nvPr/>
        </p:nvSpPr>
        <p:spPr>
          <a:xfrm>
            <a:off x="251224" y="237833"/>
            <a:ext cx="8168429" cy="607201"/>
          </a:xfrm>
          <a:prstGeom prst="rect">
            <a:avLst/>
          </a:prstGeom>
        </p:spPr>
        <p:txBody>
          <a:bodyPr anchor="t">
            <a:normAutofit/>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pPr marL="0" marR="0" lvl="0" indent="0" algn="l" defTabSz="914324" rtl="0" eaLnBrk="1" fontAlgn="auto" latinLnBrk="0" hangingPunct="1">
              <a:lnSpc>
                <a:spcPct val="90000"/>
              </a:lnSpc>
              <a:spcBef>
                <a:spcPct val="0"/>
              </a:spcBef>
              <a:spcAft>
                <a:spcPts val="0"/>
              </a:spcAft>
              <a:buClrTx/>
              <a:buSzTx/>
              <a:buFontTx/>
              <a:buNone/>
              <a:tabLst/>
              <a:defRPr/>
            </a:pPr>
            <a:r>
              <a:rPr lang="en-US" altLang="ja-JP" b="1" u="sng" dirty="0">
                <a:solidFill>
                  <a:prstClr val="black"/>
                </a:solidFill>
                <a:latin typeface="Calibri" panose="020F0502020204030204"/>
                <a:ea typeface="游ゴシック Light" panose="020B0300000000000000" pitchFamily="34" charset="-128"/>
              </a:rPr>
              <a:t>5</a:t>
            </a:r>
            <a:r>
              <a:rPr kumimoji="1" lang="en-US" altLang="ja-JP"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rPr>
              <a:t>.1b – Nested Designs:</a:t>
            </a:r>
            <a:endParaRPr kumimoji="1" lang="ja-JP" altLang="en-US"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endParaRPr>
          </a:p>
        </p:txBody>
      </p:sp>
      <p:sp>
        <p:nvSpPr>
          <p:cNvPr id="10" name="Slide Number Placeholder 3">
            <a:extLst>
              <a:ext uri="{FF2B5EF4-FFF2-40B4-BE49-F238E27FC236}">
                <a16:creationId xmlns:a16="http://schemas.microsoft.com/office/drawing/2014/main" id="{B0C9041D-77F0-4656-90D4-0E84B7AC6B27}"/>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54AD89C-DF1E-4948-B597-5DD47B34A9CA}" type="slidenum">
              <a:rPr kumimoji="1" lang="ja-JP" altLang="en-US" sz="4000" b="0" i="0" u="none" strike="noStrike" kern="1200" cap="none" spc="0" normalizeH="0" baseline="0" noProof="0" smtClean="0">
                <a:ln>
                  <a:noFill/>
                </a:ln>
                <a:solidFill>
                  <a:srgbClr val="575454">
                    <a:lumMod val="20000"/>
                    <a:lumOff val="80000"/>
                  </a:srgbClr>
                </a:solidFill>
                <a:effectLst/>
                <a:uLnTx/>
                <a:uFillTx/>
                <a:latin typeface="Coo Hew"/>
                <a:ea typeface="游ゴシック" panose="020B0400000000000000"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1" lang="ja-JP" altLang="en-US" sz="4000" b="0" i="0" u="none" strike="noStrike" kern="1200" cap="none" spc="0" normalizeH="0" baseline="0" noProof="0" dirty="0">
              <a:ln>
                <a:noFill/>
              </a:ln>
              <a:solidFill>
                <a:srgbClr val="575454">
                  <a:lumMod val="20000"/>
                  <a:lumOff val="80000"/>
                </a:srgbClr>
              </a:solidFill>
              <a:effectLst/>
              <a:uLnTx/>
              <a:uFillTx/>
              <a:latin typeface="Coo Hew"/>
              <a:ea typeface="游ゴシック" panose="020B0400000000000000" pitchFamily="34" charset="-128"/>
              <a:cs typeface="+mn-cs"/>
            </a:endParaRPr>
          </a:p>
        </p:txBody>
      </p:sp>
      <p:sp>
        <p:nvSpPr>
          <p:cNvPr id="17" name="Text Placeholder 5">
            <a:extLst>
              <a:ext uri="{FF2B5EF4-FFF2-40B4-BE49-F238E27FC236}">
                <a16:creationId xmlns:a16="http://schemas.microsoft.com/office/drawing/2014/main" id="{F854F11A-87A0-F4E8-2591-53FB43E2CDAD}"/>
              </a:ext>
            </a:extLst>
          </p:cNvPr>
          <p:cNvSpPr txBox="1">
            <a:spLocks/>
          </p:cNvSpPr>
          <p:nvPr/>
        </p:nvSpPr>
        <p:spPr>
          <a:xfrm>
            <a:off x="541662" y="2170723"/>
            <a:ext cx="6312836" cy="1914839"/>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7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rPr>
              <a:t>Response Variable </a:t>
            </a:r>
            <a:r>
              <a:rPr kumimoji="1" lang="en-NZ" altLang="ja-JP" sz="17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rPr>
              <a:t>	     Drug purity</a:t>
            </a: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lang="en-NZ" altLang="ja-JP" sz="1700" b="1" dirty="0">
                <a:solidFill>
                  <a:prstClr val="black"/>
                </a:solidFill>
                <a:latin typeface="Calibri" panose="020F0502020204030204"/>
                <a:ea typeface="游ゴシック" panose="020B0400000000000000" pitchFamily="34" charset="-128"/>
              </a:rPr>
              <a:t>Factor A</a:t>
            </a:r>
            <a:r>
              <a:rPr lang="en-NZ" altLang="ja-JP" sz="1700" dirty="0">
                <a:solidFill>
                  <a:prstClr val="black"/>
                </a:solidFill>
                <a:latin typeface="Calibri" panose="020F0502020204030204"/>
                <a:ea typeface="游ゴシック" panose="020B0400000000000000" pitchFamily="34" charset="-128"/>
              </a:rPr>
              <a:t>    	     Supplier</a:t>
            </a: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lang="en-NZ" altLang="ja-JP" sz="1700" b="1" dirty="0">
                <a:solidFill>
                  <a:prstClr val="black"/>
                </a:solidFill>
                <a:latin typeface="Calibri" panose="020F0502020204030204"/>
                <a:ea typeface="游ゴシック" panose="020B0400000000000000" pitchFamily="34" charset="-128"/>
              </a:rPr>
              <a:t>Factor A</a:t>
            </a:r>
            <a:r>
              <a:rPr kumimoji="1" lang="en-NZ" altLang="ja-JP" sz="17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rPr>
              <a:t> Levels </a:t>
            </a:r>
            <a:r>
              <a:rPr lang="en-NZ" altLang="ja-JP" sz="1700" b="1" dirty="0">
                <a:solidFill>
                  <a:prstClr val="black"/>
                </a:solidFill>
                <a:latin typeface="Calibri" panose="020F0502020204030204"/>
                <a:ea typeface="游ゴシック" panose="020B0400000000000000" pitchFamily="34" charset="-128"/>
              </a:rPr>
              <a:t>    	     </a:t>
            </a:r>
            <a:r>
              <a:rPr lang="en-NZ" altLang="ja-JP" sz="1700" i="0" dirty="0">
                <a:solidFill>
                  <a:prstClr val="black"/>
                </a:solidFill>
                <a:latin typeface="Calibri" panose="020F0502020204030204"/>
                <a:ea typeface="游ゴシック" panose="020B0400000000000000" pitchFamily="34" charset="-128"/>
              </a:rPr>
              <a:t>Supplier X, Supplier Y, Supplier Z</a:t>
            </a:r>
            <a:endParaRPr kumimoji="1" lang="en-NZ" altLang="ja-JP" sz="1700" b="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endParaRPr>
          </a:p>
          <a:p>
            <a:pPr lvl="0" algn="just">
              <a:lnSpc>
                <a:spcPct val="100000"/>
              </a:lnSpc>
              <a:defRPr/>
            </a:pPr>
            <a:r>
              <a:rPr lang="en-NZ" altLang="ja-JP" sz="1700" b="1" dirty="0">
                <a:solidFill>
                  <a:prstClr val="black"/>
                </a:solidFill>
              </a:rPr>
              <a:t>Factor B</a:t>
            </a:r>
            <a:r>
              <a:rPr lang="en-NZ" altLang="ja-JP" sz="1700" dirty="0">
                <a:solidFill>
                  <a:prstClr val="black"/>
                </a:solidFill>
              </a:rPr>
              <a:t> </a:t>
            </a:r>
            <a:r>
              <a:rPr lang="en-NZ" altLang="ja-JP" sz="1700" dirty="0">
                <a:solidFill>
                  <a:prstClr val="black"/>
                </a:solidFill>
                <a:latin typeface="Calibri" panose="020F0502020204030204"/>
                <a:ea typeface="游ゴシック" panose="020B0400000000000000" pitchFamily="34" charset="-128"/>
              </a:rPr>
              <a:t>	     	     Batch</a:t>
            </a:r>
          </a:p>
          <a:p>
            <a:pPr lvl="0" algn="just">
              <a:lnSpc>
                <a:spcPct val="100000"/>
              </a:lnSpc>
              <a:defRPr/>
            </a:pPr>
            <a:r>
              <a:rPr lang="en-NZ" altLang="ja-JP" sz="1700" b="1" dirty="0">
                <a:solidFill>
                  <a:prstClr val="black"/>
                </a:solidFill>
              </a:rPr>
              <a:t>Factor B Levels </a:t>
            </a:r>
            <a:r>
              <a:rPr lang="en-NZ" altLang="ja-JP" sz="1700" dirty="0">
                <a:solidFill>
                  <a:prstClr val="black"/>
                </a:solidFill>
                <a:latin typeface="Calibri" panose="020F0502020204030204"/>
                <a:ea typeface="游ゴシック" panose="020B0400000000000000" pitchFamily="34" charset="-128"/>
              </a:rPr>
              <a:t>	     Supplier X -&gt; {X</a:t>
            </a:r>
            <a:r>
              <a:rPr lang="en-NZ" altLang="ja-JP" sz="1700" baseline="-25000" dirty="0">
                <a:solidFill>
                  <a:prstClr val="black"/>
                </a:solidFill>
                <a:latin typeface="Calibri" panose="020F0502020204030204"/>
                <a:ea typeface="游ゴシック" panose="020B0400000000000000" pitchFamily="34" charset="-128"/>
              </a:rPr>
              <a:t>1</a:t>
            </a:r>
            <a:r>
              <a:rPr lang="en-NZ" altLang="ja-JP" sz="1700" dirty="0">
                <a:solidFill>
                  <a:prstClr val="black"/>
                </a:solidFill>
                <a:latin typeface="Calibri" panose="020F0502020204030204"/>
                <a:ea typeface="游ゴシック" panose="020B0400000000000000" pitchFamily="34" charset="-128"/>
              </a:rPr>
              <a:t>, X</a:t>
            </a:r>
            <a:r>
              <a:rPr lang="en-NZ" altLang="ja-JP" sz="1700" baseline="-25000" dirty="0">
                <a:solidFill>
                  <a:prstClr val="black"/>
                </a:solidFill>
                <a:latin typeface="Calibri" panose="020F0502020204030204"/>
                <a:ea typeface="游ゴシック" panose="020B0400000000000000" pitchFamily="34" charset="-128"/>
              </a:rPr>
              <a:t>2</a:t>
            </a:r>
            <a:r>
              <a:rPr lang="en-NZ" altLang="ja-JP" sz="1700" dirty="0">
                <a:solidFill>
                  <a:prstClr val="black"/>
                </a:solidFill>
                <a:latin typeface="Calibri" panose="020F0502020204030204"/>
                <a:ea typeface="游ゴシック" panose="020B0400000000000000" pitchFamily="34" charset="-128"/>
              </a:rPr>
              <a:t>, X</a:t>
            </a:r>
            <a:r>
              <a:rPr lang="en-NZ" altLang="ja-JP" sz="1700" baseline="-25000" dirty="0">
                <a:solidFill>
                  <a:prstClr val="black"/>
                </a:solidFill>
                <a:latin typeface="Calibri" panose="020F0502020204030204"/>
                <a:ea typeface="游ゴシック" panose="020B0400000000000000" pitchFamily="34" charset="-128"/>
              </a:rPr>
              <a:t>3</a:t>
            </a:r>
            <a:r>
              <a:rPr lang="en-NZ" altLang="ja-JP" sz="1700" dirty="0">
                <a:solidFill>
                  <a:prstClr val="black"/>
                </a:solidFill>
                <a:latin typeface="Calibri" panose="020F0502020204030204"/>
                <a:ea typeface="游ゴシック" panose="020B0400000000000000" pitchFamily="34" charset="-128"/>
              </a:rPr>
              <a:t>, X</a:t>
            </a:r>
            <a:r>
              <a:rPr lang="en-NZ" altLang="ja-JP" sz="1700" baseline="-25000" dirty="0">
                <a:solidFill>
                  <a:prstClr val="black"/>
                </a:solidFill>
                <a:latin typeface="Calibri" panose="020F0502020204030204"/>
                <a:ea typeface="游ゴシック" panose="020B0400000000000000" pitchFamily="34" charset="-128"/>
              </a:rPr>
              <a:t>4</a:t>
            </a:r>
            <a:r>
              <a:rPr lang="en-NZ" altLang="ja-JP" sz="1700" dirty="0">
                <a:solidFill>
                  <a:prstClr val="black"/>
                </a:solidFill>
                <a:latin typeface="Calibri" panose="020F0502020204030204"/>
                <a:ea typeface="游ゴシック" panose="020B0400000000000000" pitchFamily="34" charset="-128"/>
              </a:rPr>
              <a:t>} </a:t>
            </a:r>
          </a:p>
          <a:p>
            <a:pPr lvl="0" algn="just">
              <a:lnSpc>
                <a:spcPct val="100000"/>
              </a:lnSpc>
              <a:defRPr/>
            </a:pPr>
            <a:r>
              <a:rPr lang="en-NZ" altLang="ja-JP" sz="1700" dirty="0">
                <a:solidFill>
                  <a:prstClr val="black"/>
                </a:solidFill>
                <a:latin typeface="Calibri" panose="020F0502020204030204"/>
                <a:ea typeface="游ゴシック" panose="020B0400000000000000" pitchFamily="34" charset="-128"/>
              </a:rPr>
              <a:t>		     Supplier Y -&gt; {Y</a:t>
            </a:r>
            <a:r>
              <a:rPr lang="en-NZ" altLang="ja-JP" sz="1700" baseline="-25000" dirty="0">
                <a:solidFill>
                  <a:prstClr val="black"/>
                </a:solidFill>
                <a:latin typeface="Calibri" panose="020F0502020204030204"/>
                <a:ea typeface="游ゴシック" panose="020B0400000000000000" pitchFamily="34" charset="-128"/>
              </a:rPr>
              <a:t>1</a:t>
            </a:r>
            <a:r>
              <a:rPr lang="en-NZ" altLang="ja-JP" sz="1700" dirty="0">
                <a:solidFill>
                  <a:prstClr val="black"/>
                </a:solidFill>
                <a:latin typeface="Calibri" panose="020F0502020204030204"/>
                <a:ea typeface="游ゴシック" panose="020B0400000000000000" pitchFamily="34" charset="-128"/>
              </a:rPr>
              <a:t>, Y</a:t>
            </a:r>
            <a:r>
              <a:rPr lang="en-NZ" altLang="ja-JP" sz="1700" baseline="-25000" dirty="0">
                <a:solidFill>
                  <a:prstClr val="black"/>
                </a:solidFill>
                <a:latin typeface="Calibri" panose="020F0502020204030204"/>
                <a:ea typeface="游ゴシック" panose="020B0400000000000000" pitchFamily="34" charset="-128"/>
              </a:rPr>
              <a:t>2</a:t>
            </a:r>
            <a:r>
              <a:rPr lang="en-NZ" altLang="ja-JP" sz="1700" dirty="0">
                <a:solidFill>
                  <a:prstClr val="black"/>
                </a:solidFill>
                <a:latin typeface="Calibri" panose="020F0502020204030204"/>
                <a:ea typeface="游ゴシック" panose="020B0400000000000000" pitchFamily="34" charset="-128"/>
              </a:rPr>
              <a:t>, Y</a:t>
            </a:r>
            <a:r>
              <a:rPr lang="en-NZ" altLang="ja-JP" sz="1700" baseline="-25000" dirty="0">
                <a:solidFill>
                  <a:prstClr val="black"/>
                </a:solidFill>
                <a:latin typeface="Calibri" panose="020F0502020204030204"/>
                <a:ea typeface="游ゴシック" panose="020B0400000000000000" pitchFamily="34" charset="-128"/>
              </a:rPr>
              <a:t>3</a:t>
            </a:r>
            <a:r>
              <a:rPr lang="en-NZ" altLang="ja-JP" sz="1700" dirty="0">
                <a:solidFill>
                  <a:prstClr val="black"/>
                </a:solidFill>
                <a:latin typeface="Calibri" panose="020F0502020204030204"/>
                <a:ea typeface="游ゴシック" panose="020B0400000000000000" pitchFamily="34" charset="-128"/>
              </a:rPr>
              <a:t>, Y</a:t>
            </a:r>
            <a:r>
              <a:rPr lang="en-NZ" altLang="ja-JP" sz="1700" baseline="-25000" dirty="0">
                <a:solidFill>
                  <a:prstClr val="black"/>
                </a:solidFill>
                <a:latin typeface="Calibri" panose="020F0502020204030204"/>
                <a:ea typeface="游ゴシック" panose="020B0400000000000000" pitchFamily="34" charset="-128"/>
              </a:rPr>
              <a:t>4</a:t>
            </a:r>
            <a:r>
              <a:rPr lang="en-NZ" altLang="ja-JP" sz="1700" dirty="0">
                <a:solidFill>
                  <a:prstClr val="black"/>
                </a:solidFill>
                <a:latin typeface="Calibri" panose="020F0502020204030204"/>
                <a:ea typeface="游ゴシック" panose="020B0400000000000000" pitchFamily="34" charset="-128"/>
              </a:rPr>
              <a:t>} </a:t>
            </a:r>
          </a:p>
          <a:p>
            <a:pPr lvl="0" algn="just">
              <a:lnSpc>
                <a:spcPct val="100000"/>
              </a:lnSpc>
              <a:defRPr/>
            </a:pPr>
            <a:r>
              <a:rPr lang="en-NZ" altLang="ja-JP" sz="1700" dirty="0">
                <a:solidFill>
                  <a:prstClr val="black"/>
                </a:solidFill>
                <a:latin typeface="Calibri" panose="020F0502020204030204"/>
                <a:ea typeface="游ゴシック" panose="020B0400000000000000" pitchFamily="34" charset="-128"/>
              </a:rPr>
              <a:t>		     Supplier Z -&gt; {Z</a:t>
            </a:r>
            <a:r>
              <a:rPr lang="en-NZ" altLang="ja-JP" sz="1700" baseline="-25000" dirty="0">
                <a:solidFill>
                  <a:prstClr val="black"/>
                </a:solidFill>
                <a:latin typeface="Calibri" panose="020F0502020204030204"/>
                <a:ea typeface="游ゴシック" panose="020B0400000000000000" pitchFamily="34" charset="-128"/>
              </a:rPr>
              <a:t>1</a:t>
            </a:r>
            <a:r>
              <a:rPr lang="en-NZ" altLang="ja-JP" sz="1700" dirty="0">
                <a:solidFill>
                  <a:prstClr val="black"/>
                </a:solidFill>
                <a:latin typeface="Calibri" panose="020F0502020204030204"/>
                <a:ea typeface="游ゴシック" panose="020B0400000000000000" pitchFamily="34" charset="-128"/>
              </a:rPr>
              <a:t>, Z</a:t>
            </a:r>
            <a:r>
              <a:rPr lang="en-NZ" altLang="ja-JP" sz="1700" baseline="-25000" dirty="0">
                <a:solidFill>
                  <a:prstClr val="black"/>
                </a:solidFill>
                <a:latin typeface="Calibri" panose="020F0502020204030204"/>
                <a:ea typeface="游ゴシック" panose="020B0400000000000000" pitchFamily="34" charset="-128"/>
              </a:rPr>
              <a:t>2</a:t>
            </a:r>
            <a:r>
              <a:rPr lang="en-NZ" altLang="ja-JP" sz="1700" dirty="0">
                <a:solidFill>
                  <a:prstClr val="black"/>
                </a:solidFill>
                <a:latin typeface="Calibri" panose="020F0502020204030204"/>
                <a:ea typeface="游ゴシック" panose="020B0400000000000000" pitchFamily="34" charset="-128"/>
              </a:rPr>
              <a:t>, Z</a:t>
            </a:r>
            <a:r>
              <a:rPr lang="en-NZ" altLang="ja-JP" sz="1700" baseline="-25000" dirty="0">
                <a:solidFill>
                  <a:prstClr val="black"/>
                </a:solidFill>
                <a:latin typeface="Calibri" panose="020F0502020204030204"/>
                <a:ea typeface="游ゴシック" panose="020B0400000000000000" pitchFamily="34" charset="-128"/>
              </a:rPr>
              <a:t>3</a:t>
            </a:r>
            <a:r>
              <a:rPr lang="en-NZ" altLang="ja-JP" sz="1700" dirty="0">
                <a:solidFill>
                  <a:prstClr val="black"/>
                </a:solidFill>
                <a:latin typeface="Calibri" panose="020F0502020204030204"/>
                <a:ea typeface="游ゴシック" panose="020B0400000000000000" pitchFamily="34" charset="-128"/>
              </a:rPr>
              <a:t>, Z</a:t>
            </a:r>
            <a:r>
              <a:rPr lang="en-NZ" altLang="ja-JP" sz="1700" baseline="-25000" dirty="0">
                <a:solidFill>
                  <a:prstClr val="black"/>
                </a:solidFill>
                <a:latin typeface="Calibri" panose="020F0502020204030204"/>
                <a:ea typeface="游ゴシック" panose="020B0400000000000000" pitchFamily="34" charset="-128"/>
              </a:rPr>
              <a:t>4</a:t>
            </a:r>
            <a:r>
              <a:rPr lang="en-NZ" altLang="ja-JP" sz="1700" dirty="0">
                <a:solidFill>
                  <a:prstClr val="black"/>
                </a:solidFill>
                <a:latin typeface="Calibri" panose="020F0502020204030204"/>
                <a:ea typeface="游ゴシック" panose="020B0400000000000000" pitchFamily="34" charset="-128"/>
              </a:rPr>
              <a:t>} </a:t>
            </a:r>
          </a:p>
        </p:txBody>
      </p:sp>
      <p:sp>
        <p:nvSpPr>
          <p:cNvPr id="18" name="Text Placeholder 5">
            <a:extLst>
              <a:ext uri="{FF2B5EF4-FFF2-40B4-BE49-F238E27FC236}">
                <a16:creationId xmlns:a16="http://schemas.microsoft.com/office/drawing/2014/main" id="{FB7D1DBF-E633-C4E8-B22C-833F5193763C}"/>
              </a:ext>
            </a:extLst>
          </p:cNvPr>
          <p:cNvSpPr txBox="1">
            <a:spLocks/>
          </p:cNvSpPr>
          <p:nvPr/>
        </p:nvSpPr>
        <p:spPr>
          <a:xfrm>
            <a:off x="251224" y="986187"/>
            <a:ext cx="10931856" cy="87166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800" b="0" i="0" u="none" strike="noStrike" kern="1200" cap="none" spc="0" normalizeH="0" baseline="0" noProof="0" dirty="0">
                <a:ln>
                  <a:noFill/>
                </a:ln>
                <a:solidFill>
                  <a:srgbClr val="0070C0"/>
                </a:solidFill>
                <a:effectLst/>
                <a:uLnTx/>
                <a:uFillTx/>
                <a:latin typeface="Calibri" panose="020F0502020204030204"/>
                <a:ea typeface="游ゴシック" panose="020B0400000000000000" pitchFamily="34" charset="-128"/>
                <a:cs typeface="+mn-cs"/>
              </a:rPr>
              <a:t>Does the purity of prescription drug differ by supplier and batch?</a:t>
            </a: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lang="en-NZ" altLang="ja-JP" sz="1800" dirty="0">
                <a:solidFill>
                  <a:srgbClr val="0070C0"/>
                </a:solidFill>
                <a:latin typeface="Calibri" panose="020F0502020204030204"/>
                <a:ea typeface="游ゴシック" panose="020B0400000000000000" pitchFamily="34" charset="-128"/>
              </a:rPr>
              <a:t>4 batches of the drug are taken from 3 suppliers. </a:t>
            </a: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800" u="none" strike="noStrike" kern="1200" cap="none" spc="0" normalizeH="0" baseline="0" noProof="0" dirty="0">
                <a:ln>
                  <a:noFill/>
                </a:ln>
                <a:solidFill>
                  <a:srgbClr val="0070C0"/>
                </a:solidFill>
                <a:effectLst/>
                <a:uLnTx/>
                <a:uFillTx/>
                <a:latin typeface="Calibri" panose="020F0502020204030204"/>
                <a:ea typeface="游ゴシック" panose="020B0400000000000000" pitchFamily="34" charset="-128"/>
                <a:cs typeface="+mn-cs"/>
              </a:rPr>
              <a:t>5 purity samples are taken from each batch</a:t>
            </a:r>
            <a:endParaRPr kumimoji="1" lang="en-US" altLang="ja-JP" sz="1800" u="none" strike="noStrike" kern="1200" cap="none" spc="0" normalizeH="0" baseline="0" noProof="0" dirty="0">
              <a:ln>
                <a:noFill/>
              </a:ln>
              <a:solidFill>
                <a:srgbClr val="0070C0"/>
              </a:solidFill>
              <a:effectLst/>
              <a:uLnTx/>
              <a:uFillTx/>
              <a:latin typeface="Calibri" panose="020F0502020204030204"/>
              <a:ea typeface="游ゴシック" panose="020B0400000000000000" pitchFamily="34" charset="-128"/>
              <a:cs typeface="+mn-cs"/>
            </a:endParaRPr>
          </a:p>
        </p:txBody>
      </p:sp>
      <p:sp>
        <p:nvSpPr>
          <p:cNvPr id="19" name="Text Placeholder 5">
            <a:extLst>
              <a:ext uri="{FF2B5EF4-FFF2-40B4-BE49-F238E27FC236}">
                <a16:creationId xmlns:a16="http://schemas.microsoft.com/office/drawing/2014/main" id="{CD1A1421-FA4A-E5DA-E404-258019B958AE}"/>
              </a:ext>
            </a:extLst>
          </p:cNvPr>
          <p:cNvSpPr txBox="1">
            <a:spLocks/>
          </p:cNvSpPr>
          <p:nvPr/>
        </p:nvSpPr>
        <p:spPr>
          <a:xfrm>
            <a:off x="7641946" y="2648617"/>
            <a:ext cx="3711453" cy="100949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lang="en-NZ" altLang="ja-JP" sz="1600" i="1" dirty="0">
                <a:solidFill>
                  <a:schemeClr val="bg2">
                    <a:lumMod val="50000"/>
                  </a:schemeClr>
                </a:solidFill>
                <a:latin typeface="Calibri" panose="020F0502020204030204"/>
                <a:ea typeface="游ゴシック" panose="020B0400000000000000" pitchFamily="34" charset="-128"/>
              </a:rPr>
              <a:t>Since each batch (Factor B) </a:t>
            </a:r>
            <a:br>
              <a:rPr lang="en-NZ" altLang="ja-JP" sz="1600" i="1" dirty="0">
                <a:solidFill>
                  <a:schemeClr val="bg2">
                    <a:lumMod val="50000"/>
                  </a:schemeClr>
                </a:solidFill>
                <a:latin typeface="Calibri" panose="020F0502020204030204"/>
                <a:ea typeface="游ゴシック" panose="020B0400000000000000" pitchFamily="34" charset="-128"/>
              </a:rPr>
            </a:br>
            <a:r>
              <a:rPr lang="en-NZ" altLang="ja-JP" sz="1600" i="1" dirty="0">
                <a:solidFill>
                  <a:schemeClr val="bg2">
                    <a:lumMod val="50000"/>
                  </a:schemeClr>
                </a:solidFill>
                <a:latin typeface="Calibri" panose="020F0502020204030204"/>
                <a:ea typeface="游ゴシック" panose="020B0400000000000000" pitchFamily="34" charset="-128"/>
              </a:rPr>
              <a:t>is specific to each supplier (Factor A) </a:t>
            </a:r>
            <a:br>
              <a:rPr lang="en-NZ" altLang="ja-JP" sz="1600" i="1" dirty="0">
                <a:solidFill>
                  <a:schemeClr val="bg2">
                    <a:lumMod val="50000"/>
                  </a:schemeClr>
                </a:solidFill>
                <a:latin typeface="Calibri" panose="020F0502020204030204"/>
                <a:ea typeface="游ゴシック" panose="020B0400000000000000" pitchFamily="34" charset="-128"/>
              </a:rPr>
            </a:br>
            <a:r>
              <a:rPr lang="en-NZ" altLang="ja-JP" sz="1600" i="1" dirty="0">
                <a:solidFill>
                  <a:schemeClr val="bg2">
                    <a:lumMod val="50000"/>
                  </a:schemeClr>
                </a:solidFill>
                <a:latin typeface="Calibri" panose="020F0502020204030204"/>
                <a:ea typeface="游ゴシック" panose="020B0400000000000000" pitchFamily="34" charset="-128"/>
              </a:rPr>
              <a:t>this is an example of a nested design</a:t>
            </a:r>
          </a:p>
        </p:txBody>
      </p:sp>
      <p:sp>
        <p:nvSpPr>
          <p:cNvPr id="2" name="Right Brace 1">
            <a:extLst>
              <a:ext uri="{FF2B5EF4-FFF2-40B4-BE49-F238E27FC236}">
                <a16:creationId xmlns:a16="http://schemas.microsoft.com/office/drawing/2014/main" id="{DFBADF1F-FEB2-9390-4AAC-19EF296DA975}"/>
              </a:ext>
            </a:extLst>
          </p:cNvPr>
          <p:cNvSpPr/>
          <p:nvPr/>
        </p:nvSpPr>
        <p:spPr>
          <a:xfrm>
            <a:off x="7035094" y="2593055"/>
            <a:ext cx="245660" cy="1009493"/>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NZ"/>
          </a:p>
        </p:txBody>
      </p:sp>
      <p:sp>
        <p:nvSpPr>
          <p:cNvPr id="21" name="Text Placeholder 5">
            <a:extLst>
              <a:ext uri="{FF2B5EF4-FFF2-40B4-BE49-F238E27FC236}">
                <a16:creationId xmlns:a16="http://schemas.microsoft.com/office/drawing/2014/main" id="{7E5D926C-CA55-7E36-9E8D-2824E71A40D6}"/>
              </a:ext>
            </a:extLst>
          </p:cNvPr>
          <p:cNvSpPr txBox="1">
            <a:spLocks/>
          </p:cNvSpPr>
          <p:nvPr/>
        </p:nvSpPr>
        <p:spPr>
          <a:xfrm>
            <a:off x="251224" y="4426188"/>
            <a:ext cx="1411344" cy="38474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lang="en-NZ" altLang="ja-JP" sz="1800" b="1" dirty="0">
                <a:solidFill>
                  <a:schemeClr val="tx1"/>
                </a:solidFill>
                <a:latin typeface="Calibri" panose="020F0502020204030204"/>
                <a:ea typeface="游ゴシック" panose="020B0400000000000000" pitchFamily="34" charset="-128"/>
              </a:rPr>
              <a:t>Factor A</a:t>
            </a:r>
          </a:p>
        </p:txBody>
      </p:sp>
      <p:sp>
        <p:nvSpPr>
          <p:cNvPr id="22" name="Text Placeholder 5">
            <a:extLst>
              <a:ext uri="{FF2B5EF4-FFF2-40B4-BE49-F238E27FC236}">
                <a16:creationId xmlns:a16="http://schemas.microsoft.com/office/drawing/2014/main" id="{0AF71769-3B12-7671-B2A6-052EBA4D6F51}"/>
              </a:ext>
            </a:extLst>
          </p:cNvPr>
          <p:cNvSpPr txBox="1">
            <a:spLocks/>
          </p:cNvSpPr>
          <p:nvPr/>
        </p:nvSpPr>
        <p:spPr>
          <a:xfrm>
            <a:off x="251224" y="4756468"/>
            <a:ext cx="1411344" cy="38474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lang="en-NZ" altLang="ja-JP" sz="1800" b="1" dirty="0">
                <a:solidFill>
                  <a:schemeClr val="tx1"/>
                </a:solidFill>
                <a:latin typeface="Calibri" panose="020F0502020204030204"/>
                <a:ea typeface="游ゴシック" panose="020B0400000000000000" pitchFamily="34" charset="-128"/>
              </a:rPr>
              <a:t>Factor B</a:t>
            </a:r>
          </a:p>
        </p:txBody>
      </p:sp>
      <p:graphicFrame>
        <p:nvGraphicFramePr>
          <p:cNvPr id="6" name="Table 5">
            <a:extLst>
              <a:ext uri="{FF2B5EF4-FFF2-40B4-BE49-F238E27FC236}">
                <a16:creationId xmlns:a16="http://schemas.microsoft.com/office/drawing/2014/main" id="{393AE76B-B6A7-880D-1346-6A1BD2AFD6DF}"/>
              </a:ext>
            </a:extLst>
          </p:cNvPr>
          <p:cNvGraphicFramePr>
            <a:graphicFrameLocks noGrp="1"/>
          </p:cNvGraphicFramePr>
          <p:nvPr>
            <p:extLst>
              <p:ext uri="{D42A27DB-BD31-4B8C-83A1-F6EECF244321}">
                <p14:modId xmlns:p14="http://schemas.microsoft.com/office/powerpoint/2010/main" val="1193954535"/>
              </p:ext>
            </p:extLst>
          </p:nvPr>
        </p:nvGraphicFramePr>
        <p:xfrm>
          <a:off x="1562670" y="4448877"/>
          <a:ext cx="9066660" cy="2029027"/>
        </p:xfrm>
        <a:graphic>
          <a:graphicData uri="http://schemas.openxmlformats.org/drawingml/2006/table">
            <a:tbl>
              <a:tblPr/>
              <a:tblGrid>
                <a:gridCol w="755555">
                  <a:extLst>
                    <a:ext uri="{9D8B030D-6E8A-4147-A177-3AD203B41FA5}">
                      <a16:colId xmlns:a16="http://schemas.microsoft.com/office/drawing/2014/main" val="652350300"/>
                    </a:ext>
                  </a:extLst>
                </a:gridCol>
                <a:gridCol w="755555">
                  <a:extLst>
                    <a:ext uri="{9D8B030D-6E8A-4147-A177-3AD203B41FA5}">
                      <a16:colId xmlns:a16="http://schemas.microsoft.com/office/drawing/2014/main" val="2784352141"/>
                    </a:ext>
                  </a:extLst>
                </a:gridCol>
                <a:gridCol w="755555">
                  <a:extLst>
                    <a:ext uri="{9D8B030D-6E8A-4147-A177-3AD203B41FA5}">
                      <a16:colId xmlns:a16="http://schemas.microsoft.com/office/drawing/2014/main" val="310772079"/>
                    </a:ext>
                  </a:extLst>
                </a:gridCol>
                <a:gridCol w="755555">
                  <a:extLst>
                    <a:ext uri="{9D8B030D-6E8A-4147-A177-3AD203B41FA5}">
                      <a16:colId xmlns:a16="http://schemas.microsoft.com/office/drawing/2014/main" val="1302670358"/>
                    </a:ext>
                  </a:extLst>
                </a:gridCol>
                <a:gridCol w="755555">
                  <a:extLst>
                    <a:ext uri="{9D8B030D-6E8A-4147-A177-3AD203B41FA5}">
                      <a16:colId xmlns:a16="http://schemas.microsoft.com/office/drawing/2014/main" val="1226749293"/>
                    </a:ext>
                  </a:extLst>
                </a:gridCol>
                <a:gridCol w="755555">
                  <a:extLst>
                    <a:ext uri="{9D8B030D-6E8A-4147-A177-3AD203B41FA5}">
                      <a16:colId xmlns:a16="http://schemas.microsoft.com/office/drawing/2014/main" val="1562856876"/>
                    </a:ext>
                  </a:extLst>
                </a:gridCol>
                <a:gridCol w="755555">
                  <a:extLst>
                    <a:ext uri="{9D8B030D-6E8A-4147-A177-3AD203B41FA5}">
                      <a16:colId xmlns:a16="http://schemas.microsoft.com/office/drawing/2014/main" val="3610685486"/>
                    </a:ext>
                  </a:extLst>
                </a:gridCol>
                <a:gridCol w="755555">
                  <a:extLst>
                    <a:ext uri="{9D8B030D-6E8A-4147-A177-3AD203B41FA5}">
                      <a16:colId xmlns:a16="http://schemas.microsoft.com/office/drawing/2014/main" val="2051674238"/>
                    </a:ext>
                  </a:extLst>
                </a:gridCol>
                <a:gridCol w="755555">
                  <a:extLst>
                    <a:ext uri="{9D8B030D-6E8A-4147-A177-3AD203B41FA5}">
                      <a16:colId xmlns:a16="http://schemas.microsoft.com/office/drawing/2014/main" val="3487631667"/>
                    </a:ext>
                  </a:extLst>
                </a:gridCol>
                <a:gridCol w="755555">
                  <a:extLst>
                    <a:ext uri="{9D8B030D-6E8A-4147-A177-3AD203B41FA5}">
                      <a16:colId xmlns:a16="http://schemas.microsoft.com/office/drawing/2014/main" val="1454447260"/>
                    </a:ext>
                  </a:extLst>
                </a:gridCol>
                <a:gridCol w="755555">
                  <a:extLst>
                    <a:ext uri="{9D8B030D-6E8A-4147-A177-3AD203B41FA5}">
                      <a16:colId xmlns:a16="http://schemas.microsoft.com/office/drawing/2014/main" val="2746360444"/>
                    </a:ext>
                  </a:extLst>
                </a:gridCol>
                <a:gridCol w="755555">
                  <a:extLst>
                    <a:ext uri="{9D8B030D-6E8A-4147-A177-3AD203B41FA5}">
                      <a16:colId xmlns:a16="http://schemas.microsoft.com/office/drawing/2014/main" val="2369947006"/>
                    </a:ext>
                  </a:extLst>
                </a:gridCol>
              </a:tblGrid>
              <a:tr h="289861">
                <a:tc gridSpan="4">
                  <a:txBody>
                    <a:bodyPr/>
                    <a:lstStyle/>
                    <a:p>
                      <a:pPr algn="ctr" fontAlgn="ctr"/>
                      <a:r>
                        <a:rPr lang="en-NZ" sz="1400" b="1" i="0" u="none" strike="noStrike" dirty="0">
                          <a:solidFill>
                            <a:srgbClr val="FFFFFF"/>
                          </a:solidFill>
                          <a:effectLst/>
                          <a:latin typeface="Calibri" panose="020F0502020204030204" pitchFamily="34" charset="0"/>
                        </a:rPr>
                        <a:t>Supplier X</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2060"/>
                    </a:solidFill>
                  </a:tcPr>
                </a:tc>
                <a:tc hMerge="1">
                  <a:txBody>
                    <a:bodyPr/>
                    <a:lstStyle/>
                    <a:p>
                      <a:endParaRPr lang="en-NZ"/>
                    </a:p>
                  </a:txBody>
                  <a:tcPr/>
                </a:tc>
                <a:tc hMerge="1">
                  <a:txBody>
                    <a:bodyPr/>
                    <a:lstStyle/>
                    <a:p>
                      <a:endParaRPr lang="en-NZ"/>
                    </a:p>
                  </a:txBody>
                  <a:tcPr/>
                </a:tc>
                <a:tc hMerge="1">
                  <a:txBody>
                    <a:bodyPr/>
                    <a:lstStyle/>
                    <a:p>
                      <a:endParaRPr lang="en-NZ"/>
                    </a:p>
                  </a:txBody>
                  <a:tcPr/>
                </a:tc>
                <a:tc gridSpan="4">
                  <a:txBody>
                    <a:bodyPr/>
                    <a:lstStyle/>
                    <a:p>
                      <a:pPr algn="ctr" fontAlgn="ctr"/>
                      <a:r>
                        <a:rPr lang="en-NZ" sz="1400" b="1" i="0" u="none" strike="noStrike" dirty="0">
                          <a:solidFill>
                            <a:srgbClr val="FFFFFF"/>
                          </a:solidFill>
                          <a:effectLst/>
                          <a:latin typeface="Calibri" panose="020F0502020204030204" pitchFamily="34" charset="0"/>
                        </a:rPr>
                        <a:t>Supplier Y</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00000"/>
                    </a:solidFill>
                  </a:tcPr>
                </a:tc>
                <a:tc hMerge="1">
                  <a:txBody>
                    <a:bodyPr/>
                    <a:lstStyle/>
                    <a:p>
                      <a:endParaRPr lang="en-NZ"/>
                    </a:p>
                  </a:txBody>
                  <a:tcPr/>
                </a:tc>
                <a:tc hMerge="1">
                  <a:txBody>
                    <a:bodyPr/>
                    <a:lstStyle/>
                    <a:p>
                      <a:endParaRPr lang="en-NZ"/>
                    </a:p>
                  </a:txBody>
                  <a:tcPr/>
                </a:tc>
                <a:tc hMerge="1">
                  <a:txBody>
                    <a:bodyPr/>
                    <a:lstStyle/>
                    <a:p>
                      <a:endParaRPr lang="en-NZ"/>
                    </a:p>
                  </a:txBody>
                  <a:tcPr/>
                </a:tc>
                <a:tc gridSpan="4">
                  <a:txBody>
                    <a:bodyPr/>
                    <a:lstStyle/>
                    <a:p>
                      <a:pPr algn="ctr" fontAlgn="ctr"/>
                      <a:r>
                        <a:rPr lang="en-NZ" sz="1400" b="1" i="0" u="none" strike="noStrike" dirty="0">
                          <a:solidFill>
                            <a:srgbClr val="FFFFFF"/>
                          </a:solidFill>
                          <a:effectLst/>
                          <a:latin typeface="Calibri" panose="020F0502020204030204" pitchFamily="34" charset="0"/>
                        </a:rPr>
                        <a:t>Supplier Z</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B050"/>
                    </a:solidFill>
                  </a:tcPr>
                </a:tc>
                <a:tc hMerge="1">
                  <a:txBody>
                    <a:bodyPr/>
                    <a:lstStyle/>
                    <a:p>
                      <a:endParaRPr lang="en-NZ"/>
                    </a:p>
                  </a:txBody>
                  <a:tcPr/>
                </a:tc>
                <a:tc hMerge="1">
                  <a:txBody>
                    <a:bodyPr/>
                    <a:lstStyle/>
                    <a:p>
                      <a:endParaRPr lang="en-NZ"/>
                    </a:p>
                  </a:txBody>
                  <a:tcPr/>
                </a:tc>
                <a:tc hMerge="1">
                  <a:txBody>
                    <a:bodyPr/>
                    <a:lstStyle/>
                    <a:p>
                      <a:endParaRPr lang="en-NZ"/>
                    </a:p>
                  </a:txBody>
                  <a:tcPr/>
                </a:tc>
                <a:extLst>
                  <a:ext uri="{0D108BD9-81ED-4DB2-BD59-A6C34878D82A}">
                    <a16:rowId xmlns:a16="http://schemas.microsoft.com/office/drawing/2014/main" val="1880941337"/>
                  </a:ext>
                </a:extLst>
              </a:tr>
              <a:tr h="289861">
                <a:tc>
                  <a:txBody>
                    <a:bodyPr/>
                    <a:lstStyle/>
                    <a:p>
                      <a:pPr algn="ctr" fontAlgn="ctr"/>
                      <a:r>
                        <a:rPr lang="en-NZ" sz="1400" b="1" i="0" u="none" strike="noStrike" dirty="0">
                          <a:solidFill>
                            <a:srgbClr val="FFFFFF"/>
                          </a:solidFill>
                          <a:effectLst/>
                          <a:latin typeface="Calibri" panose="020F0502020204030204" pitchFamily="34" charset="0"/>
                        </a:rPr>
                        <a:t>X1</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2060"/>
                    </a:solidFill>
                  </a:tcPr>
                </a:tc>
                <a:tc>
                  <a:txBody>
                    <a:bodyPr/>
                    <a:lstStyle/>
                    <a:p>
                      <a:pPr algn="ctr" fontAlgn="ctr"/>
                      <a:r>
                        <a:rPr lang="en-NZ" sz="1400" b="1" i="0" u="none" strike="noStrike" dirty="0">
                          <a:solidFill>
                            <a:srgbClr val="FFFFFF"/>
                          </a:solidFill>
                          <a:effectLst/>
                          <a:latin typeface="Calibri" panose="020F0502020204030204" pitchFamily="34" charset="0"/>
                        </a:rPr>
                        <a:t>X2</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2060"/>
                    </a:solidFill>
                  </a:tcPr>
                </a:tc>
                <a:tc>
                  <a:txBody>
                    <a:bodyPr/>
                    <a:lstStyle/>
                    <a:p>
                      <a:pPr algn="ctr" fontAlgn="ctr"/>
                      <a:r>
                        <a:rPr lang="en-NZ" sz="1400" b="1" i="0" u="none" strike="noStrike" dirty="0">
                          <a:solidFill>
                            <a:srgbClr val="FFFFFF"/>
                          </a:solidFill>
                          <a:effectLst/>
                          <a:latin typeface="Calibri" panose="020F0502020204030204" pitchFamily="34" charset="0"/>
                        </a:rPr>
                        <a:t>X3</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2060"/>
                    </a:solidFill>
                  </a:tcPr>
                </a:tc>
                <a:tc>
                  <a:txBody>
                    <a:bodyPr/>
                    <a:lstStyle/>
                    <a:p>
                      <a:pPr algn="ctr" fontAlgn="ctr"/>
                      <a:r>
                        <a:rPr lang="en-NZ" sz="1400" b="1" i="0" u="none" strike="noStrike" dirty="0">
                          <a:solidFill>
                            <a:srgbClr val="FFFFFF"/>
                          </a:solidFill>
                          <a:effectLst/>
                          <a:latin typeface="Calibri" panose="020F0502020204030204" pitchFamily="34" charset="0"/>
                        </a:rPr>
                        <a:t>X4</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2060"/>
                    </a:solidFill>
                  </a:tcPr>
                </a:tc>
                <a:tc>
                  <a:txBody>
                    <a:bodyPr/>
                    <a:lstStyle/>
                    <a:p>
                      <a:pPr algn="ctr" fontAlgn="ctr"/>
                      <a:r>
                        <a:rPr lang="en-NZ" sz="1400" b="1" i="0" u="none" strike="noStrike" dirty="0">
                          <a:solidFill>
                            <a:srgbClr val="FFFFFF"/>
                          </a:solidFill>
                          <a:effectLst/>
                          <a:latin typeface="Calibri" panose="020F0502020204030204" pitchFamily="34" charset="0"/>
                        </a:rPr>
                        <a:t>Y1</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00000"/>
                    </a:solidFill>
                  </a:tcPr>
                </a:tc>
                <a:tc>
                  <a:txBody>
                    <a:bodyPr/>
                    <a:lstStyle/>
                    <a:p>
                      <a:pPr algn="ctr" fontAlgn="ctr"/>
                      <a:r>
                        <a:rPr lang="en-NZ" sz="1400" b="1" i="0" u="none" strike="noStrike" dirty="0">
                          <a:solidFill>
                            <a:srgbClr val="FFFFFF"/>
                          </a:solidFill>
                          <a:effectLst/>
                          <a:latin typeface="Calibri" panose="020F0502020204030204" pitchFamily="34" charset="0"/>
                        </a:rPr>
                        <a:t>Y2</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00000"/>
                    </a:solidFill>
                  </a:tcPr>
                </a:tc>
                <a:tc>
                  <a:txBody>
                    <a:bodyPr/>
                    <a:lstStyle/>
                    <a:p>
                      <a:pPr algn="ctr" fontAlgn="ctr"/>
                      <a:r>
                        <a:rPr lang="en-NZ" sz="1400" b="1" i="0" u="none" strike="noStrike" dirty="0">
                          <a:solidFill>
                            <a:srgbClr val="FFFFFF"/>
                          </a:solidFill>
                          <a:effectLst/>
                          <a:latin typeface="Calibri" panose="020F0502020204030204" pitchFamily="34" charset="0"/>
                        </a:rPr>
                        <a:t>Y3</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00000"/>
                    </a:solidFill>
                  </a:tcPr>
                </a:tc>
                <a:tc>
                  <a:txBody>
                    <a:bodyPr/>
                    <a:lstStyle/>
                    <a:p>
                      <a:pPr algn="ctr" fontAlgn="ctr"/>
                      <a:r>
                        <a:rPr lang="en-NZ" sz="1400" b="1" i="0" u="none" strike="noStrike" dirty="0">
                          <a:solidFill>
                            <a:srgbClr val="FFFFFF"/>
                          </a:solidFill>
                          <a:effectLst/>
                          <a:latin typeface="Calibri" panose="020F0502020204030204" pitchFamily="34" charset="0"/>
                        </a:rPr>
                        <a:t>Y4</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00000"/>
                    </a:solidFill>
                  </a:tcPr>
                </a:tc>
                <a:tc>
                  <a:txBody>
                    <a:bodyPr/>
                    <a:lstStyle/>
                    <a:p>
                      <a:pPr algn="ctr" fontAlgn="ctr"/>
                      <a:r>
                        <a:rPr lang="en-NZ" sz="1400" b="1" i="0" u="none" strike="noStrike" dirty="0">
                          <a:solidFill>
                            <a:srgbClr val="FFFFFF"/>
                          </a:solidFill>
                          <a:effectLst/>
                          <a:latin typeface="Calibri" panose="020F0502020204030204" pitchFamily="34" charset="0"/>
                        </a:rPr>
                        <a:t>Z1</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B050"/>
                    </a:solidFill>
                  </a:tcPr>
                </a:tc>
                <a:tc>
                  <a:txBody>
                    <a:bodyPr/>
                    <a:lstStyle/>
                    <a:p>
                      <a:pPr algn="ctr" fontAlgn="ctr"/>
                      <a:r>
                        <a:rPr lang="en-NZ" sz="1400" b="1" i="0" u="none" strike="noStrike" dirty="0">
                          <a:solidFill>
                            <a:srgbClr val="FFFFFF"/>
                          </a:solidFill>
                          <a:effectLst/>
                          <a:latin typeface="Calibri" panose="020F0502020204030204" pitchFamily="34" charset="0"/>
                        </a:rPr>
                        <a:t>Z2</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B050"/>
                    </a:solidFill>
                  </a:tcPr>
                </a:tc>
                <a:tc>
                  <a:txBody>
                    <a:bodyPr/>
                    <a:lstStyle/>
                    <a:p>
                      <a:pPr algn="ctr" fontAlgn="ctr"/>
                      <a:r>
                        <a:rPr lang="en-NZ" sz="1400" b="1" i="0" u="none" strike="noStrike" dirty="0">
                          <a:solidFill>
                            <a:srgbClr val="FFFFFF"/>
                          </a:solidFill>
                          <a:effectLst/>
                          <a:latin typeface="Calibri" panose="020F0502020204030204" pitchFamily="34" charset="0"/>
                        </a:rPr>
                        <a:t>Z3</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B050"/>
                    </a:solidFill>
                  </a:tcPr>
                </a:tc>
                <a:tc>
                  <a:txBody>
                    <a:bodyPr/>
                    <a:lstStyle/>
                    <a:p>
                      <a:pPr algn="ctr" fontAlgn="ctr"/>
                      <a:r>
                        <a:rPr lang="en-NZ" sz="1400" b="1" i="0" u="none" strike="noStrike" dirty="0">
                          <a:solidFill>
                            <a:srgbClr val="FFFFFF"/>
                          </a:solidFill>
                          <a:effectLst/>
                          <a:latin typeface="Calibri" panose="020F0502020204030204" pitchFamily="34" charset="0"/>
                        </a:rPr>
                        <a:t>Z4</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B050"/>
                    </a:solidFill>
                  </a:tcPr>
                </a:tc>
                <a:extLst>
                  <a:ext uri="{0D108BD9-81ED-4DB2-BD59-A6C34878D82A}">
                    <a16:rowId xmlns:a16="http://schemas.microsoft.com/office/drawing/2014/main" val="2280725168"/>
                  </a:ext>
                </a:extLst>
              </a:tr>
              <a:tr h="289861">
                <a:tc>
                  <a:txBody>
                    <a:bodyPr/>
                    <a:lstStyle/>
                    <a:p>
                      <a:pPr algn="ctr" fontAlgn="ctr"/>
                      <a:r>
                        <a:rPr lang="en-NZ" sz="1400" b="0" i="0" u="none" strike="noStrike" dirty="0">
                          <a:solidFill>
                            <a:srgbClr val="000000"/>
                          </a:solidFill>
                          <a:effectLst/>
                          <a:latin typeface="Calibri" panose="020F0502020204030204" pitchFamily="34" charset="0"/>
                        </a:rPr>
                        <a:t>89%</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77%</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93%</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95%</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84%</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ctr"/>
                      <a:r>
                        <a:rPr lang="en-NZ" sz="1400" b="0" i="0" u="none" strike="noStrike">
                          <a:solidFill>
                            <a:srgbClr val="000000"/>
                          </a:solidFill>
                          <a:effectLst/>
                          <a:latin typeface="Calibri" panose="020F0502020204030204" pitchFamily="34" charset="0"/>
                        </a:rPr>
                        <a:t>97%</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ctr"/>
                      <a:r>
                        <a:rPr lang="en-NZ" sz="1400" b="0" i="0" u="none" strike="noStrike">
                          <a:solidFill>
                            <a:srgbClr val="000000"/>
                          </a:solidFill>
                          <a:effectLst/>
                          <a:latin typeface="Calibri" panose="020F0502020204030204" pitchFamily="34" charset="0"/>
                        </a:rPr>
                        <a:t>87%</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ctr"/>
                      <a:r>
                        <a:rPr lang="en-NZ" sz="1400" b="0" i="0" u="none" strike="noStrike">
                          <a:solidFill>
                            <a:srgbClr val="000000"/>
                          </a:solidFill>
                          <a:effectLst/>
                          <a:latin typeface="Calibri" panose="020F0502020204030204" pitchFamily="34" charset="0"/>
                        </a:rPr>
                        <a:t>89%</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ctr"/>
                      <a:r>
                        <a:rPr lang="en-NZ" sz="1400" b="0" i="0" u="none" strike="noStrike">
                          <a:solidFill>
                            <a:srgbClr val="000000"/>
                          </a:solidFill>
                          <a:effectLst/>
                          <a:latin typeface="Calibri" panose="020F0502020204030204" pitchFamily="34" charset="0"/>
                        </a:rPr>
                        <a:t>78%</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2EFDA"/>
                    </a:solidFill>
                  </a:tcPr>
                </a:tc>
                <a:tc>
                  <a:txBody>
                    <a:bodyPr/>
                    <a:lstStyle/>
                    <a:p>
                      <a:pPr algn="ctr" fontAlgn="ctr"/>
                      <a:r>
                        <a:rPr lang="en-NZ" sz="1400" b="0" i="0" u="none" strike="noStrike">
                          <a:solidFill>
                            <a:srgbClr val="000000"/>
                          </a:solidFill>
                          <a:effectLst/>
                          <a:latin typeface="Calibri" panose="020F0502020204030204" pitchFamily="34" charset="0"/>
                        </a:rPr>
                        <a:t>92%</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2EFDA"/>
                    </a:solidFill>
                  </a:tcPr>
                </a:tc>
                <a:tc>
                  <a:txBody>
                    <a:bodyPr/>
                    <a:lstStyle/>
                    <a:p>
                      <a:pPr algn="ctr" fontAlgn="ctr"/>
                      <a:r>
                        <a:rPr lang="en-NZ" sz="1400" b="0" i="0" u="none" strike="noStrike">
                          <a:solidFill>
                            <a:srgbClr val="000000"/>
                          </a:solidFill>
                          <a:effectLst/>
                          <a:latin typeface="Calibri" panose="020F0502020204030204" pitchFamily="34" charset="0"/>
                        </a:rPr>
                        <a:t>78%</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2EFDA"/>
                    </a:solidFill>
                  </a:tcPr>
                </a:tc>
                <a:tc>
                  <a:txBody>
                    <a:bodyPr/>
                    <a:lstStyle/>
                    <a:p>
                      <a:pPr algn="ctr" fontAlgn="ctr"/>
                      <a:r>
                        <a:rPr lang="en-NZ" sz="1400" b="0" i="0" u="none" strike="noStrike">
                          <a:solidFill>
                            <a:srgbClr val="000000"/>
                          </a:solidFill>
                          <a:effectLst/>
                          <a:latin typeface="Calibri" panose="020F0502020204030204" pitchFamily="34" charset="0"/>
                        </a:rPr>
                        <a:t>92%</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2EFDA"/>
                    </a:solidFill>
                  </a:tcPr>
                </a:tc>
                <a:extLst>
                  <a:ext uri="{0D108BD9-81ED-4DB2-BD59-A6C34878D82A}">
                    <a16:rowId xmlns:a16="http://schemas.microsoft.com/office/drawing/2014/main" val="3168486947"/>
                  </a:ext>
                </a:extLst>
              </a:tr>
              <a:tr h="289861">
                <a:tc>
                  <a:txBody>
                    <a:bodyPr/>
                    <a:lstStyle/>
                    <a:p>
                      <a:pPr algn="ctr" fontAlgn="ctr"/>
                      <a:r>
                        <a:rPr lang="en-NZ" sz="1400" b="0" i="0" u="none" strike="noStrike" dirty="0">
                          <a:solidFill>
                            <a:srgbClr val="000000"/>
                          </a:solidFill>
                          <a:effectLst/>
                          <a:latin typeface="Calibri" panose="020F0502020204030204" pitchFamily="34" charset="0"/>
                        </a:rPr>
                        <a:t>81%</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82%</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76%</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80%</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88%</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ctr"/>
                      <a:r>
                        <a:rPr lang="en-NZ" sz="1400" b="0" i="0" u="none" strike="noStrike">
                          <a:solidFill>
                            <a:srgbClr val="000000"/>
                          </a:solidFill>
                          <a:effectLst/>
                          <a:latin typeface="Calibri" panose="020F0502020204030204" pitchFamily="34" charset="0"/>
                        </a:rPr>
                        <a:t>81%</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ctr"/>
                      <a:r>
                        <a:rPr lang="en-NZ" sz="1400" b="0" i="0" u="none" strike="noStrike">
                          <a:solidFill>
                            <a:srgbClr val="000000"/>
                          </a:solidFill>
                          <a:effectLst/>
                          <a:latin typeface="Calibri" panose="020F0502020204030204" pitchFamily="34" charset="0"/>
                        </a:rPr>
                        <a:t>81%</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ctr"/>
                      <a:r>
                        <a:rPr lang="en-NZ" sz="1400" b="0" i="0" u="none" strike="noStrike">
                          <a:solidFill>
                            <a:srgbClr val="000000"/>
                          </a:solidFill>
                          <a:effectLst/>
                          <a:latin typeface="Calibri" panose="020F0502020204030204" pitchFamily="34" charset="0"/>
                        </a:rPr>
                        <a:t>93%</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ctr"/>
                      <a:r>
                        <a:rPr lang="en-NZ" sz="1400" b="0" i="0" u="none" strike="noStrike">
                          <a:solidFill>
                            <a:srgbClr val="000000"/>
                          </a:solidFill>
                          <a:effectLst/>
                          <a:latin typeface="Calibri" panose="020F0502020204030204" pitchFamily="34" charset="0"/>
                        </a:rPr>
                        <a:t>84%</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2EFDA"/>
                    </a:solidFill>
                  </a:tcPr>
                </a:tc>
                <a:tc>
                  <a:txBody>
                    <a:bodyPr/>
                    <a:lstStyle/>
                    <a:p>
                      <a:pPr algn="ctr" fontAlgn="ctr"/>
                      <a:r>
                        <a:rPr lang="en-NZ" sz="1400" b="0" i="0" u="none" strike="noStrike">
                          <a:solidFill>
                            <a:srgbClr val="000000"/>
                          </a:solidFill>
                          <a:effectLst/>
                          <a:latin typeface="Calibri" panose="020F0502020204030204" pitchFamily="34" charset="0"/>
                        </a:rPr>
                        <a:t>97%</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2EFDA"/>
                    </a:solidFill>
                  </a:tcPr>
                </a:tc>
                <a:tc>
                  <a:txBody>
                    <a:bodyPr/>
                    <a:lstStyle/>
                    <a:p>
                      <a:pPr algn="ctr" fontAlgn="ctr"/>
                      <a:r>
                        <a:rPr lang="en-NZ" sz="1400" b="0" i="0" u="none" strike="noStrike">
                          <a:solidFill>
                            <a:srgbClr val="000000"/>
                          </a:solidFill>
                          <a:effectLst/>
                          <a:latin typeface="Calibri" panose="020F0502020204030204" pitchFamily="34" charset="0"/>
                        </a:rPr>
                        <a:t>91%</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2EFDA"/>
                    </a:solidFill>
                  </a:tcPr>
                </a:tc>
                <a:tc>
                  <a:txBody>
                    <a:bodyPr/>
                    <a:lstStyle/>
                    <a:p>
                      <a:pPr algn="ctr" fontAlgn="ctr"/>
                      <a:r>
                        <a:rPr lang="en-NZ" sz="1400" b="0" i="0" u="none" strike="noStrike">
                          <a:solidFill>
                            <a:srgbClr val="000000"/>
                          </a:solidFill>
                          <a:effectLst/>
                          <a:latin typeface="Calibri" panose="020F0502020204030204" pitchFamily="34" charset="0"/>
                        </a:rPr>
                        <a:t>90%</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2EFDA"/>
                    </a:solidFill>
                  </a:tcPr>
                </a:tc>
                <a:extLst>
                  <a:ext uri="{0D108BD9-81ED-4DB2-BD59-A6C34878D82A}">
                    <a16:rowId xmlns:a16="http://schemas.microsoft.com/office/drawing/2014/main" val="848796782"/>
                  </a:ext>
                </a:extLst>
              </a:tr>
              <a:tr h="289861">
                <a:tc>
                  <a:txBody>
                    <a:bodyPr/>
                    <a:lstStyle/>
                    <a:p>
                      <a:pPr algn="ctr" fontAlgn="ctr"/>
                      <a:r>
                        <a:rPr lang="en-NZ" sz="1400" b="0" i="0" u="none" strike="noStrike" dirty="0">
                          <a:solidFill>
                            <a:srgbClr val="000000"/>
                          </a:solidFill>
                          <a:effectLst/>
                          <a:latin typeface="Calibri" panose="020F0502020204030204" pitchFamily="34" charset="0"/>
                        </a:rPr>
                        <a:t>77%</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98%</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85%</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89%</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96%</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ctr"/>
                      <a:r>
                        <a:rPr lang="en-NZ" sz="1400" b="0" i="0" u="none" strike="noStrike">
                          <a:solidFill>
                            <a:srgbClr val="000000"/>
                          </a:solidFill>
                          <a:effectLst/>
                          <a:latin typeface="Calibri" panose="020F0502020204030204" pitchFamily="34" charset="0"/>
                        </a:rPr>
                        <a:t>77%</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ctr"/>
                      <a:r>
                        <a:rPr lang="en-NZ" sz="1400" b="0" i="0" u="none" strike="noStrike">
                          <a:solidFill>
                            <a:srgbClr val="000000"/>
                          </a:solidFill>
                          <a:effectLst/>
                          <a:latin typeface="Calibri" panose="020F0502020204030204" pitchFamily="34" charset="0"/>
                        </a:rPr>
                        <a:t>91%</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ctr"/>
                      <a:r>
                        <a:rPr lang="en-NZ" sz="1400" b="0" i="0" u="none" strike="noStrike">
                          <a:solidFill>
                            <a:srgbClr val="000000"/>
                          </a:solidFill>
                          <a:effectLst/>
                          <a:latin typeface="Calibri" panose="020F0502020204030204" pitchFamily="34" charset="0"/>
                        </a:rPr>
                        <a:t>75%</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ctr"/>
                      <a:r>
                        <a:rPr lang="en-NZ" sz="1400" b="0" i="0" u="none" strike="noStrike">
                          <a:solidFill>
                            <a:srgbClr val="000000"/>
                          </a:solidFill>
                          <a:effectLst/>
                          <a:latin typeface="Calibri" panose="020F0502020204030204" pitchFamily="34" charset="0"/>
                        </a:rPr>
                        <a:t>97%</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2EFDA"/>
                    </a:solidFill>
                  </a:tcPr>
                </a:tc>
                <a:tc>
                  <a:txBody>
                    <a:bodyPr/>
                    <a:lstStyle/>
                    <a:p>
                      <a:pPr algn="ctr" fontAlgn="ctr"/>
                      <a:r>
                        <a:rPr lang="en-NZ" sz="1400" b="0" i="0" u="none" strike="noStrike">
                          <a:solidFill>
                            <a:srgbClr val="000000"/>
                          </a:solidFill>
                          <a:effectLst/>
                          <a:latin typeface="Calibri" panose="020F0502020204030204" pitchFamily="34" charset="0"/>
                        </a:rPr>
                        <a:t>89%</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2EFDA"/>
                    </a:solidFill>
                  </a:tcPr>
                </a:tc>
                <a:tc>
                  <a:txBody>
                    <a:bodyPr/>
                    <a:lstStyle/>
                    <a:p>
                      <a:pPr algn="ctr" fontAlgn="ctr"/>
                      <a:r>
                        <a:rPr lang="en-NZ" sz="1400" b="0" i="0" u="none" strike="noStrike">
                          <a:solidFill>
                            <a:srgbClr val="000000"/>
                          </a:solidFill>
                          <a:effectLst/>
                          <a:latin typeface="Calibri" panose="020F0502020204030204" pitchFamily="34" charset="0"/>
                        </a:rPr>
                        <a:t>99%</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2EFDA"/>
                    </a:solidFill>
                  </a:tcPr>
                </a:tc>
                <a:tc>
                  <a:txBody>
                    <a:bodyPr/>
                    <a:lstStyle/>
                    <a:p>
                      <a:pPr algn="ctr" fontAlgn="ctr"/>
                      <a:r>
                        <a:rPr lang="en-NZ" sz="1400" b="0" i="0" u="none" strike="noStrike">
                          <a:solidFill>
                            <a:srgbClr val="000000"/>
                          </a:solidFill>
                          <a:effectLst/>
                          <a:latin typeface="Calibri" panose="020F0502020204030204" pitchFamily="34" charset="0"/>
                        </a:rPr>
                        <a:t>92%</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2EFDA"/>
                    </a:solidFill>
                  </a:tcPr>
                </a:tc>
                <a:extLst>
                  <a:ext uri="{0D108BD9-81ED-4DB2-BD59-A6C34878D82A}">
                    <a16:rowId xmlns:a16="http://schemas.microsoft.com/office/drawing/2014/main" val="1630081677"/>
                  </a:ext>
                </a:extLst>
              </a:tr>
              <a:tr h="289861">
                <a:tc>
                  <a:txBody>
                    <a:bodyPr/>
                    <a:lstStyle/>
                    <a:p>
                      <a:pPr algn="ctr" fontAlgn="ctr"/>
                      <a:r>
                        <a:rPr lang="en-NZ" sz="1400" b="0" i="0" u="none" strike="noStrike" dirty="0">
                          <a:solidFill>
                            <a:srgbClr val="000000"/>
                          </a:solidFill>
                          <a:effectLst/>
                          <a:latin typeface="Calibri" panose="020F0502020204030204" pitchFamily="34" charset="0"/>
                        </a:rPr>
                        <a:t>80%</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78%</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91%</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75%</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97%</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ctr"/>
                      <a:r>
                        <a:rPr lang="en-NZ" sz="1400" b="0" i="0" u="none" strike="noStrike">
                          <a:solidFill>
                            <a:srgbClr val="000000"/>
                          </a:solidFill>
                          <a:effectLst/>
                          <a:latin typeface="Calibri" panose="020F0502020204030204" pitchFamily="34" charset="0"/>
                        </a:rPr>
                        <a:t>75%</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ctr"/>
                      <a:r>
                        <a:rPr lang="en-NZ" sz="1400" b="0" i="0" u="none" strike="noStrike">
                          <a:solidFill>
                            <a:srgbClr val="000000"/>
                          </a:solidFill>
                          <a:effectLst/>
                          <a:latin typeface="Calibri" panose="020F0502020204030204" pitchFamily="34" charset="0"/>
                        </a:rPr>
                        <a:t>100%</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ctr"/>
                      <a:r>
                        <a:rPr lang="en-NZ" sz="1400" b="0" i="0" u="none" strike="noStrike">
                          <a:solidFill>
                            <a:srgbClr val="000000"/>
                          </a:solidFill>
                          <a:effectLst/>
                          <a:latin typeface="Calibri" panose="020F0502020204030204" pitchFamily="34" charset="0"/>
                        </a:rPr>
                        <a:t>82%</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ctr"/>
                      <a:r>
                        <a:rPr lang="en-NZ" sz="1400" b="0" i="0" u="none" strike="noStrike">
                          <a:solidFill>
                            <a:srgbClr val="000000"/>
                          </a:solidFill>
                          <a:effectLst/>
                          <a:latin typeface="Calibri" panose="020F0502020204030204" pitchFamily="34" charset="0"/>
                        </a:rPr>
                        <a:t>75%</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2EFDA"/>
                    </a:solidFill>
                  </a:tcPr>
                </a:tc>
                <a:tc>
                  <a:txBody>
                    <a:bodyPr/>
                    <a:lstStyle/>
                    <a:p>
                      <a:pPr algn="ctr" fontAlgn="ctr"/>
                      <a:r>
                        <a:rPr lang="en-NZ" sz="1400" b="0" i="0" u="none" strike="noStrike">
                          <a:solidFill>
                            <a:srgbClr val="000000"/>
                          </a:solidFill>
                          <a:effectLst/>
                          <a:latin typeface="Calibri" panose="020F0502020204030204" pitchFamily="34" charset="0"/>
                        </a:rPr>
                        <a:t>83%</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2EFDA"/>
                    </a:solidFill>
                  </a:tcPr>
                </a:tc>
                <a:tc>
                  <a:txBody>
                    <a:bodyPr/>
                    <a:lstStyle/>
                    <a:p>
                      <a:pPr algn="ctr" fontAlgn="ctr"/>
                      <a:r>
                        <a:rPr lang="en-NZ" sz="1400" b="0" i="0" u="none" strike="noStrike">
                          <a:solidFill>
                            <a:srgbClr val="000000"/>
                          </a:solidFill>
                          <a:effectLst/>
                          <a:latin typeface="Calibri" panose="020F0502020204030204" pitchFamily="34" charset="0"/>
                        </a:rPr>
                        <a:t>81%</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2EFDA"/>
                    </a:solidFill>
                  </a:tcPr>
                </a:tc>
                <a:tc>
                  <a:txBody>
                    <a:bodyPr/>
                    <a:lstStyle/>
                    <a:p>
                      <a:pPr algn="ctr" fontAlgn="ctr"/>
                      <a:r>
                        <a:rPr lang="en-NZ" sz="1400" b="0" i="0" u="none" strike="noStrike">
                          <a:solidFill>
                            <a:srgbClr val="000000"/>
                          </a:solidFill>
                          <a:effectLst/>
                          <a:latin typeface="Calibri" panose="020F0502020204030204" pitchFamily="34" charset="0"/>
                        </a:rPr>
                        <a:t>92%</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2EFDA"/>
                    </a:solidFill>
                  </a:tcPr>
                </a:tc>
                <a:extLst>
                  <a:ext uri="{0D108BD9-81ED-4DB2-BD59-A6C34878D82A}">
                    <a16:rowId xmlns:a16="http://schemas.microsoft.com/office/drawing/2014/main" val="1973803856"/>
                  </a:ext>
                </a:extLst>
              </a:tr>
              <a:tr h="289861">
                <a:tc>
                  <a:txBody>
                    <a:bodyPr/>
                    <a:lstStyle/>
                    <a:p>
                      <a:pPr algn="ctr" fontAlgn="ctr"/>
                      <a:r>
                        <a:rPr lang="en-NZ" sz="1400" b="0" i="0" u="none" strike="noStrike">
                          <a:solidFill>
                            <a:srgbClr val="000000"/>
                          </a:solidFill>
                          <a:effectLst/>
                          <a:latin typeface="Calibri" panose="020F0502020204030204" pitchFamily="34" charset="0"/>
                        </a:rPr>
                        <a:t>94%</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79%</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79%</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99%</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80%</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ctr"/>
                      <a:r>
                        <a:rPr lang="en-NZ" sz="1400" b="0" i="0" u="none" strike="noStrike">
                          <a:solidFill>
                            <a:srgbClr val="000000"/>
                          </a:solidFill>
                          <a:effectLst/>
                          <a:latin typeface="Calibri" panose="020F0502020204030204" pitchFamily="34" charset="0"/>
                        </a:rPr>
                        <a:t>100%</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ctr"/>
                      <a:r>
                        <a:rPr lang="en-NZ" sz="1400" b="0" i="0" u="none" strike="noStrike">
                          <a:solidFill>
                            <a:srgbClr val="000000"/>
                          </a:solidFill>
                          <a:effectLst/>
                          <a:latin typeface="Calibri" panose="020F0502020204030204" pitchFamily="34" charset="0"/>
                        </a:rPr>
                        <a:t>95%</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ctr"/>
                      <a:r>
                        <a:rPr lang="en-NZ" sz="1400" b="0" i="0" u="none" strike="noStrike">
                          <a:solidFill>
                            <a:srgbClr val="000000"/>
                          </a:solidFill>
                          <a:effectLst/>
                          <a:latin typeface="Calibri" panose="020F0502020204030204" pitchFamily="34" charset="0"/>
                        </a:rPr>
                        <a:t>85%</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ctr"/>
                      <a:r>
                        <a:rPr lang="en-NZ" sz="1400" b="0" i="0" u="none" strike="noStrike">
                          <a:solidFill>
                            <a:srgbClr val="000000"/>
                          </a:solidFill>
                          <a:effectLst/>
                          <a:latin typeface="Calibri" panose="020F0502020204030204" pitchFamily="34" charset="0"/>
                        </a:rPr>
                        <a:t>81%</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2EFDA"/>
                    </a:solidFill>
                  </a:tcPr>
                </a:tc>
                <a:tc>
                  <a:txBody>
                    <a:bodyPr/>
                    <a:lstStyle/>
                    <a:p>
                      <a:pPr algn="ctr" fontAlgn="ctr"/>
                      <a:r>
                        <a:rPr lang="en-NZ" sz="1400" b="0" i="0" u="none" strike="noStrike">
                          <a:solidFill>
                            <a:srgbClr val="000000"/>
                          </a:solidFill>
                          <a:effectLst/>
                          <a:latin typeface="Calibri" panose="020F0502020204030204" pitchFamily="34" charset="0"/>
                        </a:rPr>
                        <a:t>97%</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2EFDA"/>
                    </a:solidFill>
                  </a:tcPr>
                </a:tc>
                <a:tc>
                  <a:txBody>
                    <a:bodyPr/>
                    <a:lstStyle/>
                    <a:p>
                      <a:pPr algn="ctr" fontAlgn="ctr"/>
                      <a:r>
                        <a:rPr lang="en-NZ" sz="1400" b="0" i="0" u="none" strike="noStrike">
                          <a:solidFill>
                            <a:srgbClr val="000000"/>
                          </a:solidFill>
                          <a:effectLst/>
                          <a:latin typeface="Calibri" panose="020F0502020204030204" pitchFamily="34" charset="0"/>
                        </a:rPr>
                        <a:t>92%</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2EFDA"/>
                    </a:solidFill>
                  </a:tcPr>
                </a:tc>
                <a:tc>
                  <a:txBody>
                    <a:bodyPr/>
                    <a:lstStyle/>
                    <a:p>
                      <a:pPr algn="ctr" fontAlgn="ctr"/>
                      <a:r>
                        <a:rPr lang="en-NZ" sz="1400" b="0" i="0" u="none" strike="noStrike" dirty="0">
                          <a:solidFill>
                            <a:srgbClr val="000000"/>
                          </a:solidFill>
                          <a:effectLst/>
                          <a:latin typeface="Calibri" panose="020F0502020204030204" pitchFamily="34" charset="0"/>
                        </a:rPr>
                        <a:t>97%</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2EFDA"/>
                    </a:solidFill>
                  </a:tcPr>
                </a:tc>
                <a:extLst>
                  <a:ext uri="{0D108BD9-81ED-4DB2-BD59-A6C34878D82A}">
                    <a16:rowId xmlns:a16="http://schemas.microsoft.com/office/drawing/2014/main" val="2675740219"/>
                  </a:ext>
                </a:extLst>
              </a:tr>
            </a:tbl>
          </a:graphicData>
        </a:graphic>
      </p:graphicFrame>
      <p:sp>
        <p:nvSpPr>
          <p:cNvPr id="12" name="Footer Placeholder 2">
            <a:extLst>
              <a:ext uri="{FF2B5EF4-FFF2-40B4-BE49-F238E27FC236}">
                <a16:creationId xmlns:a16="http://schemas.microsoft.com/office/drawing/2014/main" id="{82AA28AA-8FFE-CE91-F639-AFDF1AB8153C}"/>
              </a:ext>
            </a:extLst>
          </p:cNvPr>
          <p:cNvSpPr txBox="1">
            <a:spLocks/>
          </p:cNvSpPr>
          <p:nvPr/>
        </p:nvSpPr>
        <p:spPr>
          <a:xfrm>
            <a:off x="8775510" y="86139"/>
            <a:ext cx="3313855"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600" dirty="0">
                <a:solidFill>
                  <a:srgbClr val="DEDDDD"/>
                </a:solidFill>
                <a:latin typeface="Gidole"/>
                <a:ea typeface="游ゴシック" panose="020B0400000000000000" pitchFamily="34" charset="-128"/>
              </a:rPr>
              <a:t>5</a:t>
            </a:r>
            <a:r>
              <a:rPr kumimoji="1" lang="en-US" altLang="ja-JP"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rPr>
              <a:t>.1 – Crossed vs Nested Designs</a:t>
            </a:r>
            <a:endParaRPr kumimoji="1" lang="ja-JP" altLang="en-US"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endParaRPr>
          </a:p>
        </p:txBody>
      </p:sp>
    </p:spTree>
    <p:extLst>
      <p:ext uri="{BB962C8B-B14F-4D97-AF65-F5344CB8AC3E}">
        <p14:creationId xmlns:p14="http://schemas.microsoft.com/office/powerpoint/2010/main" val="17543055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2"/>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19" grpId="0"/>
      <p:bldP spid="2" grpId="0" animBg="1"/>
      <p:bldP spid="21" grpId="0"/>
      <p:bldP spid="2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6">
            <a:extLst>
              <a:ext uri="{FF2B5EF4-FFF2-40B4-BE49-F238E27FC236}">
                <a16:creationId xmlns:a16="http://schemas.microsoft.com/office/drawing/2014/main" id="{2BD5844C-C201-4666-ADB9-681CBA48DCC1}"/>
              </a:ext>
            </a:extLst>
          </p:cNvPr>
          <p:cNvSpPr txBox="1">
            <a:spLocks/>
          </p:cNvSpPr>
          <p:nvPr/>
        </p:nvSpPr>
        <p:spPr>
          <a:xfrm>
            <a:off x="251224" y="237833"/>
            <a:ext cx="8168429" cy="607201"/>
          </a:xfrm>
          <a:prstGeom prst="rect">
            <a:avLst/>
          </a:prstGeom>
        </p:spPr>
        <p:txBody>
          <a:bodyPr anchor="t">
            <a:normAutofit/>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pPr marL="0" marR="0" lvl="0" indent="0" algn="l" defTabSz="914324" rtl="0" eaLnBrk="1" fontAlgn="auto" latinLnBrk="0" hangingPunct="1">
              <a:lnSpc>
                <a:spcPct val="90000"/>
              </a:lnSpc>
              <a:spcBef>
                <a:spcPct val="0"/>
              </a:spcBef>
              <a:spcAft>
                <a:spcPts val="0"/>
              </a:spcAft>
              <a:buClrTx/>
              <a:buSzTx/>
              <a:buFontTx/>
              <a:buNone/>
              <a:tabLst/>
              <a:defRPr/>
            </a:pPr>
            <a:r>
              <a:rPr lang="en-US" altLang="ja-JP" b="1" u="sng" dirty="0">
                <a:solidFill>
                  <a:prstClr val="black"/>
                </a:solidFill>
                <a:latin typeface="Calibri" panose="020F0502020204030204"/>
                <a:ea typeface="游ゴシック Light" panose="020B0300000000000000" pitchFamily="34" charset="-128"/>
              </a:rPr>
              <a:t>5</a:t>
            </a:r>
            <a:r>
              <a:rPr kumimoji="1" lang="en-US" altLang="ja-JP"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rPr>
              <a:t>.1b – Nested Designs:</a:t>
            </a:r>
            <a:endParaRPr kumimoji="1" lang="ja-JP" altLang="en-US"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endParaRPr>
          </a:p>
        </p:txBody>
      </p:sp>
      <p:sp>
        <p:nvSpPr>
          <p:cNvPr id="10" name="Slide Number Placeholder 3">
            <a:extLst>
              <a:ext uri="{FF2B5EF4-FFF2-40B4-BE49-F238E27FC236}">
                <a16:creationId xmlns:a16="http://schemas.microsoft.com/office/drawing/2014/main" id="{B0C9041D-77F0-4656-90D4-0E84B7AC6B27}"/>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54AD89C-DF1E-4948-B597-5DD47B34A9CA}" type="slidenum">
              <a:rPr kumimoji="1" lang="ja-JP" altLang="en-US" sz="4000" b="0" i="0" u="none" strike="noStrike" kern="1200" cap="none" spc="0" normalizeH="0" baseline="0" noProof="0" smtClean="0">
                <a:ln>
                  <a:noFill/>
                </a:ln>
                <a:solidFill>
                  <a:srgbClr val="575454">
                    <a:lumMod val="20000"/>
                    <a:lumOff val="80000"/>
                  </a:srgbClr>
                </a:solidFill>
                <a:effectLst/>
                <a:uLnTx/>
                <a:uFillTx/>
                <a:latin typeface="Coo Hew"/>
                <a:ea typeface="游ゴシック" panose="020B0400000000000000"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1" lang="ja-JP" altLang="en-US" sz="4000" b="0" i="0" u="none" strike="noStrike" kern="1200" cap="none" spc="0" normalizeH="0" baseline="0" noProof="0" dirty="0">
              <a:ln>
                <a:noFill/>
              </a:ln>
              <a:solidFill>
                <a:srgbClr val="575454">
                  <a:lumMod val="20000"/>
                  <a:lumOff val="80000"/>
                </a:srgbClr>
              </a:solidFill>
              <a:effectLst/>
              <a:uLnTx/>
              <a:uFillTx/>
              <a:latin typeface="Coo Hew"/>
              <a:ea typeface="游ゴシック" panose="020B0400000000000000" pitchFamily="34" charset="-128"/>
              <a:cs typeface="+mn-cs"/>
            </a:endParaRPr>
          </a:p>
        </p:txBody>
      </p:sp>
      <p:sp>
        <p:nvSpPr>
          <p:cNvPr id="17" name="Text Placeholder 5">
            <a:extLst>
              <a:ext uri="{FF2B5EF4-FFF2-40B4-BE49-F238E27FC236}">
                <a16:creationId xmlns:a16="http://schemas.microsoft.com/office/drawing/2014/main" id="{F854F11A-87A0-F4E8-2591-53FB43E2CDAD}"/>
              </a:ext>
            </a:extLst>
          </p:cNvPr>
          <p:cNvSpPr txBox="1">
            <a:spLocks/>
          </p:cNvSpPr>
          <p:nvPr/>
        </p:nvSpPr>
        <p:spPr>
          <a:xfrm>
            <a:off x="514366" y="2670772"/>
            <a:ext cx="6739092" cy="148738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7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rPr>
              <a:t>Response Variable </a:t>
            </a:r>
            <a:r>
              <a:rPr kumimoji="1" lang="en-NZ" altLang="ja-JP" sz="17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rPr>
              <a:t>	     CO2 production in 30 min period</a:t>
            </a: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lang="en-NZ" altLang="ja-JP" sz="1700" b="1" dirty="0">
                <a:solidFill>
                  <a:prstClr val="black"/>
                </a:solidFill>
                <a:latin typeface="Calibri" panose="020F0502020204030204"/>
                <a:ea typeface="游ゴシック" panose="020B0400000000000000" pitchFamily="34" charset="-128"/>
              </a:rPr>
              <a:t>Factor A</a:t>
            </a:r>
            <a:r>
              <a:rPr lang="en-NZ" altLang="ja-JP" sz="1700" dirty="0">
                <a:solidFill>
                  <a:prstClr val="black"/>
                </a:solidFill>
                <a:latin typeface="Calibri" panose="020F0502020204030204"/>
                <a:ea typeface="游ゴシック" panose="020B0400000000000000" pitchFamily="34" charset="-128"/>
              </a:rPr>
              <a:t>    	     Pond</a:t>
            </a: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lang="en-NZ" altLang="ja-JP" sz="1700" b="1" dirty="0">
                <a:solidFill>
                  <a:prstClr val="black"/>
                </a:solidFill>
                <a:latin typeface="Calibri" panose="020F0502020204030204"/>
                <a:ea typeface="游ゴシック" panose="020B0400000000000000" pitchFamily="34" charset="-128"/>
              </a:rPr>
              <a:t>Factor A</a:t>
            </a:r>
            <a:r>
              <a:rPr kumimoji="1" lang="en-NZ" altLang="ja-JP" sz="17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rPr>
              <a:t> Levels </a:t>
            </a:r>
            <a:r>
              <a:rPr lang="en-NZ" altLang="ja-JP" sz="1700" b="1" dirty="0">
                <a:solidFill>
                  <a:prstClr val="black"/>
                </a:solidFill>
                <a:latin typeface="Calibri" panose="020F0502020204030204"/>
                <a:ea typeface="游ゴシック" panose="020B0400000000000000" pitchFamily="34" charset="-128"/>
              </a:rPr>
              <a:t>    	     </a:t>
            </a:r>
            <a:r>
              <a:rPr lang="en-NZ" altLang="ja-JP" sz="1700" i="0" dirty="0">
                <a:solidFill>
                  <a:prstClr val="black"/>
                </a:solidFill>
                <a:latin typeface="Calibri" panose="020F0502020204030204"/>
                <a:ea typeface="游ゴシック" panose="020B0400000000000000" pitchFamily="34" charset="-128"/>
              </a:rPr>
              <a:t>Pond1, Pond 2, Pond 3</a:t>
            </a:r>
            <a:endParaRPr kumimoji="1" lang="en-NZ" altLang="ja-JP" sz="1700" b="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endParaRPr>
          </a:p>
          <a:p>
            <a:pPr lvl="0" algn="just">
              <a:lnSpc>
                <a:spcPct val="100000"/>
              </a:lnSpc>
              <a:defRPr/>
            </a:pPr>
            <a:r>
              <a:rPr lang="en-NZ" altLang="ja-JP" sz="1700" b="1" dirty="0">
                <a:solidFill>
                  <a:prstClr val="black"/>
                </a:solidFill>
              </a:rPr>
              <a:t>Factor B</a:t>
            </a:r>
            <a:r>
              <a:rPr lang="en-NZ" altLang="ja-JP" sz="1700" dirty="0">
                <a:solidFill>
                  <a:prstClr val="black"/>
                </a:solidFill>
              </a:rPr>
              <a:t> </a:t>
            </a:r>
            <a:r>
              <a:rPr lang="en-NZ" altLang="ja-JP" sz="1700" dirty="0">
                <a:solidFill>
                  <a:prstClr val="black"/>
                </a:solidFill>
                <a:latin typeface="Calibri" panose="020F0502020204030204"/>
                <a:ea typeface="游ゴシック" panose="020B0400000000000000" pitchFamily="34" charset="-128"/>
              </a:rPr>
              <a:t>	     	     Species of Algae</a:t>
            </a:r>
          </a:p>
          <a:p>
            <a:pPr lvl="0" algn="just">
              <a:lnSpc>
                <a:spcPct val="100000"/>
              </a:lnSpc>
              <a:defRPr/>
            </a:pPr>
            <a:r>
              <a:rPr lang="en-NZ" altLang="ja-JP" sz="1700" b="1" dirty="0">
                <a:solidFill>
                  <a:prstClr val="black"/>
                </a:solidFill>
              </a:rPr>
              <a:t>Factor B Levels </a:t>
            </a:r>
            <a:r>
              <a:rPr lang="en-NZ" altLang="ja-JP" sz="1700" dirty="0">
                <a:solidFill>
                  <a:prstClr val="black"/>
                </a:solidFill>
                <a:latin typeface="Calibri" panose="020F0502020204030204"/>
                <a:ea typeface="游ゴシック" panose="020B0400000000000000" pitchFamily="34" charset="-128"/>
              </a:rPr>
              <a:t>	     Pond 1 -&gt;  {X,Y}   Pond 2 -&gt; {Y,Z}    Pond 3 -&gt; {X,Z} </a:t>
            </a:r>
          </a:p>
        </p:txBody>
      </p:sp>
      <p:sp>
        <p:nvSpPr>
          <p:cNvPr id="18" name="Text Placeholder 5">
            <a:extLst>
              <a:ext uri="{FF2B5EF4-FFF2-40B4-BE49-F238E27FC236}">
                <a16:creationId xmlns:a16="http://schemas.microsoft.com/office/drawing/2014/main" id="{FB7D1DBF-E633-C4E8-B22C-833F5193763C}"/>
              </a:ext>
            </a:extLst>
          </p:cNvPr>
          <p:cNvSpPr txBox="1">
            <a:spLocks/>
          </p:cNvSpPr>
          <p:nvPr/>
        </p:nvSpPr>
        <p:spPr>
          <a:xfrm>
            <a:off x="251224" y="986187"/>
            <a:ext cx="10931856" cy="1268660"/>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800" b="0" i="0" u="none" strike="noStrike" kern="1200" cap="none" spc="0" normalizeH="0" baseline="0" noProof="0" dirty="0">
                <a:ln>
                  <a:noFill/>
                </a:ln>
                <a:solidFill>
                  <a:srgbClr val="0070C0"/>
                </a:solidFill>
                <a:effectLst/>
                <a:uLnTx/>
                <a:uFillTx/>
                <a:latin typeface="Calibri" panose="020F0502020204030204"/>
                <a:ea typeface="游ゴシック" panose="020B0400000000000000" pitchFamily="34" charset="-128"/>
                <a:cs typeface="+mn-cs"/>
              </a:rPr>
              <a:t>Does the amount </a:t>
            </a:r>
            <a:r>
              <a:rPr lang="en-NZ" altLang="ja-JP" sz="1800" dirty="0">
                <a:solidFill>
                  <a:srgbClr val="0070C0"/>
                </a:solidFill>
                <a:latin typeface="Calibri" panose="020F0502020204030204"/>
                <a:ea typeface="游ゴシック" panose="020B0400000000000000" pitchFamily="34" charset="-128"/>
              </a:rPr>
              <a:t>of CO2 produced by algae in ponds differ by location and species of algae?</a:t>
            </a: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800" u="none" strike="noStrike" kern="1200" cap="none" spc="0" normalizeH="0" baseline="0" noProof="0" dirty="0">
                <a:ln>
                  <a:noFill/>
                </a:ln>
                <a:solidFill>
                  <a:srgbClr val="0070C0"/>
                </a:solidFill>
                <a:effectLst/>
                <a:uLnTx/>
                <a:uFillTx/>
                <a:latin typeface="Calibri" panose="020F0502020204030204"/>
                <a:ea typeface="游ゴシック" panose="020B0400000000000000" pitchFamily="34" charset="-128"/>
                <a:cs typeface="+mn-cs"/>
              </a:rPr>
              <a:t>Samples of algae </a:t>
            </a:r>
            <a:r>
              <a:rPr lang="en-NZ" altLang="ja-JP" sz="1800" dirty="0">
                <a:solidFill>
                  <a:srgbClr val="0070C0"/>
                </a:solidFill>
                <a:latin typeface="Calibri" panose="020F0502020204030204"/>
                <a:ea typeface="游ゴシック" panose="020B0400000000000000" pitchFamily="34" charset="-128"/>
              </a:rPr>
              <a:t>are taken from three different ponds (Pond 1, Pond 2, Pond 3)</a:t>
            </a: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lang="en-NZ" altLang="ja-JP" sz="1800" dirty="0">
                <a:solidFill>
                  <a:srgbClr val="0070C0"/>
                </a:solidFill>
                <a:latin typeface="Calibri" panose="020F0502020204030204"/>
                <a:ea typeface="游ゴシック" panose="020B0400000000000000" pitchFamily="34" charset="-128"/>
              </a:rPr>
              <a:t>Each pond is found to contain two species of algae</a:t>
            </a: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800" u="none" strike="noStrike" kern="1200" cap="none" spc="0" normalizeH="0" baseline="0" noProof="0" dirty="0">
                <a:ln>
                  <a:noFill/>
                </a:ln>
                <a:solidFill>
                  <a:srgbClr val="0070C0"/>
                </a:solidFill>
                <a:effectLst/>
                <a:uLnTx/>
                <a:uFillTx/>
                <a:latin typeface="Calibri" panose="020F0502020204030204"/>
                <a:ea typeface="游ゴシック" panose="020B0400000000000000" pitchFamily="34" charset="-128"/>
                <a:cs typeface="+mn-cs"/>
              </a:rPr>
              <a:t>Pond 1 contains species X &amp; Y, Pond 2 contains species Y &amp; Z whilst Pond 3 contains species X &amp; Z</a:t>
            </a: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lang="en-NZ" altLang="ja-JP" sz="1800" dirty="0">
                <a:solidFill>
                  <a:srgbClr val="0070C0"/>
                </a:solidFill>
                <a:latin typeface="Calibri" panose="020F0502020204030204"/>
                <a:ea typeface="游ゴシック" panose="020B0400000000000000" pitchFamily="34" charset="-128"/>
              </a:rPr>
              <a:t>5 measurements of the amount of CO2 produced in 30 mins are taken from each pond.</a:t>
            </a:r>
            <a:endParaRPr kumimoji="1" lang="en-US" altLang="ja-JP" sz="1800" u="none" strike="noStrike" kern="1200" cap="none" spc="0" normalizeH="0" baseline="0" noProof="0" dirty="0">
              <a:ln>
                <a:noFill/>
              </a:ln>
              <a:solidFill>
                <a:srgbClr val="0070C0"/>
              </a:solidFill>
              <a:effectLst/>
              <a:uLnTx/>
              <a:uFillTx/>
              <a:latin typeface="Calibri" panose="020F0502020204030204"/>
              <a:ea typeface="游ゴシック" panose="020B0400000000000000" pitchFamily="34" charset="-128"/>
              <a:cs typeface="+mn-cs"/>
            </a:endParaRPr>
          </a:p>
        </p:txBody>
      </p:sp>
      <p:sp>
        <p:nvSpPr>
          <p:cNvPr id="19" name="Text Placeholder 5">
            <a:extLst>
              <a:ext uri="{FF2B5EF4-FFF2-40B4-BE49-F238E27FC236}">
                <a16:creationId xmlns:a16="http://schemas.microsoft.com/office/drawing/2014/main" id="{CD1A1421-FA4A-E5DA-E404-258019B958AE}"/>
              </a:ext>
            </a:extLst>
          </p:cNvPr>
          <p:cNvSpPr txBox="1">
            <a:spLocks/>
          </p:cNvSpPr>
          <p:nvPr/>
        </p:nvSpPr>
        <p:spPr>
          <a:xfrm>
            <a:off x="7614650" y="3148665"/>
            <a:ext cx="3890413" cy="100949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lang="en-NZ" altLang="ja-JP" sz="1600" i="1" dirty="0">
                <a:solidFill>
                  <a:schemeClr val="bg2">
                    <a:lumMod val="50000"/>
                  </a:schemeClr>
                </a:solidFill>
                <a:latin typeface="Calibri" panose="020F0502020204030204"/>
                <a:ea typeface="游ゴシック" panose="020B0400000000000000" pitchFamily="34" charset="-128"/>
              </a:rPr>
              <a:t>Since only certain species of algae (factor B) are found in each pond (factor A) </a:t>
            </a:r>
            <a:br>
              <a:rPr lang="en-NZ" altLang="ja-JP" sz="1600" i="1" dirty="0">
                <a:solidFill>
                  <a:schemeClr val="bg2">
                    <a:lumMod val="50000"/>
                  </a:schemeClr>
                </a:solidFill>
                <a:latin typeface="Calibri" panose="020F0502020204030204"/>
                <a:ea typeface="游ゴシック" panose="020B0400000000000000" pitchFamily="34" charset="-128"/>
              </a:rPr>
            </a:br>
            <a:r>
              <a:rPr lang="en-NZ" altLang="ja-JP" sz="1600" i="1" dirty="0">
                <a:solidFill>
                  <a:schemeClr val="bg2">
                    <a:lumMod val="50000"/>
                  </a:schemeClr>
                </a:solidFill>
                <a:latin typeface="Calibri" panose="020F0502020204030204"/>
                <a:ea typeface="游ゴシック" panose="020B0400000000000000" pitchFamily="34" charset="-128"/>
              </a:rPr>
              <a:t>this is an example of a nested design.</a:t>
            </a:r>
          </a:p>
        </p:txBody>
      </p:sp>
      <p:sp>
        <p:nvSpPr>
          <p:cNvPr id="2" name="Right Brace 1">
            <a:extLst>
              <a:ext uri="{FF2B5EF4-FFF2-40B4-BE49-F238E27FC236}">
                <a16:creationId xmlns:a16="http://schemas.microsoft.com/office/drawing/2014/main" id="{DFBADF1F-FEB2-9390-4AAC-19EF296DA975}"/>
              </a:ext>
            </a:extLst>
          </p:cNvPr>
          <p:cNvSpPr/>
          <p:nvPr/>
        </p:nvSpPr>
        <p:spPr>
          <a:xfrm>
            <a:off x="7130628" y="3148664"/>
            <a:ext cx="245660" cy="1009493"/>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NZ" dirty="0"/>
          </a:p>
        </p:txBody>
      </p:sp>
      <p:sp>
        <p:nvSpPr>
          <p:cNvPr id="21" name="Text Placeholder 5">
            <a:extLst>
              <a:ext uri="{FF2B5EF4-FFF2-40B4-BE49-F238E27FC236}">
                <a16:creationId xmlns:a16="http://schemas.microsoft.com/office/drawing/2014/main" id="{7E5D926C-CA55-7E36-9E8D-2824E71A40D6}"/>
              </a:ext>
            </a:extLst>
          </p:cNvPr>
          <p:cNvSpPr txBox="1">
            <a:spLocks/>
          </p:cNvSpPr>
          <p:nvPr/>
        </p:nvSpPr>
        <p:spPr>
          <a:xfrm>
            <a:off x="2417991" y="4547400"/>
            <a:ext cx="1411344" cy="440152"/>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lang="en-NZ" altLang="ja-JP" sz="1800" b="1" dirty="0">
                <a:solidFill>
                  <a:schemeClr val="tx1"/>
                </a:solidFill>
                <a:latin typeface="Calibri" panose="020F0502020204030204"/>
                <a:ea typeface="游ゴシック" panose="020B0400000000000000" pitchFamily="34" charset="-128"/>
              </a:rPr>
              <a:t>Factor A</a:t>
            </a:r>
          </a:p>
        </p:txBody>
      </p:sp>
      <p:sp>
        <p:nvSpPr>
          <p:cNvPr id="22" name="Text Placeholder 5">
            <a:extLst>
              <a:ext uri="{FF2B5EF4-FFF2-40B4-BE49-F238E27FC236}">
                <a16:creationId xmlns:a16="http://schemas.microsoft.com/office/drawing/2014/main" id="{0AF71769-3B12-7671-B2A6-052EBA4D6F51}"/>
              </a:ext>
            </a:extLst>
          </p:cNvPr>
          <p:cNvSpPr txBox="1">
            <a:spLocks/>
          </p:cNvSpPr>
          <p:nvPr/>
        </p:nvSpPr>
        <p:spPr>
          <a:xfrm>
            <a:off x="2417991" y="4877680"/>
            <a:ext cx="1411344" cy="440152"/>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lang="en-NZ" altLang="ja-JP" sz="1800" b="1" dirty="0">
                <a:solidFill>
                  <a:schemeClr val="tx1"/>
                </a:solidFill>
                <a:latin typeface="Calibri" panose="020F0502020204030204"/>
                <a:ea typeface="游ゴシック" panose="020B0400000000000000" pitchFamily="34" charset="-128"/>
              </a:rPr>
              <a:t>Factor B</a:t>
            </a:r>
          </a:p>
        </p:txBody>
      </p:sp>
      <p:graphicFrame>
        <p:nvGraphicFramePr>
          <p:cNvPr id="6" name="Table 5">
            <a:extLst>
              <a:ext uri="{FF2B5EF4-FFF2-40B4-BE49-F238E27FC236}">
                <a16:creationId xmlns:a16="http://schemas.microsoft.com/office/drawing/2014/main" id="{393AE76B-B6A7-880D-1346-6A1BD2AFD6DF}"/>
              </a:ext>
            </a:extLst>
          </p:cNvPr>
          <p:cNvGraphicFramePr>
            <a:graphicFrameLocks noGrp="1"/>
          </p:cNvGraphicFramePr>
          <p:nvPr>
            <p:extLst>
              <p:ext uri="{D42A27DB-BD31-4B8C-83A1-F6EECF244321}">
                <p14:modId xmlns:p14="http://schemas.microsoft.com/office/powerpoint/2010/main" val="1647533592"/>
              </p:ext>
            </p:extLst>
          </p:nvPr>
        </p:nvGraphicFramePr>
        <p:xfrm>
          <a:off x="3829335" y="4547400"/>
          <a:ext cx="4533330" cy="2029027"/>
        </p:xfrm>
        <a:graphic>
          <a:graphicData uri="http://schemas.openxmlformats.org/drawingml/2006/table">
            <a:tbl>
              <a:tblPr/>
              <a:tblGrid>
                <a:gridCol w="755555">
                  <a:extLst>
                    <a:ext uri="{9D8B030D-6E8A-4147-A177-3AD203B41FA5}">
                      <a16:colId xmlns:a16="http://schemas.microsoft.com/office/drawing/2014/main" val="652350300"/>
                    </a:ext>
                  </a:extLst>
                </a:gridCol>
                <a:gridCol w="755555">
                  <a:extLst>
                    <a:ext uri="{9D8B030D-6E8A-4147-A177-3AD203B41FA5}">
                      <a16:colId xmlns:a16="http://schemas.microsoft.com/office/drawing/2014/main" val="2784352141"/>
                    </a:ext>
                  </a:extLst>
                </a:gridCol>
                <a:gridCol w="755555">
                  <a:extLst>
                    <a:ext uri="{9D8B030D-6E8A-4147-A177-3AD203B41FA5}">
                      <a16:colId xmlns:a16="http://schemas.microsoft.com/office/drawing/2014/main" val="1226749293"/>
                    </a:ext>
                  </a:extLst>
                </a:gridCol>
                <a:gridCol w="755555">
                  <a:extLst>
                    <a:ext uri="{9D8B030D-6E8A-4147-A177-3AD203B41FA5}">
                      <a16:colId xmlns:a16="http://schemas.microsoft.com/office/drawing/2014/main" val="1562856876"/>
                    </a:ext>
                  </a:extLst>
                </a:gridCol>
                <a:gridCol w="755555">
                  <a:extLst>
                    <a:ext uri="{9D8B030D-6E8A-4147-A177-3AD203B41FA5}">
                      <a16:colId xmlns:a16="http://schemas.microsoft.com/office/drawing/2014/main" val="3487631667"/>
                    </a:ext>
                  </a:extLst>
                </a:gridCol>
                <a:gridCol w="755555">
                  <a:extLst>
                    <a:ext uri="{9D8B030D-6E8A-4147-A177-3AD203B41FA5}">
                      <a16:colId xmlns:a16="http://schemas.microsoft.com/office/drawing/2014/main" val="1454447260"/>
                    </a:ext>
                  </a:extLst>
                </a:gridCol>
              </a:tblGrid>
              <a:tr h="289861">
                <a:tc gridSpan="2">
                  <a:txBody>
                    <a:bodyPr/>
                    <a:lstStyle/>
                    <a:p>
                      <a:pPr algn="ctr" fontAlgn="ctr"/>
                      <a:r>
                        <a:rPr lang="en-NZ" sz="1400" b="1" i="0" u="none" strike="noStrike" dirty="0">
                          <a:solidFill>
                            <a:srgbClr val="FFFFFF"/>
                          </a:solidFill>
                          <a:effectLst/>
                          <a:latin typeface="Calibri" panose="020F0502020204030204" pitchFamily="34" charset="0"/>
                        </a:rPr>
                        <a:t>Pond 1</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2060"/>
                    </a:solidFill>
                  </a:tcPr>
                </a:tc>
                <a:tc hMerge="1">
                  <a:txBody>
                    <a:bodyPr/>
                    <a:lstStyle/>
                    <a:p>
                      <a:endParaRPr lang="en-NZ"/>
                    </a:p>
                  </a:txBody>
                  <a:tcPr/>
                </a:tc>
                <a:tc gridSpan="2">
                  <a:txBody>
                    <a:bodyPr/>
                    <a:lstStyle/>
                    <a:p>
                      <a:pPr algn="ctr" fontAlgn="ctr"/>
                      <a:r>
                        <a:rPr lang="en-NZ" sz="1400" b="1" i="0" u="none" strike="noStrike" dirty="0">
                          <a:solidFill>
                            <a:srgbClr val="FFFFFF"/>
                          </a:solidFill>
                          <a:effectLst/>
                          <a:latin typeface="Calibri" panose="020F0502020204030204" pitchFamily="34" charset="0"/>
                        </a:rPr>
                        <a:t>Pond 2</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00000"/>
                    </a:solidFill>
                  </a:tcPr>
                </a:tc>
                <a:tc hMerge="1">
                  <a:txBody>
                    <a:bodyPr/>
                    <a:lstStyle/>
                    <a:p>
                      <a:endParaRPr lang="en-NZ"/>
                    </a:p>
                  </a:txBody>
                  <a:tcPr/>
                </a:tc>
                <a:tc gridSpan="2">
                  <a:txBody>
                    <a:bodyPr/>
                    <a:lstStyle/>
                    <a:p>
                      <a:pPr algn="ctr" fontAlgn="ctr"/>
                      <a:r>
                        <a:rPr lang="en-NZ" sz="1400" b="1" i="0" u="none" strike="noStrike" dirty="0">
                          <a:solidFill>
                            <a:srgbClr val="FFFFFF"/>
                          </a:solidFill>
                          <a:effectLst/>
                          <a:latin typeface="Calibri" panose="020F0502020204030204" pitchFamily="34" charset="0"/>
                        </a:rPr>
                        <a:t>Pond 3</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B050"/>
                    </a:solidFill>
                  </a:tcPr>
                </a:tc>
                <a:tc hMerge="1">
                  <a:txBody>
                    <a:bodyPr/>
                    <a:lstStyle/>
                    <a:p>
                      <a:endParaRPr lang="en-NZ"/>
                    </a:p>
                  </a:txBody>
                  <a:tcPr/>
                </a:tc>
                <a:extLst>
                  <a:ext uri="{0D108BD9-81ED-4DB2-BD59-A6C34878D82A}">
                    <a16:rowId xmlns:a16="http://schemas.microsoft.com/office/drawing/2014/main" val="1880941337"/>
                  </a:ext>
                </a:extLst>
              </a:tr>
              <a:tr h="289861">
                <a:tc>
                  <a:txBody>
                    <a:bodyPr/>
                    <a:lstStyle/>
                    <a:p>
                      <a:pPr algn="ctr" fontAlgn="ctr"/>
                      <a:r>
                        <a:rPr lang="en-NZ" sz="1400" b="1" i="0" u="none" strike="noStrike" dirty="0">
                          <a:solidFill>
                            <a:srgbClr val="FFFFFF"/>
                          </a:solidFill>
                          <a:effectLst/>
                          <a:latin typeface="Calibri" panose="020F0502020204030204" pitchFamily="34" charset="0"/>
                        </a:rPr>
                        <a:t>X</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2060"/>
                    </a:solidFill>
                  </a:tcPr>
                </a:tc>
                <a:tc>
                  <a:txBody>
                    <a:bodyPr/>
                    <a:lstStyle/>
                    <a:p>
                      <a:pPr algn="ctr" fontAlgn="ctr"/>
                      <a:r>
                        <a:rPr lang="en-NZ" sz="1400" b="1" i="0" u="none" strike="noStrike" dirty="0">
                          <a:solidFill>
                            <a:srgbClr val="FFFFFF"/>
                          </a:solidFill>
                          <a:effectLst/>
                          <a:latin typeface="Calibri" panose="020F0502020204030204" pitchFamily="34" charset="0"/>
                        </a:rPr>
                        <a:t>Y</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2060"/>
                    </a:solidFill>
                  </a:tcPr>
                </a:tc>
                <a:tc>
                  <a:txBody>
                    <a:bodyPr/>
                    <a:lstStyle/>
                    <a:p>
                      <a:pPr algn="ctr" fontAlgn="ctr"/>
                      <a:r>
                        <a:rPr lang="en-NZ" sz="1400" b="1" i="0" u="none" strike="noStrike" dirty="0">
                          <a:solidFill>
                            <a:srgbClr val="FFFFFF"/>
                          </a:solidFill>
                          <a:effectLst/>
                          <a:latin typeface="Calibri" panose="020F0502020204030204" pitchFamily="34" charset="0"/>
                        </a:rPr>
                        <a:t>Y</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00000"/>
                    </a:solidFill>
                  </a:tcPr>
                </a:tc>
                <a:tc>
                  <a:txBody>
                    <a:bodyPr/>
                    <a:lstStyle/>
                    <a:p>
                      <a:pPr algn="ctr" fontAlgn="ctr"/>
                      <a:r>
                        <a:rPr lang="en-NZ" sz="1400" b="1" i="0" u="none" strike="noStrike" dirty="0">
                          <a:solidFill>
                            <a:srgbClr val="FFFFFF"/>
                          </a:solidFill>
                          <a:effectLst/>
                          <a:latin typeface="Calibri" panose="020F0502020204030204" pitchFamily="34" charset="0"/>
                        </a:rPr>
                        <a:t>Z</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00000"/>
                    </a:solidFill>
                  </a:tcPr>
                </a:tc>
                <a:tc>
                  <a:txBody>
                    <a:bodyPr/>
                    <a:lstStyle/>
                    <a:p>
                      <a:pPr algn="ctr" fontAlgn="ctr"/>
                      <a:r>
                        <a:rPr lang="en-NZ" sz="1400" b="1" i="0" u="none" strike="noStrike" dirty="0">
                          <a:solidFill>
                            <a:srgbClr val="FFFFFF"/>
                          </a:solidFill>
                          <a:effectLst/>
                          <a:latin typeface="Calibri" panose="020F0502020204030204" pitchFamily="34" charset="0"/>
                        </a:rPr>
                        <a:t>X</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B050"/>
                    </a:solidFill>
                  </a:tcPr>
                </a:tc>
                <a:tc>
                  <a:txBody>
                    <a:bodyPr/>
                    <a:lstStyle/>
                    <a:p>
                      <a:pPr algn="ctr" fontAlgn="ctr"/>
                      <a:r>
                        <a:rPr lang="en-NZ" sz="1400" b="1" i="0" u="none" strike="noStrike" dirty="0">
                          <a:solidFill>
                            <a:srgbClr val="FFFFFF"/>
                          </a:solidFill>
                          <a:effectLst/>
                          <a:latin typeface="Calibri" panose="020F0502020204030204" pitchFamily="34" charset="0"/>
                        </a:rPr>
                        <a:t>Z</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B050"/>
                    </a:solidFill>
                  </a:tcPr>
                </a:tc>
                <a:extLst>
                  <a:ext uri="{0D108BD9-81ED-4DB2-BD59-A6C34878D82A}">
                    <a16:rowId xmlns:a16="http://schemas.microsoft.com/office/drawing/2014/main" val="2280725168"/>
                  </a:ext>
                </a:extLst>
              </a:tr>
              <a:tr h="289861">
                <a:tc>
                  <a:txBody>
                    <a:bodyPr/>
                    <a:lstStyle/>
                    <a:p>
                      <a:pPr algn="ctr" fontAlgn="ctr"/>
                      <a:r>
                        <a:rPr lang="en-NZ" sz="1400" b="0" i="0" u="none" strike="noStrike" dirty="0">
                          <a:solidFill>
                            <a:srgbClr val="000000"/>
                          </a:solidFill>
                          <a:effectLst/>
                          <a:latin typeface="Calibri" panose="020F0502020204030204" pitchFamily="34" charset="0"/>
                        </a:rPr>
                        <a:t>10</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dirty="0">
                          <a:solidFill>
                            <a:srgbClr val="000000"/>
                          </a:solidFill>
                          <a:effectLst/>
                          <a:latin typeface="Calibri" panose="020F0502020204030204" pitchFamily="34" charset="0"/>
                        </a:rPr>
                        <a:t>51</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dirty="0">
                          <a:solidFill>
                            <a:srgbClr val="000000"/>
                          </a:solidFill>
                          <a:effectLst/>
                          <a:latin typeface="Calibri" panose="020F0502020204030204" pitchFamily="34" charset="0"/>
                        </a:rPr>
                        <a:t>18</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ctr"/>
                      <a:r>
                        <a:rPr lang="en-NZ" sz="1400" b="0" i="0" u="none" strike="noStrike" dirty="0">
                          <a:solidFill>
                            <a:srgbClr val="000000"/>
                          </a:solidFill>
                          <a:effectLst/>
                          <a:latin typeface="Calibri" panose="020F0502020204030204" pitchFamily="34" charset="0"/>
                        </a:rPr>
                        <a:t>80</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ctr"/>
                      <a:r>
                        <a:rPr lang="en-NZ" sz="1400" b="0" i="0" u="none" strike="noStrike" dirty="0">
                          <a:solidFill>
                            <a:srgbClr val="000000"/>
                          </a:solidFill>
                          <a:effectLst/>
                          <a:latin typeface="Calibri" panose="020F0502020204030204" pitchFamily="34" charset="0"/>
                        </a:rPr>
                        <a:t>23</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2EFDA"/>
                    </a:solidFill>
                  </a:tcPr>
                </a:tc>
                <a:tc>
                  <a:txBody>
                    <a:bodyPr/>
                    <a:lstStyle/>
                    <a:p>
                      <a:pPr algn="ctr" fontAlgn="ctr"/>
                      <a:r>
                        <a:rPr lang="en-NZ" sz="1400" b="0" i="0" u="none" strike="noStrike" dirty="0">
                          <a:solidFill>
                            <a:srgbClr val="000000"/>
                          </a:solidFill>
                          <a:effectLst/>
                          <a:latin typeface="Calibri" panose="020F0502020204030204" pitchFamily="34" charset="0"/>
                        </a:rPr>
                        <a:t>12</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2EFDA"/>
                    </a:solidFill>
                  </a:tcPr>
                </a:tc>
                <a:extLst>
                  <a:ext uri="{0D108BD9-81ED-4DB2-BD59-A6C34878D82A}">
                    <a16:rowId xmlns:a16="http://schemas.microsoft.com/office/drawing/2014/main" val="3168486947"/>
                  </a:ext>
                </a:extLst>
              </a:tr>
              <a:tr h="289861">
                <a:tc>
                  <a:txBody>
                    <a:bodyPr/>
                    <a:lstStyle/>
                    <a:p>
                      <a:pPr algn="ctr" fontAlgn="ctr"/>
                      <a:r>
                        <a:rPr lang="en-NZ" sz="1400" b="0" i="0" u="none" strike="noStrike" dirty="0">
                          <a:solidFill>
                            <a:srgbClr val="000000"/>
                          </a:solidFill>
                          <a:effectLst/>
                          <a:latin typeface="Calibri" panose="020F0502020204030204" pitchFamily="34" charset="0"/>
                        </a:rPr>
                        <a:t>12</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dirty="0">
                          <a:solidFill>
                            <a:srgbClr val="000000"/>
                          </a:solidFill>
                          <a:effectLst/>
                          <a:latin typeface="Calibri" panose="020F0502020204030204" pitchFamily="34" charset="0"/>
                        </a:rPr>
                        <a:t>55</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dirty="0">
                          <a:solidFill>
                            <a:srgbClr val="000000"/>
                          </a:solidFill>
                          <a:effectLst/>
                          <a:latin typeface="Calibri" panose="020F0502020204030204" pitchFamily="34" charset="0"/>
                        </a:rPr>
                        <a:t>14</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ctr"/>
                      <a:r>
                        <a:rPr lang="en-NZ" sz="1400" b="0" i="0" u="none" strike="noStrike" dirty="0">
                          <a:solidFill>
                            <a:srgbClr val="000000"/>
                          </a:solidFill>
                          <a:effectLst/>
                          <a:latin typeface="Calibri" panose="020F0502020204030204" pitchFamily="34" charset="0"/>
                        </a:rPr>
                        <a:t>57</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ctr"/>
                      <a:r>
                        <a:rPr lang="en-NZ" sz="1400" b="0" i="0" u="none" strike="noStrike" dirty="0">
                          <a:solidFill>
                            <a:srgbClr val="000000"/>
                          </a:solidFill>
                          <a:effectLst/>
                          <a:latin typeface="Calibri" panose="020F0502020204030204" pitchFamily="34" charset="0"/>
                        </a:rPr>
                        <a:t>22</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2EFDA"/>
                    </a:solidFill>
                  </a:tcPr>
                </a:tc>
                <a:tc>
                  <a:txBody>
                    <a:bodyPr/>
                    <a:lstStyle/>
                    <a:p>
                      <a:pPr algn="ctr" fontAlgn="ctr"/>
                      <a:r>
                        <a:rPr lang="en-NZ" sz="1400" b="0" i="0" u="none" strike="noStrike" dirty="0">
                          <a:solidFill>
                            <a:srgbClr val="000000"/>
                          </a:solidFill>
                          <a:effectLst/>
                          <a:latin typeface="Calibri" panose="020F0502020204030204" pitchFamily="34" charset="0"/>
                        </a:rPr>
                        <a:t>31</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2EFDA"/>
                    </a:solidFill>
                  </a:tcPr>
                </a:tc>
                <a:extLst>
                  <a:ext uri="{0D108BD9-81ED-4DB2-BD59-A6C34878D82A}">
                    <a16:rowId xmlns:a16="http://schemas.microsoft.com/office/drawing/2014/main" val="848796782"/>
                  </a:ext>
                </a:extLst>
              </a:tr>
              <a:tr h="289861">
                <a:tc>
                  <a:txBody>
                    <a:bodyPr/>
                    <a:lstStyle/>
                    <a:p>
                      <a:pPr algn="ctr" fontAlgn="ctr"/>
                      <a:r>
                        <a:rPr lang="en-NZ" sz="1400" b="0" i="0" u="none" strike="noStrike" dirty="0">
                          <a:solidFill>
                            <a:srgbClr val="000000"/>
                          </a:solidFill>
                          <a:effectLst/>
                          <a:latin typeface="Calibri" panose="020F0502020204030204" pitchFamily="34" charset="0"/>
                        </a:rPr>
                        <a:t>19</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dirty="0">
                          <a:solidFill>
                            <a:srgbClr val="000000"/>
                          </a:solidFill>
                          <a:effectLst/>
                          <a:latin typeface="Calibri" panose="020F0502020204030204" pitchFamily="34" charset="0"/>
                        </a:rPr>
                        <a:t>23</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dirty="0">
                          <a:solidFill>
                            <a:srgbClr val="000000"/>
                          </a:solidFill>
                          <a:effectLst/>
                          <a:latin typeface="Calibri" panose="020F0502020204030204" pitchFamily="34" charset="0"/>
                        </a:rPr>
                        <a:t>32</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ctr"/>
                      <a:r>
                        <a:rPr lang="en-NZ" sz="1400" b="0" i="0" u="none" strike="noStrike" dirty="0">
                          <a:solidFill>
                            <a:srgbClr val="000000"/>
                          </a:solidFill>
                          <a:effectLst/>
                          <a:latin typeface="Calibri" panose="020F0502020204030204" pitchFamily="34" charset="0"/>
                        </a:rPr>
                        <a:t>65</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ctr"/>
                      <a:r>
                        <a:rPr lang="en-NZ" sz="1400" b="0" i="0" u="none" strike="noStrike" dirty="0">
                          <a:solidFill>
                            <a:srgbClr val="000000"/>
                          </a:solidFill>
                          <a:effectLst/>
                          <a:latin typeface="Calibri" panose="020F0502020204030204" pitchFamily="34" charset="0"/>
                        </a:rPr>
                        <a:t>28</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2EFDA"/>
                    </a:solidFill>
                  </a:tcPr>
                </a:tc>
                <a:tc>
                  <a:txBody>
                    <a:bodyPr/>
                    <a:lstStyle/>
                    <a:p>
                      <a:pPr algn="ctr" fontAlgn="ctr"/>
                      <a:r>
                        <a:rPr lang="en-NZ" sz="1400" b="0" i="0" u="none" strike="noStrike" dirty="0">
                          <a:solidFill>
                            <a:srgbClr val="000000"/>
                          </a:solidFill>
                          <a:effectLst/>
                          <a:latin typeface="Calibri" panose="020F0502020204030204" pitchFamily="34" charset="0"/>
                        </a:rPr>
                        <a:t>39</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2EFDA"/>
                    </a:solidFill>
                  </a:tcPr>
                </a:tc>
                <a:extLst>
                  <a:ext uri="{0D108BD9-81ED-4DB2-BD59-A6C34878D82A}">
                    <a16:rowId xmlns:a16="http://schemas.microsoft.com/office/drawing/2014/main" val="1630081677"/>
                  </a:ext>
                </a:extLst>
              </a:tr>
              <a:tr h="289861">
                <a:tc>
                  <a:txBody>
                    <a:bodyPr/>
                    <a:lstStyle/>
                    <a:p>
                      <a:pPr algn="ctr" fontAlgn="ctr"/>
                      <a:r>
                        <a:rPr lang="en-NZ" sz="1400" b="0" i="0" u="none" strike="noStrike" dirty="0">
                          <a:solidFill>
                            <a:srgbClr val="000000"/>
                          </a:solidFill>
                          <a:effectLst/>
                          <a:latin typeface="Calibri" panose="020F0502020204030204" pitchFamily="34" charset="0"/>
                        </a:rPr>
                        <a:t>43</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dirty="0">
                          <a:solidFill>
                            <a:srgbClr val="000000"/>
                          </a:solidFill>
                          <a:effectLst/>
                          <a:latin typeface="Calibri" panose="020F0502020204030204" pitchFamily="34" charset="0"/>
                        </a:rPr>
                        <a:t>56</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dirty="0">
                          <a:solidFill>
                            <a:srgbClr val="000000"/>
                          </a:solidFill>
                          <a:effectLst/>
                          <a:latin typeface="Calibri" panose="020F0502020204030204" pitchFamily="34" charset="0"/>
                        </a:rPr>
                        <a:t>22</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ctr"/>
                      <a:r>
                        <a:rPr lang="en-NZ" sz="1400" b="0" i="0" u="none" strike="noStrike" dirty="0">
                          <a:solidFill>
                            <a:srgbClr val="000000"/>
                          </a:solidFill>
                          <a:effectLst/>
                          <a:latin typeface="Calibri" panose="020F0502020204030204" pitchFamily="34" charset="0"/>
                        </a:rPr>
                        <a:t>95</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ctr"/>
                      <a:r>
                        <a:rPr lang="en-NZ" sz="1400" b="0" i="0" u="none" strike="noStrike" dirty="0">
                          <a:solidFill>
                            <a:srgbClr val="000000"/>
                          </a:solidFill>
                          <a:effectLst/>
                          <a:latin typeface="Calibri" panose="020F0502020204030204" pitchFamily="34" charset="0"/>
                        </a:rPr>
                        <a:t>39</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2EFDA"/>
                    </a:solidFill>
                  </a:tcPr>
                </a:tc>
                <a:tc>
                  <a:txBody>
                    <a:bodyPr/>
                    <a:lstStyle/>
                    <a:p>
                      <a:pPr algn="ctr" fontAlgn="ctr"/>
                      <a:r>
                        <a:rPr lang="en-NZ" sz="1400" b="0" i="0" u="none" strike="noStrike" dirty="0">
                          <a:solidFill>
                            <a:srgbClr val="000000"/>
                          </a:solidFill>
                          <a:effectLst/>
                          <a:latin typeface="Calibri" panose="020F0502020204030204" pitchFamily="34" charset="0"/>
                        </a:rPr>
                        <a:t>38</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2EFDA"/>
                    </a:solidFill>
                  </a:tcPr>
                </a:tc>
                <a:extLst>
                  <a:ext uri="{0D108BD9-81ED-4DB2-BD59-A6C34878D82A}">
                    <a16:rowId xmlns:a16="http://schemas.microsoft.com/office/drawing/2014/main" val="1973803856"/>
                  </a:ext>
                </a:extLst>
              </a:tr>
              <a:tr h="289861">
                <a:tc>
                  <a:txBody>
                    <a:bodyPr/>
                    <a:lstStyle/>
                    <a:p>
                      <a:pPr algn="ctr" fontAlgn="ctr"/>
                      <a:r>
                        <a:rPr lang="en-NZ" sz="1400" b="0" i="0" u="none" strike="noStrike" dirty="0">
                          <a:solidFill>
                            <a:srgbClr val="000000"/>
                          </a:solidFill>
                          <a:effectLst/>
                          <a:latin typeface="Calibri" panose="020F0502020204030204" pitchFamily="34" charset="0"/>
                        </a:rPr>
                        <a:t>21</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dirty="0">
                          <a:solidFill>
                            <a:srgbClr val="000000"/>
                          </a:solidFill>
                          <a:effectLst/>
                          <a:latin typeface="Calibri" panose="020F0502020204030204" pitchFamily="34" charset="0"/>
                        </a:rPr>
                        <a:t>58</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dirty="0">
                          <a:solidFill>
                            <a:srgbClr val="000000"/>
                          </a:solidFill>
                          <a:effectLst/>
                          <a:latin typeface="Calibri" panose="020F0502020204030204" pitchFamily="34" charset="0"/>
                        </a:rPr>
                        <a:t>27</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ctr"/>
                      <a:r>
                        <a:rPr lang="en-NZ" sz="1400" b="0" i="0" u="none" strike="noStrike" dirty="0">
                          <a:solidFill>
                            <a:srgbClr val="000000"/>
                          </a:solidFill>
                          <a:effectLst/>
                          <a:latin typeface="Calibri" panose="020F0502020204030204" pitchFamily="34" charset="0"/>
                        </a:rPr>
                        <a:t>74</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ctr"/>
                      <a:r>
                        <a:rPr lang="en-NZ" sz="1400" b="0" i="0" u="none" strike="noStrike" dirty="0">
                          <a:solidFill>
                            <a:srgbClr val="000000"/>
                          </a:solidFill>
                          <a:effectLst/>
                          <a:latin typeface="Calibri" panose="020F0502020204030204" pitchFamily="34" charset="0"/>
                        </a:rPr>
                        <a:t>40</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2EFDA"/>
                    </a:solidFill>
                  </a:tcPr>
                </a:tc>
                <a:tc>
                  <a:txBody>
                    <a:bodyPr/>
                    <a:lstStyle/>
                    <a:p>
                      <a:pPr algn="ctr" fontAlgn="ctr"/>
                      <a:r>
                        <a:rPr lang="en-NZ" sz="1400" b="0" i="0" u="none" strike="noStrike" dirty="0">
                          <a:solidFill>
                            <a:srgbClr val="000000"/>
                          </a:solidFill>
                          <a:effectLst/>
                          <a:latin typeface="Calibri" panose="020F0502020204030204" pitchFamily="34" charset="0"/>
                        </a:rPr>
                        <a:t>40</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2EFDA"/>
                    </a:solidFill>
                  </a:tcPr>
                </a:tc>
                <a:extLst>
                  <a:ext uri="{0D108BD9-81ED-4DB2-BD59-A6C34878D82A}">
                    <a16:rowId xmlns:a16="http://schemas.microsoft.com/office/drawing/2014/main" val="2675740219"/>
                  </a:ext>
                </a:extLst>
              </a:tr>
            </a:tbl>
          </a:graphicData>
        </a:graphic>
      </p:graphicFrame>
      <p:sp>
        <p:nvSpPr>
          <p:cNvPr id="13" name="Footer Placeholder 2">
            <a:extLst>
              <a:ext uri="{FF2B5EF4-FFF2-40B4-BE49-F238E27FC236}">
                <a16:creationId xmlns:a16="http://schemas.microsoft.com/office/drawing/2014/main" id="{4F9EE9DF-8D15-D95B-5E8F-1CBDBB4C5A41}"/>
              </a:ext>
            </a:extLst>
          </p:cNvPr>
          <p:cNvSpPr txBox="1">
            <a:spLocks/>
          </p:cNvSpPr>
          <p:nvPr/>
        </p:nvSpPr>
        <p:spPr>
          <a:xfrm>
            <a:off x="8775510" y="86139"/>
            <a:ext cx="3313855"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600" dirty="0">
                <a:solidFill>
                  <a:srgbClr val="DEDDDD"/>
                </a:solidFill>
                <a:latin typeface="Gidole"/>
                <a:ea typeface="游ゴシック" panose="020B0400000000000000" pitchFamily="34" charset="-128"/>
              </a:rPr>
              <a:t>5</a:t>
            </a:r>
            <a:r>
              <a:rPr kumimoji="1" lang="en-US" altLang="ja-JP"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rPr>
              <a:t>.1 – Crossed vs Nested Designs</a:t>
            </a:r>
            <a:endParaRPr kumimoji="1" lang="ja-JP" altLang="en-US"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endParaRPr>
          </a:p>
        </p:txBody>
      </p:sp>
    </p:spTree>
    <p:extLst>
      <p:ext uri="{BB962C8B-B14F-4D97-AF65-F5344CB8AC3E}">
        <p14:creationId xmlns:p14="http://schemas.microsoft.com/office/powerpoint/2010/main" val="39129904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2"/>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19" grpId="0"/>
      <p:bldP spid="2" grpId="0" animBg="1"/>
      <p:bldP spid="21" grpId="0"/>
      <p:bldP spid="22" grpId="0"/>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1" name="Rectangle 70">
            <a:extLst>
              <a:ext uri="{FF2B5EF4-FFF2-40B4-BE49-F238E27FC236}">
                <a16:creationId xmlns:a16="http://schemas.microsoft.com/office/drawing/2014/main" id="{AB8C311F-7253-4AED-9701-7FC0708C4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030" name="Rectangle 72">
            <a:extLst>
              <a:ext uri="{FF2B5EF4-FFF2-40B4-BE49-F238E27FC236}">
                <a16:creationId xmlns:a16="http://schemas.microsoft.com/office/drawing/2014/main" id="{FD073016-B734-483B-8953-5BADEE1451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38600" y="0"/>
            <a:ext cx="8157458" cy="6858000"/>
          </a:xfrm>
          <a:prstGeom prst="rect">
            <a:avLst/>
          </a:prstGeom>
          <a:gradFill>
            <a:gsLst>
              <a:gs pos="2000">
                <a:schemeClr val="accent1"/>
              </a:gs>
              <a:gs pos="78000">
                <a:schemeClr val="accent1">
                  <a:lumMod val="50000"/>
                </a:schemeClr>
              </a:gs>
              <a:gs pos="100000">
                <a:srgbClr val="000000">
                  <a:alpha val="85000"/>
                </a:srgb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031" name="Rectangle 74">
            <a:extLst>
              <a:ext uri="{FF2B5EF4-FFF2-40B4-BE49-F238E27FC236}">
                <a16:creationId xmlns:a16="http://schemas.microsoft.com/office/drawing/2014/main" id="{90A7EAB6-59D3-4325-8DE6-E0CA4009CE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4537" y="1839884"/>
            <a:ext cx="8157460" cy="5017687"/>
          </a:xfrm>
          <a:prstGeom prst="rect">
            <a:avLst/>
          </a:prstGeom>
          <a:gradFill>
            <a:gsLst>
              <a:gs pos="0">
                <a:schemeClr val="accent1">
                  <a:lumMod val="60000"/>
                  <a:lumOff val="40000"/>
                  <a:alpha val="30000"/>
                </a:schemeClr>
              </a:gs>
              <a:gs pos="100000">
                <a:srgbClr val="000000">
                  <a:alpha val="44000"/>
                </a:srgbClr>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032" name="Rectangle 76">
            <a:extLst>
              <a:ext uri="{FF2B5EF4-FFF2-40B4-BE49-F238E27FC236}">
                <a16:creationId xmlns:a16="http://schemas.microsoft.com/office/drawing/2014/main" id="{A8D57A06-A426-446D-B02C-A2DC6B62E4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063179" y="-33131"/>
            <a:ext cx="6857999" cy="6923403"/>
          </a:xfrm>
          <a:prstGeom prst="rect">
            <a:avLst/>
          </a:prstGeom>
          <a:gradFill>
            <a:gsLst>
              <a:gs pos="56000">
                <a:schemeClr val="accent1">
                  <a:lumMod val="60000"/>
                  <a:lumOff val="40000"/>
                  <a:alpha val="0"/>
                </a:schemeClr>
              </a:gs>
              <a:gs pos="100000">
                <a:schemeClr val="accent1"/>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9" name="TextBox 8">
            <a:extLst>
              <a:ext uri="{FF2B5EF4-FFF2-40B4-BE49-F238E27FC236}">
                <a16:creationId xmlns:a16="http://schemas.microsoft.com/office/drawing/2014/main" id="{7F14062D-E1C1-4F63-B0FD-D013BDA5782B}"/>
              </a:ext>
            </a:extLst>
          </p:cNvPr>
          <p:cNvSpPr txBox="1"/>
          <p:nvPr/>
        </p:nvSpPr>
        <p:spPr>
          <a:xfrm>
            <a:off x="43707" y="2844225"/>
            <a:ext cx="12104586" cy="1477328"/>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NZ" sz="4500" b="1" dirty="0">
                <a:solidFill>
                  <a:srgbClr val="FFC000"/>
                </a:solidFill>
                <a:latin typeface="Calibri" panose="020F0502020204030204"/>
              </a:rPr>
              <a:t>5</a:t>
            </a:r>
            <a:r>
              <a:rPr kumimoji="0" lang="en-NZ" sz="4500" b="1" i="0" u="none" strike="noStrike" kern="1200" cap="none" spc="0" normalizeH="0" baseline="0" noProof="0" dirty="0">
                <a:ln>
                  <a:noFill/>
                </a:ln>
                <a:solidFill>
                  <a:srgbClr val="FFC000"/>
                </a:solidFill>
                <a:effectLst/>
                <a:uLnTx/>
                <a:uFillTx/>
                <a:latin typeface="Calibri" panose="020F0502020204030204"/>
                <a:ea typeface="+mn-ea"/>
                <a:cs typeface="+mn-cs"/>
              </a:rPr>
              <a:t>.2 – Mixed Effects Model for a </a:t>
            </a:r>
            <a:br>
              <a:rPr kumimoji="0" lang="en-NZ" sz="4500" b="1" i="0" u="none" strike="noStrike" kern="1200" cap="none" spc="0" normalizeH="0" baseline="0" noProof="0" dirty="0">
                <a:ln>
                  <a:noFill/>
                </a:ln>
                <a:solidFill>
                  <a:srgbClr val="FFC000"/>
                </a:solidFill>
                <a:effectLst/>
                <a:uLnTx/>
                <a:uFillTx/>
                <a:latin typeface="Calibri" panose="020F0502020204030204"/>
                <a:ea typeface="+mn-ea"/>
                <a:cs typeface="+mn-cs"/>
              </a:rPr>
            </a:br>
            <a:r>
              <a:rPr kumimoji="0" lang="en-NZ" sz="4500" b="1" i="0" u="none" strike="noStrike" kern="1200" cap="none" spc="0" normalizeH="0" baseline="0" noProof="0" dirty="0">
                <a:ln>
                  <a:noFill/>
                </a:ln>
                <a:solidFill>
                  <a:srgbClr val="FFC000"/>
                </a:solidFill>
                <a:effectLst/>
                <a:uLnTx/>
                <a:uFillTx/>
                <a:latin typeface="Calibri" panose="020F0502020204030204"/>
                <a:ea typeface="+mn-ea"/>
                <a:cs typeface="+mn-cs"/>
              </a:rPr>
              <a:t>Two-Stage Nested Design</a:t>
            </a:r>
          </a:p>
        </p:txBody>
      </p:sp>
      <p:pic>
        <p:nvPicPr>
          <p:cNvPr id="10" name="Picture 2" descr="Te Herenga Waka—Victoria University of Wellington | Universities New  Zealand - Te Pōkai Tara">
            <a:extLst>
              <a:ext uri="{FF2B5EF4-FFF2-40B4-BE49-F238E27FC236}">
                <a16:creationId xmlns:a16="http://schemas.microsoft.com/office/drawing/2014/main" id="{078A8151-9BD3-4B62-8210-A87BCD0941E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116733"/>
            <a:ext cx="2185386" cy="7412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785842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2">
            <a:extLst>
              <a:ext uri="{FF2B5EF4-FFF2-40B4-BE49-F238E27FC236}">
                <a16:creationId xmlns:a16="http://schemas.microsoft.com/office/drawing/2014/main" id="{FCA3135E-12FE-4808-B68B-466D5B0EBCB1}"/>
              </a:ext>
            </a:extLst>
          </p:cNvPr>
          <p:cNvSpPr txBox="1">
            <a:spLocks/>
          </p:cNvSpPr>
          <p:nvPr/>
        </p:nvSpPr>
        <p:spPr>
          <a:xfrm>
            <a:off x="8775510" y="86139"/>
            <a:ext cx="3313855"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600" dirty="0">
                <a:solidFill>
                  <a:srgbClr val="DEDDDD"/>
                </a:solidFill>
                <a:latin typeface="Gidole"/>
                <a:ea typeface="游ゴシック" panose="020B0400000000000000" pitchFamily="34" charset="-128"/>
              </a:rPr>
              <a:t>5</a:t>
            </a:r>
            <a:r>
              <a:rPr kumimoji="1" lang="en-US" altLang="ja-JP"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rPr>
              <a:t>.2 – Two Stage Nested Design</a:t>
            </a:r>
            <a:endParaRPr kumimoji="1" lang="ja-JP" altLang="en-US"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endParaRPr>
          </a:p>
        </p:txBody>
      </p:sp>
      <p:sp>
        <p:nvSpPr>
          <p:cNvPr id="5" name="Title 6">
            <a:extLst>
              <a:ext uri="{FF2B5EF4-FFF2-40B4-BE49-F238E27FC236}">
                <a16:creationId xmlns:a16="http://schemas.microsoft.com/office/drawing/2014/main" id="{2BD5844C-C201-4666-ADB9-681CBA48DCC1}"/>
              </a:ext>
            </a:extLst>
          </p:cNvPr>
          <p:cNvSpPr txBox="1">
            <a:spLocks/>
          </p:cNvSpPr>
          <p:nvPr/>
        </p:nvSpPr>
        <p:spPr>
          <a:xfrm>
            <a:off x="251224" y="237833"/>
            <a:ext cx="9411391" cy="607201"/>
          </a:xfrm>
          <a:prstGeom prst="rect">
            <a:avLst/>
          </a:prstGeom>
        </p:spPr>
        <p:txBody>
          <a:bodyPr anchor="t">
            <a:normAutofit fontScale="85000" lnSpcReduction="10000"/>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pPr marL="0" marR="0" lvl="0" indent="0" algn="l" defTabSz="914324" rtl="0" eaLnBrk="1" fontAlgn="auto" latinLnBrk="0" hangingPunct="1">
              <a:lnSpc>
                <a:spcPct val="90000"/>
              </a:lnSpc>
              <a:spcBef>
                <a:spcPct val="0"/>
              </a:spcBef>
              <a:spcAft>
                <a:spcPts val="0"/>
              </a:spcAft>
              <a:buClrTx/>
              <a:buSzTx/>
              <a:buFontTx/>
              <a:buNone/>
              <a:tabLst/>
              <a:defRPr/>
            </a:pPr>
            <a:r>
              <a:rPr lang="en-US" altLang="ja-JP" b="1" u="sng" dirty="0">
                <a:solidFill>
                  <a:prstClr val="black"/>
                </a:solidFill>
                <a:latin typeface="Calibri" panose="020F0502020204030204"/>
                <a:ea typeface="游ゴシック Light" panose="020B0300000000000000" pitchFamily="34" charset="-128"/>
              </a:rPr>
              <a:t>5</a:t>
            </a:r>
            <a:r>
              <a:rPr kumimoji="1" lang="en-US" altLang="ja-JP"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rPr>
              <a:t>.2a – </a:t>
            </a:r>
            <a:r>
              <a:rPr lang="en-US" altLang="ja-JP" b="1" u="sng" dirty="0">
                <a:solidFill>
                  <a:prstClr val="black"/>
                </a:solidFill>
                <a:latin typeface="Calibri" panose="020F0502020204030204"/>
                <a:ea typeface="游ゴシック Light" panose="020B0300000000000000" pitchFamily="34" charset="-128"/>
              </a:rPr>
              <a:t>Mixed</a:t>
            </a:r>
            <a:r>
              <a:rPr kumimoji="1" lang="en-US" altLang="ja-JP"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rPr>
              <a:t> Effects Model for a 2-Stage Nested Design:</a:t>
            </a:r>
            <a:endParaRPr kumimoji="1" lang="ja-JP" altLang="en-US"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endParaRPr>
          </a:p>
        </p:txBody>
      </p:sp>
      <p:sp>
        <p:nvSpPr>
          <p:cNvPr id="10" name="Slide Number Placeholder 3">
            <a:extLst>
              <a:ext uri="{FF2B5EF4-FFF2-40B4-BE49-F238E27FC236}">
                <a16:creationId xmlns:a16="http://schemas.microsoft.com/office/drawing/2014/main" id="{B0C9041D-77F0-4656-90D4-0E84B7AC6B27}"/>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54AD89C-DF1E-4948-B597-5DD47B34A9CA}" type="slidenum">
              <a:rPr kumimoji="1" lang="ja-JP" altLang="en-US" sz="4000" b="0" i="0" u="none" strike="noStrike" kern="1200" cap="none" spc="0" normalizeH="0" baseline="0" noProof="0" smtClean="0">
                <a:ln>
                  <a:noFill/>
                </a:ln>
                <a:solidFill>
                  <a:srgbClr val="575454">
                    <a:lumMod val="20000"/>
                    <a:lumOff val="80000"/>
                  </a:srgbClr>
                </a:solidFill>
                <a:effectLst/>
                <a:uLnTx/>
                <a:uFillTx/>
                <a:latin typeface="Coo Hew"/>
                <a:ea typeface="游ゴシック" panose="020B0400000000000000"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1" lang="ja-JP" altLang="en-US" sz="4000" b="0" i="0" u="none" strike="noStrike" kern="1200" cap="none" spc="0" normalizeH="0" baseline="0" noProof="0" dirty="0">
              <a:ln>
                <a:noFill/>
              </a:ln>
              <a:solidFill>
                <a:srgbClr val="575454">
                  <a:lumMod val="20000"/>
                  <a:lumOff val="80000"/>
                </a:srgbClr>
              </a:solidFill>
              <a:effectLst/>
              <a:uLnTx/>
              <a:uFillTx/>
              <a:latin typeface="Coo Hew"/>
              <a:ea typeface="游ゴシック" panose="020B0400000000000000" pitchFamily="34" charset="-128"/>
              <a:cs typeface="+mn-cs"/>
            </a:endParaRPr>
          </a:p>
        </p:txBody>
      </p:sp>
      <p:sp>
        <p:nvSpPr>
          <p:cNvPr id="11" name="Text Placeholder 5">
            <a:extLst>
              <a:ext uri="{FF2B5EF4-FFF2-40B4-BE49-F238E27FC236}">
                <a16:creationId xmlns:a16="http://schemas.microsoft.com/office/drawing/2014/main" id="{C67FD996-886D-F16A-C1CE-1BD052717B7A}"/>
              </a:ext>
            </a:extLst>
          </p:cNvPr>
          <p:cNvSpPr txBox="1">
            <a:spLocks/>
          </p:cNvSpPr>
          <p:nvPr/>
        </p:nvSpPr>
        <p:spPr>
          <a:xfrm>
            <a:off x="312362" y="845034"/>
            <a:ext cx="11777003" cy="100949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lang="en-NZ" altLang="ja-JP" sz="1800" dirty="0">
                <a:solidFill>
                  <a:prstClr val="black"/>
                </a:solidFill>
                <a:latin typeface="Calibri" panose="020F0502020204030204"/>
                <a:ea typeface="游ゴシック" panose="020B0400000000000000" pitchFamily="34" charset="-128"/>
              </a:rPr>
              <a:t>Suppose we have a response variable </a:t>
            </a:r>
            <a:r>
              <a:rPr lang="en-NZ" altLang="ja-JP" sz="1800" b="1" i="1" dirty="0">
                <a:solidFill>
                  <a:prstClr val="black"/>
                </a:solidFill>
                <a:latin typeface="Calibri" panose="020F0502020204030204"/>
                <a:ea typeface="游ゴシック" panose="020B0400000000000000" pitchFamily="34" charset="-128"/>
              </a:rPr>
              <a:t>Y</a:t>
            </a:r>
            <a:r>
              <a:rPr lang="en-NZ" altLang="ja-JP" sz="1800" dirty="0">
                <a:solidFill>
                  <a:prstClr val="black"/>
                </a:solidFill>
                <a:latin typeface="Calibri" panose="020F0502020204030204"/>
                <a:ea typeface="游ゴシック" panose="020B0400000000000000" pitchFamily="34" charset="-128"/>
              </a:rPr>
              <a:t> which is modelled as a function of</a:t>
            </a:r>
          </a:p>
          <a:p>
            <a:pPr marL="971493" lvl="1" indent="-285750" algn="just">
              <a:lnSpc>
                <a:spcPct val="100000"/>
              </a:lnSpc>
              <a:spcBef>
                <a:spcPts val="0"/>
              </a:spcBef>
              <a:buFontTx/>
              <a:buChar char="-"/>
              <a:defRPr/>
            </a:pPr>
            <a:r>
              <a:rPr lang="en-NZ" altLang="ja-JP" sz="1800" dirty="0">
                <a:solidFill>
                  <a:prstClr val="black"/>
                </a:solidFill>
                <a:latin typeface="Calibri" panose="020F0502020204030204"/>
                <a:ea typeface="游ゴシック" panose="020B0400000000000000" pitchFamily="34" charset="-128"/>
              </a:rPr>
              <a:t>A factor </a:t>
            </a:r>
            <a:r>
              <a:rPr lang="en-NZ" altLang="ja-JP" sz="1800" b="1" i="1" dirty="0">
                <a:solidFill>
                  <a:prstClr val="black"/>
                </a:solidFill>
                <a:latin typeface="Calibri" panose="020F0502020204030204"/>
                <a:ea typeface="游ゴシック" panose="020B0400000000000000" pitchFamily="34" charset="-128"/>
              </a:rPr>
              <a:t>A</a:t>
            </a:r>
            <a:r>
              <a:rPr lang="en-NZ" altLang="ja-JP" sz="1800" dirty="0">
                <a:solidFill>
                  <a:prstClr val="black"/>
                </a:solidFill>
                <a:latin typeface="Calibri" panose="020F0502020204030204"/>
                <a:ea typeface="游ゴシック" panose="020B0400000000000000" pitchFamily="34" charset="-128"/>
              </a:rPr>
              <a:t> with </a:t>
            </a:r>
            <a:r>
              <a:rPr lang="en-NZ" altLang="ja-JP" sz="1800" b="1" i="1" dirty="0" err="1">
                <a:solidFill>
                  <a:prstClr val="black"/>
                </a:solidFill>
                <a:latin typeface="Calibri" panose="020F0502020204030204"/>
                <a:ea typeface="游ゴシック" panose="020B0400000000000000" pitchFamily="34" charset="-128"/>
              </a:rPr>
              <a:t>i</a:t>
            </a:r>
            <a:r>
              <a:rPr lang="en-NZ" altLang="ja-JP" sz="1800" b="1" i="1" dirty="0">
                <a:solidFill>
                  <a:prstClr val="black"/>
                </a:solidFill>
                <a:latin typeface="Calibri" panose="020F0502020204030204"/>
                <a:ea typeface="游ゴシック" panose="020B0400000000000000" pitchFamily="34" charset="-128"/>
              </a:rPr>
              <a:t> = 1, … , a </a:t>
            </a:r>
            <a:r>
              <a:rPr lang="en-NZ" altLang="ja-JP" sz="1800" dirty="0">
                <a:solidFill>
                  <a:prstClr val="black"/>
                </a:solidFill>
                <a:latin typeface="Calibri" panose="020F0502020204030204"/>
                <a:ea typeface="游ゴシック" panose="020B0400000000000000" pitchFamily="34" charset="-128"/>
              </a:rPr>
              <a:t>levels </a:t>
            </a:r>
          </a:p>
          <a:p>
            <a:pPr marL="971493" lvl="1" indent="-285750" algn="just">
              <a:lnSpc>
                <a:spcPct val="100000"/>
              </a:lnSpc>
              <a:spcBef>
                <a:spcPts val="0"/>
              </a:spcBef>
              <a:buFontTx/>
              <a:buChar char="-"/>
              <a:defRPr/>
            </a:pPr>
            <a:r>
              <a:rPr lang="en-NZ" altLang="ja-JP" sz="1800" dirty="0">
                <a:solidFill>
                  <a:prstClr val="black"/>
                </a:solidFill>
                <a:latin typeface="Calibri" panose="020F0502020204030204"/>
                <a:ea typeface="游ゴシック" panose="020B0400000000000000" pitchFamily="34" charset="-128"/>
              </a:rPr>
              <a:t>A factor </a:t>
            </a:r>
            <a:r>
              <a:rPr lang="en-NZ" altLang="ja-JP" sz="1800" b="1" i="1" dirty="0">
                <a:solidFill>
                  <a:prstClr val="black"/>
                </a:solidFill>
                <a:latin typeface="Calibri" panose="020F0502020204030204"/>
                <a:ea typeface="游ゴシック" panose="020B0400000000000000" pitchFamily="34" charset="-128"/>
              </a:rPr>
              <a:t>B</a:t>
            </a:r>
            <a:r>
              <a:rPr lang="en-NZ" altLang="ja-JP" sz="1800" dirty="0">
                <a:solidFill>
                  <a:prstClr val="black"/>
                </a:solidFill>
                <a:latin typeface="Calibri" panose="020F0502020204030204"/>
                <a:ea typeface="游ゴシック" panose="020B0400000000000000" pitchFamily="34" charset="-128"/>
              </a:rPr>
              <a:t> (with </a:t>
            </a:r>
            <a:r>
              <a:rPr lang="en-NZ" altLang="ja-JP" sz="1800" b="1" i="1" dirty="0">
                <a:solidFill>
                  <a:prstClr val="black"/>
                </a:solidFill>
                <a:latin typeface="Calibri" panose="020F0502020204030204"/>
                <a:ea typeface="游ゴシック" panose="020B0400000000000000" pitchFamily="34" charset="-128"/>
              </a:rPr>
              <a:t>b </a:t>
            </a:r>
            <a:r>
              <a:rPr lang="en-NZ" altLang="ja-JP" sz="1800" dirty="0">
                <a:solidFill>
                  <a:prstClr val="black"/>
                </a:solidFill>
                <a:latin typeface="Calibri" panose="020F0502020204030204"/>
                <a:ea typeface="游ゴシック" panose="020B0400000000000000" pitchFamily="34" charset="-128"/>
              </a:rPr>
              <a:t>randomly selected levels) nested in factor </a:t>
            </a:r>
            <a:r>
              <a:rPr lang="en-NZ" altLang="ja-JP" sz="1800" b="1" i="1" dirty="0">
                <a:solidFill>
                  <a:prstClr val="black"/>
                </a:solidFill>
                <a:latin typeface="Calibri" panose="020F0502020204030204"/>
                <a:ea typeface="游ゴシック" panose="020B0400000000000000" pitchFamily="34" charset="-128"/>
              </a:rPr>
              <a:t>A</a:t>
            </a:r>
          </a:p>
        </p:txBody>
      </p:sp>
      <p:sp>
        <p:nvSpPr>
          <p:cNvPr id="17" name="Text Placeholder 5">
            <a:extLst>
              <a:ext uri="{FF2B5EF4-FFF2-40B4-BE49-F238E27FC236}">
                <a16:creationId xmlns:a16="http://schemas.microsoft.com/office/drawing/2014/main" id="{DB67ABBD-EBE5-54A6-7329-9352FBDFC6FD}"/>
              </a:ext>
            </a:extLst>
          </p:cNvPr>
          <p:cNvSpPr txBox="1">
            <a:spLocks/>
          </p:cNvSpPr>
          <p:nvPr/>
        </p:nvSpPr>
        <p:spPr>
          <a:xfrm>
            <a:off x="312362" y="2025830"/>
            <a:ext cx="11777003" cy="41301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lang="en-NZ" altLang="ja-JP" sz="1800" dirty="0">
                <a:solidFill>
                  <a:prstClr val="black"/>
                </a:solidFill>
                <a:latin typeface="Calibri" panose="020F0502020204030204"/>
                <a:ea typeface="游ゴシック" panose="020B0400000000000000" pitchFamily="34" charset="-128"/>
              </a:rPr>
              <a:t>We take a balanced sample of </a:t>
            </a:r>
            <a:r>
              <a:rPr lang="en-NZ" altLang="ja-JP" sz="1800" b="1" i="1" dirty="0">
                <a:solidFill>
                  <a:prstClr val="black"/>
                </a:solidFill>
                <a:latin typeface="Calibri" panose="020F0502020204030204"/>
                <a:ea typeface="游ゴシック" panose="020B0400000000000000" pitchFamily="34" charset="-128"/>
              </a:rPr>
              <a:t>N</a:t>
            </a:r>
            <a:r>
              <a:rPr lang="en-NZ" altLang="ja-JP" sz="1800" dirty="0">
                <a:solidFill>
                  <a:prstClr val="black"/>
                </a:solidFill>
                <a:latin typeface="Calibri" panose="020F0502020204030204"/>
                <a:ea typeface="游ゴシック" panose="020B0400000000000000" pitchFamily="34" charset="-128"/>
              </a:rPr>
              <a:t> observations of </a:t>
            </a:r>
            <a:r>
              <a:rPr lang="en-NZ" altLang="ja-JP" sz="1800" b="1" i="1" dirty="0">
                <a:solidFill>
                  <a:prstClr val="black"/>
                </a:solidFill>
                <a:latin typeface="Calibri" panose="020F0502020204030204"/>
                <a:ea typeface="游ゴシック" panose="020B0400000000000000" pitchFamily="34" charset="-128"/>
              </a:rPr>
              <a:t>Y</a:t>
            </a:r>
            <a:r>
              <a:rPr lang="en-NZ" altLang="ja-JP" sz="1800" dirty="0">
                <a:solidFill>
                  <a:prstClr val="black"/>
                </a:solidFill>
                <a:latin typeface="Calibri" panose="020F0502020204030204"/>
                <a:ea typeface="游ゴシック" panose="020B0400000000000000" pitchFamily="34" charset="-128"/>
              </a:rPr>
              <a:t> with </a:t>
            </a:r>
            <a:r>
              <a:rPr lang="en-NZ" altLang="ja-JP" sz="1800" b="1" i="1" dirty="0">
                <a:solidFill>
                  <a:prstClr val="black"/>
                </a:solidFill>
                <a:latin typeface="Calibri" panose="020F0502020204030204"/>
                <a:ea typeface="游ゴシック" panose="020B0400000000000000" pitchFamily="34" charset="-128"/>
              </a:rPr>
              <a:t>n</a:t>
            </a:r>
            <a:r>
              <a:rPr lang="en-NZ" altLang="ja-JP" sz="1800" dirty="0">
                <a:solidFill>
                  <a:prstClr val="black"/>
                </a:solidFill>
                <a:latin typeface="Calibri" panose="020F0502020204030204"/>
                <a:ea typeface="游ゴシック" panose="020B0400000000000000" pitchFamily="34" charset="-128"/>
              </a:rPr>
              <a:t> observations in each cell. The </a:t>
            </a:r>
            <a:r>
              <a:rPr lang="en-NZ" altLang="ja-JP" sz="1800" b="1" i="1" dirty="0">
                <a:solidFill>
                  <a:prstClr val="black"/>
                </a:solidFill>
                <a:latin typeface="Calibri" panose="020F0502020204030204"/>
                <a:ea typeface="游ゴシック" panose="020B0400000000000000" pitchFamily="34" charset="-128"/>
              </a:rPr>
              <a:t>k</a:t>
            </a:r>
            <a:r>
              <a:rPr lang="en-NZ" altLang="ja-JP" sz="1800" b="1" i="1" baseline="30000" dirty="0">
                <a:solidFill>
                  <a:prstClr val="black"/>
                </a:solidFill>
                <a:latin typeface="Calibri" panose="020F0502020204030204"/>
                <a:ea typeface="游ゴシック" panose="020B0400000000000000" pitchFamily="34" charset="-128"/>
              </a:rPr>
              <a:t>th</a:t>
            </a:r>
            <a:r>
              <a:rPr lang="en-NZ" altLang="ja-JP" sz="1800" b="1" i="1" dirty="0">
                <a:solidFill>
                  <a:prstClr val="black"/>
                </a:solidFill>
                <a:latin typeface="Calibri" panose="020F0502020204030204"/>
                <a:ea typeface="游ゴシック" panose="020B0400000000000000" pitchFamily="34" charset="-128"/>
              </a:rPr>
              <a:t> </a:t>
            </a:r>
            <a:r>
              <a:rPr lang="en-NZ" altLang="ja-JP" sz="1800" dirty="0">
                <a:solidFill>
                  <a:prstClr val="black"/>
                </a:solidFill>
                <a:latin typeface="Calibri" panose="020F0502020204030204"/>
                <a:ea typeface="游ゴシック" panose="020B0400000000000000" pitchFamily="34" charset="-128"/>
              </a:rPr>
              <a:t>element in cell </a:t>
            </a:r>
            <a:r>
              <a:rPr lang="en-NZ" altLang="ja-JP" sz="1800" b="1" i="1" dirty="0">
                <a:solidFill>
                  <a:prstClr val="black"/>
                </a:solidFill>
                <a:latin typeface="Calibri" panose="020F0502020204030204"/>
                <a:ea typeface="游ゴシック" panose="020B0400000000000000" pitchFamily="34" charset="-128"/>
              </a:rPr>
              <a:t>(</a:t>
            </a:r>
            <a:r>
              <a:rPr lang="en-NZ" altLang="ja-JP" sz="1800" b="1" i="1" dirty="0" err="1">
                <a:solidFill>
                  <a:prstClr val="black"/>
                </a:solidFill>
                <a:latin typeface="Calibri" panose="020F0502020204030204"/>
                <a:ea typeface="游ゴシック" panose="020B0400000000000000" pitchFamily="34" charset="-128"/>
              </a:rPr>
              <a:t>i,j</a:t>
            </a:r>
            <a:r>
              <a:rPr lang="en-NZ" altLang="ja-JP" sz="1800" b="1" i="1" dirty="0">
                <a:solidFill>
                  <a:prstClr val="black"/>
                </a:solidFill>
                <a:latin typeface="Calibri" panose="020F0502020204030204"/>
                <a:ea typeface="游ゴシック" panose="020B0400000000000000" pitchFamily="34" charset="-128"/>
              </a:rPr>
              <a:t>)</a:t>
            </a:r>
            <a:r>
              <a:rPr lang="en-NZ" altLang="ja-JP" sz="1800" dirty="0">
                <a:solidFill>
                  <a:prstClr val="black"/>
                </a:solidFill>
                <a:latin typeface="Calibri" panose="020F0502020204030204"/>
                <a:ea typeface="游ゴシック" panose="020B0400000000000000" pitchFamily="34" charset="-128"/>
              </a:rPr>
              <a:t> is modelled as </a:t>
            </a:r>
          </a:p>
        </p:txBody>
      </p:sp>
      <mc:AlternateContent xmlns:mc="http://schemas.openxmlformats.org/markup-compatibility/2006" xmlns:a14="http://schemas.microsoft.com/office/drawing/2010/main">
        <mc:Choice Requires="a14">
          <p:sp>
            <p:nvSpPr>
              <p:cNvPr id="18" name="Text Placeholder 5">
                <a:extLst>
                  <a:ext uri="{FF2B5EF4-FFF2-40B4-BE49-F238E27FC236}">
                    <a16:creationId xmlns:a16="http://schemas.microsoft.com/office/drawing/2014/main" id="{0CEEAE7C-8B5C-49C1-DECF-ABDEC6F5C6BE}"/>
                  </a:ext>
                </a:extLst>
              </p:cNvPr>
              <p:cNvSpPr txBox="1">
                <a:spLocks/>
              </p:cNvSpPr>
              <p:nvPr/>
            </p:nvSpPr>
            <p:spPr>
              <a:xfrm>
                <a:off x="3364682" y="2457625"/>
                <a:ext cx="5462638" cy="47495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14:m>
                  <m:oMathPara xmlns:m="http://schemas.openxmlformats.org/officeDocument/2006/math">
                    <m:oMathParaPr>
                      <m:jc m:val="centerGroup"/>
                    </m:oMathParaPr>
                    <m:oMath xmlns:m="http://schemas.openxmlformats.org/officeDocument/2006/math">
                      <m:sSub>
                        <m:sSubPr>
                          <m:ctrlP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ctrlPr>
                        </m:sSubPr>
                        <m:e>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𝒀</m:t>
                          </m:r>
                        </m:e>
                        <m:sub>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𝒊𝒋𝒌</m:t>
                          </m:r>
                        </m:sub>
                      </m:sSub>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   =     </m:t>
                      </m:r>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𝝁</m:t>
                      </m:r>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  +   </m:t>
                      </m:r>
                      <m:sSub>
                        <m:sSubPr>
                          <m:ctrlP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ctrlPr>
                        </m:sSubPr>
                        <m:e>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𝜶</m:t>
                          </m:r>
                        </m:e>
                        <m:sub>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𝒊</m:t>
                          </m:r>
                        </m:sub>
                      </m:sSub>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  +   </m:t>
                      </m:r>
                      <m:sSub>
                        <m:sSubPr>
                          <m:ctrlP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ctrlPr>
                        </m:sSubPr>
                        <m:e>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𝑩</m:t>
                          </m:r>
                        </m:e>
                        <m:sub>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𝒋</m:t>
                          </m:r>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m:t>
                          </m:r>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𝒊</m:t>
                          </m:r>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m:t>
                          </m:r>
                        </m:sub>
                      </m:sSub>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  +   </m:t>
                      </m:r>
                      <m:sSub>
                        <m:sSubPr>
                          <m:ctrlP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ctrlPr>
                        </m:sSubPr>
                        <m:e>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𝝐</m:t>
                          </m:r>
                        </m:e>
                        <m:sub>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𝒌</m:t>
                          </m:r>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m:t>
                          </m:r>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𝒊𝒋</m:t>
                          </m:r>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m:t>
                          </m:r>
                        </m:sub>
                      </m:sSub>
                    </m:oMath>
                  </m:oMathPara>
                </a14:m>
                <a:endParaRPr kumimoji="1" lang="en-NZ" altLang="ja-JP" sz="1800" b="1" i="0"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800" b="1"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mc:Choice>
        <mc:Fallback xmlns="">
          <p:sp>
            <p:nvSpPr>
              <p:cNvPr id="18" name="Text Placeholder 5">
                <a:extLst>
                  <a:ext uri="{FF2B5EF4-FFF2-40B4-BE49-F238E27FC236}">
                    <a16:creationId xmlns:a16="http://schemas.microsoft.com/office/drawing/2014/main" id="{0CEEAE7C-8B5C-49C1-DECF-ABDEC6F5C6BE}"/>
                  </a:ext>
                </a:extLst>
              </p:cNvPr>
              <p:cNvSpPr txBox="1">
                <a:spLocks noRot="1" noChangeAspect="1" noMove="1" noResize="1" noEditPoints="1" noAdjustHandles="1" noChangeArrowheads="1" noChangeShapeType="1" noTextEdit="1"/>
              </p:cNvSpPr>
              <p:nvPr/>
            </p:nvSpPr>
            <p:spPr>
              <a:xfrm>
                <a:off x="3364682" y="2457625"/>
                <a:ext cx="5462638" cy="474953"/>
              </a:xfrm>
              <a:prstGeom prst="rect">
                <a:avLst/>
              </a:prstGeom>
              <a:blipFill>
                <a:blip r:embed="rId2"/>
                <a:stretch>
                  <a:fillRect/>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20" name="Text Placeholder 5">
                <a:extLst>
                  <a:ext uri="{FF2B5EF4-FFF2-40B4-BE49-F238E27FC236}">
                    <a16:creationId xmlns:a16="http://schemas.microsoft.com/office/drawing/2014/main" id="{91689025-3833-257B-1DD1-73CCD6DF11F5}"/>
                  </a:ext>
                </a:extLst>
              </p:cNvPr>
              <p:cNvSpPr txBox="1">
                <a:spLocks/>
              </p:cNvSpPr>
              <p:nvPr/>
            </p:nvSpPr>
            <p:spPr>
              <a:xfrm>
                <a:off x="530716" y="2952184"/>
                <a:ext cx="4867734" cy="1318675"/>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l-GR" altLang="ja-JP" sz="16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μ</a:t>
                </a:r>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is the population mean</a:t>
                </a:r>
                <a:endParaRPr kumimoji="1" lang="en-NZ" altLang="ja-JP" sz="16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14:m>
                  <m:oMath xmlns:m="http://schemas.openxmlformats.org/officeDocument/2006/math">
                    <m:sSub>
                      <m:sSubPr>
                        <m:ctrl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𝜶</m:t>
                        </m:r>
                      </m:e>
                      <m:sub>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𝒊</m:t>
                        </m:r>
                      </m:sub>
                    </m:sSub>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sSub>
                      <m:sSubPr>
                        <m:ctrl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𝝁</m:t>
                        </m:r>
                      </m:e>
                      <m:sub>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𝒊</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sub>
                    </m:sSub>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 −</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𝝁</m:t>
                    </m:r>
                  </m:oMath>
                </a14:m>
                <a:r>
                  <a:rPr kumimoji="1" lang="en-NZ" altLang="ja-JP" sz="16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a:t>
                </a:r>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is the effect of the </a:t>
                </a:r>
                <a:r>
                  <a:rPr kumimoji="1" lang="en-NZ" altLang="ja-JP" sz="1600" b="1" i="1" u="none" strike="noStrike" kern="1200" cap="none" spc="0" normalizeH="0" baseline="0" noProof="0" dirty="0" err="1">
                    <a:ln>
                      <a:noFill/>
                    </a:ln>
                    <a:solidFill>
                      <a:prstClr val="black"/>
                    </a:solidFill>
                    <a:effectLst/>
                    <a:uLnTx/>
                    <a:uFillTx/>
                    <a:latin typeface="Calibri" panose="020F0502020204030204"/>
                    <a:ea typeface="游ゴシック" panose="020B0400000000000000" pitchFamily="34" charset="-128"/>
                    <a:cs typeface="+mn-cs"/>
                  </a:rPr>
                  <a:t>i</a:t>
                </a:r>
                <a:r>
                  <a:rPr kumimoji="1" lang="en-NZ" altLang="ja-JP" sz="1600" b="1" i="1" u="none" strike="noStrike" kern="1200" cap="none" spc="0" normalizeH="0" baseline="30000" noProof="0" dirty="0" err="1">
                    <a:ln>
                      <a:noFill/>
                    </a:ln>
                    <a:solidFill>
                      <a:prstClr val="black"/>
                    </a:solidFill>
                    <a:effectLst/>
                    <a:uLnTx/>
                    <a:uFillTx/>
                    <a:latin typeface="Calibri" panose="020F0502020204030204"/>
                    <a:ea typeface="游ゴシック" panose="020B0400000000000000" pitchFamily="34" charset="-128"/>
                    <a:cs typeface="+mn-cs"/>
                  </a:rPr>
                  <a:t>th</a:t>
                </a:r>
                <a:r>
                  <a:rPr kumimoji="1" lang="en-NZ" altLang="ja-JP" sz="1600" b="0" i="1" u="none" strike="noStrike" kern="1200" cap="none" spc="0" normalizeH="0" baseline="-25000" noProof="0" dirty="0">
                    <a:ln>
                      <a:noFill/>
                    </a:ln>
                    <a:solidFill>
                      <a:prstClr val="black"/>
                    </a:solidFill>
                    <a:effectLst/>
                    <a:uLnTx/>
                    <a:uFillTx/>
                    <a:latin typeface="Calibri" panose="020F0502020204030204"/>
                    <a:ea typeface="游ゴシック" panose="020B0400000000000000" pitchFamily="34" charset="-128"/>
                    <a:cs typeface="+mn-cs"/>
                  </a:rPr>
                  <a:t> </a:t>
                </a:r>
                <a:r>
                  <a:rPr kumimoji="1" lang="en-NZ" altLang="ja-JP" sz="1600" b="0"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a:t>
                </a:r>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level of factor </a:t>
                </a:r>
                <a:r>
                  <a:rPr kumimoji="1" lang="en-NZ" altLang="ja-JP" sz="16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a:t>
                </a:r>
              </a:p>
              <a:p>
                <a:pPr lvl="0" algn="just">
                  <a:lnSpc>
                    <a:spcPct val="100000"/>
                  </a:lnSpc>
                  <a:defRPr/>
                </a:pPr>
                <a14:m>
                  <m:oMathPara xmlns:m="http://schemas.openxmlformats.org/officeDocument/2006/math">
                    <m:oMathParaPr>
                      <m:jc m:val="left"/>
                    </m:oMathParaPr>
                    <m:oMath xmlns:m="http://schemas.openxmlformats.org/officeDocument/2006/math">
                      <m:sSub>
                        <m:sSubPr>
                          <m:ctrl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𝑩</m:t>
                          </m:r>
                        </m:e>
                        <m:sub>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𝒋</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𝒊</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sub>
                      </m:sSub>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 ~ </m:t>
                      </m:r>
                      <m:r>
                        <a:rPr lang="en-NZ" altLang="ja-JP" sz="1600" b="1" i="1">
                          <a:solidFill>
                            <a:prstClr val="black"/>
                          </a:solidFill>
                          <a:latin typeface="Cambria Math" panose="02040503050406030204" pitchFamily="18" charset="0"/>
                        </a:rPr>
                        <m:t>𝑵</m:t>
                      </m:r>
                      <m:d>
                        <m:dPr>
                          <m:ctrlPr>
                            <a:rPr lang="en-NZ" altLang="ja-JP" sz="1600" b="1" i="1">
                              <a:solidFill>
                                <a:prstClr val="black"/>
                              </a:solidFill>
                              <a:latin typeface="Cambria Math" panose="02040503050406030204" pitchFamily="18" charset="0"/>
                            </a:rPr>
                          </m:ctrlPr>
                        </m:dPr>
                        <m:e>
                          <m:r>
                            <a:rPr lang="en-NZ" altLang="ja-JP" sz="1600" b="1" i="1">
                              <a:solidFill>
                                <a:prstClr val="black"/>
                              </a:solidFill>
                              <a:latin typeface="Cambria Math" panose="02040503050406030204" pitchFamily="18" charset="0"/>
                            </a:rPr>
                            <m:t>𝟎</m:t>
                          </m:r>
                          <m:r>
                            <a:rPr lang="en-NZ" altLang="ja-JP" sz="1600" b="1" i="1">
                              <a:solidFill>
                                <a:prstClr val="black"/>
                              </a:solidFill>
                              <a:latin typeface="Cambria Math" panose="02040503050406030204" pitchFamily="18" charset="0"/>
                            </a:rPr>
                            <m:t>, </m:t>
                          </m:r>
                          <m:sSubSup>
                            <m:sSubSupPr>
                              <m:ctrlPr>
                                <a:rPr lang="en-NZ" altLang="ja-JP" sz="1600" b="1" i="1" smtClean="0">
                                  <a:solidFill>
                                    <a:prstClr val="black"/>
                                  </a:solidFill>
                                  <a:latin typeface="Cambria Math" panose="02040503050406030204" pitchFamily="18" charset="0"/>
                                </a:rPr>
                              </m:ctrlPr>
                            </m:sSubSupPr>
                            <m:e>
                              <m:r>
                                <a:rPr lang="en-NZ" altLang="ja-JP" sz="1600" b="1" i="1">
                                  <a:solidFill>
                                    <a:prstClr val="black"/>
                                  </a:solidFill>
                                  <a:latin typeface="Cambria Math" panose="02040503050406030204" pitchFamily="18" charset="0"/>
                                </a:rPr>
                                <m:t>𝝈</m:t>
                              </m:r>
                            </m:e>
                            <m:sub>
                              <m:r>
                                <a:rPr lang="en-NZ" altLang="ja-JP" sz="1600" b="1" i="1" smtClean="0">
                                  <a:solidFill>
                                    <a:prstClr val="black"/>
                                  </a:solidFill>
                                  <a:latin typeface="Cambria Math" panose="02040503050406030204" pitchFamily="18" charset="0"/>
                                </a:rPr>
                                <m:t>𝑩</m:t>
                              </m:r>
                            </m:sub>
                            <m:sup>
                              <m:r>
                                <a:rPr lang="en-NZ" altLang="ja-JP" sz="1600" b="1" i="1">
                                  <a:solidFill>
                                    <a:prstClr val="black"/>
                                  </a:solidFill>
                                  <a:latin typeface="Cambria Math" panose="02040503050406030204" pitchFamily="18" charset="0"/>
                                </a:rPr>
                                <m:t>𝟐</m:t>
                              </m:r>
                            </m:sup>
                          </m:sSubSup>
                        </m:e>
                      </m:d>
                    </m:oMath>
                  </m:oMathPara>
                </a14:m>
                <a:endPar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14:m>
                  <m:oMathPara xmlns:m="http://schemas.openxmlformats.org/officeDocument/2006/math">
                    <m:oMathParaPr>
                      <m:jc m:val="left"/>
                    </m:oMathParaPr>
                    <m:oMath xmlns:m="http://schemas.openxmlformats.org/officeDocument/2006/math">
                      <m:sSub>
                        <m:sSubPr>
                          <m:ctrlP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𝝐</m:t>
                          </m:r>
                        </m:e>
                        <m:sub>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𝒌</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𝒊𝒋</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sub>
                      </m:sSub>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 ~ </m:t>
                      </m:r>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𝑵</m:t>
                      </m:r>
                      <m:d>
                        <m:dPr>
                          <m:ctrlP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ctrlPr>
                        </m:dPr>
                        <m:e>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𝟎</m:t>
                          </m:r>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 </m:t>
                          </m:r>
                          <m:sSup>
                            <m:sSupPr>
                              <m:ctrlP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ctrlPr>
                            </m:sSupPr>
                            <m:e>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𝝈</m:t>
                              </m:r>
                            </m:e>
                            <m:sup>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𝟐</m:t>
                              </m:r>
                            </m:sup>
                          </m:sSup>
                        </m:e>
                      </m:d>
                    </m:oMath>
                  </m:oMathPara>
                </a14:m>
                <a:endParaRPr kumimoji="1" lang="en-NZ" altLang="ja-JP" sz="1600" b="0"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mc:Choice>
        <mc:Fallback xmlns="">
          <p:sp>
            <p:nvSpPr>
              <p:cNvPr id="20" name="Text Placeholder 5">
                <a:extLst>
                  <a:ext uri="{FF2B5EF4-FFF2-40B4-BE49-F238E27FC236}">
                    <a16:creationId xmlns:a16="http://schemas.microsoft.com/office/drawing/2014/main" id="{91689025-3833-257B-1DD1-73CCD6DF11F5}"/>
                  </a:ext>
                </a:extLst>
              </p:cNvPr>
              <p:cNvSpPr txBox="1">
                <a:spLocks noRot="1" noChangeAspect="1" noMove="1" noResize="1" noEditPoints="1" noAdjustHandles="1" noChangeArrowheads="1" noChangeShapeType="1" noTextEdit="1"/>
              </p:cNvSpPr>
              <p:nvPr/>
            </p:nvSpPr>
            <p:spPr>
              <a:xfrm>
                <a:off x="530716" y="2952184"/>
                <a:ext cx="4867734" cy="1318675"/>
              </a:xfrm>
              <a:prstGeom prst="rect">
                <a:avLst/>
              </a:prstGeom>
              <a:blipFill>
                <a:blip r:embed="rId3"/>
                <a:stretch>
                  <a:fillRect l="-626" t="-1382"/>
                </a:stretch>
              </a:blipFill>
            </p:spPr>
            <p:txBody>
              <a:bodyPr/>
              <a:lstStyle/>
              <a:p>
                <a:r>
                  <a:rPr lang="en-NZ">
                    <a:noFill/>
                  </a:rPr>
                  <a:t> </a:t>
                </a:r>
              </a:p>
            </p:txBody>
          </p:sp>
        </mc:Fallback>
      </mc:AlternateContent>
      <p:sp>
        <p:nvSpPr>
          <p:cNvPr id="21" name="Text Placeholder 5">
            <a:extLst>
              <a:ext uri="{FF2B5EF4-FFF2-40B4-BE49-F238E27FC236}">
                <a16:creationId xmlns:a16="http://schemas.microsoft.com/office/drawing/2014/main" id="{2A3DBE85-D442-263A-265C-268BCEDF6E09}"/>
              </a:ext>
            </a:extLst>
          </p:cNvPr>
          <p:cNvSpPr txBox="1">
            <a:spLocks/>
          </p:cNvSpPr>
          <p:nvPr/>
        </p:nvSpPr>
        <p:spPr>
          <a:xfrm>
            <a:off x="5849639" y="2993383"/>
            <a:ext cx="4579200" cy="44493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We also have the usual constraint:</a:t>
            </a:r>
            <a:endParaRPr kumimoji="1" lang="en-NZ" altLang="ja-JP" sz="16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a:t>
            </a: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600" b="0"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mc:AlternateContent xmlns:mc="http://schemas.openxmlformats.org/markup-compatibility/2006" xmlns:a14="http://schemas.microsoft.com/office/drawing/2010/main">
        <mc:Choice Requires="a14">
          <p:sp>
            <p:nvSpPr>
              <p:cNvPr id="22" name="Text Placeholder 5">
                <a:extLst>
                  <a:ext uri="{FF2B5EF4-FFF2-40B4-BE49-F238E27FC236}">
                    <a16:creationId xmlns:a16="http://schemas.microsoft.com/office/drawing/2014/main" id="{5D727490-76E6-4F93-6BCD-054E1FDB3D14}"/>
                  </a:ext>
                </a:extLst>
              </p:cNvPr>
              <p:cNvSpPr txBox="1">
                <a:spLocks/>
              </p:cNvSpPr>
              <p:nvPr/>
            </p:nvSpPr>
            <p:spPr>
              <a:xfrm>
                <a:off x="5849639" y="3290833"/>
                <a:ext cx="1405094" cy="44493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14:m>
                  <m:oMath xmlns:m="http://schemas.openxmlformats.org/officeDocument/2006/math">
                    <m:nary>
                      <m:naryPr>
                        <m:chr m:val="∑"/>
                        <m:ctrlP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ctrlPr>
                      </m:naryPr>
                      <m:sub>
                        <m:r>
                          <m:rPr>
                            <m:brk m:alnAt="23"/>
                          </m:rP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𝒊</m:t>
                        </m:r>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m:t>
                        </m:r>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𝟏</m:t>
                        </m:r>
                      </m:sub>
                      <m:sup>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𝒂</m:t>
                        </m:r>
                      </m:sup>
                      <m:e>
                        <m:sSub>
                          <m:sSubPr>
                            <m:ctrlP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ctrlPr>
                          </m:sSubPr>
                          <m:e>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𝜶</m:t>
                            </m:r>
                          </m:e>
                          <m:sub>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𝒊</m:t>
                            </m:r>
                          </m:sub>
                        </m:sSub>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m:t>
                        </m:r>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𝟎</m:t>
                        </m:r>
                      </m:e>
                    </m:nary>
                  </m:oMath>
                </a14:m>
                <a:r>
                  <a:rPr kumimoji="1" lang="en-NZ" altLang="ja-JP" sz="18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a:t>
                </a: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8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800" b="1"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mc:Choice>
        <mc:Fallback xmlns="">
          <p:sp>
            <p:nvSpPr>
              <p:cNvPr id="22" name="Text Placeholder 5">
                <a:extLst>
                  <a:ext uri="{FF2B5EF4-FFF2-40B4-BE49-F238E27FC236}">
                    <a16:creationId xmlns:a16="http://schemas.microsoft.com/office/drawing/2014/main" id="{5D727490-76E6-4F93-6BCD-054E1FDB3D14}"/>
                  </a:ext>
                </a:extLst>
              </p:cNvPr>
              <p:cNvSpPr txBox="1">
                <a:spLocks noRot="1" noChangeAspect="1" noMove="1" noResize="1" noEditPoints="1" noAdjustHandles="1" noChangeArrowheads="1" noChangeShapeType="1" noTextEdit="1"/>
              </p:cNvSpPr>
              <p:nvPr/>
            </p:nvSpPr>
            <p:spPr>
              <a:xfrm>
                <a:off x="5849639" y="3290833"/>
                <a:ext cx="1405094" cy="444936"/>
              </a:xfrm>
              <a:prstGeom prst="rect">
                <a:avLst/>
              </a:prstGeom>
              <a:blipFill>
                <a:blip r:embed="rId4"/>
                <a:stretch>
                  <a:fillRect l="-24348" t="-100000" b="-136986"/>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23" name="Text Placeholder 5">
                <a:extLst>
                  <a:ext uri="{FF2B5EF4-FFF2-40B4-BE49-F238E27FC236}">
                    <a16:creationId xmlns:a16="http://schemas.microsoft.com/office/drawing/2014/main" id="{BAD1F8FD-0A2F-B0BF-ABE5-6232040CC8C5}"/>
                  </a:ext>
                </a:extLst>
              </p:cNvPr>
              <p:cNvSpPr txBox="1">
                <a:spLocks/>
              </p:cNvSpPr>
              <p:nvPr/>
            </p:nvSpPr>
            <p:spPr>
              <a:xfrm>
                <a:off x="7865132" y="3206532"/>
                <a:ext cx="2230812" cy="44493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14:m>
                  <m:oMath xmlns:m="http://schemas.openxmlformats.org/officeDocument/2006/math">
                    <m:f>
                      <m:fPr>
                        <m:ctrlP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ctrlPr>
                      </m:fPr>
                      <m:num>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𝟏</m:t>
                        </m:r>
                      </m:num>
                      <m:den>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𝒂</m:t>
                        </m:r>
                      </m:den>
                    </m:f>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 </m:t>
                    </m:r>
                    <m:nary>
                      <m:naryPr>
                        <m:chr m:val="∑"/>
                        <m:ctrlP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ctrlPr>
                      </m:naryPr>
                      <m:sub>
                        <m:r>
                          <m:rPr>
                            <m:brk m:alnAt="23"/>
                          </m:rP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𝒊</m:t>
                        </m:r>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m:t>
                        </m:r>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𝟏</m:t>
                        </m:r>
                      </m:sub>
                      <m:sup>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𝒂</m:t>
                        </m:r>
                      </m:sup>
                      <m:e>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 </m:t>
                        </m:r>
                        <m:sSub>
                          <m:sSubPr>
                            <m:ctrlP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ctrlPr>
                          </m:sSubPr>
                          <m:e>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𝝁</m:t>
                            </m:r>
                          </m:e>
                          <m:sub>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𝒊</m:t>
                            </m:r>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rPr>
                              <m:t>∙</m:t>
                            </m:r>
                          </m:sub>
                        </m:sSub>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 = </m:t>
                        </m:r>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𝝁</m:t>
                        </m:r>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 </m:t>
                        </m:r>
                      </m:e>
                    </m:nary>
                  </m:oMath>
                </a14:m>
                <a:r>
                  <a:rPr kumimoji="1" lang="en-NZ" altLang="ja-JP" sz="18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a:t>
                </a: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8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800" b="1"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mc:Choice>
        <mc:Fallback xmlns="">
          <p:sp>
            <p:nvSpPr>
              <p:cNvPr id="23" name="Text Placeholder 5">
                <a:extLst>
                  <a:ext uri="{FF2B5EF4-FFF2-40B4-BE49-F238E27FC236}">
                    <a16:creationId xmlns:a16="http://schemas.microsoft.com/office/drawing/2014/main" id="{BAD1F8FD-0A2F-B0BF-ABE5-6232040CC8C5}"/>
                  </a:ext>
                </a:extLst>
              </p:cNvPr>
              <p:cNvSpPr txBox="1">
                <a:spLocks noRot="1" noChangeAspect="1" noMove="1" noResize="1" noEditPoints="1" noAdjustHandles="1" noChangeArrowheads="1" noChangeShapeType="1" noTextEdit="1"/>
              </p:cNvSpPr>
              <p:nvPr/>
            </p:nvSpPr>
            <p:spPr>
              <a:xfrm>
                <a:off x="7865132" y="3206532"/>
                <a:ext cx="2230812" cy="444936"/>
              </a:xfrm>
              <a:prstGeom prst="rect">
                <a:avLst/>
              </a:prstGeom>
              <a:blipFill>
                <a:blip r:embed="rId5"/>
                <a:stretch>
                  <a:fillRect l="-6284" t="-84932" b="-152055"/>
                </a:stretch>
              </a:blipFill>
            </p:spPr>
            <p:txBody>
              <a:bodyPr/>
              <a:lstStyle/>
              <a:p>
                <a:r>
                  <a:rPr lang="en-NZ">
                    <a:noFill/>
                  </a:rPr>
                  <a:t> </a:t>
                </a:r>
              </a:p>
            </p:txBody>
          </p:sp>
        </mc:Fallback>
      </mc:AlternateContent>
      <p:sp>
        <p:nvSpPr>
          <p:cNvPr id="24" name="Text Placeholder 5">
            <a:extLst>
              <a:ext uri="{FF2B5EF4-FFF2-40B4-BE49-F238E27FC236}">
                <a16:creationId xmlns:a16="http://schemas.microsoft.com/office/drawing/2014/main" id="{DC488C4C-5411-6B3D-EF97-72605FD1DD2E}"/>
              </a:ext>
            </a:extLst>
          </p:cNvPr>
          <p:cNvSpPr txBox="1">
            <a:spLocks/>
          </p:cNvSpPr>
          <p:nvPr/>
        </p:nvSpPr>
        <p:spPr>
          <a:xfrm>
            <a:off x="7254733" y="3311527"/>
            <a:ext cx="465511" cy="365125"/>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lang="en-NZ" altLang="ja-JP" sz="1800" b="1" dirty="0">
                <a:solidFill>
                  <a:prstClr val="black"/>
                </a:solidFill>
                <a:latin typeface="Calibri" panose="020F0502020204030204"/>
                <a:ea typeface="游ゴシック" panose="020B0400000000000000" pitchFamily="34" charset="-128"/>
                <a:sym typeface="Wingdings" panose="05000000000000000000" pitchFamily="2" charset="2"/>
              </a:rPr>
              <a:t></a:t>
            </a:r>
            <a:endParaRPr kumimoji="1" lang="en-NZ" altLang="ja-JP" sz="1800" b="1"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mc:AlternateContent xmlns:mc="http://schemas.openxmlformats.org/markup-compatibility/2006" xmlns:a14="http://schemas.microsoft.com/office/drawing/2010/main">
        <mc:Choice Requires="a14">
          <p:sp>
            <p:nvSpPr>
              <p:cNvPr id="25" name="Text Placeholder 5">
                <a:extLst>
                  <a:ext uri="{FF2B5EF4-FFF2-40B4-BE49-F238E27FC236}">
                    <a16:creationId xmlns:a16="http://schemas.microsoft.com/office/drawing/2014/main" id="{7D853F2D-8630-E726-F63E-A20A8FE538A1}"/>
                  </a:ext>
                </a:extLst>
              </p:cNvPr>
              <p:cNvSpPr txBox="1">
                <a:spLocks/>
              </p:cNvSpPr>
              <p:nvPr/>
            </p:nvSpPr>
            <p:spPr>
              <a:xfrm>
                <a:off x="2522183" y="3513301"/>
                <a:ext cx="2861945" cy="532748"/>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14:m>
                  <m:oMath xmlns:m="http://schemas.openxmlformats.org/officeDocument/2006/math">
                    <m:r>
                      <a:rPr lang="en-NZ" altLang="ja-JP" sz="1400" b="1" i="1" smtClean="0">
                        <a:solidFill>
                          <a:schemeClr val="bg2">
                            <a:lumMod val="50000"/>
                          </a:schemeClr>
                        </a:solidFill>
                        <a:latin typeface="Cambria Math" panose="02040503050406030204" pitchFamily="18" charset="0"/>
                        <a:ea typeface="游ゴシック" panose="020B0400000000000000" pitchFamily="34" charset="-128"/>
                      </a:rPr>
                      <m:t>𝒋</m:t>
                    </m:r>
                    <m:r>
                      <a:rPr lang="en-NZ" altLang="ja-JP" sz="1400" b="1" i="1" smtClean="0">
                        <a:solidFill>
                          <a:schemeClr val="bg2">
                            <a:lumMod val="50000"/>
                          </a:schemeClr>
                        </a:solidFill>
                        <a:latin typeface="Cambria Math" panose="02040503050406030204" pitchFamily="18" charset="0"/>
                        <a:ea typeface="游ゴシック" panose="020B0400000000000000" pitchFamily="34" charset="-128"/>
                      </a:rPr>
                      <m:t>(</m:t>
                    </m:r>
                    <m:r>
                      <a:rPr lang="en-NZ" altLang="ja-JP" sz="1400" b="1" i="1" smtClean="0">
                        <a:solidFill>
                          <a:schemeClr val="bg2">
                            <a:lumMod val="50000"/>
                          </a:schemeClr>
                        </a:solidFill>
                        <a:latin typeface="Cambria Math" panose="02040503050406030204" pitchFamily="18" charset="0"/>
                        <a:ea typeface="游ゴシック" panose="020B0400000000000000" pitchFamily="34" charset="-128"/>
                      </a:rPr>
                      <m:t>𝒊</m:t>
                    </m:r>
                    <m:r>
                      <a:rPr lang="en-NZ" altLang="ja-JP" sz="1400" b="1" i="1" smtClean="0">
                        <a:solidFill>
                          <a:schemeClr val="bg2">
                            <a:lumMod val="50000"/>
                          </a:schemeClr>
                        </a:solidFill>
                        <a:latin typeface="Cambria Math" panose="02040503050406030204" pitchFamily="18" charset="0"/>
                        <a:ea typeface="游ゴシック" panose="020B0400000000000000" pitchFamily="34" charset="-128"/>
                      </a:rPr>
                      <m:t>)</m:t>
                    </m:r>
                  </m:oMath>
                </a14:m>
                <a:r>
                  <a:rPr lang="en-NZ" altLang="ja-JP" sz="1400" b="1" dirty="0">
                    <a:solidFill>
                      <a:schemeClr val="bg2">
                        <a:lumMod val="50000"/>
                      </a:schemeClr>
                    </a:solidFill>
                    <a:latin typeface="Calibri" panose="020F0502020204030204"/>
                    <a:ea typeface="游ゴシック" panose="020B0400000000000000" pitchFamily="34" charset="-128"/>
                  </a:rPr>
                  <a:t> </a:t>
                </a:r>
                <a:r>
                  <a:rPr lang="en-NZ" altLang="ja-JP" sz="1400" dirty="0">
                    <a:solidFill>
                      <a:schemeClr val="bg2">
                        <a:lumMod val="50000"/>
                      </a:schemeClr>
                    </a:solidFill>
                    <a:latin typeface="Calibri" panose="020F0502020204030204"/>
                    <a:ea typeface="游ゴシック" panose="020B0400000000000000" pitchFamily="34" charset="-128"/>
                  </a:rPr>
                  <a:t>is read as ‘</a:t>
                </a:r>
                <a:r>
                  <a:rPr lang="en-NZ" altLang="ja-JP" sz="1400" b="1" i="1" dirty="0">
                    <a:solidFill>
                      <a:schemeClr val="bg2">
                        <a:lumMod val="50000"/>
                      </a:schemeClr>
                    </a:solidFill>
                    <a:latin typeface="Calibri" panose="020F0502020204030204"/>
                    <a:ea typeface="游ゴシック" panose="020B0400000000000000" pitchFamily="34" charset="-128"/>
                  </a:rPr>
                  <a:t>j</a:t>
                </a:r>
                <a:r>
                  <a:rPr lang="en-NZ" altLang="ja-JP" sz="1400" dirty="0">
                    <a:solidFill>
                      <a:schemeClr val="bg2">
                        <a:lumMod val="50000"/>
                      </a:schemeClr>
                    </a:solidFill>
                    <a:latin typeface="Calibri" panose="020F0502020204030204"/>
                    <a:ea typeface="游ゴシック" panose="020B0400000000000000" pitchFamily="34" charset="-128"/>
                  </a:rPr>
                  <a:t> nested within </a:t>
                </a:r>
                <a:r>
                  <a:rPr lang="en-NZ" altLang="ja-JP" sz="1400" b="1" i="1" dirty="0" err="1">
                    <a:solidFill>
                      <a:schemeClr val="bg2">
                        <a:lumMod val="50000"/>
                      </a:schemeClr>
                    </a:solidFill>
                    <a:latin typeface="Calibri" panose="020F0502020204030204"/>
                    <a:ea typeface="游ゴシック" panose="020B0400000000000000" pitchFamily="34" charset="-128"/>
                  </a:rPr>
                  <a:t>i</a:t>
                </a:r>
                <a:r>
                  <a:rPr lang="en-NZ" altLang="ja-JP" sz="1400" dirty="0">
                    <a:solidFill>
                      <a:schemeClr val="bg2">
                        <a:lumMod val="50000"/>
                      </a:schemeClr>
                    </a:solidFill>
                    <a:latin typeface="Calibri" panose="020F0502020204030204"/>
                    <a:ea typeface="游ゴシック" panose="020B0400000000000000" pitchFamily="34" charset="-128"/>
                  </a:rPr>
                  <a:t>’</a:t>
                </a:r>
                <a:br>
                  <a:rPr lang="en-NZ" altLang="ja-JP" sz="1400" dirty="0">
                    <a:solidFill>
                      <a:schemeClr val="bg2">
                        <a:lumMod val="50000"/>
                      </a:schemeClr>
                    </a:solidFill>
                    <a:latin typeface="Calibri" panose="020F0502020204030204"/>
                    <a:ea typeface="游ゴシック" panose="020B0400000000000000" pitchFamily="34" charset="-128"/>
                  </a:rPr>
                </a:br>
                <a14:m>
                  <m:oMath xmlns:m="http://schemas.openxmlformats.org/officeDocument/2006/math">
                    <m:r>
                      <a:rPr lang="en-NZ" altLang="ja-JP" sz="1400" b="1" i="1" smtClean="0">
                        <a:solidFill>
                          <a:schemeClr val="bg2">
                            <a:lumMod val="50000"/>
                          </a:schemeClr>
                        </a:solidFill>
                        <a:latin typeface="Cambria Math" panose="02040503050406030204" pitchFamily="18" charset="0"/>
                        <a:ea typeface="游ゴシック" panose="020B0400000000000000" pitchFamily="34" charset="-128"/>
                      </a:rPr>
                      <m:t>𝒌</m:t>
                    </m:r>
                    <m:r>
                      <a:rPr lang="en-NZ" altLang="ja-JP" sz="1400" b="1" i="1" smtClean="0">
                        <a:solidFill>
                          <a:schemeClr val="bg2">
                            <a:lumMod val="50000"/>
                          </a:schemeClr>
                        </a:solidFill>
                        <a:latin typeface="Cambria Math" panose="02040503050406030204" pitchFamily="18" charset="0"/>
                        <a:ea typeface="游ゴシック" panose="020B0400000000000000" pitchFamily="34" charset="-128"/>
                      </a:rPr>
                      <m:t>(</m:t>
                    </m:r>
                    <m:r>
                      <a:rPr lang="en-NZ" altLang="ja-JP" sz="1400" b="1" i="1" smtClean="0">
                        <a:solidFill>
                          <a:schemeClr val="bg2">
                            <a:lumMod val="50000"/>
                          </a:schemeClr>
                        </a:solidFill>
                        <a:latin typeface="Cambria Math" panose="02040503050406030204" pitchFamily="18" charset="0"/>
                        <a:ea typeface="游ゴシック" panose="020B0400000000000000" pitchFamily="34" charset="-128"/>
                      </a:rPr>
                      <m:t>𝒊𝒋</m:t>
                    </m:r>
                    <m:r>
                      <a:rPr lang="en-NZ" altLang="ja-JP" sz="1400" b="1" i="1" smtClean="0">
                        <a:solidFill>
                          <a:schemeClr val="bg2">
                            <a:lumMod val="50000"/>
                          </a:schemeClr>
                        </a:solidFill>
                        <a:latin typeface="Cambria Math" panose="02040503050406030204" pitchFamily="18" charset="0"/>
                        <a:ea typeface="游ゴシック" panose="020B0400000000000000" pitchFamily="34" charset="-128"/>
                      </a:rPr>
                      <m:t>)</m:t>
                    </m:r>
                  </m:oMath>
                </a14:m>
                <a:r>
                  <a:rPr lang="en-NZ" altLang="ja-JP" sz="1400" b="1" dirty="0">
                    <a:solidFill>
                      <a:schemeClr val="bg2">
                        <a:lumMod val="50000"/>
                      </a:schemeClr>
                    </a:solidFill>
                    <a:latin typeface="Calibri" panose="020F0502020204030204"/>
                    <a:ea typeface="游ゴシック" panose="020B0400000000000000" pitchFamily="34" charset="-128"/>
                  </a:rPr>
                  <a:t> </a:t>
                </a:r>
                <a:r>
                  <a:rPr lang="en-NZ" altLang="ja-JP" sz="1400" dirty="0">
                    <a:solidFill>
                      <a:schemeClr val="bg2">
                        <a:lumMod val="50000"/>
                      </a:schemeClr>
                    </a:solidFill>
                    <a:latin typeface="Calibri" panose="020F0502020204030204"/>
                    <a:ea typeface="游ゴシック" panose="020B0400000000000000" pitchFamily="34" charset="-128"/>
                  </a:rPr>
                  <a:t>is read as ‘k nested within </a:t>
                </a:r>
                <a:r>
                  <a:rPr lang="en-NZ" altLang="ja-JP" sz="1400" b="1" i="1" dirty="0" err="1">
                    <a:solidFill>
                      <a:schemeClr val="bg2">
                        <a:lumMod val="50000"/>
                      </a:schemeClr>
                    </a:solidFill>
                    <a:latin typeface="Calibri" panose="020F0502020204030204"/>
                    <a:ea typeface="游ゴシック" panose="020B0400000000000000" pitchFamily="34" charset="-128"/>
                  </a:rPr>
                  <a:t>ij</a:t>
                </a:r>
                <a:r>
                  <a:rPr lang="en-NZ" altLang="ja-JP" sz="1400" dirty="0">
                    <a:solidFill>
                      <a:schemeClr val="bg2">
                        <a:lumMod val="50000"/>
                      </a:schemeClr>
                    </a:solidFill>
                    <a:latin typeface="Calibri" panose="020F0502020204030204"/>
                    <a:ea typeface="游ゴシック" panose="020B0400000000000000" pitchFamily="34" charset="-128"/>
                  </a:rPr>
                  <a:t>’</a:t>
                </a:r>
              </a:p>
            </p:txBody>
          </p:sp>
        </mc:Choice>
        <mc:Fallback xmlns="">
          <p:sp>
            <p:nvSpPr>
              <p:cNvPr id="25" name="Text Placeholder 5">
                <a:extLst>
                  <a:ext uri="{FF2B5EF4-FFF2-40B4-BE49-F238E27FC236}">
                    <a16:creationId xmlns:a16="http://schemas.microsoft.com/office/drawing/2014/main" id="{7D853F2D-8630-E726-F63E-A20A8FE538A1}"/>
                  </a:ext>
                </a:extLst>
              </p:cNvPr>
              <p:cNvSpPr txBox="1">
                <a:spLocks noRot="1" noChangeAspect="1" noMove="1" noResize="1" noEditPoints="1" noAdjustHandles="1" noChangeArrowheads="1" noChangeShapeType="1" noTextEdit="1"/>
              </p:cNvSpPr>
              <p:nvPr/>
            </p:nvSpPr>
            <p:spPr>
              <a:xfrm>
                <a:off x="2522183" y="3513301"/>
                <a:ext cx="2861945" cy="532748"/>
              </a:xfrm>
              <a:prstGeom prst="rect">
                <a:avLst/>
              </a:prstGeom>
              <a:blipFill>
                <a:blip r:embed="rId6"/>
                <a:stretch>
                  <a:fillRect t="-1136" r="-640" b="-9091"/>
                </a:stretch>
              </a:blipFill>
            </p:spPr>
            <p:txBody>
              <a:bodyPr/>
              <a:lstStyle/>
              <a:p>
                <a:r>
                  <a:rPr lang="en-NZ">
                    <a:noFill/>
                  </a:rPr>
                  <a:t> </a:t>
                </a:r>
              </a:p>
            </p:txBody>
          </p:sp>
        </mc:Fallback>
      </mc:AlternateContent>
      <p:sp>
        <p:nvSpPr>
          <p:cNvPr id="26" name="Right Brace 25">
            <a:extLst>
              <a:ext uri="{FF2B5EF4-FFF2-40B4-BE49-F238E27FC236}">
                <a16:creationId xmlns:a16="http://schemas.microsoft.com/office/drawing/2014/main" id="{CA30D687-4E97-241C-0AC8-4823072319B9}"/>
              </a:ext>
            </a:extLst>
          </p:cNvPr>
          <p:cNvSpPr/>
          <p:nvPr/>
        </p:nvSpPr>
        <p:spPr>
          <a:xfrm>
            <a:off x="2204079" y="3527804"/>
            <a:ext cx="173216" cy="518245"/>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NZ" dirty="0"/>
          </a:p>
        </p:txBody>
      </p:sp>
    </p:spTree>
    <p:extLst>
      <p:ext uri="{BB962C8B-B14F-4D97-AF65-F5344CB8AC3E}">
        <p14:creationId xmlns:p14="http://schemas.microsoft.com/office/powerpoint/2010/main" val="27744454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2"/>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4"/>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18" grpId="0"/>
      <p:bldP spid="20" grpId="0"/>
      <p:bldP spid="21" grpId="0"/>
      <p:bldP spid="22" grpId="0"/>
      <p:bldP spid="23" grpId="0"/>
      <p:bldP spid="24" grpId="0"/>
      <p:bldP spid="25" grpId="0"/>
      <p:bldP spid="26"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Venn diagram&#10;&#10;Description automatically generated with low confidence">
            <a:extLst>
              <a:ext uri="{FF2B5EF4-FFF2-40B4-BE49-F238E27FC236}">
                <a16:creationId xmlns:a16="http://schemas.microsoft.com/office/drawing/2014/main" id="{81A165B1-06E1-3CE1-1FC6-9575C7F746B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84523" y="2747927"/>
            <a:ext cx="3776452" cy="1323975"/>
          </a:xfrm>
          <a:prstGeom prst="rect">
            <a:avLst/>
          </a:prstGeom>
        </p:spPr>
      </p:pic>
      <p:pic>
        <p:nvPicPr>
          <p:cNvPr id="36" name="Picture 35" descr="Venn diagram&#10;&#10;Description automatically generated with low confidence">
            <a:extLst>
              <a:ext uri="{FF2B5EF4-FFF2-40B4-BE49-F238E27FC236}">
                <a16:creationId xmlns:a16="http://schemas.microsoft.com/office/drawing/2014/main" id="{A78AD4AF-DAB5-3705-382E-1A1A2A17624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35487" y="2781965"/>
            <a:ext cx="3776452" cy="1323975"/>
          </a:xfrm>
          <a:prstGeom prst="rect">
            <a:avLst/>
          </a:prstGeom>
        </p:spPr>
      </p:pic>
      <p:sp>
        <p:nvSpPr>
          <p:cNvPr id="22" name="Slide Number Placeholder 3">
            <a:extLst>
              <a:ext uri="{FF2B5EF4-FFF2-40B4-BE49-F238E27FC236}">
                <a16:creationId xmlns:a16="http://schemas.microsoft.com/office/drawing/2014/main" id="{2A4E77AE-A8F4-4CFE-A7E4-1FE18F612BEC}"/>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54AD89C-DF1E-4948-B597-5DD47B34A9CA}" type="slidenum">
              <a:rPr kumimoji="1" lang="ja-JP" altLang="en-US" sz="4000" b="0" i="0" u="none" strike="noStrike" kern="1200" cap="none" spc="0" normalizeH="0" baseline="0" noProof="0" smtClean="0">
                <a:ln>
                  <a:noFill/>
                </a:ln>
                <a:solidFill>
                  <a:srgbClr val="575454">
                    <a:lumMod val="20000"/>
                    <a:lumOff val="80000"/>
                  </a:srgbClr>
                </a:solidFill>
                <a:effectLst/>
                <a:uLnTx/>
                <a:uFillTx/>
                <a:latin typeface="Coo Hew"/>
                <a:ea typeface="游ゴシック" panose="020B0400000000000000"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1" lang="ja-JP" altLang="en-US" sz="4000" b="0" i="0" u="none" strike="noStrike" kern="1200" cap="none" spc="0" normalizeH="0" baseline="0" noProof="0" dirty="0">
              <a:ln>
                <a:noFill/>
              </a:ln>
              <a:solidFill>
                <a:srgbClr val="575454">
                  <a:lumMod val="20000"/>
                  <a:lumOff val="80000"/>
                </a:srgbClr>
              </a:solidFill>
              <a:effectLst/>
              <a:uLnTx/>
              <a:uFillTx/>
              <a:latin typeface="Coo Hew"/>
              <a:ea typeface="游ゴシック" panose="020B0400000000000000" pitchFamily="34" charset="-128"/>
              <a:cs typeface="+mn-cs"/>
            </a:endParaRPr>
          </a:p>
        </p:txBody>
      </p:sp>
      <p:cxnSp>
        <p:nvCxnSpPr>
          <p:cNvPr id="3" name="Straight Connector 2">
            <a:extLst>
              <a:ext uri="{FF2B5EF4-FFF2-40B4-BE49-F238E27FC236}">
                <a16:creationId xmlns:a16="http://schemas.microsoft.com/office/drawing/2014/main" id="{3C6821EE-A317-E049-8E5E-F4D8A0FCFDA0}"/>
              </a:ext>
            </a:extLst>
          </p:cNvPr>
          <p:cNvCxnSpPr>
            <a:cxnSpLocks/>
          </p:cNvCxnSpPr>
          <p:nvPr/>
        </p:nvCxnSpPr>
        <p:spPr>
          <a:xfrm>
            <a:off x="1114568" y="4094329"/>
            <a:ext cx="9962865"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Oval 3">
            <a:extLst>
              <a:ext uri="{FF2B5EF4-FFF2-40B4-BE49-F238E27FC236}">
                <a16:creationId xmlns:a16="http://schemas.microsoft.com/office/drawing/2014/main" id="{D433551E-78AB-B4D3-763A-BC455D1D8B1A}"/>
              </a:ext>
            </a:extLst>
          </p:cNvPr>
          <p:cNvSpPr/>
          <p:nvPr/>
        </p:nvSpPr>
        <p:spPr>
          <a:xfrm>
            <a:off x="1448938" y="3928602"/>
            <a:ext cx="286603" cy="28660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NZ"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 name="Oval 19">
            <a:extLst>
              <a:ext uri="{FF2B5EF4-FFF2-40B4-BE49-F238E27FC236}">
                <a16:creationId xmlns:a16="http://schemas.microsoft.com/office/drawing/2014/main" id="{76C023CB-14E6-4370-A9FD-6461C4CDB7E5}"/>
              </a:ext>
            </a:extLst>
          </p:cNvPr>
          <p:cNvSpPr/>
          <p:nvPr/>
        </p:nvSpPr>
        <p:spPr>
          <a:xfrm>
            <a:off x="5329449" y="3928601"/>
            <a:ext cx="286603" cy="28660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NZ"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6" name="Straight Arrow Connector 5">
            <a:extLst>
              <a:ext uri="{FF2B5EF4-FFF2-40B4-BE49-F238E27FC236}">
                <a16:creationId xmlns:a16="http://schemas.microsoft.com/office/drawing/2014/main" id="{BD7B6A4F-569D-955C-161B-7196F86CE059}"/>
              </a:ext>
            </a:extLst>
          </p:cNvPr>
          <p:cNvCxnSpPr>
            <a:cxnSpLocks/>
          </p:cNvCxnSpPr>
          <p:nvPr/>
        </p:nvCxnSpPr>
        <p:spPr>
          <a:xfrm>
            <a:off x="1855313" y="4442242"/>
            <a:ext cx="3617438" cy="492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5" name="Text Placeholder 5">
                <a:extLst>
                  <a:ext uri="{FF2B5EF4-FFF2-40B4-BE49-F238E27FC236}">
                    <a16:creationId xmlns:a16="http://schemas.microsoft.com/office/drawing/2014/main" id="{0DEF057B-7393-208D-3722-9C1B2D677044}"/>
                  </a:ext>
                </a:extLst>
              </p:cNvPr>
              <p:cNvSpPr txBox="1">
                <a:spLocks/>
              </p:cNvSpPr>
              <p:nvPr/>
            </p:nvSpPr>
            <p:spPr>
              <a:xfrm>
                <a:off x="1349775" y="4226778"/>
                <a:ext cx="543636" cy="47495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14:m>
                  <m:oMathPara xmlns:m="http://schemas.openxmlformats.org/officeDocument/2006/math">
                    <m:oMathParaPr>
                      <m:jc m:val="centerGroup"/>
                    </m:oMathParaPr>
                    <m:oMath xmlns:m="http://schemas.openxmlformats.org/officeDocument/2006/math">
                      <m: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𝝁</m:t>
                      </m:r>
                    </m:oMath>
                  </m:oMathPara>
                </a14:m>
                <a:endParaRPr kumimoji="1" lang="en-NZ" altLang="ja-JP" sz="20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20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20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p:txBody>
          </p:sp>
        </mc:Choice>
        <mc:Fallback xmlns="">
          <p:sp>
            <p:nvSpPr>
              <p:cNvPr id="25" name="Text Placeholder 5">
                <a:extLst>
                  <a:ext uri="{FF2B5EF4-FFF2-40B4-BE49-F238E27FC236}">
                    <a16:creationId xmlns:a16="http://schemas.microsoft.com/office/drawing/2014/main" id="{0DEF057B-7393-208D-3722-9C1B2D677044}"/>
                  </a:ext>
                </a:extLst>
              </p:cNvPr>
              <p:cNvSpPr txBox="1">
                <a:spLocks noRot="1" noChangeAspect="1" noMove="1" noResize="1" noEditPoints="1" noAdjustHandles="1" noChangeArrowheads="1" noChangeShapeType="1" noTextEdit="1"/>
              </p:cNvSpPr>
              <p:nvPr/>
            </p:nvSpPr>
            <p:spPr>
              <a:xfrm>
                <a:off x="1349775" y="4226778"/>
                <a:ext cx="543636" cy="474953"/>
              </a:xfrm>
              <a:prstGeom prst="rect">
                <a:avLst/>
              </a:prstGeom>
              <a:blipFill>
                <a:blip r:embed="rId4"/>
                <a:stretch>
                  <a:fillRect/>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26" name="Text Placeholder 5">
                <a:extLst>
                  <a:ext uri="{FF2B5EF4-FFF2-40B4-BE49-F238E27FC236}">
                    <a16:creationId xmlns:a16="http://schemas.microsoft.com/office/drawing/2014/main" id="{75F3BB90-89BC-5219-0CD7-2C7B4D97A5F2}"/>
                  </a:ext>
                </a:extLst>
              </p:cNvPr>
              <p:cNvSpPr txBox="1">
                <a:spLocks/>
              </p:cNvSpPr>
              <p:nvPr/>
            </p:nvSpPr>
            <p:spPr>
              <a:xfrm>
                <a:off x="4981430" y="4548917"/>
                <a:ext cx="982639" cy="453788"/>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14:m>
                  <m:oMathPara xmlns:m="http://schemas.openxmlformats.org/officeDocument/2006/math">
                    <m:oMathParaPr>
                      <m:jc m:val="center"/>
                    </m:oMathParaPr>
                    <m:oMath xmlns:m="http://schemas.openxmlformats.org/officeDocument/2006/math">
                      <m: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𝝁</m:t>
                      </m:r>
                      <m:r>
                        <a:rPr kumimoji="1" lang="en-NZ" altLang="ja-JP" sz="2000" b="1" i="0" u="none" strike="noStrike" kern="1200" cap="none" spc="0" normalizeH="0" baseline="0" noProof="0" smtClean="0">
                          <a:ln>
                            <a:noFill/>
                          </a:ln>
                          <a:solidFill>
                            <a:prstClr val="black"/>
                          </a:solidFill>
                          <a:effectLst/>
                          <a:uLnTx/>
                          <a:uFillTx/>
                          <a:latin typeface="Cambria Math" panose="02040503050406030204" pitchFamily="18" charset="0"/>
                          <a:cs typeface="+mn-cs"/>
                        </a:rPr>
                        <m:t>+</m:t>
                      </m:r>
                      <m:sSub>
                        <m:sSubPr>
                          <m:ctrlP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𝜶</m:t>
                          </m:r>
                        </m:e>
                        <m:sub>
                          <m: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𝒊</m:t>
                          </m:r>
                        </m:sub>
                      </m:sSub>
                    </m:oMath>
                  </m:oMathPara>
                </a14:m>
                <a:br>
                  <a:rPr kumimoji="1" lang="en-NZ" altLang="ja-JP" sz="20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br>
                <a:endParaRPr kumimoji="1" lang="en-NZ" altLang="ja-JP" sz="20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20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p:txBody>
          </p:sp>
        </mc:Choice>
        <mc:Fallback xmlns="">
          <p:sp>
            <p:nvSpPr>
              <p:cNvPr id="26" name="Text Placeholder 5">
                <a:extLst>
                  <a:ext uri="{FF2B5EF4-FFF2-40B4-BE49-F238E27FC236}">
                    <a16:creationId xmlns:a16="http://schemas.microsoft.com/office/drawing/2014/main" id="{75F3BB90-89BC-5219-0CD7-2C7B4D97A5F2}"/>
                  </a:ext>
                </a:extLst>
              </p:cNvPr>
              <p:cNvSpPr txBox="1">
                <a:spLocks noRot="1" noChangeAspect="1" noMove="1" noResize="1" noEditPoints="1" noAdjustHandles="1" noChangeArrowheads="1" noChangeShapeType="1" noTextEdit="1"/>
              </p:cNvSpPr>
              <p:nvPr/>
            </p:nvSpPr>
            <p:spPr>
              <a:xfrm>
                <a:off x="4981430" y="4548917"/>
                <a:ext cx="982639" cy="453788"/>
              </a:xfrm>
              <a:prstGeom prst="rect">
                <a:avLst/>
              </a:prstGeom>
              <a:blipFill>
                <a:blip r:embed="rId5"/>
                <a:stretch>
                  <a:fillRect/>
                </a:stretch>
              </a:blipFill>
            </p:spPr>
            <p:txBody>
              <a:bodyPr/>
              <a:lstStyle/>
              <a:p>
                <a:r>
                  <a:rPr lang="en-NZ">
                    <a:noFill/>
                  </a:rPr>
                  <a:t> </a:t>
                </a:r>
              </a:p>
            </p:txBody>
          </p:sp>
        </mc:Fallback>
      </mc:AlternateContent>
      <p:cxnSp>
        <p:nvCxnSpPr>
          <p:cNvPr id="30" name="Straight Connector 29">
            <a:extLst>
              <a:ext uri="{FF2B5EF4-FFF2-40B4-BE49-F238E27FC236}">
                <a16:creationId xmlns:a16="http://schemas.microsoft.com/office/drawing/2014/main" id="{C936937E-8A93-790E-5B50-ECA6F9CB0A9B}"/>
              </a:ext>
            </a:extLst>
          </p:cNvPr>
          <p:cNvCxnSpPr/>
          <p:nvPr/>
        </p:nvCxnSpPr>
        <p:spPr>
          <a:xfrm>
            <a:off x="6623714" y="3698542"/>
            <a:ext cx="0" cy="395786"/>
          </a:xfrm>
          <a:prstGeom prst="line">
            <a:avLst/>
          </a:prstGeom>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2" name="Text Placeholder 5">
                <a:extLst>
                  <a:ext uri="{FF2B5EF4-FFF2-40B4-BE49-F238E27FC236}">
                    <a16:creationId xmlns:a16="http://schemas.microsoft.com/office/drawing/2014/main" id="{F2858A14-69D9-BAE8-A179-A6351391BD07}"/>
                  </a:ext>
                </a:extLst>
              </p:cNvPr>
              <p:cNvSpPr txBox="1">
                <a:spLocks/>
              </p:cNvSpPr>
              <p:nvPr/>
            </p:nvSpPr>
            <p:spPr>
              <a:xfrm>
                <a:off x="570010" y="1779107"/>
                <a:ext cx="3305954" cy="453789"/>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2000" b="1" i="0" u="none" strike="noStrike" kern="1200" cap="none" spc="0" normalizeH="0" baseline="0" noProof="0" dirty="0">
                    <a:ln>
                      <a:noFill/>
                    </a:ln>
                    <a:solidFill>
                      <a:srgbClr val="0070C0"/>
                    </a:solidFill>
                    <a:effectLst/>
                    <a:uLnTx/>
                    <a:uFillTx/>
                    <a:latin typeface="Calibri" panose="020F0502020204030204"/>
                    <a:ea typeface="游ゴシック" panose="020B0400000000000000" pitchFamily="34" charset="-128"/>
                    <a:cs typeface="+mn-cs"/>
                  </a:rPr>
                  <a:t>Consider modelling </a:t>
                </a:r>
                <a14:m>
                  <m:oMath xmlns:m="http://schemas.openxmlformats.org/officeDocument/2006/math">
                    <m:sSub>
                      <m:sSubPr>
                        <m:ctrlPr>
                          <a:rPr kumimoji="1" lang="en-NZ" altLang="ja-JP" sz="2000" b="1" i="1" u="none" strike="noStrike" kern="1200" cap="none" spc="0" normalizeH="0" baseline="0" noProof="0" smtClean="0">
                            <a:ln>
                              <a:noFill/>
                            </a:ln>
                            <a:solidFill>
                              <a:srgbClr val="0070C0"/>
                            </a:solidFill>
                            <a:effectLst/>
                            <a:uLnTx/>
                            <a:uFillTx/>
                            <a:latin typeface="Cambria Math" panose="02040503050406030204" pitchFamily="18" charset="0"/>
                            <a:cs typeface="+mn-cs"/>
                          </a:rPr>
                        </m:ctrlPr>
                      </m:sSubPr>
                      <m:e>
                        <m:r>
                          <a:rPr kumimoji="1" lang="en-NZ" altLang="ja-JP" sz="2000" b="1" i="1" u="none" strike="noStrike" kern="1200" cap="none" spc="0" normalizeH="0" baseline="0" noProof="0" smtClean="0">
                            <a:ln>
                              <a:noFill/>
                            </a:ln>
                            <a:solidFill>
                              <a:srgbClr val="0070C0"/>
                            </a:solidFill>
                            <a:effectLst/>
                            <a:uLnTx/>
                            <a:uFillTx/>
                            <a:latin typeface="Cambria Math" panose="02040503050406030204" pitchFamily="18" charset="0"/>
                            <a:cs typeface="+mn-cs"/>
                          </a:rPr>
                          <m:t>𝒀</m:t>
                        </m:r>
                      </m:e>
                      <m:sub>
                        <m:r>
                          <a:rPr kumimoji="1" lang="en-NZ" altLang="ja-JP" sz="2000" b="1" i="1" u="none" strike="noStrike" kern="1200" cap="none" spc="0" normalizeH="0" baseline="0" noProof="0" smtClean="0">
                            <a:ln>
                              <a:noFill/>
                            </a:ln>
                            <a:solidFill>
                              <a:srgbClr val="0070C0"/>
                            </a:solidFill>
                            <a:effectLst/>
                            <a:uLnTx/>
                            <a:uFillTx/>
                            <a:latin typeface="Cambria Math" panose="02040503050406030204" pitchFamily="18" charset="0"/>
                            <a:cs typeface="+mn-cs"/>
                          </a:rPr>
                          <m:t>𝒊𝒋𝒌</m:t>
                        </m:r>
                      </m:sub>
                    </m:sSub>
                  </m:oMath>
                </a14:m>
                <a:endParaRPr kumimoji="1" lang="en-NZ" altLang="ja-JP" sz="20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20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20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p:txBody>
          </p:sp>
        </mc:Choice>
        <mc:Fallback xmlns="">
          <p:sp>
            <p:nvSpPr>
              <p:cNvPr id="32" name="Text Placeholder 5">
                <a:extLst>
                  <a:ext uri="{FF2B5EF4-FFF2-40B4-BE49-F238E27FC236}">
                    <a16:creationId xmlns:a16="http://schemas.microsoft.com/office/drawing/2014/main" id="{F2858A14-69D9-BAE8-A179-A6351391BD07}"/>
                  </a:ext>
                </a:extLst>
              </p:cNvPr>
              <p:cNvSpPr txBox="1">
                <a:spLocks noRot="1" noChangeAspect="1" noMove="1" noResize="1" noEditPoints="1" noAdjustHandles="1" noChangeArrowheads="1" noChangeShapeType="1" noTextEdit="1"/>
              </p:cNvSpPr>
              <p:nvPr/>
            </p:nvSpPr>
            <p:spPr>
              <a:xfrm>
                <a:off x="570010" y="1779107"/>
                <a:ext cx="3305954" cy="453789"/>
              </a:xfrm>
              <a:prstGeom prst="rect">
                <a:avLst/>
              </a:prstGeom>
              <a:blipFill>
                <a:blip r:embed="rId6"/>
                <a:stretch>
                  <a:fillRect t="-6757" b="-13514"/>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33" name="Text Placeholder 5">
                <a:extLst>
                  <a:ext uri="{FF2B5EF4-FFF2-40B4-BE49-F238E27FC236}">
                    <a16:creationId xmlns:a16="http://schemas.microsoft.com/office/drawing/2014/main" id="{9C6DFD2C-B76D-C299-2F43-2D11D0E8B0B7}"/>
                  </a:ext>
                </a:extLst>
              </p:cNvPr>
              <p:cNvSpPr txBox="1">
                <a:spLocks/>
              </p:cNvSpPr>
              <p:nvPr/>
            </p:nvSpPr>
            <p:spPr>
              <a:xfrm>
                <a:off x="2966005" y="4051726"/>
                <a:ext cx="1132980" cy="538640"/>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14:m>
                  <m:oMathPara xmlns:m="http://schemas.openxmlformats.org/officeDocument/2006/math">
                    <m:oMathParaPr>
                      <m:jc m:val="center"/>
                    </m:oMathParaPr>
                    <m:oMath xmlns:m="http://schemas.openxmlformats.org/officeDocument/2006/math">
                      <m:sSub>
                        <m:sSubPr>
                          <m:ctrlP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𝜶</m:t>
                          </m:r>
                        </m:e>
                        <m:sub>
                          <m: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𝒊</m:t>
                          </m:r>
                        </m:sub>
                      </m:sSub>
                      <m: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t>&gt;</m:t>
                      </m:r>
                      <m: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𝟎</m:t>
                      </m:r>
                    </m:oMath>
                  </m:oMathPara>
                </a14:m>
                <a:br>
                  <a:rPr kumimoji="1" lang="en-NZ" altLang="ja-JP" sz="20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br>
                <a:endParaRPr kumimoji="1" lang="en-NZ" altLang="ja-JP" sz="20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p:txBody>
          </p:sp>
        </mc:Choice>
        <mc:Fallback xmlns="">
          <p:sp>
            <p:nvSpPr>
              <p:cNvPr id="33" name="Text Placeholder 5">
                <a:extLst>
                  <a:ext uri="{FF2B5EF4-FFF2-40B4-BE49-F238E27FC236}">
                    <a16:creationId xmlns:a16="http://schemas.microsoft.com/office/drawing/2014/main" id="{9C6DFD2C-B76D-C299-2F43-2D11D0E8B0B7}"/>
                  </a:ext>
                </a:extLst>
              </p:cNvPr>
              <p:cNvSpPr txBox="1">
                <a:spLocks noRot="1" noChangeAspect="1" noMove="1" noResize="1" noEditPoints="1" noAdjustHandles="1" noChangeArrowheads="1" noChangeShapeType="1" noTextEdit="1"/>
              </p:cNvSpPr>
              <p:nvPr/>
            </p:nvSpPr>
            <p:spPr>
              <a:xfrm>
                <a:off x="2966005" y="4051726"/>
                <a:ext cx="1132980" cy="538640"/>
              </a:xfrm>
              <a:prstGeom prst="rect">
                <a:avLst/>
              </a:prstGeom>
              <a:blipFill>
                <a:blip r:embed="rId7"/>
                <a:stretch>
                  <a:fillRect/>
                </a:stretch>
              </a:blipFill>
            </p:spPr>
            <p:txBody>
              <a:bodyPr/>
              <a:lstStyle/>
              <a:p>
                <a:r>
                  <a:rPr lang="en-NZ">
                    <a:noFill/>
                  </a:rPr>
                  <a:t> </a:t>
                </a:r>
              </a:p>
            </p:txBody>
          </p:sp>
        </mc:Fallback>
      </mc:AlternateContent>
      <p:sp>
        <p:nvSpPr>
          <p:cNvPr id="40" name="Oval 39">
            <a:extLst>
              <a:ext uri="{FF2B5EF4-FFF2-40B4-BE49-F238E27FC236}">
                <a16:creationId xmlns:a16="http://schemas.microsoft.com/office/drawing/2014/main" id="{ADCC2713-9204-9B91-B72C-C6D54FDE039E}"/>
              </a:ext>
            </a:extLst>
          </p:cNvPr>
          <p:cNvSpPr/>
          <p:nvPr/>
        </p:nvSpPr>
        <p:spPr>
          <a:xfrm>
            <a:off x="6480412" y="3951027"/>
            <a:ext cx="286603" cy="28660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NZ"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mc:AlternateContent xmlns:mc="http://schemas.openxmlformats.org/markup-compatibility/2006" xmlns:a14="http://schemas.microsoft.com/office/drawing/2010/main">
        <mc:Choice Requires="a14">
          <p:sp>
            <p:nvSpPr>
              <p:cNvPr id="47" name="Text Placeholder 5">
                <a:extLst>
                  <a:ext uri="{FF2B5EF4-FFF2-40B4-BE49-F238E27FC236}">
                    <a16:creationId xmlns:a16="http://schemas.microsoft.com/office/drawing/2014/main" id="{B17BB661-69C0-600C-BF7B-39620CA75921}"/>
                  </a:ext>
                </a:extLst>
              </p:cNvPr>
              <p:cNvSpPr txBox="1">
                <a:spLocks/>
              </p:cNvSpPr>
              <p:nvPr/>
            </p:nvSpPr>
            <p:spPr>
              <a:xfrm>
                <a:off x="5827595" y="4538726"/>
                <a:ext cx="2026692" cy="453788"/>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14:m>
                  <m:oMathPara xmlns:m="http://schemas.openxmlformats.org/officeDocument/2006/math">
                    <m:oMathParaPr>
                      <m:jc m:val="center"/>
                    </m:oMathParaPr>
                    <m:oMath xmlns:m="http://schemas.openxmlformats.org/officeDocument/2006/math">
                      <m: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𝝁</m:t>
                      </m:r>
                      <m:r>
                        <a:rPr kumimoji="1" lang="en-NZ" altLang="ja-JP" sz="2000" b="1" i="0" u="none" strike="noStrike" kern="1200" cap="none" spc="0" normalizeH="0" baseline="0" noProof="0" smtClean="0">
                          <a:ln>
                            <a:noFill/>
                          </a:ln>
                          <a:solidFill>
                            <a:prstClr val="black"/>
                          </a:solidFill>
                          <a:effectLst/>
                          <a:uLnTx/>
                          <a:uFillTx/>
                          <a:latin typeface="Cambria Math" panose="02040503050406030204" pitchFamily="18" charset="0"/>
                          <a:cs typeface="+mn-cs"/>
                        </a:rPr>
                        <m:t>+</m:t>
                      </m:r>
                      <m:sSub>
                        <m:sSubPr>
                          <m:ctrlP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𝜶</m:t>
                          </m:r>
                        </m:e>
                        <m:sub>
                          <m: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𝒊</m:t>
                          </m:r>
                        </m:sub>
                      </m:sSub>
                      <m: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sSub>
                        <m:sSubPr>
                          <m:ctrlP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𝑩</m:t>
                          </m:r>
                        </m:e>
                        <m:sub>
                          <m: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𝒋</m:t>
                          </m:r>
                          <m: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𝒊</m:t>
                          </m:r>
                          <m: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sub>
                      </m:sSub>
                    </m:oMath>
                  </m:oMathPara>
                </a14:m>
                <a:endParaRPr kumimoji="1" lang="en-NZ" altLang="ja-JP" sz="20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p:txBody>
          </p:sp>
        </mc:Choice>
        <mc:Fallback xmlns="">
          <p:sp>
            <p:nvSpPr>
              <p:cNvPr id="47" name="Text Placeholder 5">
                <a:extLst>
                  <a:ext uri="{FF2B5EF4-FFF2-40B4-BE49-F238E27FC236}">
                    <a16:creationId xmlns:a16="http://schemas.microsoft.com/office/drawing/2014/main" id="{B17BB661-69C0-600C-BF7B-39620CA75921}"/>
                  </a:ext>
                </a:extLst>
              </p:cNvPr>
              <p:cNvSpPr txBox="1">
                <a:spLocks noRot="1" noChangeAspect="1" noMove="1" noResize="1" noEditPoints="1" noAdjustHandles="1" noChangeArrowheads="1" noChangeShapeType="1" noTextEdit="1"/>
              </p:cNvSpPr>
              <p:nvPr/>
            </p:nvSpPr>
            <p:spPr>
              <a:xfrm>
                <a:off x="5827595" y="4538726"/>
                <a:ext cx="2026692" cy="453788"/>
              </a:xfrm>
              <a:prstGeom prst="rect">
                <a:avLst/>
              </a:prstGeom>
              <a:blipFill>
                <a:blip r:embed="rId8"/>
                <a:stretch>
                  <a:fillRect b="-5405"/>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35" name="Text Placeholder 5">
                <a:extLst>
                  <a:ext uri="{FF2B5EF4-FFF2-40B4-BE49-F238E27FC236}">
                    <a16:creationId xmlns:a16="http://schemas.microsoft.com/office/drawing/2014/main" id="{507E413F-BDEE-D35C-5AA3-66AE977C499A}"/>
                  </a:ext>
                </a:extLst>
              </p:cNvPr>
              <p:cNvSpPr txBox="1">
                <a:spLocks/>
              </p:cNvSpPr>
              <p:nvPr/>
            </p:nvSpPr>
            <p:spPr>
              <a:xfrm>
                <a:off x="9162252" y="988681"/>
                <a:ext cx="1865087" cy="76354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14:m>
                  <m:oMath xmlns:m="http://schemas.openxmlformats.org/officeDocument/2006/math">
                    <m:sSub>
                      <m:sSubPr>
                        <m:ctrl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𝑩</m:t>
                        </m:r>
                      </m:e>
                      <m:sub>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𝒋</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𝒊</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sub>
                    </m:sSub>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 ~ </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𝑵</m:t>
                    </m:r>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 </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𝟎</m:t>
                    </m:r>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 </m:t>
                    </m:r>
                    <m:sSubSup>
                      <m:sSubSupPr>
                        <m:ctrlP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ctrlPr>
                      </m:sSubSupPr>
                      <m:e>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𝝈</m:t>
                        </m:r>
                      </m:e>
                      <m:sub>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𝑩</m:t>
                        </m:r>
                      </m:sub>
                      <m:sup>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𝟐</m:t>
                        </m:r>
                      </m:sup>
                    </m:sSubSup>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 )</m:t>
                    </m:r>
                  </m:oMath>
                </a14:m>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a:t>
                </a:r>
                <a:endParaRPr kumimoji="1" lang="en-NZ" altLang="ja-JP" sz="1600" b="1" i="1" u="none" strike="noStrike" kern="1200" cap="none" spc="0" normalizeH="0" baseline="0" noProof="0" dirty="0">
                  <a:ln>
                    <a:noFill/>
                  </a:ln>
                  <a:solidFill>
                    <a:prstClr val="black"/>
                  </a:solidFill>
                  <a:effectLst/>
                  <a:uLnTx/>
                  <a:uFillTx/>
                  <a:latin typeface="Cambria Math" panose="02040503050406030204" pitchFamily="18" charset="0"/>
                  <a:ea typeface="游ゴシック" panose="020B0400000000000000" pitchFamily="34" charset="-128"/>
                  <a:cs typeface="+mn-cs"/>
                </a:endParaRPr>
              </a:p>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14:m>
                  <m:oMathPara xmlns:m="http://schemas.openxmlformats.org/officeDocument/2006/math">
                    <m:oMathParaPr>
                      <m:jc m:val="centerGroup"/>
                    </m:oMathParaPr>
                    <m:oMath xmlns:m="http://schemas.openxmlformats.org/officeDocument/2006/math">
                      <m:sSub>
                        <m:sSubPr>
                          <m:ctrlP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𝝐</m:t>
                          </m:r>
                        </m:e>
                        <m:sub>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𝒌</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𝒊𝒋</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sub>
                      </m:sSub>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 ~ </m:t>
                      </m:r>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𝑵</m:t>
                      </m:r>
                      <m:d>
                        <m:dPr>
                          <m:ctrlP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ctrlPr>
                        </m:dPr>
                        <m:e>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𝟎</m:t>
                          </m:r>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 </m:t>
                          </m:r>
                          <m:sSup>
                            <m:sSupPr>
                              <m:ctrlP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ctrlPr>
                            </m:sSupPr>
                            <m:e>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𝝈</m:t>
                              </m:r>
                            </m:e>
                            <m:sup>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𝟐</m:t>
                              </m:r>
                            </m:sup>
                          </m:sSup>
                        </m:e>
                      </m:d>
                    </m:oMath>
                  </m:oMathPara>
                </a14:m>
                <a:endPar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600" b="0"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mc:Choice>
        <mc:Fallback xmlns="">
          <p:sp>
            <p:nvSpPr>
              <p:cNvPr id="35" name="Text Placeholder 5">
                <a:extLst>
                  <a:ext uri="{FF2B5EF4-FFF2-40B4-BE49-F238E27FC236}">
                    <a16:creationId xmlns:a16="http://schemas.microsoft.com/office/drawing/2014/main" id="{507E413F-BDEE-D35C-5AA3-66AE977C499A}"/>
                  </a:ext>
                </a:extLst>
              </p:cNvPr>
              <p:cNvSpPr txBox="1">
                <a:spLocks noRot="1" noChangeAspect="1" noMove="1" noResize="1" noEditPoints="1" noAdjustHandles="1" noChangeArrowheads="1" noChangeShapeType="1" noTextEdit="1"/>
              </p:cNvSpPr>
              <p:nvPr/>
            </p:nvSpPr>
            <p:spPr>
              <a:xfrm>
                <a:off x="9162252" y="988681"/>
                <a:ext cx="1865087" cy="763543"/>
              </a:xfrm>
              <a:prstGeom prst="rect">
                <a:avLst/>
              </a:prstGeom>
              <a:blipFill>
                <a:blip r:embed="rId9"/>
                <a:stretch>
                  <a:fillRect/>
                </a:stretch>
              </a:blipFill>
            </p:spPr>
            <p:txBody>
              <a:bodyPr/>
              <a:lstStyle/>
              <a:p>
                <a:r>
                  <a:rPr lang="en-NZ">
                    <a:noFill/>
                  </a:rPr>
                  <a:t> </a:t>
                </a:r>
              </a:p>
            </p:txBody>
          </p:sp>
        </mc:Fallback>
      </mc:AlternateContent>
      <p:cxnSp>
        <p:nvCxnSpPr>
          <p:cNvPr id="37" name="Straight Connector 36">
            <a:extLst>
              <a:ext uri="{FF2B5EF4-FFF2-40B4-BE49-F238E27FC236}">
                <a16:creationId xmlns:a16="http://schemas.microsoft.com/office/drawing/2014/main" id="{134CFEA9-0856-7F15-07B3-1B1E620C0986}"/>
              </a:ext>
            </a:extLst>
          </p:cNvPr>
          <p:cNvCxnSpPr>
            <a:cxnSpLocks/>
          </p:cNvCxnSpPr>
          <p:nvPr/>
        </p:nvCxnSpPr>
        <p:spPr>
          <a:xfrm>
            <a:off x="7854287" y="3794078"/>
            <a:ext cx="0" cy="311862"/>
          </a:xfrm>
          <a:prstGeom prst="line">
            <a:avLst/>
          </a:prstGeom>
        </p:spPr>
        <p:style>
          <a:lnRef idx="1">
            <a:schemeClr val="accent1"/>
          </a:lnRef>
          <a:fillRef idx="0">
            <a:schemeClr val="accent1"/>
          </a:fillRef>
          <a:effectRef idx="0">
            <a:schemeClr val="accent1"/>
          </a:effectRef>
          <a:fontRef idx="minor">
            <a:schemeClr val="tx1"/>
          </a:fontRef>
        </p:style>
      </p:cxnSp>
      <p:sp>
        <p:nvSpPr>
          <p:cNvPr id="38" name="Oval 37">
            <a:extLst>
              <a:ext uri="{FF2B5EF4-FFF2-40B4-BE49-F238E27FC236}">
                <a16:creationId xmlns:a16="http://schemas.microsoft.com/office/drawing/2014/main" id="{BE69E0CA-414F-6BC2-6B1B-0888572EC144}"/>
              </a:ext>
            </a:extLst>
          </p:cNvPr>
          <p:cNvSpPr/>
          <p:nvPr/>
        </p:nvSpPr>
        <p:spPr>
          <a:xfrm>
            <a:off x="7710985" y="3928600"/>
            <a:ext cx="286603" cy="28660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NZ"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mc:AlternateContent xmlns:mc="http://schemas.openxmlformats.org/markup-compatibility/2006" xmlns:a14="http://schemas.microsoft.com/office/drawing/2010/main">
        <mc:Choice Requires="a14">
          <p:sp>
            <p:nvSpPr>
              <p:cNvPr id="39" name="Text Placeholder 5">
                <a:extLst>
                  <a:ext uri="{FF2B5EF4-FFF2-40B4-BE49-F238E27FC236}">
                    <a16:creationId xmlns:a16="http://schemas.microsoft.com/office/drawing/2014/main" id="{7DAB5208-0265-E8B5-40A2-AEE347353E9D}"/>
                  </a:ext>
                </a:extLst>
              </p:cNvPr>
              <p:cNvSpPr txBox="1">
                <a:spLocks/>
              </p:cNvSpPr>
              <p:nvPr/>
            </p:nvSpPr>
            <p:spPr>
              <a:xfrm>
                <a:off x="7854287" y="3376511"/>
                <a:ext cx="760649" cy="38151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14:m>
                  <m:oMathPara xmlns:m="http://schemas.openxmlformats.org/officeDocument/2006/math">
                    <m:oMathParaPr>
                      <m:jc m:val="centerGroup"/>
                    </m:oMathParaPr>
                    <m:oMath xmlns:m="http://schemas.openxmlformats.org/officeDocument/2006/math">
                      <m:sSub>
                        <m:sSubPr>
                          <m:ctrlPr>
                            <a:rPr kumimoji="1" lang="en-NZ" altLang="ja-JP" sz="2000" b="1" i="1" u="none" strike="noStrike" kern="1200" cap="none" spc="0" normalizeH="0" baseline="0" noProof="0" smtClean="0">
                              <a:ln>
                                <a:noFill/>
                              </a:ln>
                              <a:solidFill>
                                <a:srgbClr val="0070C0"/>
                              </a:solidFill>
                              <a:effectLst/>
                              <a:uLnTx/>
                              <a:uFillTx/>
                              <a:latin typeface="Cambria Math" panose="02040503050406030204" pitchFamily="18" charset="0"/>
                              <a:cs typeface="+mn-cs"/>
                            </a:rPr>
                          </m:ctrlPr>
                        </m:sSubPr>
                        <m:e>
                          <m:r>
                            <a:rPr kumimoji="1" lang="en-NZ" altLang="ja-JP" sz="2000" b="1" i="1" u="none" strike="noStrike" kern="1200" cap="none" spc="0" normalizeH="0" baseline="0" noProof="0" smtClean="0">
                              <a:ln>
                                <a:noFill/>
                              </a:ln>
                              <a:solidFill>
                                <a:srgbClr val="0070C0"/>
                              </a:solidFill>
                              <a:effectLst/>
                              <a:uLnTx/>
                              <a:uFillTx/>
                              <a:latin typeface="Cambria Math" panose="02040503050406030204" pitchFamily="18" charset="0"/>
                              <a:cs typeface="+mn-cs"/>
                            </a:rPr>
                            <m:t>𝒀</m:t>
                          </m:r>
                        </m:e>
                        <m:sub>
                          <m:r>
                            <a:rPr kumimoji="1" lang="en-NZ" altLang="ja-JP" sz="2000" b="1" i="1" u="none" strike="noStrike" kern="1200" cap="none" spc="0" normalizeH="0" baseline="0" noProof="0" smtClean="0">
                              <a:ln>
                                <a:noFill/>
                              </a:ln>
                              <a:solidFill>
                                <a:srgbClr val="0070C0"/>
                              </a:solidFill>
                              <a:effectLst/>
                              <a:uLnTx/>
                              <a:uFillTx/>
                              <a:latin typeface="Cambria Math" panose="02040503050406030204" pitchFamily="18" charset="0"/>
                              <a:cs typeface="+mn-cs"/>
                            </a:rPr>
                            <m:t>𝒊𝒋𝒌</m:t>
                          </m:r>
                        </m:sub>
                      </m:sSub>
                    </m:oMath>
                  </m:oMathPara>
                </a14:m>
                <a:endParaRPr kumimoji="1" lang="en-NZ" altLang="ja-JP" sz="20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20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20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p:txBody>
          </p:sp>
        </mc:Choice>
        <mc:Fallback xmlns="">
          <p:sp>
            <p:nvSpPr>
              <p:cNvPr id="39" name="Text Placeholder 5">
                <a:extLst>
                  <a:ext uri="{FF2B5EF4-FFF2-40B4-BE49-F238E27FC236}">
                    <a16:creationId xmlns:a16="http://schemas.microsoft.com/office/drawing/2014/main" id="{7DAB5208-0265-E8B5-40A2-AEE347353E9D}"/>
                  </a:ext>
                </a:extLst>
              </p:cNvPr>
              <p:cNvSpPr txBox="1">
                <a:spLocks noRot="1" noChangeAspect="1" noMove="1" noResize="1" noEditPoints="1" noAdjustHandles="1" noChangeArrowheads="1" noChangeShapeType="1" noTextEdit="1"/>
              </p:cNvSpPr>
              <p:nvPr/>
            </p:nvSpPr>
            <p:spPr>
              <a:xfrm>
                <a:off x="7854287" y="3376511"/>
                <a:ext cx="760649" cy="381516"/>
              </a:xfrm>
              <a:prstGeom prst="rect">
                <a:avLst/>
              </a:prstGeom>
              <a:blipFill>
                <a:blip r:embed="rId10"/>
                <a:stretch>
                  <a:fillRect b="-27419"/>
                </a:stretch>
              </a:blipFill>
            </p:spPr>
            <p:txBody>
              <a:bodyPr/>
              <a:lstStyle/>
              <a:p>
                <a:r>
                  <a:rPr lang="en-NZ">
                    <a:noFill/>
                  </a:rPr>
                  <a:t> </a:t>
                </a:r>
              </a:p>
            </p:txBody>
          </p:sp>
        </mc:Fallback>
      </mc:AlternateContent>
      <p:sp>
        <p:nvSpPr>
          <p:cNvPr id="2" name="Footer Placeholder 2">
            <a:extLst>
              <a:ext uri="{FF2B5EF4-FFF2-40B4-BE49-F238E27FC236}">
                <a16:creationId xmlns:a16="http://schemas.microsoft.com/office/drawing/2014/main" id="{3AC0F327-92F1-F614-6D55-12A3A17F8707}"/>
              </a:ext>
            </a:extLst>
          </p:cNvPr>
          <p:cNvSpPr txBox="1">
            <a:spLocks/>
          </p:cNvSpPr>
          <p:nvPr/>
        </p:nvSpPr>
        <p:spPr>
          <a:xfrm>
            <a:off x="8775510" y="86139"/>
            <a:ext cx="3313855"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600" dirty="0">
                <a:solidFill>
                  <a:srgbClr val="DEDDDD"/>
                </a:solidFill>
                <a:latin typeface="Gidole"/>
                <a:ea typeface="游ゴシック" panose="020B0400000000000000" pitchFamily="34" charset="-128"/>
              </a:rPr>
              <a:t>5</a:t>
            </a:r>
            <a:r>
              <a:rPr kumimoji="1" lang="en-US" altLang="ja-JP"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rPr>
              <a:t>.2 – Two Stage Nested Design</a:t>
            </a:r>
            <a:endParaRPr kumimoji="1" lang="ja-JP" altLang="en-US"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endParaRPr>
          </a:p>
        </p:txBody>
      </p:sp>
      <p:sp>
        <p:nvSpPr>
          <p:cNvPr id="7" name="Title 6">
            <a:extLst>
              <a:ext uri="{FF2B5EF4-FFF2-40B4-BE49-F238E27FC236}">
                <a16:creationId xmlns:a16="http://schemas.microsoft.com/office/drawing/2014/main" id="{10761C66-79D2-123E-92D1-55591D85A6EC}"/>
              </a:ext>
            </a:extLst>
          </p:cNvPr>
          <p:cNvSpPr txBox="1">
            <a:spLocks/>
          </p:cNvSpPr>
          <p:nvPr/>
        </p:nvSpPr>
        <p:spPr>
          <a:xfrm>
            <a:off x="251225" y="237833"/>
            <a:ext cx="9329504" cy="607201"/>
          </a:xfrm>
          <a:prstGeom prst="rect">
            <a:avLst/>
          </a:prstGeom>
        </p:spPr>
        <p:txBody>
          <a:bodyPr anchor="t">
            <a:normAutofit fontScale="85000" lnSpcReduction="10000"/>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pPr marL="0" marR="0" lvl="0" indent="0" algn="l" defTabSz="914324" rtl="0" eaLnBrk="1" fontAlgn="auto" latinLnBrk="0" hangingPunct="1">
              <a:lnSpc>
                <a:spcPct val="90000"/>
              </a:lnSpc>
              <a:spcBef>
                <a:spcPct val="0"/>
              </a:spcBef>
              <a:spcAft>
                <a:spcPts val="0"/>
              </a:spcAft>
              <a:buClrTx/>
              <a:buSzTx/>
              <a:buFontTx/>
              <a:buNone/>
              <a:tabLst/>
              <a:defRPr/>
            </a:pPr>
            <a:r>
              <a:rPr lang="en-US" altLang="ja-JP" b="1" u="sng" dirty="0">
                <a:solidFill>
                  <a:prstClr val="black"/>
                </a:solidFill>
                <a:latin typeface="Calibri" panose="020F0502020204030204"/>
                <a:ea typeface="游ゴシック Light" panose="020B0300000000000000" pitchFamily="34" charset="-128"/>
              </a:rPr>
              <a:t>5</a:t>
            </a:r>
            <a:r>
              <a:rPr kumimoji="1" lang="en-US" altLang="ja-JP"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rPr>
              <a:t>.2a – </a:t>
            </a:r>
            <a:r>
              <a:rPr lang="en-US" altLang="ja-JP" b="1" u="sng" dirty="0">
                <a:solidFill>
                  <a:prstClr val="black"/>
                </a:solidFill>
                <a:latin typeface="Calibri" panose="020F0502020204030204"/>
                <a:ea typeface="游ゴシック Light" panose="020B0300000000000000" pitchFamily="34" charset="-128"/>
              </a:rPr>
              <a:t>Mixed</a:t>
            </a:r>
            <a:r>
              <a:rPr kumimoji="1" lang="en-US" altLang="ja-JP"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rPr>
              <a:t> Effects Model for a 2-Stage Nested Design:</a:t>
            </a:r>
            <a:endParaRPr kumimoji="1" lang="ja-JP" altLang="en-US"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endParaRPr>
          </a:p>
        </p:txBody>
      </p:sp>
      <mc:AlternateContent xmlns:mc="http://schemas.openxmlformats.org/markup-compatibility/2006" xmlns:a14="http://schemas.microsoft.com/office/drawing/2010/main">
        <mc:Choice Requires="a14">
          <p:sp>
            <p:nvSpPr>
              <p:cNvPr id="8" name="Text Placeholder 5">
                <a:extLst>
                  <a:ext uri="{FF2B5EF4-FFF2-40B4-BE49-F238E27FC236}">
                    <a16:creationId xmlns:a16="http://schemas.microsoft.com/office/drawing/2014/main" id="{1B59A162-544E-4203-765A-35D38B26F246}"/>
                  </a:ext>
                </a:extLst>
              </p:cNvPr>
              <p:cNvSpPr txBox="1">
                <a:spLocks/>
              </p:cNvSpPr>
              <p:nvPr/>
            </p:nvSpPr>
            <p:spPr>
              <a:xfrm>
                <a:off x="3532495" y="1050534"/>
                <a:ext cx="5462638" cy="47495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14:m>
                  <m:oMathPara xmlns:m="http://schemas.openxmlformats.org/officeDocument/2006/math">
                    <m:oMathParaPr>
                      <m:jc m:val="centerGroup"/>
                    </m:oMathParaPr>
                    <m:oMath xmlns:m="http://schemas.openxmlformats.org/officeDocument/2006/math">
                      <m:sSub>
                        <m:sSubPr>
                          <m:ctrlPr>
                            <a:rPr kumimoji="1" lang="en-NZ" altLang="ja-JP" sz="2000" b="1" i="1" u="none" strike="noStrike" kern="1200" cap="none" spc="0" normalizeH="0" baseline="0" noProof="0" smtClean="0">
                              <a:ln>
                                <a:noFill/>
                              </a:ln>
                              <a:solidFill>
                                <a:srgbClr val="C00000"/>
                              </a:solidFill>
                              <a:effectLst/>
                              <a:uLnTx/>
                              <a:uFillTx/>
                              <a:latin typeface="Cambria Math" panose="02040503050406030204" pitchFamily="18" charset="0"/>
                              <a:cs typeface="+mn-cs"/>
                            </a:rPr>
                          </m:ctrlPr>
                        </m:sSubPr>
                        <m:e>
                          <m:r>
                            <a:rPr kumimoji="1" lang="en-NZ" altLang="ja-JP" sz="20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𝒀</m:t>
                          </m:r>
                        </m:e>
                        <m:sub>
                          <m:r>
                            <a:rPr kumimoji="1" lang="en-NZ" altLang="ja-JP" sz="20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𝒊𝒋𝒌</m:t>
                          </m:r>
                        </m:sub>
                      </m:sSub>
                      <m:r>
                        <a:rPr kumimoji="1" lang="en-NZ" altLang="ja-JP" sz="2000" b="1" i="1" u="none" strike="noStrike" kern="1200" cap="none" spc="0" normalizeH="0" baseline="0" noProof="0" smtClean="0">
                          <a:ln>
                            <a:noFill/>
                          </a:ln>
                          <a:solidFill>
                            <a:srgbClr val="C00000"/>
                          </a:solidFill>
                          <a:effectLst/>
                          <a:uLnTx/>
                          <a:uFillTx/>
                          <a:latin typeface="Cambria Math" panose="02040503050406030204" pitchFamily="18" charset="0"/>
                          <a:cs typeface="+mn-cs"/>
                        </a:rPr>
                        <m:t>   =     </m:t>
                      </m:r>
                      <m:r>
                        <a:rPr kumimoji="1" lang="en-NZ" altLang="ja-JP" sz="20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𝝁</m:t>
                      </m:r>
                      <m:r>
                        <a:rPr kumimoji="1" lang="en-NZ" altLang="ja-JP" sz="2000" b="1" i="1" u="none" strike="noStrike" kern="1200" cap="none" spc="0" normalizeH="0" baseline="0" noProof="0" smtClean="0">
                          <a:ln>
                            <a:noFill/>
                          </a:ln>
                          <a:solidFill>
                            <a:srgbClr val="C00000"/>
                          </a:solidFill>
                          <a:effectLst/>
                          <a:uLnTx/>
                          <a:uFillTx/>
                          <a:latin typeface="Cambria Math" panose="02040503050406030204" pitchFamily="18" charset="0"/>
                          <a:cs typeface="+mn-cs"/>
                        </a:rPr>
                        <m:t>  +   </m:t>
                      </m:r>
                      <m:sSub>
                        <m:sSubPr>
                          <m:ctrlPr>
                            <a:rPr kumimoji="1" lang="en-NZ" altLang="ja-JP" sz="2000" b="1" i="1" u="none" strike="noStrike" kern="1200" cap="none" spc="0" normalizeH="0" baseline="0" noProof="0" smtClean="0">
                              <a:ln>
                                <a:noFill/>
                              </a:ln>
                              <a:solidFill>
                                <a:srgbClr val="C00000"/>
                              </a:solidFill>
                              <a:effectLst/>
                              <a:uLnTx/>
                              <a:uFillTx/>
                              <a:latin typeface="Cambria Math" panose="02040503050406030204" pitchFamily="18" charset="0"/>
                              <a:cs typeface="+mn-cs"/>
                            </a:rPr>
                          </m:ctrlPr>
                        </m:sSubPr>
                        <m:e>
                          <m:r>
                            <a:rPr kumimoji="1" lang="en-NZ" altLang="ja-JP" sz="20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𝜶</m:t>
                          </m:r>
                        </m:e>
                        <m:sub>
                          <m:r>
                            <a:rPr kumimoji="1" lang="en-NZ" altLang="ja-JP" sz="20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𝒊</m:t>
                          </m:r>
                        </m:sub>
                      </m:sSub>
                      <m:r>
                        <a:rPr kumimoji="1" lang="en-NZ" altLang="ja-JP" sz="2000" b="1" i="1" u="none" strike="noStrike" kern="1200" cap="none" spc="0" normalizeH="0" baseline="0" noProof="0" smtClean="0">
                          <a:ln>
                            <a:noFill/>
                          </a:ln>
                          <a:solidFill>
                            <a:srgbClr val="C00000"/>
                          </a:solidFill>
                          <a:effectLst/>
                          <a:uLnTx/>
                          <a:uFillTx/>
                          <a:latin typeface="Cambria Math" panose="02040503050406030204" pitchFamily="18" charset="0"/>
                          <a:cs typeface="+mn-cs"/>
                        </a:rPr>
                        <m:t>  +   </m:t>
                      </m:r>
                      <m:sSub>
                        <m:sSubPr>
                          <m:ctrlPr>
                            <a:rPr kumimoji="1" lang="en-NZ" altLang="ja-JP" sz="2000" b="1" i="1" u="none" strike="noStrike" kern="1200" cap="none" spc="0" normalizeH="0" baseline="0" noProof="0" smtClean="0">
                              <a:ln>
                                <a:noFill/>
                              </a:ln>
                              <a:solidFill>
                                <a:srgbClr val="C00000"/>
                              </a:solidFill>
                              <a:effectLst/>
                              <a:uLnTx/>
                              <a:uFillTx/>
                              <a:latin typeface="Cambria Math" panose="02040503050406030204" pitchFamily="18" charset="0"/>
                              <a:cs typeface="+mn-cs"/>
                            </a:rPr>
                          </m:ctrlPr>
                        </m:sSubPr>
                        <m:e>
                          <m:r>
                            <a:rPr kumimoji="1" lang="en-NZ" altLang="ja-JP" sz="20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𝑩</m:t>
                          </m:r>
                        </m:e>
                        <m:sub>
                          <m:r>
                            <a:rPr kumimoji="1" lang="en-NZ" altLang="ja-JP" sz="20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𝒋</m:t>
                          </m:r>
                          <m:r>
                            <a:rPr kumimoji="1" lang="en-NZ" altLang="ja-JP" sz="2000" b="1" i="1" u="none" strike="noStrike" kern="1200" cap="none" spc="0" normalizeH="0" baseline="0" noProof="0" smtClean="0">
                              <a:ln>
                                <a:noFill/>
                              </a:ln>
                              <a:solidFill>
                                <a:srgbClr val="C00000"/>
                              </a:solidFill>
                              <a:effectLst/>
                              <a:uLnTx/>
                              <a:uFillTx/>
                              <a:latin typeface="Cambria Math" panose="02040503050406030204" pitchFamily="18" charset="0"/>
                              <a:cs typeface="+mn-cs"/>
                            </a:rPr>
                            <m:t>(</m:t>
                          </m:r>
                          <m:r>
                            <a:rPr kumimoji="1" lang="en-NZ" altLang="ja-JP" sz="20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𝒊</m:t>
                          </m:r>
                          <m:r>
                            <a:rPr kumimoji="1" lang="en-NZ" altLang="ja-JP" sz="2000" b="1" i="1" u="none" strike="noStrike" kern="1200" cap="none" spc="0" normalizeH="0" baseline="0" noProof="0" smtClean="0">
                              <a:ln>
                                <a:noFill/>
                              </a:ln>
                              <a:solidFill>
                                <a:srgbClr val="C00000"/>
                              </a:solidFill>
                              <a:effectLst/>
                              <a:uLnTx/>
                              <a:uFillTx/>
                              <a:latin typeface="Cambria Math" panose="02040503050406030204" pitchFamily="18" charset="0"/>
                              <a:cs typeface="+mn-cs"/>
                            </a:rPr>
                            <m:t>)</m:t>
                          </m:r>
                        </m:sub>
                      </m:sSub>
                      <m:r>
                        <a:rPr kumimoji="1" lang="en-NZ" altLang="ja-JP" sz="2000" b="1" i="1" u="none" strike="noStrike" kern="1200" cap="none" spc="0" normalizeH="0" baseline="0" noProof="0" smtClean="0">
                          <a:ln>
                            <a:noFill/>
                          </a:ln>
                          <a:solidFill>
                            <a:srgbClr val="C00000"/>
                          </a:solidFill>
                          <a:effectLst/>
                          <a:uLnTx/>
                          <a:uFillTx/>
                          <a:latin typeface="Cambria Math" panose="02040503050406030204" pitchFamily="18" charset="0"/>
                          <a:cs typeface="+mn-cs"/>
                        </a:rPr>
                        <m:t>  +   </m:t>
                      </m:r>
                      <m:sSub>
                        <m:sSubPr>
                          <m:ctrlPr>
                            <a:rPr kumimoji="1" lang="en-NZ" altLang="ja-JP" sz="2000" b="1" i="1" u="none" strike="noStrike" kern="1200" cap="none" spc="0" normalizeH="0" baseline="0" noProof="0" smtClean="0">
                              <a:ln>
                                <a:noFill/>
                              </a:ln>
                              <a:solidFill>
                                <a:srgbClr val="C00000"/>
                              </a:solidFill>
                              <a:effectLst/>
                              <a:uLnTx/>
                              <a:uFillTx/>
                              <a:latin typeface="Cambria Math" panose="02040503050406030204" pitchFamily="18" charset="0"/>
                              <a:cs typeface="+mn-cs"/>
                            </a:rPr>
                          </m:ctrlPr>
                        </m:sSubPr>
                        <m:e>
                          <m:r>
                            <a:rPr kumimoji="1" lang="en-NZ" altLang="ja-JP" sz="20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𝝐</m:t>
                          </m:r>
                        </m:e>
                        <m:sub>
                          <m:r>
                            <a:rPr kumimoji="1" lang="en-NZ" altLang="ja-JP" sz="20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𝒌</m:t>
                          </m:r>
                          <m:r>
                            <a:rPr kumimoji="1" lang="en-NZ" altLang="ja-JP" sz="2000" b="1" i="1" u="none" strike="noStrike" kern="1200" cap="none" spc="0" normalizeH="0" baseline="0" noProof="0" smtClean="0">
                              <a:ln>
                                <a:noFill/>
                              </a:ln>
                              <a:solidFill>
                                <a:srgbClr val="C00000"/>
                              </a:solidFill>
                              <a:effectLst/>
                              <a:uLnTx/>
                              <a:uFillTx/>
                              <a:latin typeface="Cambria Math" panose="02040503050406030204" pitchFamily="18" charset="0"/>
                              <a:cs typeface="+mn-cs"/>
                            </a:rPr>
                            <m:t>(</m:t>
                          </m:r>
                          <m:r>
                            <a:rPr kumimoji="1" lang="en-NZ" altLang="ja-JP" sz="20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𝒊𝒋</m:t>
                          </m:r>
                          <m:r>
                            <a:rPr kumimoji="1" lang="en-NZ" altLang="ja-JP" sz="2000" b="1" i="1" u="none" strike="noStrike" kern="1200" cap="none" spc="0" normalizeH="0" baseline="0" noProof="0" smtClean="0">
                              <a:ln>
                                <a:noFill/>
                              </a:ln>
                              <a:solidFill>
                                <a:srgbClr val="C00000"/>
                              </a:solidFill>
                              <a:effectLst/>
                              <a:uLnTx/>
                              <a:uFillTx/>
                              <a:latin typeface="Cambria Math" panose="02040503050406030204" pitchFamily="18" charset="0"/>
                              <a:cs typeface="+mn-cs"/>
                            </a:rPr>
                            <m:t>)</m:t>
                          </m:r>
                        </m:sub>
                      </m:sSub>
                    </m:oMath>
                  </m:oMathPara>
                </a14:m>
                <a:endParaRPr kumimoji="1" lang="en-NZ" altLang="ja-JP" sz="2000" b="1" i="0"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2000" b="1"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mc:Choice>
        <mc:Fallback xmlns="">
          <p:sp>
            <p:nvSpPr>
              <p:cNvPr id="8" name="Text Placeholder 5">
                <a:extLst>
                  <a:ext uri="{FF2B5EF4-FFF2-40B4-BE49-F238E27FC236}">
                    <a16:creationId xmlns:a16="http://schemas.microsoft.com/office/drawing/2014/main" id="{1B59A162-544E-4203-765A-35D38B26F246}"/>
                  </a:ext>
                </a:extLst>
              </p:cNvPr>
              <p:cNvSpPr txBox="1">
                <a:spLocks noRot="1" noChangeAspect="1" noMove="1" noResize="1" noEditPoints="1" noAdjustHandles="1" noChangeArrowheads="1" noChangeShapeType="1" noTextEdit="1"/>
              </p:cNvSpPr>
              <p:nvPr/>
            </p:nvSpPr>
            <p:spPr>
              <a:xfrm>
                <a:off x="3532495" y="1050534"/>
                <a:ext cx="5462638" cy="474953"/>
              </a:xfrm>
              <a:prstGeom prst="rect">
                <a:avLst/>
              </a:prstGeom>
              <a:blipFill>
                <a:blip r:embed="rId11"/>
                <a:stretch>
                  <a:fillRect b="-1282"/>
                </a:stretch>
              </a:blipFill>
            </p:spPr>
            <p:txBody>
              <a:bodyPr/>
              <a:lstStyle/>
              <a:p>
                <a:r>
                  <a:rPr lang="en-NZ">
                    <a:noFill/>
                  </a:rPr>
                  <a:t> </a:t>
                </a:r>
              </a:p>
            </p:txBody>
          </p:sp>
        </mc:Fallback>
      </mc:AlternateContent>
    </p:spTree>
    <p:extLst>
      <p:ext uri="{BB962C8B-B14F-4D97-AF65-F5344CB8AC3E}">
        <p14:creationId xmlns:p14="http://schemas.microsoft.com/office/powerpoint/2010/main" val="21263227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0"/>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6"/>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0"/>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7"/>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7"/>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8"/>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9"/>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6" grpId="0"/>
      <p:bldP spid="33" grpId="0"/>
      <p:bldP spid="40" grpId="0" animBg="1"/>
      <p:bldP spid="47" grpId="0"/>
      <p:bldP spid="38" grpId="0" animBg="1"/>
      <p:bldP spid="39"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2">
            <a:extLst>
              <a:ext uri="{FF2B5EF4-FFF2-40B4-BE49-F238E27FC236}">
                <a16:creationId xmlns:a16="http://schemas.microsoft.com/office/drawing/2014/main" id="{FCA3135E-12FE-4808-B68B-466D5B0EBCB1}"/>
              </a:ext>
            </a:extLst>
          </p:cNvPr>
          <p:cNvSpPr txBox="1">
            <a:spLocks/>
          </p:cNvSpPr>
          <p:nvPr/>
        </p:nvSpPr>
        <p:spPr>
          <a:xfrm>
            <a:off x="8775510" y="86139"/>
            <a:ext cx="3313855"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600" dirty="0">
                <a:solidFill>
                  <a:srgbClr val="DEDDDD"/>
                </a:solidFill>
                <a:latin typeface="Gidole"/>
                <a:ea typeface="游ゴシック" panose="020B0400000000000000" pitchFamily="34" charset="-128"/>
              </a:rPr>
              <a:t>5</a:t>
            </a:r>
            <a:r>
              <a:rPr kumimoji="1" lang="en-US" altLang="ja-JP"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rPr>
              <a:t>.2 – Two Stage Nested Design</a:t>
            </a:r>
            <a:endParaRPr kumimoji="1" lang="ja-JP" altLang="en-US"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endParaRPr>
          </a:p>
        </p:txBody>
      </p:sp>
      <p:sp>
        <p:nvSpPr>
          <p:cNvPr id="5" name="Title 6">
            <a:extLst>
              <a:ext uri="{FF2B5EF4-FFF2-40B4-BE49-F238E27FC236}">
                <a16:creationId xmlns:a16="http://schemas.microsoft.com/office/drawing/2014/main" id="{2BD5844C-C201-4666-ADB9-681CBA48DCC1}"/>
              </a:ext>
            </a:extLst>
          </p:cNvPr>
          <p:cNvSpPr txBox="1">
            <a:spLocks/>
          </p:cNvSpPr>
          <p:nvPr/>
        </p:nvSpPr>
        <p:spPr>
          <a:xfrm>
            <a:off x="251224" y="237833"/>
            <a:ext cx="9411391" cy="607201"/>
          </a:xfrm>
          <a:prstGeom prst="rect">
            <a:avLst/>
          </a:prstGeom>
        </p:spPr>
        <p:txBody>
          <a:bodyPr anchor="t">
            <a:normAutofit fontScale="85000" lnSpcReduction="10000"/>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pPr marL="0" marR="0" lvl="0" indent="0" algn="l" defTabSz="914324" rtl="0" eaLnBrk="1" fontAlgn="auto" latinLnBrk="0" hangingPunct="1">
              <a:lnSpc>
                <a:spcPct val="90000"/>
              </a:lnSpc>
              <a:spcBef>
                <a:spcPct val="0"/>
              </a:spcBef>
              <a:spcAft>
                <a:spcPts val="0"/>
              </a:spcAft>
              <a:buClrTx/>
              <a:buSzTx/>
              <a:buFontTx/>
              <a:buNone/>
              <a:tabLst/>
              <a:defRPr/>
            </a:pPr>
            <a:r>
              <a:rPr lang="en-US" altLang="ja-JP" b="1" u="sng" dirty="0">
                <a:solidFill>
                  <a:prstClr val="black"/>
                </a:solidFill>
                <a:latin typeface="Calibri" panose="020F0502020204030204"/>
                <a:ea typeface="游ゴシック Light" panose="020B0300000000000000" pitchFamily="34" charset="-128"/>
              </a:rPr>
              <a:t>5</a:t>
            </a:r>
            <a:r>
              <a:rPr kumimoji="1" lang="en-US" altLang="ja-JP"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rPr>
              <a:t>.2a – </a:t>
            </a:r>
            <a:r>
              <a:rPr lang="en-US" altLang="ja-JP" b="1" u="sng" dirty="0">
                <a:solidFill>
                  <a:prstClr val="black"/>
                </a:solidFill>
                <a:latin typeface="Calibri" panose="020F0502020204030204"/>
                <a:ea typeface="游ゴシック Light" panose="020B0300000000000000" pitchFamily="34" charset="-128"/>
              </a:rPr>
              <a:t>Mixed</a:t>
            </a:r>
            <a:r>
              <a:rPr kumimoji="1" lang="en-US" altLang="ja-JP"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rPr>
              <a:t> Effects Model for a 2-Stage Nested Design:</a:t>
            </a:r>
            <a:endParaRPr kumimoji="1" lang="ja-JP" altLang="en-US"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endParaRPr>
          </a:p>
        </p:txBody>
      </p:sp>
      <p:sp>
        <p:nvSpPr>
          <p:cNvPr id="10" name="Slide Number Placeholder 3">
            <a:extLst>
              <a:ext uri="{FF2B5EF4-FFF2-40B4-BE49-F238E27FC236}">
                <a16:creationId xmlns:a16="http://schemas.microsoft.com/office/drawing/2014/main" id="{B0C9041D-77F0-4656-90D4-0E84B7AC6B27}"/>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54AD89C-DF1E-4948-B597-5DD47B34A9CA}" type="slidenum">
              <a:rPr kumimoji="1" lang="ja-JP" altLang="en-US" sz="4000" b="0" i="0" u="none" strike="noStrike" kern="1200" cap="none" spc="0" normalizeH="0" baseline="0" noProof="0" smtClean="0">
                <a:ln>
                  <a:noFill/>
                </a:ln>
                <a:solidFill>
                  <a:srgbClr val="575454">
                    <a:lumMod val="20000"/>
                    <a:lumOff val="80000"/>
                  </a:srgbClr>
                </a:solidFill>
                <a:effectLst/>
                <a:uLnTx/>
                <a:uFillTx/>
                <a:latin typeface="Coo Hew"/>
                <a:ea typeface="游ゴシック" panose="020B0400000000000000"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1" lang="ja-JP" altLang="en-US" sz="4000" b="0" i="0" u="none" strike="noStrike" kern="1200" cap="none" spc="0" normalizeH="0" baseline="0" noProof="0" dirty="0">
              <a:ln>
                <a:noFill/>
              </a:ln>
              <a:solidFill>
                <a:srgbClr val="575454">
                  <a:lumMod val="20000"/>
                  <a:lumOff val="80000"/>
                </a:srgbClr>
              </a:solidFill>
              <a:effectLst/>
              <a:uLnTx/>
              <a:uFillTx/>
              <a:latin typeface="Coo Hew"/>
              <a:ea typeface="游ゴシック" panose="020B0400000000000000" pitchFamily="34" charset="-128"/>
              <a:cs typeface="+mn-cs"/>
            </a:endParaRPr>
          </a:p>
        </p:txBody>
      </p:sp>
      <p:sp>
        <p:nvSpPr>
          <p:cNvPr id="11" name="Text Placeholder 5">
            <a:extLst>
              <a:ext uri="{FF2B5EF4-FFF2-40B4-BE49-F238E27FC236}">
                <a16:creationId xmlns:a16="http://schemas.microsoft.com/office/drawing/2014/main" id="{C67FD996-886D-F16A-C1CE-1BD052717B7A}"/>
              </a:ext>
            </a:extLst>
          </p:cNvPr>
          <p:cNvSpPr txBox="1">
            <a:spLocks/>
          </p:cNvSpPr>
          <p:nvPr/>
        </p:nvSpPr>
        <p:spPr>
          <a:xfrm>
            <a:off x="312362" y="845034"/>
            <a:ext cx="11777003" cy="100949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lang="en-NZ" altLang="ja-JP" sz="1800" dirty="0">
                <a:solidFill>
                  <a:prstClr val="black"/>
                </a:solidFill>
                <a:latin typeface="Calibri" panose="020F0502020204030204"/>
                <a:ea typeface="游ゴシック" panose="020B0400000000000000" pitchFamily="34" charset="-128"/>
              </a:rPr>
              <a:t>Suppose we have a response variable </a:t>
            </a:r>
            <a:r>
              <a:rPr lang="en-NZ" altLang="ja-JP" sz="1800" b="1" i="1" dirty="0">
                <a:solidFill>
                  <a:prstClr val="black"/>
                </a:solidFill>
                <a:latin typeface="Calibri" panose="020F0502020204030204"/>
                <a:ea typeface="游ゴシック" panose="020B0400000000000000" pitchFamily="34" charset="-128"/>
              </a:rPr>
              <a:t>Y</a:t>
            </a:r>
            <a:r>
              <a:rPr lang="en-NZ" altLang="ja-JP" sz="1800" dirty="0">
                <a:solidFill>
                  <a:prstClr val="black"/>
                </a:solidFill>
                <a:latin typeface="Calibri" panose="020F0502020204030204"/>
                <a:ea typeface="游ゴシック" panose="020B0400000000000000" pitchFamily="34" charset="-128"/>
              </a:rPr>
              <a:t> which is modelled as a function of</a:t>
            </a:r>
          </a:p>
          <a:p>
            <a:pPr marL="971493" lvl="1" indent="-285750" algn="just">
              <a:lnSpc>
                <a:spcPct val="100000"/>
              </a:lnSpc>
              <a:spcBef>
                <a:spcPts val="0"/>
              </a:spcBef>
              <a:buFontTx/>
              <a:buChar char="-"/>
              <a:defRPr/>
            </a:pPr>
            <a:r>
              <a:rPr lang="en-NZ" altLang="ja-JP" sz="1800" dirty="0">
                <a:solidFill>
                  <a:prstClr val="black"/>
                </a:solidFill>
                <a:latin typeface="Calibri" panose="020F0502020204030204"/>
                <a:ea typeface="游ゴシック" panose="020B0400000000000000" pitchFamily="34" charset="-128"/>
              </a:rPr>
              <a:t>A factor </a:t>
            </a:r>
            <a:r>
              <a:rPr lang="en-NZ" altLang="ja-JP" sz="1800" b="1" i="1" dirty="0">
                <a:solidFill>
                  <a:prstClr val="black"/>
                </a:solidFill>
                <a:latin typeface="Calibri" panose="020F0502020204030204"/>
                <a:ea typeface="游ゴシック" panose="020B0400000000000000" pitchFamily="34" charset="-128"/>
              </a:rPr>
              <a:t>A</a:t>
            </a:r>
            <a:r>
              <a:rPr lang="en-NZ" altLang="ja-JP" sz="1800" dirty="0">
                <a:solidFill>
                  <a:prstClr val="black"/>
                </a:solidFill>
                <a:latin typeface="Calibri" panose="020F0502020204030204"/>
                <a:ea typeface="游ゴシック" panose="020B0400000000000000" pitchFamily="34" charset="-128"/>
              </a:rPr>
              <a:t> with </a:t>
            </a:r>
            <a:r>
              <a:rPr lang="en-NZ" altLang="ja-JP" sz="1800" b="1" i="1" dirty="0" err="1">
                <a:solidFill>
                  <a:prstClr val="black"/>
                </a:solidFill>
                <a:latin typeface="Calibri" panose="020F0502020204030204"/>
                <a:ea typeface="游ゴシック" panose="020B0400000000000000" pitchFamily="34" charset="-128"/>
              </a:rPr>
              <a:t>i</a:t>
            </a:r>
            <a:r>
              <a:rPr lang="en-NZ" altLang="ja-JP" sz="1800" b="1" i="1" dirty="0">
                <a:solidFill>
                  <a:prstClr val="black"/>
                </a:solidFill>
                <a:latin typeface="Calibri" panose="020F0502020204030204"/>
                <a:ea typeface="游ゴシック" panose="020B0400000000000000" pitchFamily="34" charset="-128"/>
              </a:rPr>
              <a:t> = 1, … , a </a:t>
            </a:r>
            <a:r>
              <a:rPr lang="en-NZ" altLang="ja-JP" sz="1800" dirty="0">
                <a:solidFill>
                  <a:prstClr val="black"/>
                </a:solidFill>
                <a:latin typeface="Calibri" panose="020F0502020204030204"/>
                <a:ea typeface="游ゴシック" panose="020B0400000000000000" pitchFamily="34" charset="-128"/>
              </a:rPr>
              <a:t>levels </a:t>
            </a:r>
          </a:p>
          <a:p>
            <a:pPr marL="971493" lvl="1" indent="-285750" algn="just">
              <a:lnSpc>
                <a:spcPct val="100000"/>
              </a:lnSpc>
              <a:spcBef>
                <a:spcPts val="0"/>
              </a:spcBef>
              <a:buFontTx/>
              <a:buChar char="-"/>
              <a:defRPr/>
            </a:pPr>
            <a:r>
              <a:rPr lang="en-NZ" altLang="ja-JP" sz="1800" dirty="0">
                <a:solidFill>
                  <a:prstClr val="black"/>
                </a:solidFill>
                <a:latin typeface="Calibri" panose="020F0502020204030204"/>
                <a:ea typeface="游ゴシック" panose="020B0400000000000000" pitchFamily="34" charset="-128"/>
              </a:rPr>
              <a:t>A factor </a:t>
            </a:r>
            <a:r>
              <a:rPr lang="en-NZ" altLang="ja-JP" sz="1800" b="1" i="1" dirty="0">
                <a:solidFill>
                  <a:prstClr val="black"/>
                </a:solidFill>
                <a:latin typeface="Calibri" panose="020F0502020204030204"/>
                <a:ea typeface="游ゴシック" panose="020B0400000000000000" pitchFamily="34" charset="-128"/>
              </a:rPr>
              <a:t>B</a:t>
            </a:r>
            <a:r>
              <a:rPr lang="en-NZ" altLang="ja-JP" sz="1800" dirty="0">
                <a:solidFill>
                  <a:prstClr val="black"/>
                </a:solidFill>
                <a:latin typeface="Calibri" panose="020F0502020204030204"/>
                <a:ea typeface="游ゴシック" panose="020B0400000000000000" pitchFamily="34" charset="-128"/>
              </a:rPr>
              <a:t> (with </a:t>
            </a:r>
            <a:r>
              <a:rPr lang="en-NZ" altLang="ja-JP" sz="1800" b="1" i="1" dirty="0">
                <a:solidFill>
                  <a:prstClr val="black"/>
                </a:solidFill>
                <a:latin typeface="Calibri" panose="020F0502020204030204"/>
                <a:ea typeface="游ゴシック" panose="020B0400000000000000" pitchFamily="34" charset="-128"/>
              </a:rPr>
              <a:t>b </a:t>
            </a:r>
            <a:r>
              <a:rPr lang="en-NZ" altLang="ja-JP" sz="1800" dirty="0">
                <a:solidFill>
                  <a:prstClr val="black"/>
                </a:solidFill>
                <a:latin typeface="Calibri" panose="020F0502020204030204"/>
                <a:ea typeface="游ゴシック" panose="020B0400000000000000" pitchFamily="34" charset="-128"/>
              </a:rPr>
              <a:t>randomly selected levels) nested in factor </a:t>
            </a:r>
            <a:r>
              <a:rPr lang="en-NZ" altLang="ja-JP" sz="1800" b="1" i="1" dirty="0">
                <a:solidFill>
                  <a:prstClr val="black"/>
                </a:solidFill>
                <a:latin typeface="Calibri" panose="020F0502020204030204"/>
                <a:ea typeface="游ゴシック" panose="020B0400000000000000" pitchFamily="34" charset="-128"/>
              </a:rPr>
              <a:t>A</a:t>
            </a:r>
          </a:p>
        </p:txBody>
      </p:sp>
      <p:sp>
        <p:nvSpPr>
          <p:cNvPr id="17" name="Text Placeholder 5">
            <a:extLst>
              <a:ext uri="{FF2B5EF4-FFF2-40B4-BE49-F238E27FC236}">
                <a16:creationId xmlns:a16="http://schemas.microsoft.com/office/drawing/2014/main" id="{DB67ABBD-EBE5-54A6-7329-9352FBDFC6FD}"/>
              </a:ext>
            </a:extLst>
          </p:cNvPr>
          <p:cNvSpPr txBox="1">
            <a:spLocks/>
          </p:cNvSpPr>
          <p:nvPr/>
        </p:nvSpPr>
        <p:spPr>
          <a:xfrm>
            <a:off x="312362" y="2025830"/>
            <a:ext cx="11777003" cy="41301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lang="en-NZ" altLang="ja-JP" sz="1800" dirty="0">
                <a:solidFill>
                  <a:prstClr val="black"/>
                </a:solidFill>
                <a:latin typeface="Calibri" panose="020F0502020204030204"/>
                <a:ea typeface="游ゴシック" panose="020B0400000000000000" pitchFamily="34" charset="-128"/>
              </a:rPr>
              <a:t>We take a balanced sample of </a:t>
            </a:r>
            <a:r>
              <a:rPr lang="en-NZ" altLang="ja-JP" sz="1800" b="1" i="1" dirty="0">
                <a:solidFill>
                  <a:prstClr val="black"/>
                </a:solidFill>
                <a:latin typeface="Calibri" panose="020F0502020204030204"/>
                <a:ea typeface="游ゴシック" panose="020B0400000000000000" pitchFamily="34" charset="-128"/>
              </a:rPr>
              <a:t>N</a:t>
            </a:r>
            <a:r>
              <a:rPr lang="en-NZ" altLang="ja-JP" sz="1800" dirty="0">
                <a:solidFill>
                  <a:prstClr val="black"/>
                </a:solidFill>
                <a:latin typeface="Calibri" panose="020F0502020204030204"/>
                <a:ea typeface="游ゴシック" panose="020B0400000000000000" pitchFamily="34" charset="-128"/>
              </a:rPr>
              <a:t> observations of </a:t>
            </a:r>
            <a:r>
              <a:rPr lang="en-NZ" altLang="ja-JP" sz="1800" b="1" i="1" dirty="0">
                <a:solidFill>
                  <a:prstClr val="black"/>
                </a:solidFill>
                <a:latin typeface="Calibri" panose="020F0502020204030204"/>
                <a:ea typeface="游ゴシック" panose="020B0400000000000000" pitchFamily="34" charset="-128"/>
              </a:rPr>
              <a:t>Y</a:t>
            </a:r>
            <a:r>
              <a:rPr lang="en-NZ" altLang="ja-JP" sz="1800" dirty="0">
                <a:solidFill>
                  <a:prstClr val="black"/>
                </a:solidFill>
                <a:latin typeface="Calibri" panose="020F0502020204030204"/>
                <a:ea typeface="游ゴシック" panose="020B0400000000000000" pitchFamily="34" charset="-128"/>
              </a:rPr>
              <a:t> with </a:t>
            </a:r>
            <a:r>
              <a:rPr lang="en-NZ" altLang="ja-JP" sz="1800" b="1" i="1" dirty="0">
                <a:solidFill>
                  <a:prstClr val="black"/>
                </a:solidFill>
                <a:latin typeface="Calibri" panose="020F0502020204030204"/>
                <a:ea typeface="游ゴシック" panose="020B0400000000000000" pitchFamily="34" charset="-128"/>
              </a:rPr>
              <a:t>n</a:t>
            </a:r>
            <a:r>
              <a:rPr lang="en-NZ" altLang="ja-JP" sz="1800" dirty="0">
                <a:solidFill>
                  <a:prstClr val="black"/>
                </a:solidFill>
                <a:latin typeface="Calibri" panose="020F0502020204030204"/>
                <a:ea typeface="游ゴシック" panose="020B0400000000000000" pitchFamily="34" charset="-128"/>
              </a:rPr>
              <a:t> observations in each cell. The </a:t>
            </a:r>
            <a:r>
              <a:rPr lang="en-NZ" altLang="ja-JP" sz="1800" b="1" i="1" dirty="0">
                <a:solidFill>
                  <a:prstClr val="black"/>
                </a:solidFill>
                <a:latin typeface="Calibri" panose="020F0502020204030204"/>
                <a:ea typeface="游ゴシック" panose="020B0400000000000000" pitchFamily="34" charset="-128"/>
              </a:rPr>
              <a:t>k</a:t>
            </a:r>
            <a:r>
              <a:rPr lang="en-NZ" altLang="ja-JP" sz="1800" b="1" i="1" baseline="30000" dirty="0">
                <a:solidFill>
                  <a:prstClr val="black"/>
                </a:solidFill>
                <a:latin typeface="Calibri" panose="020F0502020204030204"/>
                <a:ea typeface="游ゴシック" panose="020B0400000000000000" pitchFamily="34" charset="-128"/>
              </a:rPr>
              <a:t>th</a:t>
            </a:r>
            <a:r>
              <a:rPr lang="en-NZ" altLang="ja-JP" sz="1800" b="1" i="1" dirty="0">
                <a:solidFill>
                  <a:prstClr val="black"/>
                </a:solidFill>
                <a:latin typeface="Calibri" panose="020F0502020204030204"/>
                <a:ea typeface="游ゴシック" panose="020B0400000000000000" pitchFamily="34" charset="-128"/>
              </a:rPr>
              <a:t> </a:t>
            </a:r>
            <a:r>
              <a:rPr lang="en-NZ" altLang="ja-JP" sz="1800" dirty="0">
                <a:solidFill>
                  <a:prstClr val="black"/>
                </a:solidFill>
                <a:latin typeface="Calibri" panose="020F0502020204030204"/>
                <a:ea typeface="游ゴシック" panose="020B0400000000000000" pitchFamily="34" charset="-128"/>
              </a:rPr>
              <a:t>element in cell </a:t>
            </a:r>
            <a:r>
              <a:rPr lang="en-NZ" altLang="ja-JP" sz="1800" b="1" i="1" dirty="0">
                <a:solidFill>
                  <a:prstClr val="black"/>
                </a:solidFill>
                <a:latin typeface="Calibri" panose="020F0502020204030204"/>
                <a:ea typeface="游ゴシック" panose="020B0400000000000000" pitchFamily="34" charset="-128"/>
              </a:rPr>
              <a:t>(</a:t>
            </a:r>
            <a:r>
              <a:rPr lang="en-NZ" altLang="ja-JP" sz="1800" b="1" i="1" dirty="0" err="1">
                <a:solidFill>
                  <a:prstClr val="black"/>
                </a:solidFill>
                <a:latin typeface="Calibri" panose="020F0502020204030204"/>
                <a:ea typeface="游ゴシック" panose="020B0400000000000000" pitchFamily="34" charset="-128"/>
              </a:rPr>
              <a:t>i,j</a:t>
            </a:r>
            <a:r>
              <a:rPr lang="en-NZ" altLang="ja-JP" sz="1800" b="1" i="1" dirty="0">
                <a:solidFill>
                  <a:prstClr val="black"/>
                </a:solidFill>
                <a:latin typeface="Calibri" panose="020F0502020204030204"/>
                <a:ea typeface="游ゴシック" panose="020B0400000000000000" pitchFamily="34" charset="-128"/>
              </a:rPr>
              <a:t>)</a:t>
            </a:r>
            <a:r>
              <a:rPr lang="en-NZ" altLang="ja-JP" sz="1800" dirty="0">
                <a:solidFill>
                  <a:prstClr val="black"/>
                </a:solidFill>
                <a:latin typeface="Calibri" panose="020F0502020204030204"/>
                <a:ea typeface="游ゴシック" panose="020B0400000000000000" pitchFamily="34" charset="-128"/>
              </a:rPr>
              <a:t> is modelled as </a:t>
            </a:r>
          </a:p>
        </p:txBody>
      </p:sp>
      <mc:AlternateContent xmlns:mc="http://schemas.openxmlformats.org/markup-compatibility/2006" xmlns:a14="http://schemas.microsoft.com/office/drawing/2010/main">
        <mc:Choice Requires="a14">
          <p:sp>
            <p:nvSpPr>
              <p:cNvPr id="18" name="Text Placeholder 5">
                <a:extLst>
                  <a:ext uri="{FF2B5EF4-FFF2-40B4-BE49-F238E27FC236}">
                    <a16:creationId xmlns:a16="http://schemas.microsoft.com/office/drawing/2014/main" id="{0CEEAE7C-8B5C-49C1-DECF-ABDEC6F5C6BE}"/>
                  </a:ext>
                </a:extLst>
              </p:cNvPr>
              <p:cNvSpPr txBox="1">
                <a:spLocks/>
              </p:cNvSpPr>
              <p:nvPr/>
            </p:nvSpPr>
            <p:spPr>
              <a:xfrm>
                <a:off x="3364682" y="2457625"/>
                <a:ext cx="5462638" cy="47495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14:m>
                  <m:oMathPara xmlns:m="http://schemas.openxmlformats.org/officeDocument/2006/math">
                    <m:oMathParaPr>
                      <m:jc m:val="centerGroup"/>
                    </m:oMathParaPr>
                    <m:oMath xmlns:m="http://schemas.openxmlformats.org/officeDocument/2006/math">
                      <m:sSub>
                        <m:sSubPr>
                          <m:ctrlP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ctrlPr>
                        </m:sSubPr>
                        <m:e>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𝒀</m:t>
                          </m:r>
                        </m:e>
                        <m:sub>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𝒊𝒋𝒌</m:t>
                          </m:r>
                        </m:sub>
                      </m:sSub>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   =     </m:t>
                      </m:r>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𝝁</m:t>
                      </m:r>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  +   </m:t>
                      </m:r>
                      <m:sSub>
                        <m:sSubPr>
                          <m:ctrlP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ctrlPr>
                        </m:sSubPr>
                        <m:e>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𝜶</m:t>
                          </m:r>
                        </m:e>
                        <m:sub>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𝒊</m:t>
                          </m:r>
                        </m:sub>
                      </m:sSub>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  +   </m:t>
                      </m:r>
                      <m:sSub>
                        <m:sSubPr>
                          <m:ctrlP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ctrlPr>
                        </m:sSubPr>
                        <m:e>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𝑩</m:t>
                          </m:r>
                        </m:e>
                        <m:sub>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𝒋</m:t>
                          </m:r>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m:t>
                          </m:r>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𝒊</m:t>
                          </m:r>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m:t>
                          </m:r>
                        </m:sub>
                      </m:sSub>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  +   </m:t>
                      </m:r>
                      <m:sSub>
                        <m:sSubPr>
                          <m:ctrlP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ctrlPr>
                        </m:sSubPr>
                        <m:e>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𝝐</m:t>
                          </m:r>
                        </m:e>
                        <m:sub>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𝒌</m:t>
                          </m:r>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m:t>
                          </m:r>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𝒊𝒋</m:t>
                          </m:r>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m:t>
                          </m:r>
                        </m:sub>
                      </m:sSub>
                    </m:oMath>
                  </m:oMathPara>
                </a14:m>
                <a:endParaRPr kumimoji="1" lang="en-NZ" altLang="ja-JP" sz="1800" b="1" i="0"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800" b="1"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mc:Choice>
        <mc:Fallback xmlns="">
          <p:sp>
            <p:nvSpPr>
              <p:cNvPr id="18" name="Text Placeholder 5">
                <a:extLst>
                  <a:ext uri="{FF2B5EF4-FFF2-40B4-BE49-F238E27FC236}">
                    <a16:creationId xmlns:a16="http://schemas.microsoft.com/office/drawing/2014/main" id="{0CEEAE7C-8B5C-49C1-DECF-ABDEC6F5C6BE}"/>
                  </a:ext>
                </a:extLst>
              </p:cNvPr>
              <p:cNvSpPr txBox="1">
                <a:spLocks noRot="1" noChangeAspect="1" noMove="1" noResize="1" noEditPoints="1" noAdjustHandles="1" noChangeArrowheads="1" noChangeShapeType="1" noTextEdit="1"/>
              </p:cNvSpPr>
              <p:nvPr/>
            </p:nvSpPr>
            <p:spPr>
              <a:xfrm>
                <a:off x="3364682" y="2457625"/>
                <a:ext cx="5462638" cy="474953"/>
              </a:xfrm>
              <a:prstGeom prst="rect">
                <a:avLst/>
              </a:prstGeom>
              <a:blipFill>
                <a:blip r:embed="rId2"/>
                <a:stretch>
                  <a:fillRect/>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20" name="Text Placeholder 5">
                <a:extLst>
                  <a:ext uri="{FF2B5EF4-FFF2-40B4-BE49-F238E27FC236}">
                    <a16:creationId xmlns:a16="http://schemas.microsoft.com/office/drawing/2014/main" id="{91689025-3833-257B-1DD1-73CCD6DF11F5}"/>
                  </a:ext>
                </a:extLst>
              </p:cNvPr>
              <p:cNvSpPr txBox="1">
                <a:spLocks/>
              </p:cNvSpPr>
              <p:nvPr/>
            </p:nvSpPr>
            <p:spPr>
              <a:xfrm>
                <a:off x="530716" y="2952184"/>
                <a:ext cx="4867734" cy="1318675"/>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l-GR" altLang="ja-JP" sz="16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μ</a:t>
                </a:r>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is the population mean</a:t>
                </a:r>
                <a:endParaRPr kumimoji="1" lang="en-NZ" altLang="ja-JP" sz="16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14:m>
                  <m:oMath xmlns:m="http://schemas.openxmlformats.org/officeDocument/2006/math">
                    <m:sSub>
                      <m:sSubPr>
                        <m:ctrl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𝜶</m:t>
                        </m:r>
                      </m:e>
                      <m:sub>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𝒊</m:t>
                        </m:r>
                      </m:sub>
                    </m:sSub>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sSub>
                      <m:sSubPr>
                        <m:ctrl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𝝁</m:t>
                        </m:r>
                      </m:e>
                      <m:sub>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𝒊</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sub>
                    </m:sSub>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 −</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𝝁</m:t>
                    </m:r>
                  </m:oMath>
                </a14:m>
                <a:r>
                  <a:rPr kumimoji="1" lang="en-NZ" altLang="ja-JP" sz="16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a:t>
                </a:r>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is the effect of the </a:t>
                </a:r>
                <a:r>
                  <a:rPr kumimoji="1" lang="en-NZ" altLang="ja-JP" sz="1600" b="1" i="1" u="none" strike="noStrike" kern="1200" cap="none" spc="0" normalizeH="0" baseline="0" noProof="0" dirty="0" err="1">
                    <a:ln>
                      <a:noFill/>
                    </a:ln>
                    <a:solidFill>
                      <a:prstClr val="black"/>
                    </a:solidFill>
                    <a:effectLst/>
                    <a:uLnTx/>
                    <a:uFillTx/>
                    <a:latin typeface="Calibri" panose="020F0502020204030204"/>
                    <a:ea typeface="游ゴシック" panose="020B0400000000000000" pitchFamily="34" charset="-128"/>
                    <a:cs typeface="+mn-cs"/>
                  </a:rPr>
                  <a:t>i</a:t>
                </a:r>
                <a:r>
                  <a:rPr kumimoji="1" lang="en-NZ" altLang="ja-JP" sz="1600" b="1" i="1" u="none" strike="noStrike" kern="1200" cap="none" spc="0" normalizeH="0" baseline="30000" noProof="0" dirty="0" err="1">
                    <a:ln>
                      <a:noFill/>
                    </a:ln>
                    <a:solidFill>
                      <a:prstClr val="black"/>
                    </a:solidFill>
                    <a:effectLst/>
                    <a:uLnTx/>
                    <a:uFillTx/>
                    <a:latin typeface="Calibri" panose="020F0502020204030204"/>
                    <a:ea typeface="游ゴシック" panose="020B0400000000000000" pitchFamily="34" charset="-128"/>
                    <a:cs typeface="+mn-cs"/>
                  </a:rPr>
                  <a:t>th</a:t>
                </a:r>
                <a:r>
                  <a:rPr kumimoji="1" lang="en-NZ" altLang="ja-JP" sz="1600" b="0" i="1" u="none" strike="noStrike" kern="1200" cap="none" spc="0" normalizeH="0" baseline="-25000" noProof="0" dirty="0">
                    <a:ln>
                      <a:noFill/>
                    </a:ln>
                    <a:solidFill>
                      <a:prstClr val="black"/>
                    </a:solidFill>
                    <a:effectLst/>
                    <a:uLnTx/>
                    <a:uFillTx/>
                    <a:latin typeface="Calibri" panose="020F0502020204030204"/>
                    <a:ea typeface="游ゴシック" panose="020B0400000000000000" pitchFamily="34" charset="-128"/>
                    <a:cs typeface="+mn-cs"/>
                  </a:rPr>
                  <a:t> </a:t>
                </a:r>
                <a:r>
                  <a:rPr kumimoji="1" lang="en-NZ" altLang="ja-JP" sz="1600" b="0"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a:t>
                </a:r>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level of factor </a:t>
                </a:r>
                <a:r>
                  <a:rPr kumimoji="1" lang="en-NZ" altLang="ja-JP" sz="16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a:t>
                </a:r>
              </a:p>
              <a:p>
                <a:pPr lvl="0" algn="just">
                  <a:lnSpc>
                    <a:spcPct val="100000"/>
                  </a:lnSpc>
                  <a:defRPr/>
                </a:pPr>
                <a14:m>
                  <m:oMathPara xmlns:m="http://schemas.openxmlformats.org/officeDocument/2006/math">
                    <m:oMathParaPr>
                      <m:jc m:val="left"/>
                    </m:oMathParaPr>
                    <m:oMath xmlns:m="http://schemas.openxmlformats.org/officeDocument/2006/math">
                      <m:sSub>
                        <m:sSubPr>
                          <m:ctrl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𝑩</m:t>
                          </m:r>
                        </m:e>
                        <m:sub>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𝒋</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𝒊</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sub>
                      </m:sSub>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 ~ </m:t>
                      </m:r>
                      <m:r>
                        <a:rPr lang="en-NZ" altLang="ja-JP" sz="1600" b="1" i="1">
                          <a:solidFill>
                            <a:prstClr val="black"/>
                          </a:solidFill>
                          <a:latin typeface="Cambria Math" panose="02040503050406030204" pitchFamily="18" charset="0"/>
                        </a:rPr>
                        <m:t>𝑵</m:t>
                      </m:r>
                      <m:d>
                        <m:dPr>
                          <m:ctrlPr>
                            <a:rPr lang="en-NZ" altLang="ja-JP" sz="1600" b="1" i="1">
                              <a:solidFill>
                                <a:prstClr val="black"/>
                              </a:solidFill>
                              <a:latin typeface="Cambria Math" panose="02040503050406030204" pitchFamily="18" charset="0"/>
                            </a:rPr>
                          </m:ctrlPr>
                        </m:dPr>
                        <m:e>
                          <m:r>
                            <a:rPr lang="en-NZ" altLang="ja-JP" sz="1600" b="1" i="1">
                              <a:solidFill>
                                <a:prstClr val="black"/>
                              </a:solidFill>
                              <a:latin typeface="Cambria Math" panose="02040503050406030204" pitchFamily="18" charset="0"/>
                            </a:rPr>
                            <m:t>𝟎</m:t>
                          </m:r>
                          <m:r>
                            <a:rPr lang="en-NZ" altLang="ja-JP" sz="1600" b="1" i="1">
                              <a:solidFill>
                                <a:prstClr val="black"/>
                              </a:solidFill>
                              <a:latin typeface="Cambria Math" panose="02040503050406030204" pitchFamily="18" charset="0"/>
                            </a:rPr>
                            <m:t>, </m:t>
                          </m:r>
                          <m:sSubSup>
                            <m:sSubSupPr>
                              <m:ctrlPr>
                                <a:rPr lang="en-NZ" altLang="ja-JP" sz="1600" b="1" i="1" smtClean="0">
                                  <a:solidFill>
                                    <a:prstClr val="black"/>
                                  </a:solidFill>
                                  <a:latin typeface="Cambria Math" panose="02040503050406030204" pitchFamily="18" charset="0"/>
                                </a:rPr>
                              </m:ctrlPr>
                            </m:sSubSupPr>
                            <m:e>
                              <m:r>
                                <a:rPr lang="en-NZ" altLang="ja-JP" sz="1600" b="1" i="1">
                                  <a:solidFill>
                                    <a:prstClr val="black"/>
                                  </a:solidFill>
                                  <a:latin typeface="Cambria Math" panose="02040503050406030204" pitchFamily="18" charset="0"/>
                                </a:rPr>
                                <m:t>𝝈</m:t>
                              </m:r>
                            </m:e>
                            <m:sub>
                              <m:r>
                                <a:rPr lang="en-NZ" altLang="ja-JP" sz="1600" b="1" i="1" smtClean="0">
                                  <a:solidFill>
                                    <a:prstClr val="black"/>
                                  </a:solidFill>
                                  <a:latin typeface="Cambria Math" panose="02040503050406030204" pitchFamily="18" charset="0"/>
                                </a:rPr>
                                <m:t>𝑩</m:t>
                              </m:r>
                            </m:sub>
                            <m:sup>
                              <m:r>
                                <a:rPr lang="en-NZ" altLang="ja-JP" sz="1600" b="1" i="1">
                                  <a:solidFill>
                                    <a:prstClr val="black"/>
                                  </a:solidFill>
                                  <a:latin typeface="Cambria Math" panose="02040503050406030204" pitchFamily="18" charset="0"/>
                                </a:rPr>
                                <m:t>𝟐</m:t>
                              </m:r>
                            </m:sup>
                          </m:sSubSup>
                        </m:e>
                      </m:d>
                    </m:oMath>
                  </m:oMathPara>
                </a14:m>
                <a:endPar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14:m>
                  <m:oMathPara xmlns:m="http://schemas.openxmlformats.org/officeDocument/2006/math">
                    <m:oMathParaPr>
                      <m:jc m:val="left"/>
                    </m:oMathParaPr>
                    <m:oMath xmlns:m="http://schemas.openxmlformats.org/officeDocument/2006/math">
                      <m:sSub>
                        <m:sSubPr>
                          <m:ctrlP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𝝐</m:t>
                          </m:r>
                        </m:e>
                        <m:sub>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𝒌</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𝒊𝒋</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sub>
                      </m:sSub>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 ~ </m:t>
                      </m:r>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𝑵</m:t>
                      </m:r>
                      <m:d>
                        <m:dPr>
                          <m:ctrlP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ctrlPr>
                        </m:dPr>
                        <m:e>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𝟎</m:t>
                          </m:r>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 </m:t>
                          </m:r>
                          <m:sSup>
                            <m:sSupPr>
                              <m:ctrlP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ctrlPr>
                            </m:sSupPr>
                            <m:e>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𝝈</m:t>
                              </m:r>
                            </m:e>
                            <m:sup>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𝟐</m:t>
                              </m:r>
                            </m:sup>
                          </m:sSup>
                        </m:e>
                      </m:d>
                    </m:oMath>
                  </m:oMathPara>
                </a14:m>
                <a:endParaRPr kumimoji="1" lang="en-NZ" altLang="ja-JP" sz="1600" b="0"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mc:Choice>
        <mc:Fallback xmlns="">
          <p:sp>
            <p:nvSpPr>
              <p:cNvPr id="20" name="Text Placeholder 5">
                <a:extLst>
                  <a:ext uri="{FF2B5EF4-FFF2-40B4-BE49-F238E27FC236}">
                    <a16:creationId xmlns:a16="http://schemas.microsoft.com/office/drawing/2014/main" id="{91689025-3833-257B-1DD1-73CCD6DF11F5}"/>
                  </a:ext>
                </a:extLst>
              </p:cNvPr>
              <p:cNvSpPr txBox="1">
                <a:spLocks noRot="1" noChangeAspect="1" noMove="1" noResize="1" noEditPoints="1" noAdjustHandles="1" noChangeArrowheads="1" noChangeShapeType="1" noTextEdit="1"/>
              </p:cNvSpPr>
              <p:nvPr/>
            </p:nvSpPr>
            <p:spPr>
              <a:xfrm>
                <a:off x="530716" y="2952184"/>
                <a:ext cx="4867734" cy="1318675"/>
              </a:xfrm>
              <a:prstGeom prst="rect">
                <a:avLst/>
              </a:prstGeom>
              <a:blipFill>
                <a:blip r:embed="rId3"/>
                <a:stretch>
                  <a:fillRect l="-626" t="-1382"/>
                </a:stretch>
              </a:blipFill>
            </p:spPr>
            <p:txBody>
              <a:bodyPr/>
              <a:lstStyle/>
              <a:p>
                <a:r>
                  <a:rPr lang="en-NZ">
                    <a:noFill/>
                  </a:rPr>
                  <a:t> </a:t>
                </a:r>
              </a:p>
            </p:txBody>
          </p:sp>
        </mc:Fallback>
      </mc:AlternateContent>
      <p:sp>
        <p:nvSpPr>
          <p:cNvPr id="21" name="Text Placeholder 5">
            <a:extLst>
              <a:ext uri="{FF2B5EF4-FFF2-40B4-BE49-F238E27FC236}">
                <a16:creationId xmlns:a16="http://schemas.microsoft.com/office/drawing/2014/main" id="{2A3DBE85-D442-263A-265C-268BCEDF6E09}"/>
              </a:ext>
            </a:extLst>
          </p:cNvPr>
          <p:cNvSpPr txBox="1">
            <a:spLocks/>
          </p:cNvSpPr>
          <p:nvPr/>
        </p:nvSpPr>
        <p:spPr>
          <a:xfrm>
            <a:off x="5849639" y="2993383"/>
            <a:ext cx="4579200" cy="44493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We also have the usual constraint:</a:t>
            </a:r>
            <a:endParaRPr kumimoji="1" lang="en-NZ" altLang="ja-JP" sz="16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a:t>
            </a: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600" b="0"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mc:AlternateContent xmlns:mc="http://schemas.openxmlformats.org/markup-compatibility/2006" xmlns:a14="http://schemas.microsoft.com/office/drawing/2010/main">
        <mc:Choice Requires="a14">
          <p:sp>
            <p:nvSpPr>
              <p:cNvPr id="22" name="Text Placeholder 5">
                <a:extLst>
                  <a:ext uri="{FF2B5EF4-FFF2-40B4-BE49-F238E27FC236}">
                    <a16:creationId xmlns:a16="http://schemas.microsoft.com/office/drawing/2014/main" id="{5D727490-76E6-4F93-6BCD-054E1FDB3D14}"/>
                  </a:ext>
                </a:extLst>
              </p:cNvPr>
              <p:cNvSpPr txBox="1">
                <a:spLocks/>
              </p:cNvSpPr>
              <p:nvPr/>
            </p:nvSpPr>
            <p:spPr>
              <a:xfrm>
                <a:off x="5849639" y="3290833"/>
                <a:ext cx="1405094" cy="44493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14:m>
                  <m:oMath xmlns:m="http://schemas.openxmlformats.org/officeDocument/2006/math">
                    <m:nary>
                      <m:naryPr>
                        <m:chr m:val="∑"/>
                        <m:ctrlP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ctrlPr>
                      </m:naryPr>
                      <m:sub>
                        <m:r>
                          <m:rPr>
                            <m:brk m:alnAt="23"/>
                          </m:rP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𝒊</m:t>
                        </m:r>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m:t>
                        </m:r>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𝟏</m:t>
                        </m:r>
                      </m:sub>
                      <m:sup>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𝒂</m:t>
                        </m:r>
                      </m:sup>
                      <m:e>
                        <m:sSub>
                          <m:sSubPr>
                            <m:ctrlP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ctrlPr>
                          </m:sSubPr>
                          <m:e>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𝜶</m:t>
                            </m:r>
                          </m:e>
                          <m:sub>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𝒊</m:t>
                            </m:r>
                          </m:sub>
                        </m:sSub>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m:t>
                        </m:r>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𝟎</m:t>
                        </m:r>
                      </m:e>
                    </m:nary>
                  </m:oMath>
                </a14:m>
                <a:r>
                  <a:rPr kumimoji="1" lang="en-NZ" altLang="ja-JP" sz="18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a:t>
                </a: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8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800" b="1"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mc:Choice>
        <mc:Fallback xmlns="">
          <p:sp>
            <p:nvSpPr>
              <p:cNvPr id="22" name="Text Placeholder 5">
                <a:extLst>
                  <a:ext uri="{FF2B5EF4-FFF2-40B4-BE49-F238E27FC236}">
                    <a16:creationId xmlns:a16="http://schemas.microsoft.com/office/drawing/2014/main" id="{5D727490-76E6-4F93-6BCD-054E1FDB3D14}"/>
                  </a:ext>
                </a:extLst>
              </p:cNvPr>
              <p:cNvSpPr txBox="1">
                <a:spLocks noRot="1" noChangeAspect="1" noMove="1" noResize="1" noEditPoints="1" noAdjustHandles="1" noChangeArrowheads="1" noChangeShapeType="1" noTextEdit="1"/>
              </p:cNvSpPr>
              <p:nvPr/>
            </p:nvSpPr>
            <p:spPr>
              <a:xfrm>
                <a:off x="5849639" y="3290833"/>
                <a:ext cx="1405094" cy="444936"/>
              </a:xfrm>
              <a:prstGeom prst="rect">
                <a:avLst/>
              </a:prstGeom>
              <a:blipFill>
                <a:blip r:embed="rId4"/>
                <a:stretch>
                  <a:fillRect l="-24348" t="-100000" b="-136986"/>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23" name="Text Placeholder 5">
                <a:extLst>
                  <a:ext uri="{FF2B5EF4-FFF2-40B4-BE49-F238E27FC236}">
                    <a16:creationId xmlns:a16="http://schemas.microsoft.com/office/drawing/2014/main" id="{BAD1F8FD-0A2F-B0BF-ABE5-6232040CC8C5}"/>
                  </a:ext>
                </a:extLst>
              </p:cNvPr>
              <p:cNvSpPr txBox="1">
                <a:spLocks/>
              </p:cNvSpPr>
              <p:nvPr/>
            </p:nvSpPr>
            <p:spPr>
              <a:xfrm>
                <a:off x="7865132" y="3206532"/>
                <a:ext cx="2230812" cy="44493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14:m>
                  <m:oMath xmlns:m="http://schemas.openxmlformats.org/officeDocument/2006/math">
                    <m:f>
                      <m:fPr>
                        <m:ctrlP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ctrlPr>
                      </m:fPr>
                      <m:num>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𝟏</m:t>
                        </m:r>
                      </m:num>
                      <m:den>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𝒂</m:t>
                        </m:r>
                      </m:den>
                    </m:f>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 </m:t>
                    </m:r>
                    <m:nary>
                      <m:naryPr>
                        <m:chr m:val="∑"/>
                        <m:ctrlP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ctrlPr>
                      </m:naryPr>
                      <m:sub>
                        <m:r>
                          <m:rPr>
                            <m:brk m:alnAt="23"/>
                          </m:rP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𝒊</m:t>
                        </m:r>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m:t>
                        </m:r>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𝟏</m:t>
                        </m:r>
                      </m:sub>
                      <m:sup>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𝒂</m:t>
                        </m:r>
                      </m:sup>
                      <m:e>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 </m:t>
                        </m:r>
                        <m:sSub>
                          <m:sSubPr>
                            <m:ctrlP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ctrlPr>
                          </m:sSubPr>
                          <m:e>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𝝁</m:t>
                            </m:r>
                          </m:e>
                          <m:sub>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𝒊</m:t>
                            </m:r>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rPr>
                              <m:t>∙</m:t>
                            </m:r>
                          </m:sub>
                        </m:sSub>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 = </m:t>
                        </m:r>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𝝁</m:t>
                        </m:r>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 </m:t>
                        </m:r>
                      </m:e>
                    </m:nary>
                  </m:oMath>
                </a14:m>
                <a:r>
                  <a:rPr kumimoji="1" lang="en-NZ" altLang="ja-JP" sz="18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a:t>
                </a: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8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800" b="1"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mc:Choice>
        <mc:Fallback xmlns="">
          <p:sp>
            <p:nvSpPr>
              <p:cNvPr id="23" name="Text Placeholder 5">
                <a:extLst>
                  <a:ext uri="{FF2B5EF4-FFF2-40B4-BE49-F238E27FC236}">
                    <a16:creationId xmlns:a16="http://schemas.microsoft.com/office/drawing/2014/main" id="{BAD1F8FD-0A2F-B0BF-ABE5-6232040CC8C5}"/>
                  </a:ext>
                </a:extLst>
              </p:cNvPr>
              <p:cNvSpPr txBox="1">
                <a:spLocks noRot="1" noChangeAspect="1" noMove="1" noResize="1" noEditPoints="1" noAdjustHandles="1" noChangeArrowheads="1" noChangeShapeType="1" noTextEdit="1"/>
              </p:cNvSpPr>
              <p:nvPr/>
            </p:nvSpPr>
            <p:spPr>
              <a:xfrm>
                <a:off x="7865132" y="3206532"/>
                <a:ext cx="2230812" cy="444936"/>
              </a:xfrm>
              <a:prstGeom prst="rect">
                <a:avLst/>
              </a:prstGeom>
              <a:blipFill>
                <a:blip r:embed="rId5"/>
                <a:stretch>
                  <a:fillRect l="-6284" t="-84932" b="-152055"/>
                </a:stretch>
              </a:blipFill>
            </p:spPr>
            <p:txBody>
              <a:bodyPr/>
              <a:lstStyle/>
              <a:p>
                <a:r>
                  <a:rPr lang="en-NZ">
                    <a:noFill/>
                  </a:rPr>
                  <a:t> </a:t>
                </a:r>
              </a:p>
            </p:txBody>
          </p:sp>
        </mc:Fallback>
      </mc:AlternateContent>
      <p:sp>
        <p:nvSpPr>
          <p:cNvPr id="24" name="Text Placeholder 5">
            <a:extLst>
              <a:ext uri="{FF2B5EF4-FFF2-40B4-BE49-F238E27FC236}">
                <a16:creationId xmlns:a16="http://schemas.microsoft.com/office/drawing/2014/main" id="{DC488C4C-5411-6B3D-EF97-72605FD1DD2E}"/>
              </a:ext>
            </a:extLst>
          </p:cNvPr>
          <p:cNvSpPr txBox="1">
            <a:spLocks/>
          </p:cNvSpPr>
          <p:nvPr/>
        </p:nvSpPr>
        <p:spPr>
          <a:xfrm>
            <a:off x="7254733" y="3311527"/>
            <a:ext cx="465511" cy="365125"/>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lang="en-NZ" altLang="ja-JP" sz="1800" b="1" dirty="0">
                <a:solidFill>
                  <a:prstClr val="black"/>
                </a:solidFill>
                <a:latin typeface="Calibri" panose="020F0502020204030204"/>
                <a:ea typeface="游ゴシック" panose="020B0400000000000000" pitchFamily="34" charset="-128"/>
                <a:sym typeface="Wingdings" panose="05000000000000000000" pitchFamily="2" charset="2"/>
              </a:rPr>
              <a:t></a:t>
            </a:r>
            <a:endParaRPr kumimoji="1" lang="en-NZ" altLang="ja-JP" sz="1800" b="1"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mc:AlternateContent xmlns:mc="http://schemas.openxmlformats.org/markup-compatibility/2006" xmlns:a14="http://schemas.microsoft.com/office/drawing/2010/main">
        <mc:Choice Requires="a14">
          <p:sp>
            <p:nvSpPr>
              <p:cNvPr id="25" name="Text Placeholder 5">
                <a:extLst>
                  <a:ext uri="{FF2B5EF4-FFF2-40B4-BE49-F238E27FC236}">
                    <a16:creationId xmlns:a16="http://schemas.microsoft.com/office/drawing/2014/main" id="{7D853F2D-8630-E726-F63E-A20A8FE538A1}"/>
                  </a:ext>
                </a:extLst>
              </p:cNvPr>
              <p:cNvSpPr txBox="1">
                <a:spLocks/>
              </p:cNvSpPr>
              <p:nvPr/>
            </p:nvSpPr>
            <p:spPr>
              <a:xfrm>
                <a:off x="2522183" y="3513301"/>
                <a:ext cx="2861945" cy="532748"/>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14:m>
                  <m:oMath xmlns:m="http://schemas.openxmlformats.org/officeDocument/2006/math">
                    <m:r>
                      <a:rPr lang="en-NZ" altLang="ja-JP" sz="1400" b="1" i="1" smtClean="0">
                        <a:solidFill>
                          <a:schemeClr val="bg2">
                            <a:lumMod val="50000"/>
                          </a:schemeClr>
                        </a:solidFill>
                        <a:latin typeface="Cambria Math" panose="02040503050406030204" pitchFamily="18" charset="0"/>
                        <a:ea typeface="游ゴシック" panose="020B0400000000000000" pitchFamily="34" charset="-128"/>
                      </a:rPr>
                      <m:t>𝒋</m:t>
                    </m:r>
                    <m:r>
                      <a:rPr lang="en-NZ" altLang="ja-JP" sz="1400" b="1" i="1" smtClean="0">
                        <a:solidFill>
                          <a:schemeClr val="bg2">
                            <a:lumMod val="50000"/>
                          </a:schemeClr>
                        </a:solidFill>
                        <a:latin typeface="Cambria Math" panose="02040503050406030204" pitchFamily="18" charset="0"/>
                        <a:ea typeface="游ゴシック" panose="020B0400000000000000" pitchFamily="34" charset="-128"/>
                      </a:rPr>
                      <m:t>(</m:t>
                    </m:r>
                    <m:r>
                      <a:rPr lang="en-NZ" altLang="ja-JP" sz="1400" b="1" i="1" smtClean="0">
                        <a:solidFill>
                          <a:schemeClr val="bg2">
                            <a:lumMod val="50000"/>
                          </a:schemeClr>
                        </a:solidFill>
                        <a:latin typeface="Cambria Math" panose="02040503050406030204" pitchFamily="18" charset="0"/>
                        <a:ea typeface="游ゴシック" panose="020B0400000000000000" pitchFamily="34" charset="-128"/>
                      </a:rPr>
                      <m:t>𝒊</m:t>
                    </m:r>
                    <m:r>
                      <a:rPr lang="en-NZ" altLang="ja-JP" sz="1400" b="1" i="1" smtClean="0">
                        <a:solidFill>
                          <a:schemeClr val="bg2">
                            <a:lumMod val="50000"/>
                          </a:schemeClr>
                        </a:solidFill>
                        <a:latin typeface="Cambria Math" panose="02040503050406030204" pitchFamily="18" charset="0"/>
                        <a:ea typeface="游ゴシック" panose="020B0400000000000000" pitchFamily="34" charset="-128"/>
                      </a:rPr>
                      <m:t>)</m:t>
                    </m:r>
                  </m:oMath>
                </a14:m>
                <a:r>
                  <a:rPr lang="en-NZ" altLang="ja-JP" sz="1400" b="1" dirty="0">
                    <a:solidFill>
                      <a:schemeClr val="bg2">
                        <a:lumMod val="50000"/>
                      </a:schemeClr>
                    </a:solidFill>
                    <a:latin typeface="Calibri" panose="020F0502020204030204"/>
                    <a:ea typeface="游ゴシック" panose="020B0400000000000000" pitchFamily="34" charset="-128"/>
                  </a:rPr>
                  <a:t> </a:t>
                </a:r>
                <a:r>
                  <a:rPr lang="en-NZ" altLang="ja-JP" sz="1400" dirty="0">
                    <a:solidFill>
                      <a:schemeClr val="bg2">
                        <a:lumMod val="50000"/>
                      </a:schemeClr>
                    </a:solidFill>
                    <a:latin typeface="Calibri" panose="020F0502020204030204"/>
                    <a:ea typeface="游ゴシック" panose="020B0400000000000000" pitchFamily="34" charset="-128"/>
                  </a:rPr>
                  <a:t>is read as ‘</a:t>
                </a:r>
                <a:r>
                  <a:rPr lang="en-NZ" altLang="ja-JP" sz="1400" b="1" i="1" dirty="0">
                    <a:solidFill>
                      <a:schemeClr val="bg2">
                        <a:lumMod val="50000"/>
                      </a:schemeClr>
                    </a:solidFill>
                    <a:latin typeface="Calibri" panose="020F0502020204030204"/>
                    <a:ea typeface="游ゴシック" panose="020B0400000000000000" pitchFamily="34" charset="-128"/>
                  </a:rPr>
                  <a:t>j</a:t>
                </a:r>
                <a:r>
                  <a:rPr lang="en-NZ" altLang="ja-JP" sz="1400" dirty="0">
                    <a:solidFill>
                      <a:schemeClr val="bg2">
                        <a:lumMod val="50000"/>
                      </a:schemeClr>
                    </a:solidFill>
                    <a:latin typeface="Calibri" panose="020F0502020204030204"/>
                    <a:ea typeface="游ゴシック" panose="020B0400000000000000" pitchFamily="34" charset="-128"/>
                  </a:rPr>
                  <a:t> nested within </a:t>
                </a:r>
                <a:r>
                  <a:rPr lang="en-NZ" altLang="ja-JP" sz="1400" b="1" i="1" dirty="0" err="1">
                    <a:solidFill>
                      <a:schemeClr val="bg2">
                        <a:lumMod val="50000"/>
                      </a:schemeClr>
                    </a:solidFill>
                    <a:latin typeface="Calibri" panose="020F0502020204030204"/>
                    <a:ea typeface="游ゴシック" panose="020B0400000000000000" pitchFamily="34" charset="-128"/>
                  </a:rPr>
                  <a:t>i</a:t>
                </a:r>
                <a:r>
                  <a:rPr lang="en-NZ" altLang="ja-JP" sz="1400" dirty="0">
                    <a:solidFill>
                      <a:schemeClr val="bg2">
                        <a:lumMod val="50000"/>
                      </a:schemeClr>
                    </a:solidFill>
                    <a:latin typeface="Calibri" panose="020F0502020204030204"/>
                    <a:ea typeface="游ゴシック" panose="020B0400000000000000" pitchFamily="34" charset="-128"/>
                  </a:rPr>
                  <a:t>’</a:t>
                </a:r>
                <a:br>
                  <a:rPr lang="en-NZ" altLang="ja-JP" sz="1400" dirty="0">
                    <a:solidFill>
                      <a:schemeClr val="bg2">
                        <a:lumMod val="50000"/>
                      </a:schemeClr>
                    </a:solidFill>
                    <a:latin typeface="Calibri" panose="020F0502020204030204"/>
                    <a:ea typeface="游ゴシック" panose="020B0400000000000000" pitchFamily="34" charset="-128"/>
                  </a:rPr>
                </a:br>
                <a14:m>
                  <m:oMath xmlns:m="http://schemas.openxmlformats.org/officeDocument/2006/math">
                    <m:r>
                      <a:rPr lang="en-NZ" altLang="ja-JP" sz="1400" b="1" i="1" smtClean="0">
                        <a:solidFill>
                          <a:schemeClr val="bg2">
                            <a:lumMod val="50000"/>
                          </a:schemeClr>
                        </a:solidFill>
                        <a:latin typeface="Cambria Math" panose="02040503050406030204" pitchFamily="18" charset="0"/>
                        <a:ea typeface="游ゴシック" panose="020B0400000000000000" pitchFamily="34" charset="-128"/>
                      </a:rPr>
                      <m:t>𝒌</m:t>
                    </m:r>
                    <m:r>
                      <a:rPr lang="en-NZ" altLang="ja-JP" sz="1400" b="1" i="1" smtClean="0">
                        <a:solidFill>
                          <a:schemeClr val="bg2">
                            <a:lumMod val="50000"/>
                          </a:schemeClr>
                        </a:solidFill>
                        <a:latin typeface="Cambria Math" panose="02040503050406030204" pitchFamily="18" charset="0"/>
                        <a:ea typeface="游ゴシック" panose="020B0400000000000000" pitchFamily="34" charset="-128"/>
                      </a:rPr>
                      <m:t>(</m:t>
                    </m:r>
                    <m:r>
                      <a:rPr lang="en-NZ" altLang="ja-JP" sz="1400" b="1" i="1" smtClean="0">
                        <a:solidFill>
                          <a:schemeClr val="bg2">
                            <a:lumMod val="50000"/>
                          </a:schemeClr>
                        </a:solidFill>
                        <a:latin typeface="Cambria Math" panose="02040503050406030204" pitchFamily="18" charset="0"/>
                        <a:ea typeface="游ゴシック" panose="020B0400000000000000" pitchFamily="34" charset="-128"/>
                      </a:rPr>
                      <m:t>𝒊𝒋</m:t>
                    </m:r>
                    <m:r>
                      <a:rPr lang="en-NZ" altLang="ja-JP" sz="1400" b="1" i="1" smtClean="0">
                        <a:solidFill>
                          <a:schemeClr val="bg2">
                            <a:lumMod val="50000"/>
                          </a:schemeClr>
                        </a:solidFill>
                        <a:latin typeface="Cambria Math" panose="02040503050406030204" pitchFamily="18" charset="0"/>
                        <a:ea typeface="游ゴシック" panose="020B0400000000000000" pitchFamily="34" charset="-128"/>
                      </a:rPr>
                      <m:t>)</m:t>
                    </m:r>
                  </m:oMath>
                </a14:m>
                <a:r>
                  <a:rPr lang="en-NZ" altLang="ja-JP" sz="1400" b="1" dirty="0">
                    <a:solidFill>
                      <a:schemeClr val="bg2">
                        <a:lumMod val="50000"/>
                      </a:schemeClr>
                    </a:solidFill>
                    <a:latin typeface="Calibri" panose="020F0502020204030204"/>
                    <a:ea typeface="游ゴシック" panose="020B0400000000000000" pitchFamily="34" charset="-128"/>
                  </a:rPr>
                  <a:t> </a:t>
                </a:r>
                <a:r>
                  <a:rPr lang="en-NZ" altLang="ja-JP" sz="1400" dirty="0">
                    <a:solidFill>
                      <a:schemeClr val="bg2">
                        <a:lumMod val="50000"/>
                      </a:schemeClr>
                    </a:solidFill>
                    <a:latin typeface="Calibri" panose="020F0502020204030204"/>
                    <a:ea typeface="游ゴシック" panose="020B0400000000000000" pitchFamily="34" charset="-128"/>
                  </a:rPr>
                  <a:t>is read as ‘k nested within </a:t>
                </a:r>
                <a:r>
                  <a:rPr lang="en-NZ" altLang="ja-JP" sz="1400" b="1" i="1" dirty="0" err="1">
                    <a:solidFill>
                      <a:schemeClr val="bg2">
                        <a:lumMod val="50000"/>
                      </a:schemeClr>
                    </a:solidFill>
                    <a:latin typeface="Calibri" panose="020F0502020204030204"/>
                    <a:ea typeface="游ゴシック" panose="020B0400000000000000" pitchFamily="34" charset="-128"/>
                  </a:rPr>
                  <a:t>ij</a:t>
                </a:r>
                <a:r>
                  <a:rPr lang="en-NZ" altLang="ja-JP" sz="1400" dirty="0">
                    <a:solidFill>
                      <a:schemeClr val="bg2">
                        <a:lumMod val="50000"/>
                      </a:schemeClr>
                    </a:solidFill>
                    <a:latin typeface="Calibri" panose="020F0502020204030204"/>
                    <a:ea typeface="游ゴシック" panose="020B0400000000000000" pitchFamily="34" charset="-128"/>
                  </a:rPr>
                  <a:t>’</a:t>
                </a:r>
              </a:p>
            </p:txBody>
          </p:sp>
        </mc:Choice>
        <mc:Fallback xmlns="">
          <p:sp>
            <p:nvSpPr>
              <p:cNvPr id="25" name="Text Placeholder 5">
                <a:extLst>
                  <a:ext uri="{FF2B5EF4-FFF2-40B4-BE49-F238E27FC236}">
                    <a16:creationId xmlns:a16="http://schemas.microsoft.com/office/drawing/2014/main" id="{7D853F2D-8630-E726-F63E-A20A8FE538A1}"/>
                  </a:ext>
                </a:extLst>
              </p:cNvPr>
              <p:cNvSpPr txBox="1">
                <a:spLocks noRot="1" noChangeAspect="1" noMove="1" noResize="1" noEditPoints="1" noAdjustHandles="1" noChangeArrowheads="1" noChangeShapeType="1" noTextEdit="1"/>
              </p:cNvSpPr>
              <p:nvPr/>
            </p:nvSpPr>
            <p:spPr>
              <a:xfrm>
                <a:off x="2522183" y="3513301"/>
                <a:ext cx="2861945" cy="532748"/>
              </a:xfrm>
              <a:prstGeom prst="rect">
                <a:avLst/>
              </a:prstGeom>
              <a:blipFill>
                <a:blip r:embed="rId6"/>
                <a:stretch>
                  <a:fillRect t="-1136" r="-640" b="-9091"/>
                </a:stretch>
              </a:blipFill>
            </p:spPr>
            <p:txBody>
              <a:bodyPr/>
              <a:lstStyle/>
              <a:p>
                <a:r>
                  <a:rPr lang="en-NZ">
                    <a:noFill/>
                  </a:rPr>
                  <a:t> </a:t>
                </a:r>
              </a:p>
            </p:txBody>
          </p:sp>
        </mc:Fallback>
      </mc:AlternateContent>
      <p:sp>
        <p:nvSpPr>
          <p:cNvPr id="26" name="Right Brace 25">
            <a:extLst>
              <a:ext uri="{FF2B5EF4-FFF2-40B4-BE49-F238E27FC236}">
                <a16:creationId xmlns:a16="http://schemas.microsoft.com/office/drawing/2014/main" id="{CA30D687-4E97-241C-0AC8-4823072319B9}"/>
              </a:ext>
            </a:extLst>
          </p:cNvPr>
          <p:cNvSpPr/>
          <p:nvPr/>
        </p:nvSpPr>
        <p:spPr>
          <a:xfrm>
            <a:off x="2204079" y="3527804"/>
            <a:ext cx="173216" cy="518245"/>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NZ" dirty="0"/>
          </a:p>
        </p:txBody>
      </p:sp>
      <mc:AlternateContent xmlns:mc="http://schemas.openxmlformats.org/markup-compatibility/2006" xmlns:a14="http://schemas.microsoft.com/office/drawing/2010/main">
        <mc:Choice Requires="a14">
          <p:sp>
            <p:nvSpPr>
              <p:cNvPr id="27" name="Text Placeholder 5">
                <a:extLst>
                  <a:ext uri="{FF2B5EF4-FFF2-40B4-BE49-F238E27FC236}">
                    <a16:creationId xmlns:a16="http://schemas.microsoft.com/office/drawing/2014/main" id="{8724D194-593C-DD9A-843F-6A873D169DB4}"/>
                  </a:ext>
                </a:extLst>
              </p:cNvPr>
              <p:cNvSpPr txBox="1">
                <a:spLocks/>
              </p:cNvSpPr>
              <p:nvPr/>
            </p:nvSpPr>
            <p:spPr>
              <a:xfrm>
                <a:off x="251224" y="4621669"/>
                <a:ext cx="11472203" cy="413017"/>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14:m>
                  <m:oMathPara xmlns:m="http://schemas.openxmlformats.org/officeDocument/2006/math">
                    <m:oMathParaPr>
                      <m:jc m:val="centerGroup"/>
                    </m:oMathParaPr>
                    <m:oMath xmlns:m="http://schemas.openxmlformats.org/officeDocument/2006/math">
                      <m:r>
                        <a:rPr lang="en-NZ" altLang="ja-JP" sz="1800" b="1" i="1" smtClean="0">
                          <a:solidFill>
                            <a:schemeClr val="tx1"/>
                          </a:solidFill>
                          <a:latin typeface="Cambria Math" panose="02040503050406030204" pitchFamily="18" charset="0"/>
                        </a:rPr>
                        <m:t>𝑬</m:t>
                      </m:r>
                      <m:d>
                        <m:dPr>
                          <m:begChr m:val="["/>
                          <m:endChr m:val="]"/>
                          <m:ctrlPr>
                            <a:rPr lang="en-NZ" altLang="ja-JP" sz="1800" b="1" i="1" smtClean="0">
                              <a:solidFill>
                                <a:schemeClr val="tx1"/>
                              </a:solidFill>
                              <a:latin typeface="Cambria Math" panose="02040503050406030204" pitchFamily="18" charset="0"/>
                            </a:rPr>
                          </m:ctrlPr>
                        </m:dPr>
                        <m:e>
                          <m:r>
                            <a:rPr lang="en-NZ" altLang="ja-JP" sz="1800" b="1" i="1" smtClean="0">
                              <a:solidFill>
                                <a:schemeClr val="tx1"/>
                              </a:solidFill>
                              <a:latin typeface="Cambria Math" panose="02040503050406030204" pitchFamily="18" charset="0"/>
                            </a:rPr>
                            <m:t> </m:t>
                          </m:r>
                          <m:sSub>
                            <m:sSubPr>
                              <m:ctrlPr>
                                <a:rPr lang="en-NZ" altLang="ja-JP" sz="1800" b="1" i="1">
                                  <a:solidFill>
                                    <a:schemeClr val="tx1"/>
                                  </a:solidFill>
                                  <a:latin typeface="Cambria Math" panose="02040503050406030204" pitchFamily="18" charset="0"/>
                                </a:rPr>
                              </m:ctrlPr>
                            </m:sSubPr>
                            <m:e>
                              <m:r>
                                <a:rPr lang="en-NZ" altLang="ja-JP" sz="1800" b="1" i="1">
                                  <a:solidFill>
                                    <a:schemeClr val="tx1"/>
                                  </a:solidFill>
                                  <a:latin typeface="Cambria Math" panose="02040503050406030204" pitchFamily="18" charset="0"/>
                                </a:rPr>
                                <m:t>𝒀</m:t>
                              </m:r>
                            </m:e>
                            <m:sub>
                              <m:r>
                                <a:rPr lang="en-NZ" altLang="ja-JP" sz="1800" b="1" i="1">
                                  <a:solidFill>
                                    <a:schemeClr val="tx1"/>
                                  </a:solidFill>
                                  <a:latin typeface="Cambria Math" panose="02040503050406030204" pitchFamily="18" charset="0"/>
                                </a:rPr>
                                <m:t>𝒊𝒋𝒌</m:t>
                              </m:r>
                            </m:sub>
                          </m:sSub>
                          <m:r>
                            <a:rPr lang="en-NZ" altLang="ja-JP" sz="1800" b="1" i="1" smtClean="0">
                              <a:solidFill>
                                <a:schemeClr val="tx1"/>
                              </a:solidFill>
                              <a:latin typeface="Cambria Math" panose="02040503050406030204" pitchFamily="18" charset="0"/>
                            </a:rPr>
                            <m:t> </m:t>
                          </m:r>
                        </m:e>
                      </m:d>
                      <m:r>
                        <a:rPr lang="en-NZ" altLang="ja-JP" sz="1800" b="1" i="1" smtClean="0">
                          <a:solidFill>
                            <a:schemeClr val="tx1"/>
                          </a:solidFill>
                          <a:latin typeface="Cambria Math" panose="02040503050406030204" pitchFamily="18" charset="0"/>
                        </a:rPr>
                        <m:t> = </m:t>
                      </m:r>
                      <m:r>
                        <a:rPr lang="en-NZ" altLang="ja-JP" sz="1800" b="1" i="1" smtClean="0">
                          <a:solidFill>
                            <a:schemeClr val="tx1"/>
                          </a:solidFill>
                          <a:latin typeface="Cambria Math" panose="02040503050406030204" pitchFamily="18" charset="0"/>
                        </a:rPr>
                        <m:t>𝑬</m:t>
                      </m:r>
                      <m:d>
                        <m:dPr>
                          <m:begChr m:val="["/>
                          <m:endChr m:val="]"/>
                          <m:ctrlPr>
                            <a:rPr lang="en-NZ" altLang="ja-JP" sz="1800" b="1" i="1" smtClean="0">
                              <a:solidFill>
                                <a:schemeClr val="tx1"/>
                              </a:solidFill>
                              <a:latin typeface="Cambria Math" panose="02040503050406030204" pitchFamily="18" charset="0"/>
                            </a:rPr>
                          </m:ctrlPr>
                        </m:dPr>
                        <m:e>
                          <m:r>
                            <a:rPr lang="en-NZ" altLang="ja-JP" sz="1800" b="1" i="1" smtClean="0">
                              <a:solidFill>
                                <a:schemeClr val="tx1"/>
                              </a:solidFill>
                              <a:latin typeface="Cambria Math" panose="02040503050406030204" pitchFamily="18" charset="0"/>
                            </a:rPr>
                            <m:t> </m:t>
                          </m:r>
                          <m:r>
                            <a:rPr lang="en-NZ" altLang="ja-JP" sz="1800" b="1" i="1">
                              <a:solidFill>
                                <a:schemeClr val="tx1"/>
                              </a:solidFill>
                              <a:latin typeface="Cambria Math" panose="02040503050406030204" pitchFamily="18" charset="0"/>
                            </a:rPr>
                            <m:t>𝝁</m:t>
                          </m:r>
                          <m:r>
                            <a:rPr lang="en-NZ" altLang="ja-JP" sz="1800" b="1" i="1">
                              <a:solidFill>
                                <a:schemeClr val="tx1"/>
                              </a:solidFill>
                              <a:latin typeface="Cambria Math" panose="02040503050406030204" pitchFamily="18" charset="0"/>
                            </a:rPr>
                            <m:t>  +   </m:t>
                          </m:r>
                          <m:sSub>
                            <m:sSubPr>
                              <m:ctrlPr>
                                <a:rPr lang="en-NZ" altLang="ja-JP" sz="1800" b="1" i="1">
                                  <a:solidFill>
                                    <a:schemeClr val="tx1"/>
                                  </a:solidFill>
                                  <a:latin typeface="Cambria Math" panose="02040503050406030204" pitchFamily="18" charset="0"/>
                                </a:rPr>
                              </m:ctrlPr>
                            </m:sSubPr>
                            <m:e>
                              <m:r>
                                <a:rPr lang="en-NZ" altLang="ja-JP" sz="1800" b="1" i="1">
                                  <a:solidFill>
                                    <a:schemeClr val="tx1"/>
                                  </a:solidFill>
                                  <a:latin typeface="Cambria Math" panose="02040503050406030204" pitchFamily="18" charset="0"/>
                                </a:rPr>
                                <m:t>𝜶</m:t>
                              </m:r>
                            </m:e>
                            <m:sub>
                              <m:r>
                                <a:rPr lang="en-NZ" altLang="ja-JP" sz="1800" b="1" i="1">
                                  <a:solidFill>
                                    <a:schemeClr val="tx1"/>
                                  </a:solidFill>
                                  <a:latin typeface="Cambria Math" panose="02040503050406030204" pitchFamily="18" charset="0"/>
                                </a:rPr>
                                <m:t>𝒊</m:t>
                              </m:r>
                            </m:sub>
                          </m:sSub>
                          <m:r>
                            <a:rPr lang="en-NZ" altLang="ja-JP" sz="1800" b="1" i="1">
                              <a:solidFill>
                                <a:schemeClr val="tx1"/>
                              </a:solidFill>
                              <a:latin typeface="Cambria Math" panose="02040503050406030204" pitchFamily="18" charset="0"/>
                            </a:rPr>
                            <m:t>  +   </m:t>
                          </m:r>
                          <m:sSub>
                            <m:sSubPr>
                              <m:ctrlPr>
                                <a:rPr lang="en-NZ" altLang="ja-JP" sz="1800" b="1" i="1">
                                  <a:solidFill>
                                    <a:schemeClr val="tx1"/>
                                  </a:solidFill>
                                  <a:latin typeface="Cambria Math" panose="02040503050406030204" pitchFamily="18" charset="0"/>
                                </a:rPr>
                              </m:ctrlPr>
                            </m:sSubPr>
                            <m:e>
                              <m:r>
                                <a:rPr lang="en-NZ" altLang="ja-JP" sz="1800" b="1" i="1">
                                  <a:solidFill>
                                    <a:schemeClr val="tx1"/>
                                  </a:solidFill>
                                  <a:latin typeface="Cambria Math" panose="02040503050406030204" pitchFamily="18" charset="0"/>
                                </a:rPr>
                                <m:t>𝑩</m:t>
                              </m:r>
                            </m:e>
                            <m:sub>
                              <m:r>
                                <a:rPr lang="en-NZ" altLang="ja-JP" sz="1800" b="1" i="1">
                                  <a:solidFill>
                                    <a:schemeClr val="tx1"/>
                                  </a:solidFill>
                                  <a:latin typeface="Cambria Math" panose="02040503050406030204" pitchFamily="18" charset="0"/>
                                </a:rPr>
                                <m:t>𝒋</m:t>
                              </m:r>
                              <m:d>
                                <m:dPr>
                                  <m:ctrlPr>
                                    <a:rPr lang="en-NZ" altLang="ja-JP" sz="1800" b="1" i="1">
                                      <a:solidFill>
                                        <a:schemeClr val="tx1"/>
                                      </a:solidFill>
                                      <a:latin typeface="Cambria Math" panose="02040503050406030204" pitchFamily="18" charset="0"/>
                                    </a:rPr>
                                  </m:ctrlPr>
                                </m:dPr>
                                <m:e>
                                  <m:r>
                                    <a:rPr lang="en-NZ" altLang="ja-JP" sz="1800" b="1" i="1">
                                      <a:solidFill>
                                        <a:schemeClr val="tx1"/>
                                      </a:solidFill>
                                      <a:latin typeface="Cambria Math" panose="02040503050406030204" pitchFamily="18" charset="0"/>
                                    </a:rPr>
                                    <m:t>𝒊</m:t>
                                  </m:r>
                                </m:e>
                              </m:d>
                            </m:sub>
                          </m:sSub>
                          <m:r>
                            <a:rPr lang="en-NZ" altLang="ja-JP" sz="1800" b="1" i="1">
                              <a:solidFill>
                                <a:schemeClr val="tx1"/>
                              </a:solidFill>
                              <a:latin typeface="Cambria Math" panose="02040503050406030204" pitchFamily="18" charset="0"/>
                            </a:rPr>
                            <m:t>  +   </m:t>
                          </m:r>
                          <m:sSub>
                            <m:sSubPr>
                              <m:ctrlPr>
                                <a:rPr lang="en-NZ" altLang="ja-JP" sz="1800" b="1" i="1">
                                  <a:solidFill>
                                    <a:schemeClr val="tx1"/>
                                  </a:solidFill>
                                  <a:latin typeface="Cambria Math" panose="02040503050406030204" pitchFamily="18" charset="0"/>
                                </a:rPr>
                              </m:ctrlPr>
                            </m:sSubPr>
                            <m:e>
                              <m:r>
                                <a:rPr lang="en-NZ" altLang="ja-JP" sz="1800" b="1" i="1">
                                  <a:solidFill>
                                    <a:schemeClr val="tx1"/>
                                  </a:solidFill>
                                  <a:latin typeface="Cambria Math" panose="02040503050406030204" pitchFamily="18" charset="0"/>
                                </a:rPr>
                                <m:t>𝝐</m:t>
                              </m:r>
                            </m:e>
                            <m:sub>
                              <m:r>
                                <a:rPr lang="en-NZ" altLang="ja-JP" sz="1800" b="1" i="1">
                                  <a:solidFill>
                                    <a:schemeClr val="tx1"/>
                                  </a:solidFill>
                                  <a:latin typeface="Cambria Math" panose="02040503050406030204" pitchFamily="18" charset="0"/>
                                </a:rPr>
                                <m:t>𝒌</m:t>
                              </m:r>
                              <m:d>
                                <m:dPr>
                                  <m:ctrlPr>
                                    <a:rPr lang="en-NZ" altLang="ja-JP" sz="1800" b="1" i="1">
                                      <a:solidFill>
                                        <a:schemeClr val="tx1"/>
                                      </a:solidFill>
                                      <a:latin typeface="Cambria Math" panose="02040503050406030204" pitchFamily="18" charset="0"/>
                                    </a:rPr>
                                  </m:ctrlPr>
                                </m:dPr>
                                <m:e>
                                  <m:r>
                                    <a:rPr lang="en-NZ" altLang="ja-JP" sz="1800" b="1" i="1">
                                      <a:solidFill>
                                        <a:schemeClr val="tx1"/>
                                      </a:solidFill>
                                      <a:latin typeface="Cambria Math" panose="02040503050406030204" pitchFamily="18" charset="0"/>
                                    </a:rPr>
                                    <m:t>𝒊𝒋</m:t>
                                  </m:r>
                                </m:e>
                              </m:d>
                            </m:sub>
                          </m:sSub>
                          <m:r>
                            <a:rPr lang="en-NZ" altLang="ja-JP" sz="1800" b="1" i="1" smtClean="0">
                              <a:solidFill>
                                <a:schemeClr val="tx1"/>
                              </a:solidFill>
                              <a:latin typeface="Cambria Math" panose="02040503050406030204" pitchFamily="18" charset="0"/>
                            </a:rPr>
                            <m:t> </m:t>
                          </m:r>
                        </m:e>
                      </m:d>
                      <m:r>
                        <a:rPr lang="en-NZ" altLang="ja-JP" sz="1800" b="1" i="1" smtClean="0">
                          <a:solidFill>
                            <a:schemeClr val="tx1"/>
                          </a:solidFill>
                          <a:latin typeface="Cambria Math" panose="02040503050406030204" pitchFamily="18" charset="0"/>
                        </a:rPr>
                        <m:t> </m:t>
                      </m:r>
                      <m:r>
                        <a:rPr lang="en-NZ" altLang="ja-JP" sz="1800" b="1" i="1">
                          <a:solidFill>
                            <a:schemeClr val="tx1"/>
                          </a:solidFill>
                          <a:latin typeface="Cambria Math" panose="02040503050406030204" pitchFamily="18" charset="0"/>
                        </a:rPr>
                        <m:t>=</m:t>
                      </m:r>
                      <m:r>
                        <a:rPr lang="en-NZ" altLang="ja-JP" sz="1800" b="1" i="1" smtClean="0">
                          <a:solidFill>
                            <a:schemeClr val="tx1"/>
                          </a:solidFill>
                          <a:latin typeface="Cambria Math" panose="02040503050406030204" pitchFamily="18" charset="0"/>
                        </a:rPr>
                        <m:t> </m:t>
                      </m:r>
                      <m:r>
                        <a:rPr lang="en-NZ" altLang="ja-JP" sz="1800" b="1" i="1">
                          <a:solidFill>
                            <a:schemeClr val="tx1"/>
                          </a:solidFill>
                          <a:latin typeface="Cambria Math" panose="02040503050406030204" pitchFamily="18" charset="0"/>
                        </a:rPr>
                        <m:t>𝑬</m:t>
                      </m:r>
                      <m:d>
                        <m:dPr>
                          <m:begChr m:val="["/>
                          <m:endChr m:val="]"/>
                          <m:ctrlPr>
                            <a:rPr lang="en-NZ" altLang="ja-JP" sz="1800" b="1" i="1">
                              <a:solidFill>
                                <a:schemeClr val="tx1"/>
                              </a:solidFill>
                              <a:latin typeface="Cambria Math" panose="02040503050406030204" pitchFamily="18" charset="0"/>
                            </a:rPr>
                          </m:ctrlPr>
                        </m:dPr>
                        <m:e>
                          <m:r>
                            <a:rPr lang="en-NZ" altLang="ja-JP" sz="1800" b="1" i="1">
                              <a:solidFill>
                                <a:schemeClr val="tx1"/>
                              </a:solidFill>
                              <a:latin typeface="Cambria Math" panose="02040503050406030204" pitchFamily="18" charset="0"/>
                            </a:rPr>
                            <m:t> </m:t>
                          </m:r>
                          <m:r>
                            <a:rPr lang="en-NZ" altLang="ja-JP" sz="1800" b="1" i="1">
                              <a:solidFill>
                                <a:schemeClr val="tx1"/>
                              </a:solidFill>
                              <a:latin typeface="Cambria Math" panose="02040503050406030204" pitchFamily="18" charset="0"/>
                            </a:rPr>
                            <m:t>𝝁</m:t>
                          </m:r>
                          <m:r>
                            <a:rPr lang="en-NZ" altLang="ja-JP" sz="1800" b="1" i="1" smtClean="0">
                              <a:solidFill>
                                <a:schemeClr val="tx1"/>
                              </a:solidFill>
                              <a:latin typeface="Cambria Math" panose="02040503050406030204" pitchFamily="18" charset="0"/>
                            </a:rPr>
                            <m:t> </m:t>
                          </m:r>
                        </m:e>
                      </m:d>
                      <m:r>
                        <a:rPr lang="en-NZ" altLang="ja-JP" sz="1800" b="1" i="1" smtClean="0">
                          <a:solidFill>
                            <a:schemeClr val="tx1"/>
                          </a:solidFill>
                          <a:latin typeface="Cambria Math" panose="02040503050406030204" pitchFamily="18" charset="0"/>
                        </a:rPr>
                        <m:t> + </m:t>
                      </m:r>
                      <m:r>
                        <a:rPr lang="en-NZ" altLang="ja-JP" sz="1800" b="1" i="1">
                          <a:solidFill>
                            <a:schemeClr val="tx1"/>
                          </a:solidFill>
                          <a:latin typeface="Cambria Math" panose="02040503050406030204" pitchFamily="18" charset="0"/>
                        </a:rPr>
                        <m:t>𝑬</m:t>
                      </m:r>
                      <m:d>
                        <m:dPr>
                          <m:begChr m:val="["/>
                          <m:endChr m:val="]"/>
                          <m:ctrlPr>
                            <a:rPr lang="en-NZ" altLang="ja-JP" sz="1800" b="1" i="1">
                              <a:solidFill>
                                <a:schemeClr val="tx1"/>
                              </a:solidFill>
                              <a:latin typeface="Cambria Math" panose="02040503050406030204" pitchFamily="18" charset="0"/>
                            </a:rPr>
                          </m:ctrlPr>
                        </m:dPr>
                        <m:e>
                          <m:r>
                            <a:rPr lang="en-NZ" altLang="ja-JP" sz="1800" b="1" i="1">
                              <a:solidFill>
                                <a:schemeClr val="tx1"/>
                              </a:solidFill>
                              <a:latin typeface="Cambria Math" panose="02040503050406030204" pitchFamily="18" charset="0"/>
                            </a:rPr>
                            <m:t> </m:t>
                          </m:r>
                          <m:sSub>
                            <m:sSubPr>
                              <m:ctrlPr>
                                <a:rPr lang="en-NZ" altLang="ja-JP" sz="1800" b="1" i="1">
                                  <a:solidFill>
                                    <a:schemeClr val="tx1"/>
                                  </a:solidFill>
                                  <a:latin typeface="Cambria Math" panose="02040503050406030204" pitchFamily="18" charset="0"/>
                                </a:rPr>
                              </m:ctrlPr>
                            </m:sSubPr>
                            <m:e>
                              <m:r>
                                <a:rPr lang="en-NZ" altLang="ja-JP" sz="1800" b="1" i="1">
                                  <a:solidFill>
                                    <a:schemeClr val="tx1"/>
                                  </a:solidFill>
                                  <a:latin typeface="Cambria Math" panose="02040503050406030204" pitchFamily="18" charset="0"/>
                                </a:rPr>
                                <m:t>𝜶</m:t>
                              </m:r>
                            </m:e>
                            <m:sub>
                              <m:r>
                                <a:rPr lang="en-NZ" altLang="ja-JP" sz="1800" b="1" i="1">
                                  <a:solidFill>
                                    <a:schemeClr val="tx1"/>
                                  </a:solidFill>
                                  <a:latin typeface="Cambria Math" panose="02040503050406030204" pitchFamily="18" charset="0"/>
                                </a:rPr>
                                <m:t>𝒊</m:t>
                              </m:r>
                            </m:sub>
                          </m:sSub>
                          <m:r>
                            <a:rPr lang="en-NZ" altLang="ja-JP" sz="1800" b="1" i="1">
                              <a:solidFill>
                                <a:schemeClr val="tx1"/>
                              </a:solidFill>
                              <a:latin typeface="Cambria Math" panose="02040503050406030204" pitchFamily="18" charset="0"/>
                            </a:rPr>
                            <m:t> </m:t>
                          </m:r>
                        </m:e>
                      </m:d>
                      <m:r>
                        <a:rPr lang="en-NZ" altLang="ja-JP" sz="1800" b="1" i="1" smtClean="0">
                          <a:solidFill>
                            <a:schemeClr val="tx1"/>
                          </a:solidFill>
                          <a:latin typeface="Cambria Math" panose="02040503050406030204" pitchFamily="18" charset="0"/>
                        </a:rPr>
                        <m:t> + </m:t>
                      </m:r>
                      <m:r>
                        <a:rPr lang="en-NZ" altLang="ja-JP" sz="1800" b="1" i="1">
                          <a:solidFill>
                            <a:schemeClr val="tx1"/>
                          </a:solidFill>
                          <a:latin typeface="Cambria Math" panose="02040503050406030204" pitchFamily="18" charset="0"/>
                        </a:rPr>
                        <m:t>𝑬</m:t>
                      </m:r>
                      <m:d>
                        <m:dPr>
                          <m:begChr m:val="["/>
                          <m:endChr m:val="]"/>
                          <m:ctrlPr>
                            <a:rPr lang="en-NZ" altLang="ja-JP" sz="1800" b="1" i="1">
                              <a:solidFill>
                                <a:schemeClr val="tx1"/>
                              </a:solidFill>
                              <a:latin typeface="Cambria Math" panose="02040503050406030204" pitchFamily="18" charset="0"/>
                            </a:rPr>
                          </m:ctrlPr>
                        </m:dPr>
                        <m:e>
                          <m:r>
                            <a:rPr lang="en-NZ" altLang="ja-JP" sz="1800" b="1" i="1">
                              <a:solidFill>
                                <a:schemeClr val="tx1"/>
                              </a:solidFill>
                              <a:latin typeface="Cambria Math" panose="02040503050406030204" pitchFamily="18" charset="0"/>
                            </a:rPr>
                            <m:t> </m:t>
                          </m:r>
                          <m:sSub>
                            <m:sSubPr>
                              <m:ctrlPr>
                                <a:rPr lang="en-NZ" altLang="ja-JP" sz="1800" b="1" i="1">
                                  <a:solidFill>
                                    <a:schemeClr val="tx1"/>
                                  </a:solidFill>
                                  <a:latin typeface="Cambria Math" panose="02040503050406030204" pitchFamily="18" charset="0"/>
                                </a:rPr>
                              </m:ctrlPr>
                            </m:sSubPr>
                            <m:e>
                              <m:r>
                                <a:rPr lang="en-NZ" altLang="ja-JP" sz="1800" b="1" i="1">
                                  <a:solidFill>
                                    <a:schemeClr val="tx1"/>
                                  </a:solidFill>
                                  <a:latin typeface="Cambria Math" panose="02040503050406030204" pitchFamily="18" charset="0"/>
                                </a:rPr>
                                <m:t>𝑩</m:t>
                              </m:r>
                            </m:e>
                            <m:sub>
                              <m:r>
                                <a:rPr lang="en-NZ" altLang="ja-JP" sz="1800" b="1" i="1">
                                  <a:solidFill>
                                    <a:schemeClr val="tx1"/>
                                  </a:solidFill>
                                  <a:latin typeface="Cambria Math" panose="02040503050406030204" pitchFamily="18" charset="0"/>
                                </a:rPr>
                                <m:t>𝒋</m:t>
                              </m:r>
                              <m:d>
                                <m:dPr>
                                  <m:ctrlPr>
                                    <a:rPr lang="en-NZ" altLang="ja-JP" sz="1800" b="1" i="1">
                                      <a:solidFill>
                                        <a:schemeClr val="tx1"/>
                                      </a:solidFill>
                                      <a:latin typeface="Cambria Math" panose="02040503050406030204" pitchFamily="18" charset="0"/>
                                    </a:rPr>
                                  </m:ctrlPr>
                                </m:dPr>
                                <m:e>
                                  <m:r>
                                    <a:rPr lang="en-NZ" altLang="ja-JP" sz="1800" b="1" i="1">
                                      <a:solidFill>
                                        <a:schemeClr val="tx1"/>
                                      </a:solidFill>
                                      <a:latin typeface="Cambria Math" panose="02040503050406030204" pitchFamily="18" charset="0"/>
                                    </a:rPr>
                                    <m:t>𝒊</m:t>
                                  </m:r>
                                </m:e>
                              </m:d>
                            </m:sub>
                          </m:sSub>
                          <m:r>
                            <a:rPr lang="en-NZ" altLang="ja-JP" sz="1800" b="1" i="1">
                              <a:solidFill>
                                <a:schemeClr val="tx1"/>
                              </a:solidFill>
                              <a:latin typeface="Cambria Math" panose="02040503050406030204" pitchFamily="18" charset="0"/>
                            </a:rPr>
                            <m:t> </m:t>
                          </m:r>
                        </m:e>
                      </m:d>
                      <m:r>
                        <a:rPr lang="en-NZ" altLang="ja-JP" sz="1800" b="1" i="1" smtClean="0">
                          <a:solidFill>
                            <a:schemeClr val="tx1"/>
                          </a:solidFill>
                          <a:latin typeface="Cambria Math" panose="02040503050406030204" pitchFamily="18" charset="0"/>
                        </a:rPr>
                        <m:t> + </m:t>
                      </m:r>
                      <m:r>
                        <a:rPr lang="en-NZ" altLang="ja-JP" sz="1800" b="1" i="1">
                          <a:solidFill>
                            <a:schemeClr val="tx1"/>
                          </a:solidFill>
                          <a:latin typeface="Cambria Math" panose="02040503050406030204" pitchFamily="18" charset="0"/>
                        </a:rPr>
                        <m:t>𝑬</m:t>
                      </m:r>
                      <m:d>
                        <m:dPr>
                          <m:begChr m:val="["/>
                          <m:endChr m:val="]"/>
                          <m:ctrlPr>
                            <a:rPr lang="en-NZ" altLang="ja-JP" sz="1800" b="1" i="1">
                              <a:solidFill>
                                <a:schemeClr val="tx1"/>
                              </a:solidFill>
                              <a:latin typeface="Cambria Math" panose="02040503050406030204" pitchFamily="18" charset="0"/>
                            </a:rPr>
                          </m:ctrlPr>
                        </m:dPr>
                        <m:e>
                          <m:r>
                            <a:rPr lang="en-NZ" altLang="ja-JP" sz="1800" b="1" i="1">
                              <a:solidFill>
                                <a:schemeClr val="tx1"/>
                              </a:solidFill>
                              <a:latin typeface="Cambria Math" panose="02040503050406030204" pitchFamily="18" charset="0"/>
                            </a:rPr>
                            <m:t> </m:t>
                          </m:r>
                          <m:sSub>
                            <m:sSubPr>
                              <m:ctrlPr>
                                <a:rPr lang="en-NZ" altLang="ja-JP" sz="1800" b="1" i="1">
                                  <a:solidFill>
                                    <a:schemeClr val="tx1"/>
                                  </a:solidFill>
                                  <a:latin typeface="Cambria Math" panose="02040503050406030204" pitchFamily="18" charset="0"/>
                                </a:rPr>
                              </m:ctrlPr>
                            </m:sSubPr>
                            <m:e>
                              <m:r>
                                <a:rPr lang="en-NZ" altLang="ja-JP" sz="1800" b="1" i="1">
                                  <a:solidFill>
                                    <a:schemeClr val="tx1"/>
                                  </a:solidFill>
                                  <a:latin typeface="Cambria Math" panose="02040503050406030204" pitchFamily="18" charset="0"/>
                                </a:rPr>
                                <m:t>𝝐</m:t>
                              </m:r>
                            </m:e>
                            <m:sub>
                              <m:r>
                                <a:rPr lang="en-NZ" altLang="ja-JP" sz="1800" b="1" i="1">
                                  <a:solidFill>
                                    <a:schemeClr val="tx1"/>
                                  </a:solidFill>
                                  <a:latin typeface="Cambria Math" panose="02040503050406030204" pitchFamily="18" charset="0"/>
                                </a:rPr>
                                <m:t>𝒌</m:t>
                              </m:r>
                              <m:d>
                                <m:dPr>
                                  <m:ctrlPr>
                                    <a:rPr lang="en-NZ" altLang="ja-JP" sz="1800" b="1" i="1">
                                      <a:solidFill>
                                        <a:schemeClr val="tx1"/>
                                      </a:solidFill>
                                      <a:latin typeface="Cambria Math" panose="02040503050406030204" pitchFamily="18" charset="0"/>
                                    </a:rPr>
                                  </m:ctrlPr>
                                </m:dPr>
                                <m:e>
                                  <m:r>
                                    <a:rPr lang="en-NZ" altLang="ja-JP" sz="1800" b="1" i="1">
                                      <a:solidFill>
                                        <a:schemeClr val="tx1"/>
                                      </a:solidFill>
                                      <a:latin typeface="Cambria Math" panose="02040503050406030204" pitchFamily="18" charset="0"/>
                                    </a:rPr>
                                    <m:t>𝒊𝒋</m:t>
                                  </m:r>
                                </m:e>
                              </m:d>
                            </m:sub>
                          </m:sSub>
                          <m:r>
                            <a:rPr lang="en-NZ" altLang="ja-JP" sz="1800" b="1" i="1">
                              <a:solidFill>
                                <a:schemeClr val="tx1"/>
                              </a:solidFill>
                              <a:latin typeface="Cambria Math" panose="02040503050406030204" pitchFamily="18" charset="0"/>
                            </a:rPr>
                            <m:t> </m:t>
                          </m:r>
                        </m:e>
                      </m:d>
                      <m:r>
                        <a:rPr lang="en-NZ" altLang="ja-JP" sz="1800" b="1" i="1" smtClean="0">
                          <a:solidFill>
                            <a:schemeClr val="tx1"/>
                          </a:solidFill>
                          <a:latin typeface="Cambria Math" panose="02040503050406030204" pitchFamily="18" charset="0"/>
                        </a:rPr>
                        <m:t> =  </m:t>
                      </m:r>
                      <m:r>
                        <a:rPr lang="en-NZ" altLang="ja-JP" sz="1800" b="1" i="1" smtClean="0">
                          <a:solidFill>
                            <a:schemeClr val="tx1"/>
                          </a:solidFill>
                          <a:latin typeface="Cambria Math" panose="02040503050406030204" pitchFamily="18" charset="0"/>
                        </a:rPr>
                        <m:t>𝝁</m:t>
                      </m:r>
                      <m:r>
                        <a:rPr lang="en-NZ" altLang="ja-JP" sz="1800" b="1" i="1" smtClean="0">
                          <a:solidFill>
                            <a:schemeClr val="tx1"/>
                          </a:solidFill>
                          <a:latin typeface="Cambria Math" panose="02040503050406030204" pitchFamily="18" charset="0"/>
                        </a:rPr>
                        <m:t> +  </m:t>
                      </m:r>
                      <m:sSub>
                        <m:sSubPr>
                          <m:ctrlPr>
                            <a:rPr lang="en-NZ" altLang="ja-JP" sz="1800" b="1" i="1" smtClean="0">
                              <a:solidFill>
                                <a:schemeClr val="tx1"/>
                              </a:solidFill>
                              <a:latin typeface="Cambria Math" panose="02040503050406030204" pitchFamily="18" charset="0"/>
                            </a:rPr>
                          </m:ctrlPr>
                        </m:sSubPr>
                        <m:e>
                          <m:r>
                            <a:rPr lang="en-NZ" altLang="ja-JP" sz="1800" b="1" i="1" smtClean="0">
                              <a:solidFill>
                                <a:schemeClr val="tx1"/>
                              </a:solidFill>
                              <a:latin typeface="Cambria Math" panose="02040503050406030204" pitchFamily="18" charset="0"/>
                            </a:rPr>
                            <m:t>𝜶</m:t>
                          </m:r>
                        </m:e>
                        <m:sub>
                          <m:r>
                            <a:rPr lang="en-NZ" altLang="ja-JP" sz="1800" b="1" i="1" smtClean="0">
                              <a:solidFill>
                                <a:schemeClr val="tx1"/>
                              </a:solidFill>
                              <a:latin typeface="Cambria Math" panose="02040503050406030204" pitchFamily="18" charset="0"/>
                            </a:rPr>
                            <m:t>𝒊</m:t>
                          </m:r>
                        </m:sub>
                      </m:sSub>
                      <m:r>
                        <a:rPr lang="en-NZ" altLang="ja-JP" sz="1800" b="1" i="1" smtClean="0">
                          <a:solidFill>
                            <a:schemeClr val="tx1"/>
                          </a:solidFill>
                          <a:latin typeface="Cambria Math" panose="02040503050406030204" pitchFamily="18" charset="0"/>
                        </a:rPr>
                        <m:t> =  </m:t>
                      </m:r>
                      <m:sSub>
                        <m:sSubPr>
                          <m:ctrlPr>
                            <a:rPr lang="en-NZ" altLang="ja-JP" sz="1800" b="1" i="1" smtClean="0">
                              <a:solidFill>
                                <a:schemeClr val="tx1"/>
                              </a:solidFill>
                              <a:latin typeface="Cambria Math" panose="02040503050406030204" pitchFamily="18" charset="0"/>
                            </a:rPr>
                          </m:ctrlPr>
                        </m:sSubPr>
                        <m:e>
                          <m:r>
                            <a:rPr lang="en-NZ" altLang="ja-JP" sz="1800" b="1" i="1" smtClean="0">
                              <a:solidFill>
                                <a:schemeClr val="tx1"/>
                              </a:solidFill>
                              <a:latin typeface="Cambria Math" panose="02040503050406030204" pitchFamily="18" charset="0"/>
                            </a:rPr>
                            <m:t>𝝁</m:t>
                          </m:r>
                        </m:e>
                        <m:sub>
                          <m:r>
                            <a:rPr lang="en-NZ" altLang="ja-JP" sz="1800" b="1" i="1" smtClean="0">
                              <a:solidFill>
                                <a:schemeClr val="tx1"/>
                              </a:solidFill>
                              <a:latin typeface="Cambria Math" panose="02040503050406030204" pitchFamily="18" charset="0"/>
                            </a:rPr>
                            <m:t>𝒊</m:t>
                          </m:r>
                        </m:sub>
                      </m:sSub>
                      <m:r>
                        <a:rPr lang="en-NZ" altLang="ja-JP" sz="1800" b="1" i="1" smtClean="0">
                          <a:solidFill>
                            <a:schemeClr val="tx1"/>
                          </a:solidFill>
                          <a:latin typeface="Cambria Math" panose="02040503050406030204" pitchFamily="18" charset="0"/>
                        </a:rPr>
                        <m:t>.</m:t>
                      </m:r>
                    </m:oMath>
                  </m:oMathPara>
                </a14:m>
                <a:endParaRPr lang="en-NZ" altLang="ja-JP" sz="1800" b="1" dirty="0">
                  <a:solidFill>
                    <a:schemeClr val="tx1"/>
                  </a:solidFill>
                </a:endParaRPr>
              </a:p>
            </p:txBody>
          </p:sp>
        </mc:Choice>
        <mc:Fallback xmlns="">
          <p:sp>
            <p:nvSpPr>
              <p:cNvPr id="27" name="Text Placeholder 5">
                <a:extLst>
                  <a:ext uri="{FF2B5EF4-FFF2-40B4-BE49-F238E27FC236}">
                    <a16:creationId xmlns:a16="http://schemas.microsoft.com/office/drawing/2014/main" id="{8724D194-593C-DD9A-843F-6A873D169DB4}"/>
                  </a:ext>
                </a:extLst>
              </p:cNvPr>
              <p:cNvSpPr txBox="1">
                <a:spLocks noRot="1" noChangeAspect="1" noMove="1" noResize="1" noEditPoints="1" noAdjustHandles="1" noChangeArrowheads="1" noChangeShapeType="1" noTextEdit="1"/>
              </p:cNvSpPr>
              <p:nvPr/>
            </p:nvSpPr>
            <p:spPr>
              <a:xfrm>
                <a:off x="251224" y="4621669"/>
                <a:ext cx="11472203" cy="413017"/>
              </a:xfrm>
              <a:prstGeom prst="rect">
                <a:avLst/>
              </a:prstGeom>
              <a:blipFill>
                <a:blip r:embed="rId7"/>
                <a:stretch>
                  <a:fillRect b="-10294"/>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32" name="Text Placeholder 5">
                <a:extLst>
                  <a:ext uri="{FF2B5EF4-FFF2-40B4-BE49-F238E27FC236}">
                    <a16:creationId xmlns:a16="http://schemas.microsoft.com/office/drawing/2014/main" id="{FA3914A8-45E5-5E1C-F0FC-C8D228A691F6}"/>
                  </a:ext>
                </a:extLst>
              </p:cNvPr>
              <p:cNvSpPr txBox="1">
                <a:spLocks/>
              </p:cNvSpPr>
              <p:nvPr/>
            </p:nvSpPr>
            <p:spPr>
              <a:xfrm>
                <a:off x="0" y="5398393"/>
                <a:ext cx="12192000" cy="413017"/>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14:m>
                  <m:oMathPara xmlns:m="http://schemas.openxmlformats.org/officeDocument/2006/math">
                    <m:oMathParaPr>
                      <m:jc m:val="centerGroup"/>
                    </m:oMathParaPr>
                    <m:oMath xmlns:m="http://schemas.openxmlformats.org/officeDocument/2006/math">
                      <m:r>
                        <a:rPr lang="en-NZ" altLang="ja-JP" sz="1800" b="1" i="1" smtClean="0">
                          <a:solidFill>
                            <a:schemeClr val="tx1"/>
                          </a:solidFill>
                          <a:latin typeface="Cambria Math" panose="02040503050406030204" pitchFamily="18" charset="0"/>
                        </a:rPr>
                        <m:t>𝑽𝒂𝒓</m:t>
                      </m:r>
                      <m:d>
                        <m:dPr>
                          <m:begChr m:val="["/>
                          <m:endChr m:val="]"/>
                          <m:ctrlPr>
                            <a:rPr lang="en-NZ" altLang="ja-JP" sz="1800" b="1" i="1" smtClean="0">
                              <a:solidFill>
                                <a:schemeClr val="tx1"/>
                              </a:solidFill>
                              <a:latin typeface="Cambria Math" panose="02040503050406030204" pitchFamily="18" charset="0"/>
                            </a:rPr>
                          </m:ctrlPr>
                        </m:dPr>
                        <m:e>
                          <m:r>
                            <a:rPr lang="en-NZ" altLang="ja-JP" sz="1800" b="1" i="1" smtClean="0">
                              <a:solidFill>
                                <a:schemeClr val="tx1"/>
                              </a:solidFill>
                              <a:latin typeface="Cambria Math" panose="02040503050406030204" pitchFamily="18" charset="0"/>
                            </a:rPr>
                            <m:t> </m:t>
                          </m:r>
                          <m:sSub>
                            <m:sSubPr>
                              <m:ctrlPr>
                                <a:rPr lang="en-NZ" altLang="ja-JP" sz="1800" b="1" i="1">
                                  <a:solidFill>
                                    <a:schemeClr val="tx1"/>
                                  </a:solidFill>
                                  <a:latin typeface="Cambria Math" panose="02040503050406030204" pitchFamily="18" charset="0"/>
                                </a:rPr>
                              </m:ctrlPr>
                            </m:sSubPr>
                            <m:e>
                              <m:r>
                                <a:rPr lang="en-NZ" altLang="ja-JP" sz="1800" b="1" i="1">
                                  <a:solidFill>
                                    <a:schemeClr val="tx1"/>
                                  </a:solidFill>
                                  <a:latin typeface="Cambria Math" panose="02040503050406030204" pitchFamily="18" charset="0"/>
                                </a:rPr>
                                <m:t>𝒀</m:t>
                              </m:r>
                            </m:e>
                            <m:sub>
                              <m:r>
                                <a:rPr lang="en-NZ" altLang="ja-JP" sz="1800" b="1" i="1">
                                  <a:solidFill>
                                    <a:schemeClr val="tx1"/>
                                  </a:solidFill>
                                  <a:latin typeface="Cambria Math" panose="02040503050406030204" pitchFamily="18" charset="0"/>
                                </a:rPr>
                                <m:t>𝒊𝒋𝒌</m:t>
                              </m:r>
                            </m:sub>
                          </m:sSub>
                          <m:r>
                            <a:rPr lang="en-NZ" altLang="ja-JP" sz="1800" b="1" i="1" smtClean="0">
                              <a:solidFill>
                                <a:schemeClr val="tx1"/>
                              </a:solidFill>
                              <a:latin typeface="Cambria Math" panose="02040503050406030204" pitchFamily="18" charset="0"/>
                            </a:rPr>
                            <m:t> </m:t>
                          </m:r>
                        </m:e>
                      </m:d>
                      <m:r>
                        <a:rPr lang="en-NZ" altLang="ja-JP" sz="1800" b="1" i="1" smtClean="0">
                          <a:solidFill>
                            <a:schemeClr val="tx1"/>
                          </a:solidFill>
                          <a:latin typeface="Cambria Math" panose="02040503050406030204" pitchFamily="18" charset="0"/>
                        </a:rPr>
                        <m:t> =</m:t>
                      </m:r>
                      <m:r>
                        <a:rPr lang="en-NZ" altLang="ja-JP" sz="1800" b="1" i="1" smtClean="0">
                          <a:solidFill>
                            <a:schemeClr val="tx1"/>
                          </a:solidFill>
                          <a:latin typeface="Cambria Math" panose="02040503050406030204" pitchFamily="18" charset="0"/>
                        </a:rPr>
                        <m:t>𝑽𝒂𝒓</m:t>
                      </m:r>
                      <m:d>
                        <m:dPr>
                          <m:begChr m:val="["/>
                          <m:endChr m:val="]"/>
                          <m:ctrlPr>
                            <a:rPr lang="en-NZ" altLang="ja-JP" sz="1800" b="1" i="1" smtClean="0">
                              <a:solidFill>
                                <a:schemeClr val="tx1"/>
                              </a:solidFill>
                              <a:latin typeface="Cambria Math" panose="02040503050406030204" pitchFamily="18" charset="0"/>
                            </a:rPr>
                          </m:ctrlPr>
                        </m:dPr>
                        <m:e>
                          <m:r>
                            <a:rPr lang="en-NZ" altLang="ja-JP" sz="1800" b="1" i="1" smtClean="0">
                              <a:solidFill>
                                <a:schemeClr val="tx1"/>
                              </a:solidFill>
                              <a:latin typeface="Cambria Math" panose="02040503050406030204" pitchFamily="18" charset="0"/>
                            </a:rPr>
                            <m:t> </m:t>
                          </m:r>
                          <m:r>
                            <a:rPr lang="en-NZ" altLang="ja-JP" sz="1800" b="1" i="1">
                              <a:solidFill>
                                <a:schemeClr val="tx1"/>
                              </a:solidFill>
                              <a:latin typeface="Cambria Math" panose="02040503050406030204" pitchFamily="18" charset="0"/>
                            </a:rPr>
                            <m:t>𝝁</m:t>
                          </m:r>
                          <m:r>
                            <a:rPr lang="en-NZ" altLang="ja-JP" sz="1800" b="1" i="1">
                              <a:solidFill>
                                <a:schemeClr val="tx1"/>
                              </a:solidFill>
                              <a:latin typeface="Cambria Math" panose="02040503050406030204" pitchFamily="18" charset="0"/>
                            </a:rPr>
                            <m:t>  +   </m:t>
                          </m:r>
                          <m:sSub>
                            <m:sSubPr>
                              <m:ctrlPr>
                                <a:rPr lang="en-NZ" altLang="ja-JP" sz="1800" b="1" i="1">
                                  <a:solidFill>
                                    <a:schemeClr val="tx1"/>
                                  </a:solidFill>
                                  <a:latin typeface="Cambria Math" panose="02040503050406030204" pitchFamily="18" charset="0"/>
                                </a:rPr>
                              </m:ctrlPr>
                            </m:sSubPr>
                            <m:e>
                              <m:r>
                                <a:rPr lang="en-NZ" altLang="ja-JP" sz="1800" b="1" i="1">
                                  <a:solidFill>
                                    <a:schemeClr val="tx1"/>
                                  </a:solidFill>
                                  <a:latin typeface="Cambria Math" panose="02040503050406030204" pitchFamily="18" charset="0"/>
                                </a:rPr>
                                <m:t>𝜶</m:t>
                              </m:r>
                            </m:e>
                            <m:sub>
                              <m:r>
                                <a:rPr lang="en-NZ" altLang="ja-JP" sz="1800" b="1" i="1">
                                  <a:solidFill>
                                    <a:schemeClr val="tx1"/>
                                  </a:solidFill>
                                  <a:latin typeface="Cambria Math" panose="02040503050406030204" pitchFamily="18" charset="0"/>
                                </a:rPr>
                                <m:t>𝒊</m:t>
                              </m:r>
                            </m:sub>
                          </m:sSub>
                          <m:r>
                            <a:rPr lang="en-NZ" altLang="ja-JP" sz="1800" b="1" i="1">
                              <a:solidFill>
                                <a:schemeClr val="tx1"/>
                              </a:solidFill>
                              <a:latin typeface="Cambria Math" panose="02040503050406030204" pitchFamily="18" charset="0"/>
                            </a:rPr>
                            <m:t>  +   </m:t>
                          </m:r>
                          <m:sSub>
                            <m:sSubPr>
                              <m:ctrlPr>
                                <a:rPr lang="en-NZ" altLang="ja-JP" sz="1800" b="1" i="1">
                                  <a:solidFill>
                                    <a:schemeClr val="tx1"/>
                                  </a:solidFill>
                                  <a:latin typeface="Cambria Math" panose="02040503050406030204" pitchFamily="18" charset="0"/>
                                </a:rPr>
                              </m:ctrlPr>
                            </m:sSubPr>
                            <m:e>
                              <m:r>
                                <a:rPr lang="en-NZ" altLang="ja-JP" sz="1800" b="1" i="1">
                                  <a:solidFill>
                                    <a:schemeClr val="tx1"/>
                                  </a:solidFill>
                                  <a:latin typeface="Cambria Math" panose="02040503050406030204" pitchFamily="18" charset="0"/>
                                </a:rPr>
                                <m:t>𝑩</m:t>
                              </m:r>
                            </m:e>
                            <m:sub>
                              <m:r>
                                <a:rPr lang="en-NZ" altLang="ja-JP" sz="1800" b="1" i="1">
                                  <a:solidFill>
                                    <a:schemeClr val="tx1"/>
                                  </a:solidFill>
                                  <a:latin typeface="Cambria Math" panose="02040503050406030204" pitchFamily="18" charset="0"/>
                                </a:rPr>
                                <m:t>𝒋</m:t>
                              </m:r>
                              <m:d>
                                <m:dPr>
                                  <m:ctrlPr>
                                    <a:rPr lang="en-NZ" altLang="ja-JP" sz="1800" b="1" i="1">
                                      <a:solidFill>
                                        <a:schemeClr val="tx1"/>
                                      </a:solidFill>
                                      <a:latin typeface="Cambria Math" panose="02040503050406030204" pitchFamily="18" charset="0"/>
                                    </a:rPr>
                                  </m:ctrlPr>
                                </m:dPr>
                                <m:e>
                                  <m:r>
                                    <a:rPr lang="en-NZ" altLang="ja-JP" sz="1800" b="1" i="1">
                                      <a:solidFill>
                                        <a:schemeClr val="tx1"/>
                                      </a:solidFill>
                                      <a:latin typeface="Cambria Math" panose="02040503050406030204" pitchFamily="18" charset="0"/>
                                    </a:rPr>
                                    <m:t>𝒊</m:t>
                                  </m:r>
                                </m:e>
                              </m:d>
                            </m:sub>
                          </m:sSub>
                          <m:r>
                            <a:rPr lang="en-NZ" altLang="ja-JP" sz="1800" b="1" i="1">
                              <a:solidFill>
                                <a:schemeClr val="tx1"/>
                              </a:solidFill>
                              <a:latin typeface="Cambria Math" panose="02040503050406030204" pitchFamily="18" charset="0"/>
                            </a:rPr>
                            <m:t>  +   </m:t>
                          </m:r>
                          <m:sSub>
                            <m:sSubPr>
                              <m:ctrlPr>
                                <a:rPr lang="en-NZ" altLang="ja-JP" sz="1800" b="1" i="1">
                                  <a:solidFill>
                                    <a:schemeClr val="tx1"/>
                                  </a:solidFill>
                                  <a:latin typeface="Cambria Math" panose="02040503050406030204" pitchFamily="18" charset="0"/>
                                </a:rPr>
                              </m:ctrlPr>
                            </m:sSubPr>
                            <m:e>
                              <m:r>
                                <a:rPr lang="en-NZ" altLang="ja-JP" sz="1800" b="1" i="1">
                                  <a:solidFill>
                                    <a:schemeClr val="tx1"/>
                                  </a:solidFill>
                                  <a:latin typeface="Cambria Math" panose="02040503050406030204" pitchFamily="18" charset="0"/>
                                </a:rPr>
                                <m:t>𝝐</m:t>
                              </m:r>
                            </m:e>
                            <m:sub>
                              <m:r>
                                <a:rPr lang="en-NZ" altLang="ja-JP" sz="1800" b="1" i="1">
                                  <a:solidFill>
                                    <a:schemeClr val="tx1"/>
                                  </a:solidFill>
                                  <a:latin typeface="Cambria Math" panose="02040503050406030204" pitchFamily="18" charset="0"/>
                                </a:rPr>
                                <m:t>𝒌</m:t>
                              </m:r>
                              <m:d>
                                <m:dPr>
                                  <m:ctrlPr>
                                    <a:rPr lang="en-NZ" altLang="ja-JP" sz="1800" b="1" i="1">
                                      <a:solidFill>
                                        <a:schemeClr val="tx1"/>
                                      </a:solidFill>
                                      <a:latin typeface="Cambria Math" panose="02040503050406030204" pitchFamily="18" charset="0"/>
                                    </a:rPr>
                                  </m:ctrlPr>
                                </m:dPr>
                                <m:e>
                                  <m:r>
                                    <a:rPr lang="en-NZ" altLang="ja-JP" sz="1800" b="1" i="1">
                                      <a:solidFill>
                                        <a:schemeClr val="tx1"/>
                                      </a:solidFill>
                                      <a:latin typeface="Cambria Math" panose="02040503050406030204" pitchFamily="18" charset="0"/>
                                    </a:rPr>
                                    <m:t>𝒊𝒋</m:t>
                                  </m:r>
                                </m:e>
                              </m:d>
                            </m:sub>
                          </m:sSub>
                          <m:r>
                            <a:rPr lang="en-NZ" altLang="ja-JP" sz="1800" b="1" i="1" smtClean="0">
                              <a:solidFill>
                                <a:schemeClr val="tx1"/>
                              </a:solidFill>
                              <a:latin typeface="Cambria Math" panose="02040503050406030204" pitchFamily="18" charset="0"/>
                            </a:rPr>
                            <m:t> </m:t>
                          </m:r>
                        </m:e>
                      </m:d>
                      <m:r>
                        <a:rPr lang="en-NZ" altLang="ja-JP" sz="1800" b="1" i="1" smtClean="0">
                          <a:solidFill>
                            <a:schemeClr val="tx1"/>
                          </a:solidFill>
                          <a:latin typeface="Cambria Math" panose="02040503050406030204" pitchFamily="18" charset="0"/>
                        </a:rPr>
                        <m:t> </m:t>
                      </m:r>
                      <m:r>
                        <a:rPr lang="en-NZ" altLang="ja-JP" sz="1800" b="1" i="1">
                          <a:solidFill>
                            <a:schemeClr val="tx1"/>
                          </a:solidFill>
                          <a:latin typeface="Cambria Math" panose="02040503050406030204" pitchFamily="18" charset="0"/>
                        </a:rPr>
                        <m:t>=</m:t>
                      </m:r>
                      <m:r>
                        <a:rPr lang="en-NZ" altLang="ja-JP" sz="1800" b="1" i="1" smtClean="0">
                          <a:solidFill>
                            <a:schemeClr val="tx1"/>
                          </a:solidFill>
                          <a:latin typeface="Cambria Math" panose="02040503050406030204" pitchFamily="18" charset="0"/>
                        </a:rPr>
                        <m:t>𝑽𝒂𝒓</m:t>
                      </m:r>
                      <m:d>
                        <m:dPr>
                          <m:begChr m:val="["/>
                          <m:endChr m:val="]"/>
                          <m:ctrlPr>
                            <a:rPr lang="en-NZ" altLang="ja-JP" sz="1800" b="1" i="1">
                              <a:solidFill>
                                <a:schemeClr val="tx1"/>
                              </a:solidFill>
                              <a:latin typeface="Cambria Math" panose="02040503050406030204" pitchFamily="18" charset="0"/>
                            </a:rPr>
                          </m:ctrlPr>
                        </m:dPr>
                        <m:e>
                          <m:r>
                            <a:rPr lang="en-NZ" altLang="ja-JP" sz="1800" b="1" i="1">
                              <a:solidFill>
                                <a:schemeClr val="tx1"/>
                              </a:solidFill>
                              <a:latin typeface="Cambria Math" panose="02040503050406030204" pitchFamily="18" charset="0"/>
                            </a:rPr>
                            <m:t> </m:t>
                          </m:r>
                          <m:r>
                            <a:rPr lang="en-NZ" altLang="ja-JP" sz="1800" b="1" i="1">
                              <a:solidFill>
                                <a:schemeClr val="tx1"/>
                              </a:solidFill>
                              <a:latin typeface="Cambria Math" panose="02040503050406030204" pitchFamily="18" charset="0"/>
                            </a:rPr>
                            <m:t>𝝁</m:t>
                          </m:r>
                          <m:r>
                            <a:rPr lang="en-NZ" altLang="ja-JP" sz="1800" b="1" i="1" smtClean="0">
                              <a:solidFill>
                                <a:schemeClr val="tx1"/>
                              </a:solidFill>
                              <a:latin typeface="Cambria Math" panose="02040503050406030204" pitchFamily="18" charset="0"/>
                            </a:rPr>
                            <m:t> </m:t>
                          </m:r>
                        </m:e>
                      </m:d>
                      <m:r>
                        <a:rPr lang="en-NZ" altLang="ja-JP" sz="1800" b="1" i="1" smtClean="0">
                          <a:solidFill>
                            <a:schemeClr val="tx1"/>
                          </a:solidFill>
                          <a:latin typeface="Cambria Math" panose="02040503050406030204" pitchFamily="18" charset="0"/>
                        </a:rPr>
                        <m:t> +</m:t>
                      </m:r>
                      <m:r>
                        <a:rPr lang="en-NZ" altLang="ja-JP" sz="1800" b="1" i="1" smtClean="0">
                          <a:solidFill>
                            <a:schemeClr val="tx1"/>
                          </a:solidFill>
                          <a:latin typeface="Cambria Math" panose="02040503050406030204" pitchFamily="18" charset="0"/>
                        </a:rPr>
                        <m:t>𝑽𝒂𝒓</m:t>
                      </m:r>
                      <m:d>
                        <m:dPr>
                          <m:begChr m:val="["/>
                          <m:endChr m:val="]"/>
                          <m:ctrlPr>
                            <a:rPr lang="en-NZ" altLang="ja-JP" sz="1800" b="1" i="1">
                              <a:solidFill>
                                <a:schemeClr val="tx1"/>
                              </a:solidFill>
                              <a:latin typeface="Cambria Math" panose="02040503050406030204" pitchFamily="18" charset="0"/>
                            </a:rPr>
                          </m:ctrlPr>
                        </m:dPr>
                        <m:e>
                          <m:r>
                            <a:rPr lang="en-NZ" altLang="ja-JP" sz="1800" b="1" i="1">
                              <a:solidFill>
                                <a:schemeClr val="tx1"/>
                              </a:solidFill>
                              <a:latin typeface="Cambria Math" panose="02040503050406030204" pitchFamily="18" charset="0"/>
                            </a:rPr>
                            <m:t> </m:t>
                          </m:r>
                          <m:sSub>
                            <m:sSubPr>
                              <m:ctrlPr>
                                <a:rPr lang="en-NZ" altLang="ja-JP" sz="1800" b="1" i="1">
                                  <a:solidFill>
                                    <a:schemeClr val="tx1"/>
                                  </a:solidFill>
                                  <a:latin typeface="Cambria Math" panose="02040503050406030204" pitchFamily="18" charset="0"/>
                                </a:rPr>
                              </m:ctrlPr>
                            </m:sSubPr>
                            <m:e>
                              <m:r>
                                <a:rPr lang="en-NZ" altLang="ja-JP" sz="1800" b="1" i="1">
                                  <a:solidFill>
                                    <a:schemeClr val="tx1"/>
                                  </a:solidFill>
                                  <a:latin typeface="Cambria Math" panose="02040503050406030204" pitchFamily="18" charset="0"/>
                                </a:rPr>
                                <m:t>𝜶</m:t>
                              </m:r>
                            </m:e>
                            <m:sub>
                              <m:r>
                                <a:rPr lang="en-NZ" altLang="ja-JP" sz="1800" b="1" i="1">
                                  <a:solidFill>
                                    <a:schemeClr val="tx1"/>
                                  </a:solidFill>
                                  <a:latin typeface="Cambria Math" panose="02040503050406030204" pitchFamily="18" charset="0"/>
                                </a:rPr>
                                <m:t>𝒊</m:t>
                              </m:r>
                            </m:sub>
                          </m:sSub>
                          <m:r>
                            <a:rPr lang="en-NZ" altLang="ja-JP" sz="1800" b="1" i="1">
                              <a:solidFill>
                                <a:schemeClr val="tx1"/>
                              </a:solidFill>
                              <a:latin typeface="Cambria Math" panose="02040503050406030204" pitchFamily="18" charset="0"/>
                            </a:rPr>
                            <m:t> </m:t>
                          </m:r>
                        </m:e>
                      </m:d>
                      <m:r>
                        <a:rPr lang="en-NZ" altLang="ja-JP" sz="1800" b="1" i="1" smtClean="0">
                          <a:solidFill>
                            <a:schemeClr val="tx1"/>
                          </a:solidFill>
                          <a:latin typeface="Cambria Math" panose="02040503050406030204" pitchFamily="18" charset="0"/>
                        </a:rPr>
                        <m:t> +</m:t>
                      </m:r>
                      <m:r>
                        <a:rPr lang="en-NZ" altLang="ja-JP" sz="1800" b="1" i="1" smtClean="0">
                          <a:solidFill>
                            <a:schemeClr val="tx1"/>
                          </a:solidFill>
                          <a:latin typeface="Cambria Math" panose="02040503050406030204" pitchFamily="18" charset="0"/>
                        </a:rPr>
                        <m:t>𝑽𝒂𝒓</m:t>
                      </m:r>
                      <m:d>
                        <m:dPr>
                          <m:begChr m:val="["/>
                          <m:endChr m:val="]"/>
                          <m:ctrlPr>
                            <a:rPr lang="en-NZ" altLang="ja-JP" sz="1800" b="1" i="1">
                              <a:solidFill>
                                <a:schemeClr val="tx1"/>
                              </a:solidFill>
                              <a:latin typeface="Cambria Math" panose="02040503050406030204" pitchFamily="18" charset="0"/>
                            </a:rPr>
                          </m:ctrlPr>
                        </m:dPr>
                        <m:e>
                          <m:r>
                            <a:rPr lang="en-NZ" altLang="ja-JP" sz="1800" b="1" i="1">
                              <a:solidFill>
                                <a:schemeClr val="tx1"/>
                              </a:solidFill>
                              <a:latin typeface="Cambria Math" panose="02040503050406030204" pitchFamily="18" charset="0"/>
                            </a:rPr>
                            <m:t> </m:t>
                          </m:r>
                          <m:sSub>
                            <m:sSubPr>
                              <m:ctrlPr>
                                <a:rPr lang="en-NZ" altLang="ja-JP" sz="1800" b="1" i="1">
                                  <a:solidFill>
                                    <a:schemeClr val="tx1"/>
                                  </a:solidFill>
                                  <a:latin typeface="Cambria Math" panose="02040503050406030204" pitchFamily="18" charset="0"/>
                                </a:rPr>
                              </m:ctrlPr>
                            </m:sSubPr>
                            <m:e>
                              <m:r>
                                <a:rPr lang="en-NZ" altLang="ja-JP" sz="1800" b="1" i="1">
                                  <a:solidFill>
                                    <a:schemeClr val="tx1"/>
                                  </a:solidFill>
                                  <a:latin typeface="Cambria Math" panose="02040503050406030204" pitchFamily="18" charset="0"/>
                                </a:rPr>
                                <m:t>𝑩</m:t>
                              </m:r>
                            </m:e>
                            <m:sub>
                              <m:r>
                                <a:rPr lang="en-NZ" altLang="ja-JP" sz="1800" b="1" i="1">
                                  <a:solidFill>
                                    <a:schemeClr val="tx1"/>
                                  </a:solidFill>
                                  <a:latin typeface="Cambria Math" panose="02040503050406030204" pitchFamily="18" charset="0"/>
                                </a:rPr>
                                <m:t>𝒋</m:t>
                              </m:r>
                              <m:d>
                                <m:dPr>
                                  <m:ctrlPr>
                                    <a:rPr lang="en-NZ" altLang="ja-JP" sz="1800" b="1" i="1">
                                      <a:solidFill>
                                        <a:schemeClr val="tx1"/>
                                      </a:solidFill>
                                      <a:latin typeface="Cambria Math" panose="02040503050406030204" pitchFamily="18" charset="0"/>
                                    </a:rPr>
                                  </m:ctrlPr>
                                </m:dPr>
                                <m:e>
                                  <m:r>
                                    <a:rPr lang="en-NZ" altLang="ja-JP" sz="1800" b="1" i="1">
                                      <a:solidFill>
                                        <a:schemeClr val="tx1"/>
                                      </a:solidFill>
                                      <a:latin typeface="Cambria Math" panose="02040503050406030204" pitchFamily="18" charset="0"/>
                                    </a:rPr>
                                    <m:t>𝒊</m:t>
                                  </m:r>
                                </m:e>
                              </m:d>
                            </m:sub>
                          </m:sSub>
                          <m:r>
                            <a:rPr lang="en-NZ" altLang="ja-JP" sz="1800" b="1" i="1">
                              <a:solidFill>
                                <a:schemeClr val="tx1"/>
                              </a:solidFill>
                              <a:latin typeface="Cambria Math" panose="02040503050406030204" pitchFamily="18" charset="0"/>
                            </a:rPr>
                            <m:t> </m:t>
                          </m:r>
                        </m:e>
                      </m:d>
                      <m:r>
                        <a:rPr lang="en-NZ" altLang="ja-JP" sz="1800" b="1" i="1" smtClean="0">
                          <a:solidFill>
                            <a:schemeClr val="tx1"/>
                          </a:solidFill>
                          <a:latin typeface="Cambria Math" panose="02040503050406030204" pitchFamily="18" charset="0"/>
                        </a:rPr>
                        <m:t> +</m:t>
                      </m:r>
                      <m:r>
                        <a:rPr lang="en-NZ" altLang="ja-JP" sz="1800" b="1" i="1" smtClean="0">
                          <a:solidFill>
                            <a:schemeClr val="tx1"/>
                          </a:solidFill>
                          <a:latin typeface="Cambria Math" panose="02040503050406030204" pitchFamily="18" charset="0"/>
                        </a:rPr>
                        <m:t>𝑽𝒂𝒓</m:t>
                      </m:r>
                      <m:d>
                        <m:dPr>
                          <m:begChr m:val="["/>
                          <m:endChr m:val="]"/>
                          <m:ctrlPr>
                            <a:rPr lang="en-NZ" altLang="ja-JP" sz="1800" b="1" i="1">
                              <a:solidFill>
                                <a:schemeClr val="tx1"/>
                              </a:solidFill>
                              <a:latin typeface="Cambria Math" panose="02040503050406030204" pitchFamily="18" charset="0"/>
                            </a:rPr>
                          </m:ctrlPr>
                        </m:dPr>
                        <m:e>
                          <m:r>
                            <a:rPr lang="en-NZ" altLang="ja-JP" sz="1800" b="1" i="1">
                              <a:solidFill>
                                <a:schemeClr val="tx1"/>
                              </a:solidFill>
                              <a:latin typeface="Cambria Math" panose="02040503050406030204" pitchFamily="18" charset="0"/>
                            </a:rPr>
                            <m:t> </m:t>
                          </m:r>
                          <m:sSub>
                            <m:sSubPr>
                              <m:ctrlPr>
                                <a:rPr lang="en-NZ" altLang="ja-JP" sz="1800" b="1" i="1">
                                  <a:solidFill>
                                    <a:schemeClr val="tx1"/>
                                  </a:solidFill>
                                  <a:latin typeface="Cambria Math" panose="02040503050406030204" pitchFamily="18" charset="0"/>
                                </a:rPr>
                              </m:ctrlPr>
                            </m:sSubPr>
                            <m:e>
                              <m:r>
                                <a:rPr lang="en-NZ" altLang="ja-JP" sz="1800" b="1" i="1">
                                  <a:solidFill>
                                    <a:schemeClr val="tx1"/>
                                  </a:solidFill>
                                  <a:latin typeface="Cambria Math" panose="02040503050406030204" pitchFamily="18" charset="0"/>
                                </a:rPr>
                                <m:t>𝝐</m:t>
                              </m:r>
                            </m:e>
                            <m:sub>
                              <m:r>
                                <a:rPr lang="en-NZ" altLang="ja-JP" sz="1800" b="1" i="1">
                                  <a:solidFill>
                                    <a:schemeClr val="tx1"/>
                                  </a:solidFill>
                                  <a:latin typeface="Cambria Math" panose="02040503050406030204" pitchFamily="18" charset="0"/>
                                </a:rPr>
                                <m:t>𝒌</m:t>
                              </m:r>
                              <m:d>
                                <m:dPr>
                                  <m:ctrlPr>
                                    <a:rPr lang="en-NZ" altLang="ja-JP" sz="1800" b="1" i="1">
                                      <a:solidFill>
                                        <a:schemeClr val="tx1"/>
                                      </a:solidFill>
                                      <a:latin typeface="Cambria Math" panose="02040503050406030204" pitchFamily="18" charset="0"/>
                                    </a:rPr>
                                  </m:ctrlPr>
                                </m:dPr>
                                <m:e>
                                  <m:r>
                                    <a:rPr lang="en-NZ" altLang="ja-JP" sz="1800" b="1" i="1">
                                      <a:solidFill>
                                        <a:schemeClr val="tx1"/>
                                      </a:solidFill>
                                      <a:latin typeface="Cambria Math" panose="02040503050406030204" pitchFamily="18" charset="0"/>
                                    </a:rPr>
                                    <m:t>𝒊𝒋</m:t>
                                  </m:r>
                                </m:e>
                              </m:d>
                            </m:sub>
                          </m:sSub>
                          <m:r>
                            <a:rPr lang="en-NZ" altLang="ja-JP" sz="1800" b="1" i="1">
                              <a:solidFill>
                                <a:schemeClr val="tx1"/>
                              </a:solidFill>
                              <a:latin typeface="Cambria Math" panose="02040503050406030204" pitchFamily="18" charset="0"/>
                            </a:rPr>
                            <m:t> </m:t>
                          </m:r>
                        </m:e>
                      </m:d>
                      <m:r>
                        <a:rPr lang="en-NZ" altLang="ja-JP" sz="1800" b="1" i="0" smtClean="0">
                          <a:solidFill>
                            <a:schemeClr val="tx1"/>
                          </a:solidFill>
                          <a:latin typeface="Cambria Math" panose="02040503050406030204" pitchFamily="18" charset="0"/>
                        </a:rPr>
                        <m:t>=</m:t>
                      </m:r>
                      <m:sSubSup>
                        <m:sSubSupPr>
                          <m:ctrlPr>
                            <a:rPr lang="en-NZ" altLang="ja-JP" sz="1800" b="1" i="1">
                              <a:solidFill>
                                <a:prstClr val="black"/>
                              </a:solidFill>
                              <a:latin typeface="Cambria Math" panose="02040503050406030204" pitchFamily="18" charset="0"/>
                            </a:rPr>
                          </m:ctrlPr>
                        </m:sSubSupPr>
                        <m:e>
                          <m:r>
                            <a:rPr lang="en-NZ" altLang="ja-JP" sz="1800" b="1" i="1">
                              <a:solidFill>
                                <a:prstClr val="black"/>
                              </a:solidFill>
                              <a:latin typeface="Cambria Math" panose="02040503050406030204" pitchFamily="18" charset="0"/>
                            </a:rPr>
                            <m:t>𝝈</m:t>
                          </m:r>
                        </m:e>
                        <m:sub>
                          <m:r>
                            <a:rPr lang="en-NZ" altLang="ja-JP" sz="1800" b="1" i="1">
                              <a:solidFill>
                                <a:prstClr val="black"/>
                              </a:solidFill>
                              <a:latin typeface="Cambria Math" panose="02040503050406030204" pitchFamily="18" charset="0"/>
                            </a:rPr>
                            <m:t>𝑩</m:t>
                          </m:r>
                        </m:sub>
                        <m:sup>
                          <m:r>
                            <a:rPr lang="en-NZ" altLang="ja-JP" sz="1800" b="1" i="1">
                              <a:solidFill>
                                <a:prstClr val="black"/>
                              </a:solidFill>
                              <a:latin typeface="Cambria Math" panose="02040503050406030204" pitchFamily="18" charset="0"/>
                            </a:rPr>
                            <m:t>𝟐</m:t>
                          </m:r>
                        </m:sup>
                      </m:sSubSup>
                      <m:r>
                        <m:rPr>
                          <m:nor/>
                        </m:rPr>
                        <a:rPr lang="en-NZ" altLang="ja-JP" sz="1800" b="1" dirty="0">
                          <a:solidFill>
                            <a:schemeClr val="tx1"/>
                          </a:solidFill>
                        </a:rPr>
                        <m:t> + </m:t>
                      </m:r>
                      <m:sSup>
                        <m:sSupPr>
                          <m:ctrlPr>
                            <a:rPr lang="en-NZ" altLang="ja-JP" sz="1800" b="1" i="1">
                              <a:solidFill>
                                <a:prstClr val="black"/>
                              </a:solidFill>
                              <a:latin typeface="Cambria Math" panose="02040503050406030204" pitchFamily="18" charset="0"/>
                            </a:rPr>
                          </m:ctrlPr>
                        </m:sSupPr>
                        <m:e>
                          <m:r>
                            <a:rPr lang="en-NZ" altLang="ja-JP" sz="1800" b="1" i="1">
                              <a:solidFill>
                                <a:prstClr val="black"/>
                              </a:solidFill>
                              <a:latin typeface="Cambria Math" panose="02040503050406030204" pitchFamily="18" charset="0"/>
                            </a:rPr>
                            <m:t>𝝈</m:t>
                          </m:r>
                        </m:e>
                        <m:sup>
                          <m:r>
                            <a:rPr lang="en-NZ" altLang="ja-JP" sz="1800" b="1" i="1">
                              <a:solidFill>
                                <a:prstClr val="black"/>
                              </a:solidFill>
                              <a:latin typeface="Cambria Math" panose="02040503050406030204" pitchFamily="18" charset="0"/>
                            </a:rPr>
                            <m:t>𝟐</m:t>
                          </m:r>
                        </m:sup>
                      </m:sSup>
                    </m:oMath>
                  </m:oMathPara>
                </a14:m>
                <a:endParaRPr lang="en-NZ" altLang="ja-JP" sz="1800" b="1" dirty="0">
                  <a:solidFill>
                    <a:schemeClr val="tx1"/>
                  </a:solidFill>
                </a:endParaRPr>
              </a:p>
            </p:txBody>
          </p:sp>
        </mc:Choice>
        <mc:Fallback xmlns="">
          <p:sp>
            <p:nvSpPr>
              <p:cNvPr id="32" name="Text Placeholder 5">
                <a:extLst>
                  <a:ext uri="{FF2B5EF4-FFF2-40B4-BE49-F238E27FC236}">
                    <a16:creationId xmlns:a16="http://schemas.microsoft.com/office/drawing/2014/main" id="{FA3914A8-45E5-5E1C-F0FC-C8D228A691F6}"/>
                  </a:ext>
                </a:extLst>
              </p:cNvPr>
              <p:cNvSpPr txBox="1">
                <a:spLocks noRot="1" noChangeAspect="1" noMove="1" noResize="1" noEditPoints="1" noAdjustHandles="1" noChangeArrowheads="1" noChangeShapeType="1" noTextEdit="1"/>
              </p:cNvSpPr>
              <p:nvPr/>
            </p:nvSpPr>
            <p:spPr>
              <a:xfrm>
                <a:off x="0" y="5398393"/>
                <a:ext cx="12192000" cy="413017"/>
              </a:xfrm>
              <a:prstGeom prst="rect">
                <a:avLst/>
              </a:prstGeom>
              <a:blipFill>
                <a:blip r:embed="rId8"/>
                <a:stretch>
                  <a:fillRect b="-10448"/>
                </a:stretch>
              </a:blipFill>
            </p:spPr>
            <p:txBody>
              <a:bodyPr/>
              <a:lstStyle/>
              <a:p>
                <a:r>
                  <a:rPr lang="en-NZ">
                    <a:noFill/>
                  </a:rPr>
                  <a:t> </a:t>
                </a:r>
              </a:p>
            </p:txBody>
          </p:sp>
        </mc:Fallback>
      </mc:AlternateContent>
    </p:spTree>
    <p:extLst>
      <p:ext uri="{BB962C8B-B14F-4D97-AF65-F5344CB8AC3E}">
        <p14:creationId xmlns:p14="http://schemas.microsoft.com/office/powerpoint/2010/main" val="29539133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P spid="32"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2">
            <a:extLst>
              <a:ext uri="{FF2B5EF4-FFF2-40B4-BE49-F238E27FC236}">
                <a16:creationId xmlns:a16="http://schemas.microsoft.com/office/drawing/2014/main" id="{FCA3135E-12FE-4808-B68B-466D5B0EBCB1}"/>
              </a:ext>
            </a:extLst>
          </p:cNvPr>
          <p:cNvSpPr txBox="1">
            <a:spLocks/>
          </p:cNvSpPr>
          <p:nvPr/>
        </p:nvSpPr>
        <p:spPr>
          <a:xfrm>
            <a:off x="8775510" y="86139"/>
            <a:ext cx="3313855"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600" dirty="0">
                <a:solidFill>
                  <a:srgbClr val="DEDDDD"/>
                </a:solidFill>
                <a:latin typeface="Gidole"/>
                <a:ea typeface="游ゴシック" panose="020B0400000000000000" pitchFamily="34" charset="-128"/>
              </a:rPr>
              <a:t>5</a:t>
            </a:r>
            <a:r>
              <a:rPr kumimoji="1" lang="en-US" altLang="ja-JP"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rPr>
              <a:t>.2 – Two Stage Nested Design</a:t>
            </a:r>
            <a:endParaRPr kumimoji="1" lang="ja-JP" altLang="en-US"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endParaRPr>
          </a:p>
        </p:txBody>
      </p:sp>
      <p:sp>
        <p:nvSpPr>
          <p:cNvPr id="5" name="Title 6">
            <a:extLst>
              <a:ext uri="{FF2B5EF4-FFF2-40B4-BE49-F238E27FC236}">
                <a16:creationId xmlns:a16="http://schemas.microsoft.com/office/drawing/2014/main" id="{2BD5844C-C201-4666-ADB9-681CBA48DCC1}"/>
              </a:ext>
            </a:extLst>
          </p:cNvPr>
          <p:cNvSpPr txBox="1">
            <a:spLocks/>
          </p:cNvSpPr>
          <p:nvPr/>
        </p:nvSpPr>
        <p:spPr>
          <a:xfrm>
            <a:off x="251224" y="237833"/>
            <a:ext cx="9411391" cy="607201"/>
          </a:xfrm>
          <a:prstGeom prst="rect">
            <a:avLst/>
          </a:prstGeom>
        </p:spPr>
        <p:txBody>
          <a:bodyPr anchor="t">
            <a:normAutofit fontScale="85000" lnSpcReduction="10000"/>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pPr marL="0" marR="0" lvl="0" indent="0" algn="l" defTabSz="914324" rtl="0" eaLnBrk="1" fontAlgn="auto" latinLnBrk="0" hangingPunct="1">
              <a:lnSpc>
                <a:spcPct val="90000"/>
              </a:lnSpc>
              <a:spcBef>
                <a:spcPct val="0"/>
              </a:spcBef>
              <a:spcAft>
                <a:spcPts val="0"/>
              </a:spcAft>
              <a:buClrTx/>
              <a:buSzTx/>
              <a:buFontTx/>
              <a:buNone/>
              <a:tabLst/>
              <a:defRPr/>
            </a:pPr>
            <a:r>
              <a:rPr lang="en-US" altLang="ja-JP" b="1" u="sng" dirty="0">
                <a:solidFill>
                  <a:prstClr val="black"/>
                </a:solidFill>
                <a:latin typeface="Calibri" panose="020F0502020204030204"/>
                <a:ea typeface="游ゴシック Light" panose="020B0300000000000000" pitchFamily="34" charset="-128"/>
              </a:rPr>
              <a:t>5</a:t>
            </a:r>
            <a:r>
              <a:rPr kumimoji="1" lang="en-US" altLang="ja-JP"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rPr>
              <a:t>.2a – </a:t>
            </a:r>
            <a:r>
              <a:rPr lang="en-US" altLang="ja-JP" b="1" u="sng" dirty="0">
                <a:solidFill>
                  <a:prstClr val="black"/>
                </a:solidFill>
                <a:latin typeface="Calibri" panose="020F0502020204030204"/>
                <a:ea typeface="游ゴシック Light" panose="020B0300000000000000" pitchFamily="34" charset="-128"/>
              </a:rPr>
              <a:t>Mixed</a:t>
            </a:r>
            <a:r>
              <a:rPr kumimoji="1" lang="en-US" altLang="ja-JP"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rPr>
              <a:t> Effects Model for a 2-Stage Nested Design:</a:t>
            </a:r>
            <a:endParaRPr kumimoji="1" lang="ja-JP" altLang="en-US"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endParaRPr>
          </a:p>
        </p:txBody>
      </p:sp>
      <p:sp>
        <p:nvSpPr>
          <p:cNvPr id="10" name="Slide Number Placeholder 3">
            <a:extLst>
              <a:ext uri="{FF2B5EF4-FFF2-40B4-BE49-F238E27FC236}">
                <a16:creationId xmlns:a16="http://schemas.microsoft.com/office/drawing/2014/main" id="{B0C9041D-77F0-4656-90D4-0E84B7AC6B27}"/>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54AD89C-DF1E-4948-B597-5DD47B34A9CA}" type="slidenum">
              <a:rPr kumimoji="1" lang="ja-JP" altLang="en-US" sz="4000" b="0" i="0" u="none" strike="noStrike" kern="1200" cap="none" spc="0" normalizeH="0" baseline="0" noProof="0" smtClean="0">
                <a:ln>
                  <a:noFill/>
                </a:ln>
                <a:solidFill>
                  <a:srgbClr val="575454">
                    <a:lumMod val="20000"/>
                    <a:lumOff val="80000"/>
                  </a:srgbClr>
                </a:solidFill>
                <a:effectLst/>
                <a:uLnTx/>
                <a:uFillTx/>
                <a:latin typeface="Coo Hew"/>
                <a:ea typeface="游ゴシック" panose="020B0400000000000000"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1" lang="ja-JP" altLang="en-US" sz="4000" b="0" i="0" u="none" strike="noStrike" kern="1200" cap="none" spc="0" normalizeH="0" baseline="0" noProof="0" dirty="0">
              <a:ln>
                <a:noFill/>
              </a:ln>
              <a:solidFill>
                <a:srgbClr val="575454">
                  <a:lumMod val="20000"/>
                  <a:lumOff val="80000"/>
                </a:srgbClr>
              </a:solidFill>
              <a:effectLst/>
              <a:uLnTx/>
              <a:uFillTx/>
              <a:latin typeface="Coo Hew"/>
              <a:ea typeface="游ゴシック" panose="020B0400000000000000" pitchFamily="34" charset="-128"/>
              <a:cs typeface="+mn-cs"/>
            </a:endParaRPr>
          </a:p>
        </p:txBody>
      </p:sp>
      <p:sp>
        <p:nvSpPr>
          <p:cNvPr id="11" name="Text Placeholder 5">
            <a:extLst>
              <a:ext uri="{FF2B5EF4-FFF2-40B4-BE49-F238E27FC236}">
                <a16:creationId xmlns:a16="http://schemas.microsoft.com/office/drawing/2014/main" id="{C67FD996-886D-F16A-C1CE-1BD052717B7A}"/>
              </a:ext>
            </a:extLst>
          </p:cNvPr>
          <p:cNvSpPr txBox="1">
            <a:spLocks/>
          </p:cNvSpPr>
          <p:nvPr/>
        </p:nvSpPr>
        <p:spPr>
          <a:xfrm>
            <a:off x="312362" y="845034"/>
            <a:ext cx="11777003" cy="100949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lang="en-NZ" altLang="ja-JP" sz="1800" dirty="0">
                <a:solidFill>
                  <a:prstClr val="black"/>
                </a:solidFill>
                <a:latin typeface="Calibri" panose="020F0502020204030204"/>
                <a:ea typeface="游ゴシック" panose="020B0400000000000000" pitchFamily="34" charset="-128"/>
              </a:rPr>
              <a:t>Suppose we have a response variable </a:t>
            </a:r>
            <a:r>
              <a:rPr lang="en-NZ" altLang="ja-JP" sz="1800" b="1" i="1" dirty="0">
                <a:solidFill>
                  <a:prstClr val="black"/>
                </a:solidFill>
                <a:latin typeface="Calibri" panose="020F0502020204030204"/>
                <a:ea typeface="游ゴシック" panose="020B0400000000000000" pitchFamily="34" charset="-128"/>
              </a:rPr>
              <a:t>Y</a:t>
            </a:r>
            <a:r>
              <a:rPr lang="en-NZ" altLang="ja-JP" sz="1800" dirty="0">
                <a:solidFill>
                  <a:prstClr val="black"/>
                </a:solidFill>
                <a:latin typeface="Calibri" panose="020F0502020204030204"/>
                <a:ea typeface="游ゴシック" panose="020B0400000000000000" pitchFamily="34" charset="-128"/>
              </a:rPr>
              <a:t> which is modelled as a function of</a:t>
            </a:r>
          </a:p>
          <a:p>
            <a:pPr marL="971493" lvl="1" indent="-285750" algn="just">
              <a:lnSpc>
                <a:spcPct val="100000"/>
              </a:lnSpc>
              <a:spcBef>
                <a:spcPts val="0"/>
              </a:spcBef>
              <a:buFontTx/>
              <a:buChar char="-"/>
              <a:defRPr/>
            </a:pPr>
            <a:r>
              <a:rPr lang="en-NZ" altLang="ja-JP" sz="1800" dirty="0">
                <a:solidFill>
                  <a:prstClr val="black"/>
                </a:solidFill>
                <a:latin typeface="Calibri" panose="020F0502020204030204"/>
                <a:ea typeface="游ゴシック" panose="020B0400000000000000" pitchFamily="34" charset="-128"/>
              </a:rPr>
              <a:t>A factor </a:t>
            </a:r>
            <a:r>
              <a:rPr lang="en-NZ" altLang="ja-JP" sz="1800" b="1" i="1" dirty="0">
                <a:solidFill>
                  <a:prstClr val="black"/>
                </a:solidFill>
                <a:latin typeface="Calibri" panose="020F0502020204030204"/>
                <a:ea typeface="游ゴシック" panose="020B0400000000000000" pitchFamily="34" charset="-128"/>
              </a:rPr>
              <a:t>A</a:t>
            </a:r>
            <a:r>
              <a:rPr lang="en-NZ" altLang="ja-JP" sz="1800" dirty="0">
                <a:solidFill>
                  <a:prstClr val="black"/>
                </a:solidFill>
                <a:latin typeface="Calibri" panose="020F0502020204030204"/>
                <a:ea typeface="游ゴシック" panose="020B0400000000000000" pitchFamily="34" charset="-128"/>
              </a:rPr>
              <a:t> with </a:t>
            </a:r>
            <a:r>
              <a:rPr lang="en-NZ" altLang="ja-JP" sz="1800" b="1" i="1" dirty="0" err="1">
                <a:solidFill>
                  <a:prstClr val="black"/>
                </a:solidFill>
                <a:latin typeface="Calibri" panose="020F0502020204030204"/>
                <a:ea typeface="游ゴシック" panose="020B0400000000000000" pitchFamily="34" charset="-128"/>
              </a:rPr>
              <a:t>i</a:t>
            </a:r>
            <a:r>
              <a:rPr lang="en-NZ" altLang="ja-JP" sz="1800" b="1" i="1" dirty="0">
                <a:solidFill>
                  <a:prstClr val="black"/>
                </a:solidFill>
                <a:latin typeface="Calibri" panose="020F0502020204030204"/>
                <a:ea typeface="游ゴシック" panose="020B0400000000000000" pitchFamily="34" charset="-128"/>
              </a:rPr>
              <a:t> = 1, … , a </a:t>
            </a:r>
            <a:r>
              <a:rPr lang="en-NZ" altLang="ja-JP" sz="1800" dirty="0">
                <a:solidFill>
                  <a:prstClr val="black"/>
                </a:solidFill>
                <a:latin typeface="Calibri" panose="020F0502020204030204"/>
                <a:ea typeface="游ゴシック" panose="020B0400000000000000" pitchFamily="34" charset="-128"/>
              </a:rPr>
              <a:t>levels </a:t>
            </a:r>
          </a:p>
          <a:p>
            <a:pPr marL="971493" lvl="1" indent="-285750" algn="just">
              <a:lnSpc>
                <a:spcPct val="100000"/>
              </a:lnSpc>
              <a:spcBef>
                <a:spcPts val="0"/>
              </a:spcBef>
              <a:buFontTx/>
              <a:buChar char="-"/>
              <a:defRPr/>
            </a:pPr>
            <a:r>
              <a:rPr lang="en-NZ" altLang="ja-JP" sz="1800" dirty="0">
                <a:solidFill>
                  <a:prstClr val="black"/>
                </a:solidFill>
                <a:latin typeface="Calibri" panose="020F0502020204030204"/>
                <a:ea typeface="游ゴシック" panose="020B0400000000000000" pitchFamily="34" charset="-128"/>
              </a:rPr>
              <a:t>A factor </a:t>
            </a:r>
            <a:r>
              <a:rPr lang="en-NZ" altLang="ja-JP" sz="1800" b="1" i="1" dirty="0">
                <a:solidFill>
                  <a:prstClr val="black"/>
                </a:solidFill>
                <a:latin typeface="Calibri" panose="020F0502020204030204"/>
                <a:ea typeface="游ゴシック" panose="020B0400000000000000" pitchFamily="34" charset="-128"/>
              </a:rPr>
              <a:t>B</a:t>
            </a:r>
            <a:r>
              <a:rPr lang="en-NZ" altLang="ja-JP" sz="1800" dirty="0">
                <a:solidFill>
                  <a:prstClr val="black"/>
                </a:solidFill>
                <a:latin typeface="Calibri" panose="020F0502020204030204"/>
                <a:ea typeface="游ゴシック" panose="020B0400000000000000" pitchFamily="34" charset="-128"/>
              </a:rPr>
              <a:t> (with </a:t>
            </a:r>
            <a:r>
              <a:rPr lang="en-NZ" altLang="ja-JP" sz="1800" b="1" i="1" dirty="0">
                <a:solidFill>
                  <a:prstClr val="black"/>
                </a:solidFill>
                <a:latin typeface="Calibri" panose="020F0502020204030204"/>
                <a:ea typeface="游ゴシック" panose="020B0400000000000000" pitchFamily="34" charset="-128"/>
              </a:rPr>
              <a:t>b </a:t>
            </a:r>
            <a:r>
              <a:rPr lang="en-NZ" altLang="ja-JP" sz="1800" dirty="0">
                <a:solidFill>
                  <a:prstClr val="black"/>
                </a:solidFill>
                <a:latin typeface="Calibri" panose="020F0502020204030204"/>
                <a:ea typeface="游ゴシック" panose="020B0400000000000000" pitchFamily="34" charset="-128"/>
              </a:rPr>
              <a:t>randomly selected levels) nested in factor </a:t>
            </a:r>
            <a:r>
              <a:rPr lang="en-NZ" altLang="ja-JP" sz="1800" b="1" i="1" dirty="0">
                <a:solidFill>
                  <a:prstClr val="black"/>
                </a:solidFill>
                <a:latin typeface="Calibri" panose="020F0502020204030204"/>
                <a:ea typeface="游ゴシック" panose="020B0400000000000000" pitchFamily="34" charset="-128"/>
              </a:rPr>
              <a:t>A</a:t>
            </a:r>
          </a:p>
        </p:txBody>
      </p:sp>
      <p:sp>
        <p:nvSpPr>
          <p:cNvPr id="17" name="Text Placeholder 5">
            <a:extLst>
              <a:ext uri="{FF2B5EF4-FFF2-40B4-BE49-F238E27FC236}">
                <a16:creationId xmlns:a16="http://schemas.microsoft.com/office/drawing/2014/main" id="{DB67ABBD-EBE5-54A6-7329-9352FBDFC6FD}"/>
              </a:ext>
            </a:extLst>
          </p:cNvPr>
          <p:cNvSpPr txBox="1">
            <a:spLocks/>
          </p:cNvSpPr>
          <p:nvPr/>
        </p:nvSpPr>
        <p:spPr>
          <a:xfrm>
            <a:off x="312362" y="2025830"/>
            <a:ext cx="11777003" cy="41301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lang="en-NZ" altLang="ja-JP" sz="1800" dirty="0">
                <a:solidFill>
                  <a:prstClr val="black"/>
                </a:solidFill>
                <a:latin typeface="Calibri" panose="020F0502020204030204"/>
                <a:ea typeface="游ゴシック" panose="020B0400000000000000" pitchFamily="34" charset="-128"/>
              </a:rPr>
              <a:t>We take a balanced sample of </a:t>
            </a:r>
            <a:r>
              <a:rPr lang="en-NZ" altLang="ja-JP" sz="1800" b="1" i="1" dirty="0">
                <a:solidFill>
                  <a:prstClr val="black"/>
                </a:solidFill>
                <a:latin typeface="Calibri" panose="020F0502020204030204"/>
                <a:ea typeface="游ゴシック" panose="020B0400000000000000" pitchFamily="34" charset="-128"/>
              </a:rPr>
              <a:t>N</a:t>
            </a:r>
            <a:r>
              <a:rPr lang="en-NZ" altLang="ja-JP" sz="1800" dirty="0">
                <a:solidFill>
                  <a:prstClr val="black"/>
                </a:solidFill>
                <a:latin typeface="Calibri" panose="020F0502020204030204"/>
                <a:ea typeface="游ゴシック" panose="020B0400000000000000" pitchFamily="34" charset="-128"/>
              </a:rPr>
              <a:t> observations of </a:t>
            </a:r>
            <a:r>
              <a:rPr lang="en-NZ" altLang="ja-JP" sz="1800" b="1" i="1" dirty="0">
                <a:solidFill>
                  <a:prstClr val="black"/>
                </a:solidFill>
                <a:latin typeface="Calibri" panose="020F0502020204030204"/>
                <a:ea typeface="游ゴシック" panose="020B0400000000000000" pitchFamily="34" charset="-128"/>
              </a:rPr>
              <a:t>Y</a:t>
            </a:r>
            <a:r>
              <a:rPr lang="en-NZ" altLang="ja-JP" sz="1800" dirty="0">
                <a:solidFill>
                  <a:prstClr val="black"/>
                </a:solidFill>
                <a:latin typeface="Calibri" panose="020F0502020204030204"/>
                <a:ea typeface="游ゴシック" panose="020B0400000000000000" pitchFamily="34" charset="-128"/>
              </a:rPr>
              <a:t> with </a:t>
            </a:r>
            <a:r>
              <a:rPr lang="en-NZ" altLang="ja-JP" sz="1800" b="1" i="1" dirty="0">
                <a:solidFill>
                  <a:prstClr val="black"/>
                </a:solidFill>
                <a:latin typeface="Calibri" panose="020F0502020204030204"/>
                <a:ea typeface="游ゴシック" panose="020B0400000000000000" pitchFamily="34" charset="-128"/>
              </a:rPr>
              <a:t>n</a:t>
            </a:r>
            <a:r>
              <a:rPr lang="en-NZ" altLang="ja-JP" sz="1800" dirty="0">
                <a:solidFill>
                  <a:prstClr val="black"/>
                </a:solidFill>
                <a:latin typeface="Calibri" panose="020F0502020204030204"/>
                <a:ea typeface="游ゴシック" panose="020B0400000000000000" pitchFamily="34" charset="-128"/>
              </a:rPr>
              <a:t> observations in each cell. The </a:t>
            </a:r>
            <a:r>
              <a:rPr lang="en-NZ" altLang="ja-JP" sz="1800" b="1" i="1" dirty="0">
                <a:solidFill>
                  <a:prstClr val="black"/>
                </a:solidFill>
                <a:latin typeface="Calibri" panose="020F0502020204030204"/>
                <a:ea typeface="游ゴシック" panose="020B0400000000000000" pitchFamily="34" charset="-128"/>
              </a:rPr>
              <a:t>k</a:t>
            </a:r>
            <a:r>
              <a:rPr lang="en-NZ" altLang="ja-JP" sz="1800" b="1" i="1" baseline="30000" dirty="0">
                <a:solidFill>
                  <a:prstClr val="black"/>
                </a:solidFill>
                <a:latin typeface="Calibri" panose="020F0502020204030204"/>
                <a:ea typeface="游ゴシック" panose="020B0400000000000000" pitchFamily="34" charset="-128"/>
              </a:rPr>
              <a:t>th</a:t>
            </a:r>
            <a:r>
              <a:rPr lang="en-NZ" altLang="ja-JP" sz="1800" b="1" i="1" dirty="0">
                <a:solidFill>
                  <a:prstClr val="black"/>
                </a:solidFill>
                <a:latin typeface="Calibri" panose="020F0502020204030204"/>
                <a:ea typeface="游ゴシック" panose="020B0400000000000000" pitchFamily="34" charset="-128"/>
              </a:rPr>
              <a:t> </a:t>
            </a:r>
            <a:r>
              <a:rPr lang="en-NZ" altLang="ja-JP" sz="1800" dirty="0">
                <a:solidFill>
                  <a:prstClr val="black"/>
                </a:solidFill>
                <a:latin typeface="Calibri" panose="020F0502020204030204"/>
                <a:ea typeface="游ゴシック" panose="020B0400000000000000" pitchFamily="34" charset="-128"/>
              </a:rPr>
              <a:t>element in cell </a:t>
            </a:r>
            <a:r>
              <a:rPr lang="en-NZ" altLang="ja-JP" sz="1800" b="1" i="1" dirty="0">
                <a:solidFill>
                  <a:prstClr val="black"/>
                </a:solidFill>
                <a:latin typeface="Calibri" panose="020F0502020204030204"/>
                <a:ea typeface="游ゴシック" panose="020B0400000000000000" pitchFamily="34" charset="-128"/>
              </a:rPr>
              <a:t>(</a:t>
            </a:r>
            <a:r>
              <a:rPr lang="en-NZ" altLang="ja-JP" sz="1800" b="1" i="1" dirty="0" err="1">
                <a:solidFill>
                  <a:prstClr val="black"/>
                </a:solidFill>
                <a:latin typeface="Calibri" panose="020F0502020204030204"/>
                <a:ea typeface="游ゴシック" panose="020B0400000000000000" pitchFamily="34" charset="-128"/>
              </a:rPr>
              <a:t>i,j</a:t>
            </a:r>
            <a:r>
              <a:rPr lang="en-NZ" altLang="ja-JP" sz="1800" b="1" i="1" dirty="0">
                <a:solidFill>
                  <a:prstClr val="black"/>
                </a:solidFill>
                <a:latin typeface="Calibri" panose="020F0502020204030204"/>
                <a:ea typeface="游ゴシック" panose="020B0400000000000000" pitchFamily="34" charset="-128"/>
              </a:rPr>
              <a:t>)</a:t>
            </a:r>
            <a:r>
              <a:rPr lang="en-NZ" altLang="ja-JP" sz="1800" dirty="0">
                <a:solidFill>
                  <a:prstClr val="black"/>
                </a:solidFill>
                <a:latin typeface="Calibri" panose="020F0502020204030204"/>
                <a:ea typeface="游ゴシック" panose="020B0400000000000000" pitchFamily="34" charset="-128"/>
              </a:rPr>
              <a:t> is modelled as </a:t>
            </a:r>
          </a:p>
        </p:txBody>
      </p:sp>
      <mc:AlternateContent xmlns:mc="http://schemas.openxmlformats.org/markup-compatibility/2006" xmlns:a14="http://schemas.microsoft.com/office/drawing/2010/main">
        <mc:Choice Requires="a14">
          <p:sp>
            <p:nvSpPr>
              <p:cNvPr id="18" name="Text Placeholder 5">
                <a:extLst>
                  <a:ext uri="{FF2B5EF4-FFF2-40B4-BE49-F238E27FC236}">
                    <a16:creationId xmlns:a16="http://schemas.microsoft.com/office/drawing/2014/main" id="{0CEEAE7C-8B5C-49C1-DECF-ABDEC6F5C6BE}"/>
                  </a:ext>
                </a:extLst>
              </p:cNvPr>
              <p:cNvSpPr txBox="1">
                <a:spLocks/>
              </p:cNvSpPr>
              <p:nvPr/>
            </p:nvSpPr>
            <p:spPr>
              <a:xfrm>
                <a:off x="3364682" y="2457625"/>
                <a:ext cx="5462638" cy="47495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14:m>
                  <m:oMathPara xmlns:m="http://schemas.openxmlformats.org/officeDocument/2006/math">
                    <m:oMathParaPr>
                      <m:jc m:val="centerGroup"/>
                    </m:oMathParaPr>
                    <m:oMath xmlns:m="http://schemas.openxmlformats.org/officeDocument/2006/math">
                      <m:sSub>
                        <m:sSubPr>
                          <m:ctrlP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ctrlPr>
                        </m:sSubPr>
                        <m:e>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𝒀</m:t>
                          </m:r>
                        </m:e>
                        <m:sub>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𝒊𝒋𝒌</m:t>
                          </m:r>
                        </m:sub>
                      </m:sSub>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   =     </m:t>
                      </m:r>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𝝁</m:t>
                      </m:r>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  +   </m:t>
                      </m:r>
                      <m:sSub>
                        <m:sSubPr>
                          <m:ctrlP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ctrlPr>
                        </m:sSubPr>
                        <m:e>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𝜶</m:t>
                          </m:r>
                        </m:e>
                        <m:sub>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𝒊</m:t>
                          </m:r>
                        </m:sub>
                      </m:sSub>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  +   </m:t>
                      </m:r>
                      <m:sSub>
                        <m:sSubPr>
                          <m:ctrlP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ctrlPr>
                        </m:sSubPr>
                        <m:e>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𝑩</m:t>
                          </m:r>
                        </m:e>
                        <m:sub>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𝒋</m:t>
                          </m:r>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m:t>
                          </m:r>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𝒊</m:t>
                          </m:r>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m:t>
                          </m:r>
                        </m:sub>
                      </m:sSub>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  +   </m:t>
                      </m:r>
                      <m:sSub>
                        <m:sSubPr>
                          <m:ctrlP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ctrlPr>
                        </m:sSubPr>
                        <m:e>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𝝐</m:t>
                          </m:r>
                        </m:e>
                        <m:sub>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𝒌</m:t>
                          </m:r>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m:t>
                          </m:r>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𝒊𝒋</m:t>
                          </m:r>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m:t>
                          </m:r>
                        </m:sub>
                      </m:sSub>
                    </m:oMath>
                  </m:oMathPara>
                </a14:m>
                <a:endParaRPr kumimoji="1" lang="en-NZ" altLang="ja-JP" sz="1800" b="1" i="0"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800" b="1"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mc:Choice>
        <mc:Fallback xmlns="">
          <p:sp>
            <p:nvSpPr>
              <p:cNvPr id="18" name="Text Placeholder 5">
                <a:extLst>
                  <a:ext uri="{FF2B5EF4-FFF2-40B4-BE49-F238E27FC236}">
                    <a16:creationId xmlns:a16="http://schemas.microsoft.com/office/drawing/2014/main" id="{0CEEAE7C-8B5C-49C1-DECF-ABDEC6F5C6BE}"/>
                  </a:ext>
                </a:extLst>
              </p:cNvPr>
              <p:cNvSpPr txBox="1">
                <a:spLocks noRot="1" noChangeAspect="1" noMove="1" noResize="1" noEditPoints="1" noAdjustHandles="1" noChangeArrowheads="1" noChangeShapeType="1" noTextEdit="1"/>
              </p:cNvSpPr>
              <p:nvPr/>
            </p:nvSpPr>
            <p:spPr>
              <a:xfrm>
                <a:off x="3364682" y="2457625"/>
                <a:ext cx="5462638" cy="474953"/>
              </a:xfrm>
              <a:prstGeom prst="rect">
                <a:avLst/>
              </a:prstGeom>
              <a:blipFill>
                <a:blip r:embed="rId2"/>
                <a:stretch>
                  <a:fillRect/>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20" name="Text Placeholder 5">
                <a:extLst>
                  <a:ext uri="{FF2B5EF4-FFF2-40B4-BE49-F238E27FC236}">
                    <a16:creationId xmlns:a16="http://schemas.microsoft.com/office/drawing/2014/main" id="{91689025-3833-257B-1DD1-73CCD6DF11F5}"/>
                  </a:ext>
                </a:extLst>
              </p:cNvPr>
              <p:cNvSpPr txBox="1">
                <a:spLocks/>
              </p:cNvSpPr>
              <p:nvPr/>
            </p:nvSpPr>
            <p:spPr>
              <a:xfrm>
                <a:off x="530716" y="2952184"/>
                <a:ext cx="4867734" cy="1318675"/>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l-GR" altLang="ja-JP" sz="16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μ</a:t>
                </a:r>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is the population mean</a:t>
                </a:r>
                <a:endParaRPr kumimoji="1" lang="en-NZ" altLang="ja-JP" sz="16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14:m>
                  <m:oMath xmlns:m="http://schemas.openxmlformats.org/officeDocument/2006/math">
                    <m:sSub>
                      <m:sSubPr>
                        <m:ctrl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𝜶</m:t>
                        </m:r>
                      </m:e>
                      <m:sub>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𝒊</m:t>
                        </m:r>
                      </m:sub>
                    </m:sSub>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sSub>
                      <m:sSubPr>
                        <m:ctrl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𝝁</m:t>
                        </m:r>
                      </m:e>
                      <m:sub>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𝒊</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sub>
                    </m:sSub>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 −</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𝝁</m:t>
                    </m:r>
                  </m:oMath>
                </a14:m>
                <a:r>
                  <a:rPr kumimoji="1" lang="en-NZ" altLang="ja-JP" sz="16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a:t>
                </a:r>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is the effect of the </a:t>
                </a:r>
                <a:r>
                  <a:rPr kumimoji="1" lang="en-NZ" altLang="ja-JP" sz="1600" b="1" i="1" u="none" strike="noStrike" kern="1200" cap="none" spc="0" normalizeH="0" baseline="0" noProof="0" dirty="0" err="1">
                    <a:ln>
                      <a:noFill/>
                    </a:ln>
                    <a:solidFill>
                      <a:prstClr val="black"/>
                    </a:solidFill>
                    <a:effectLst/>
                    <a:uLnTx/>
                    <a:uFillTx/>
                    <a:latin typeface="Calibri" panose="020F0502020204030204"/>
                    <a:ea typeface="游ゴシック" panose="020B0400000000000000" pitchFamily="34" charset="-128"/>
                    <a:cs typeface="+mn-cs"/>
                  </a:rPr>
                  <a:t>i</a:t>
                </a:r>
                <a:r>
                  <a:rPr kumimoji="1" lang="en-NZ" altLang="ja-JP" sz="1600" b="1" i="1" u="none" strike="noStrike" kern="1200" cap="none" spc="0" normalizeH="0" baseline="30000" noProof="0" dirty="0" err="1">
                    <a:ln>
                      <a:noFill/>
                    </a:ln>
                    <a:solidFill>
                      <a:prstClr val="black"/>
                    </a:solidFill>
                    <a:effectLst/>
                    <a:uLnTx/>
                    <a:uFillTx/>
                    <a:latin typeface="Calibri" panose="020F0502020204030204"/>
                    <a:ea typeface="游ゴシック" panose="020B0400000000000000" pitchFamily="34" charset="-128"/>
                    <a:cs typeface="+mn-cs"/>
                  </a:rPr>
                  <a:t>th</a:t>
                </a:r>
                <a:r>
                  <a:rPr kumimoji="1" lang="en-NZ" altLang="ja-JP" sz="1600" b="0" i="1" u="none" strike="noStrike" kern="1200" cap="none" spc="0" normalizeH="0" baseline="-25000" noProof="0" dirty="0">
                    <a:ln>
                      <a:noFill/>
                    </a:ln>
                    <a:solidFill>
                      <a:prstClr val="black"/>
                    </a:solidFill>
                    <a:effectLst/>
                    <a:uLnTx/>
                    <a:uFillTx/>
                    <a:latin typeface="Calibri" panose="020F0502020204030204"/>
                    <a:ea typeface="游ゴシック" panose="020B0400000000000000" pitchFamily="34" charset="-128"/>
                    <a:cs typeface="+mn-cs"/>
                  </a:rPr>
                  <a:t> </a:t>
                </a:r>
                <a:r>
                  <a:rPr kumimoji="1" lang="en-NZ" altLang="ja-JP" sz="1600" b="0"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a:t>
                </a:r>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level of factor </a:t>
                </a:r>
                <a:r>
                  <a:rPr kumimoji="1" lang="en-NZ" altLang="ja-JP" sz="16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a:t>
                </a:r>
              </a:p>
              <a:p>
                <a:pPr lvl="0" algn="just">
                  <a:lnSpc>
                    <a:spcPct val="100000"/>
                  </a:lnSpc>
                  <a:defRPr/>
                </a:pPr>
                <a14:m>
                  <m:oMathPara xmlns:m="http://schemas.openxmlformats.org/officeDocument/2006/math">
                    <m:oMathParaPr>
                      <m:jc m:val="left"/>
                    </m:oMathParaPr>
                    <m:oMath xmlns:m="http://schemas.openxmlformats.org/officeDocument/2006/math">
                      <m:sSub>
                        <m:sSubPr>
                          <m:ctrl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𝑩</m:t>
                          </m:r>
                        </m:e>
                        <m:sub>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𝒋</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𝒊</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sub>
                      </m:sSub>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 ~ </m:t>
                      </m:r>
                      <m:r>
                        <a:rPr lang="en-NZ" altLang="ja-JP" sz="1600" b="1" i="1">
                          <a:solidFill>
                            <a:prstClr val="black"/>
                          </a:solidFill>
                          <a:latin typeface="Cambria Math" panose="02040503050406030204" pitchFamily="18" charset="0"/>
                        </a:rPr>
                        <m:t>𝑵</m:t>
                      </m:r>
                      <m:d>
                        <m:dPr>
                          <m:ctrlPr>
                            <a:rPr lang="en-NZ" altLang="ja-JP" sz="1600" b="1" i="1">
                              <a:solidFill>
                                <a:prstClr val="black"/>
                              </a:solidFill>
                              <a:latin typeface="Cambria Math" panose="02040503050406030204" pitchFamily="18" charset="0"/>
                            </a:rPr>
                          </m:ctrlPr>
                        </m:dPr>
                        <m:e>
                          <m:r>
                            <a:rPr lang="en-NZ" altLang="ja-JP" sz="1600" b="1" i="1">
                              <a:solidFill>
                                <a:prstClr val="black"/>
                              </a:solidFill>
                              <a:latin typeface="Cambria Math" panose="02040503050406030204" pitchFamily="18" charset="0"/>
                            </a:rPr>
                            <m:t>𝟎</m:t>
                          </m:r>
                          <m:r>
                            <a:rPr lang="en-NZ" altLang="ja-JP" sz="1600" b="1" i="1">
                              <a:solidFill>
                                <a:prstClr val="black"/>
                              </a:solidFill>
                              <a:latin typeface="Cambria Math" panose="02040503050406030204" pitchFamily="18" charset="0"/>
                            </a:rPr>
                            <m:t>, </m:t>
                          </m:r>
                          <m:sSubSup>
                            <m:sSubSupPr>
                              <m:ctrlPr>
                                <a:rPr lang="en-NZ" altLang="ja-JP" sz="1600" b="1" i="1" smtClean="0">
                                  <a:solidFill>
                                    <a:prstClr val="black"/>
                                  </a:solidFill>
                                  <a:latin typeface="Cambria Math" panose="02040503050406030204" pitchFamily="18" charset="0"/>
                                </a:rPr>
                              </m:ctrlPr>
                            </m:sSubSupPr>
                            <m:e>
                              <m:r>
                                <a:rPr lang="en-NZ" altLang="ja-JP" sz="1600" b="1" i="1">
                                  <a:solidFill>
                                    <a:prstClr val="black"/>
                                  </a:solidFill>
                                  <a:latin typeface="Cambria Math" panose="02040503050406030204" pitchFamily="18" charset="0"/>
                                </a:rPr>
                                <m:t>𝝈</m:t>
                              </m:r>
                            </m:e>
                            <m:sub>
                              <m:r>
                                <a:rPr lang="en-NZ" altLang="ja-JP" sz="1600" b="1" i="1" smtClean="0">
                                  <a:solidFill>
                                    <a:prstClr val="black"/>
                                  </a:solidFill>
                                  <a:latin typeface="Cambria Math" panose="02040503050406030204" pitchFamily="18" charset="0"/>
                                </a:rPr>
                                <m:t>𝑩</m:t>
                              </m:r>
                            </m:sub>
                            <m:sup>
                              <m:r>
                                <a:rPr lang="en-NZ" altLang="ja-JP" sz="1600" b="1" i="1">
                                  <a:solidFill>
                                    <a:prstClr val="black"/>
                                  </a:solidFill>
                                  <a:latin typeface="Cambria Math" panose="02040503050406030204" pitchFamily="18" charset="0"/>
                                </a:rPr>
                                <m:t>𝟐</m:t>
                              </m:r>
                            </m:sup>
                          </m:sSubSup>
                        </m:e>
                      </m:d>
                    </m:oMath>
                  </m:oMathPara>
                </a14:m>
                <a:endPar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14:m>
                  <m:oMathPara xmlns:m="http://schemas.openxmlformats.org/officeDocument/2006/math">
                    <m:oMathParaPr>
                      <m:jc m:val="left"/>
                    </m:oMathParaPr>
                    <m:oMath xmlns:m="http://schemas.openxmlformats.org/officeDocument/2006/math">
                      <m:sSub>
                        <m:sSubPr>
                          <m:ctrlP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𝝐</m:t>
                          </m:r>
                        </m:e>
                        <m:sub>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𝒌</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𝒊𝒋</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sub>
                      </m:sSub>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 ~ </m:t>
                      </m:r>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𝑵</m:t>
                      </m:r>
                      <m:d>
                        <m:dPr>
                          <m:ctrlP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ctrlPr>
                        </m:dPr>
                        <m:e>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𝟎</m:t>
                          </m:r>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 </m:t>
                          </m:r>
                          <m:sSup>
                            <m:sSupPr>
                              <m:ctrlP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ctrlPr>
                            </m:sSupPr>
                            <m:e>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𝝈</m:t>
                              </m:r>
                            </m:e>
                            <m:sup>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𝟐</m:t>
                              </m:r>
                            </m:sup>
                          </m:sSup>
                        </m:e>
                      </m:d>
                    </m:oMath>
                  </m:oMathPara>
                </a14:m>
                <a:endParaRPr kumimoji="1" lang="en-NZ" altLang="ja-JP" sz="1600" b="0"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mc:Choice>
        <mc:Fallback xmlns="">
          <p:sp>
            <p:nvSpPr>
              <p:cNvPr id="20" name="Text Placeholder 5">
                <a:extLst>
                  <a:ext uri="{FF2B5EF4-FFF2-40B4-BE49-F238E27FC236}">
                    <a16:creationId xmlns:a16="http://schemas.microsoft.com/office/drawing/2014/main" id="{91689025-3833-257B-1DD1-73CCD6DF11F5}"/>
                  </a:ext>
                </a:extLst>
              </p:cNvPr>
              <p:cNvSpPr txBox="1">
                <a:spLocks noRot="1" noChangeAspect="1" noMove="1" noResize="1" noEditPoints="1" noAdjustHandles="1" noChangeArrowheads="1" noChangeShapeType="1" noTextEdit="1"/>
              </p:cNvSpPr>
              <p:nvPr/>
            </p:nvSpPr>
            <p:spPr>
              <a:xfrm>
                <a:off x="530716" y="2952184"/>
                <a:ext cx="4867734" cy="1318675"/>
              </a:xfrm>
              <a:prstGeom prst="rect">
                <a:avLst/>
              </a:prstGeom>
              <a:blipFill>
                <a:blip r:embed="rId3"/>
                <a:stretch>
                  <a:fillRect l="-626" t="-1382"/>
                </a:stretch>
              </a:blipFill>
            </p:spPr>
            <p:txBody>
              <a:bodyPr/>
              <a:lstStyle/>
              <a:p>
                <a:r>
                  <a:rPr lang="en-NZ">
                    <a:noFill/>
                  </a:rPr>
                  <a:t> </a:t>
                </a:r>
              </a:p>
            </p:txBody>
          </p:sp>
        </mc:Fallback>
      </mc:AlternateContent>
      <p:sp>
        <p:nvSpPr>
          <p:cNvPr id="21" name="Text Placeholder 5">
            <a:extLst>
              <a:ext uri="{FF2B5EF4-FFF2-40B4-BE49-F238E27FC236}">
                <a16:creationId xmlns:a16="http://schemas.microsoft.com/office/drawing/2014/main" id="{2A3DBE85-D442-263A-265C-268BCEDF6E09}"/>
              </a:ext>
            </a:extLst>
          </p:cNvPr>
          <p:cNvSpPr txBox="1">
            <a:spLocks/>
          </p:cNvSpPr>
          <p:nvPr/>
        </p:nvSpPr>
        <p:spPr>
          <a:xfrm>
            <a:off x="5849639" y="2993383"/>
            <a:ext cx="4579200" cy="44493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We also have the usual constraint:</a:t>
            </a:r>
            <a:endParaRPr kumimoji="1" lang="en-NZ" altLang="ja-JP" sz="16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a:t>
            </a: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600" b="0"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mc:AlternateContent xmlns:mc="http://schemas.openxmlformats.org/markup-compatibility/2006" xmlns:a14="http://schemas.microsoft.com/office/drawing/2010/main">
        <mc:Choice Requires="a14">
          <p:sp>
            <p:nvSpPr>
              <p:cNvPr id="22" name="Text Placeholder 5">
                <a:extLst>
                  <a:ext uri="{FF2B5EF4-FFF2-40B4-BE49-F238E27FC236}">
                    <a16:creationId xmlns:a16="http://schemas.microsoft.com/office/drawing/2014/main" id="{5D727490-76E6-4F93-6BCD-054E1FDB3D14}"/>
                  </a:ext>
                </a:extLst>
              </p:cNvPr>
              <p:cNvSpPr txBox="1">
                <a:spLocks/>
              </p:cNvSpPr>
              <p:nvPr/>
            </p:nvSpPr>
            <p:spPr>
              <a:xfrm>
                <a:off x="5849639" y="3290833"/>
                <a:ext cx="1405094" cy="44493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14:m>
                  <m:oMath xmlns:m="http://schemas.openxmlformats.org/officeDocument/2006/math">
                    <m:nary>
                      <m:naryPr>
                        <m:chr m:val="∑"/>
                        <m:ctrlP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ctrlPr>
                      </m:naryPr>
                      <m:sub>
                        <m:r>
                          <m:rPr>
                            <m:brk m:alnAt="23"/>
                          </m:rP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𝒊</m:t>
                        </m:r>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m:t>
                        </m:r>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𝟏</m:t>
                        </m:r>
                      </m:sub>
                      <m:sup>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𝒂</m:t>
                        </m:r>
                      </m:sup>
                      <m:e>
                        <m:sSub>
                          <m:sSubPr>
                            <m:ctrlP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ctrlPr>
                          </m:sSubPr>
                          <m:e>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𝜶</m:t>
                            </m:r>
                          </m:e>
                          <m:sub>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𝒊</m:t>
                            </m:r>
                          </m:sub>
                        </m:sSub>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m:t>
                        </m:r>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𝟎</m:t>
                        </m:r>
                      </m:e>
                    </m:nary>
                  </m:oMath>
                </a14:m>
                <a:r>
                  <a:rPr kumimoji="1" lang="en-NZ" altLang="ja-JP" sz="18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a:t>
                </a: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8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800" b="1"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mc:Choice>
        <mc:Fallback xmlns="">
          <p:sp>
            <p:nvSpPr>
              <p:cNvPr id="22" name="Text Placeholder 5">
                <a:extLst>
                  <a:ext uri="{FF2B5EF4-FFF2-40B4-BE49-F238E27FC236}">
                    <a16:creationId xmlns:a16="http://schemas.microsoft.com/office/drawing/2014/main" id="{5D727490-76E6-4F93-6BCD-054E1FDB3D14}"/>
                  </a:ext>
                </a:extLst>
              </p:cNvPr>
              <p:cNvSpPr txBox="1">
                <a:spLocks noRot="1" noChangeAspect="1" noMove="1" noResize="1" noEditPoints="1" noAdjustHandles="1" noChangeArrowheads="1" noChangeShapeType="1" noTextEdit="1"/>
              </p:cNvSpPr>
              <p:nvPr/>
            </p:nvSpPr>
            <p:spPr>
              <a:xfrm>
                <a:off x="5849639" y="3290833"/>
                <a:ext cx="1405094" cy="444936"/>
              </a:xfrm>
              <a:prstGeom prst="rect">
                <a:avLst/>
              </a:prstGeom>
              <a:blipFill>
                <a:blip r:embed="rId4"/>
                <a:stretch>
                  <a:fillRect l="-24348" t="-100000" b="-136986"/>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23" name="Text Placeholder 5">
                <a:extLst>
                  <a:ext uri="{FF2B5EF4-FFF2-40B4-BE49-F238E27FC236}">
                    <a16:creationId xmlns:a16="http://schemas.microsoft.com/office/drawing/2014/main" id="{BAD1F8FD-0A2F-B0BF-ABE5-6232040CC8C5}"/>
                  </a:ext>
                </a:extLst>
              </p:cNvPr>
              <p:cNvSpPr txBox="1">
                <a:spLocks/>
              </p:cNvSpPr>
              <p:nvPr/>
            </p:nvSpPr>
            <p:spPr>
              <a:xfrm>
                <a:off x="7865132" y="3206532"/>
                <a:ext cx="2230812" cy="44493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14:m>
                  <m:oMath xmlns:m="http://schemas.openxmlformats.org/officeDocument/2006/math">
                    <m:f>
                      <m:fPr>
                        <m:ctrlP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ctrlPr>
                      </m:fPr>
                      <m:num>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𝟏</m:t>
                        </m:r>
                      </m:num>
                      <m:den>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𝒂</m:t>
                        </m:r>
                      </m:den>
                    </m:f>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 </m:t>
                    </m:r>
                    <m:nary>
                      <m:naryPr>
                        <m:chr m:val="∑"/>
                        <m:ctrlP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ctrlPr>
                      </m:naryPr>
                      <m:sub>
                        <m:r>
                          <m:rPr>
                            <m:brk m:alnAt="23"/>
                          </m:rP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𝒊</m:t>
                        </m:r>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m:t>
                        </m:r>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𝟏</m:t>
                        </m:r>
                      </m:sub>
                      <m:sup>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𝒂</m:t>
                        </m:r>
                      </m:sup>
                      <m:e>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 </m:t>
                        </m:r>
                        <m:sSub>
                          <m:sSubPr>
                            <m:ctrlP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ctrlPr>
                          </m:sSubPr>
                          <m:e>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𝝁</m:t>
                            </m:r>
                          </m:e>
                          <m:sub>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𝒊</m:t>
                            </m:r>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rPr>
                              <m:t>∙</m:t>
                            </m:r>
                          </m:sub>
                        </m:sSub>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 = </m:t>
                        </m:r>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𝝁</m:t>
                        </m:r>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 </m:t>
                        </m:r>
                      </m:e>
                    </m:nary>
                  </m:oMath>
                </a14:m>
                <a:r>
                  <a:rPr kumimoji="1" lang="en-NZ" altLang="ja-JP" sz="18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a:t>
                </a: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8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800" b="1"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mc:Choice>
        <mc:Fallback xmlns="">
          <p:sp>
            <p:nvSpPr>
              <p:cNvPr id="23" name="Text Placeholder 5">
                <a:extLst>
                  <a:ext uri="{FF2B5EF4-FFF2-40B4-BE49-F238E27FC236}">
                    <a16:creationId xmlns:a16="http://schemas.microsoft.com/office/drawing/2014/main" id="{BAD1F8FD-0A2F-B0BF-ABE5-6232040CC8C5}"/>
                  </a:ext>
                </a:extLst>
              </p:cNvPr>
              <p:cNvSpPr txBox="1">
                <a:spLocks noRot="1" noChangeAspect="1" noMove="1" noResize="1" noEditPoints="1" noAdjustHandles="1" noChangeArrowheads="1" noChangeShapeType="1" noTextEdit="1"/>
              </p:cNvSpPr>
              <p:nvPr/>
            </p:nvSpPr>
            <p:spPr>
              <a:xfrm>
                <a:off x="7865132" y="3206532"/>
                <a:ext cx="2230812" cy="444936"/>
              </a:xfrm>
              <a:prstGeom prst="rect">
                <a:avLst/>
              </a:prstGeom>
              <a:blipFill>
                <a:blip r:embed="rId5"/>
                <a:stretch>
                  <a:fillRect l="-6284" t="-84932" b="-152055"/>
                </a:stretch>
              </a:blipFill>
            </p:spPr>
            <p:txBody>
              <a:bodyPr/>
              <a:lstStyle/>
              <a:p>
                <a:r>
                  <a:rPr lang="en-NZ">
                    <a:noFill/>
                  </a:rPr>
                  <a:t> </a:t>
                </a:r>
              </a:p>
            </p:txBody>
          </p:sp>
        </mc:Fallback>
      </mc:AlternateContent>
      <p:sp>
        <p:nvSpPr>
          <p:cNvPr id="24" name="Text Placeholder 5">
            <a:extLst>
              <a:ext uri="{FF2B5EF4-FFF2-40B4-BE49-F238E27FC236}">
                <a16:creationId xmlns:a16="http://schemas.microsoft.com/office/drawing/2014/main" id="{DC488C4C-5411-6B3D-EF97-72605FD1DD2E}"/>
              </a:ext>
            </a:extLst>
          </p:cNvPr>
          <p:cNvSpPr txBox="1">
            <a:spLocks/>
          </p:cNvSpPr>
          <p:nvPr/>
        </p:nvSpPr>
        <p:spPr>
          <a:xfrm>
            <a:off x="7254733" y="3311527"/>
            <a:ext cx="465511" cy="365125"/>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lang="en-NZ" altLang="ja-JP" sz="1800" b="1" dirty="0">
                <a:solidFill>
                  <a:prstClr val="black"/>
                </a:solidFill>
                <a:latin typeface="Calibri" panose="020F0502020204030204"/>
                <a:ea typeface="游ゴシック" panose="020B0400000000000000" pitchFamily="34" charset="-128"/>
                <a:sym typeface="Wingdings" panose="05000000000000000000" pitchFamily="2" charset="2"/>
              </a:rPr>
              <a:t></a:t>
            </a:r>
            <a:endParaRPr kumimoji="1" lang="en-NZ" altLang="ja-JP" sz="1800" b="1"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mc:AlternateContent xmlns:mc="http://schemas.openxmlformats.org/markup-compatibility/2006" xmlns:a14="http://schemas.microsoft.com/office/drawing/2010/main">
        <mc:Choice Requires="a14">
          <p:sp>
            <p:nvSpPr>
              <p:cNvPr id="25" name="Text Placeholder 5">
                <a:extLst>
                  <a:ext uri="{FF2B5EF4-FFF2-40B4-BE49-F238E27FC236}">
                    <a16:creationId xmlns:a16="http://schemas.microsoft.com/office/drawing/2014/main" id="{7D853F2D-8630-E726-F63E-A20A8FE538A1}"/>
                  </a:ext>
                </a:extLst>
              </p:cNvPr>
              <p:cNvSpPr txBox="1">
                <a:spLocks/>
              </p:cNvSpPr>
              <p:nvPr/>
            </p:nvSpPr>
            <p:spPr>
              <a:xfrm>
                <a:off x="2522183" y="3513301"/>
                <a:ext cx="2861945" cy="532748"/>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14:m>
                  <m:oMath xmlns:m="http://schemas.openxmlformats.org/officeDocument/2006/math">
                    <m:r>
                      <a:rPr lang="en-NZ" altLang="ja-JP" sz="1400" b="1" i="1" smtClean="0">
                        <a:solidFill>
                          <a:schemeClr val="bg2">
                            <a:lumMod val="50000"/>
                          </a:schemeClr>
                        </a:solidFill>
                        <a:latin typeface="Cambria Math" panose="02040503050406030204" pitchFamily="18" charset="0"/>
                        <a:ea typeface="游ゴシック" panose="020B0400000000000000" pitchFamily="34" charset="-128"/>
                      </a:rPr>
                      <m:t>𝒋</m:t>
                    </m:r>
                    <m:r>
                      <a:rPr lang="en-NZ" altLang="ja-JP" sz="1400" b="1" i="1" smtClean="0">
                        <a:solidFill>
                          <a:schemeClr val="bg2">
                            <a:lumMod val="50000"/>
                          </a:schemeClr>
                        </a:solidFill>
                        <a:latin typeface="Cambria Math" panose="02040503050406030204" pitchFamily="18" charset="0"/>
                        <a:ea typeface="游ゴシック" panose="020B0400000000000000" pitchFamily="34" charset="-128"/>
                      </a:rPr>
                      <m:t>(</m:t>
                    </m:r>
                    <m:r>
                      <a:rPr lang="en-NZ" altLang="ja-JP" sz="1400" b="1" i="1" smtClean="0">
                        <a:solidFill>
                          <a:schemeClr val="bg2">
                            <a:lumMod val="50000"/>
                          </a:schemeClr>
                        </a:solidFill>
                        <a:latin typeface="Cambria Math" panose="02040503050406030204" pitchFamily="18" charset="0"/>
                        <a:ea typeface="游ゴシック" panose="020B0400000000000000" pitchFamily="34" charset="-128"/>
                      </a:rPr>
                      <m:t>𝒊</m:t>
                    </m:r>
                    <m:r>
                      <a:rPr lang="en-NZ" altLang="ja-JP" sz="1400" b="1" i="1" smtClean="0">
                        <a:solidFill>
                          <a:schemeClr val="bg2">
                            <a:lumMod val="50000"/>
                          </a:schemeClr>
                        </a:solidFill>
                        <a:latin typeface="Cambria Math" panose="02040503050406030204" pitchFamily="18" charset="0"/>
                        <a:ea typeface="游ゴシック" panose="020B0400000000000000" pitchFamily="34" charset="-128"/>
                      </a:rPr>
                      <m:t>)</m:t>
                    </m:r>
                  </m:oMath>
                </a14:m>
                <a:r>
                  <a:rPr lang="en-NZ" altLang="ja-JP" sz="1400" b="1" dirty="0">
                    <a:solidFill>
                      <a:schemeClr val="bg2">
                        <a:lumMod val="50000"/>
                      </a:schemeClr>
                    </a:solidFill>
                    <a:latin typeface="Calibri" panose="020F0502020204030204"/>
                    <a:ea typeface="游ゴシック" panose="020B0400000000000000" pitchFamily="34" charset="-128"/>
                  </a:rPr>
                  <a:t> </a:t>
                </a:r>
                <a:r>
                  <a:rPr lang="en-NZ" altLang="ja-JP" sz="1400" dirty="0">
                    <a:solidFill>
                      <a:schemeClr val="bg2">
                        <a:lumMod val="50000"/>
                      </a:schemeClr>
                    </a:solidFill>
                    <a:latin typeface="Calibri" panose="020F0502020204030204"/>
                    <a:ea typeface="游ゴシック" panose="020B0400000000000000" pitchFamily="34" charset="-128"/>
                  </a:rPr>
                  <a:t>is read as ‘</a:t>
                </a:r>
                <a:r>
                  <a:rPr lang="en-NZ" altLang="ja-JP" sz="1400" b="1" i="1" dirty="0">
                    <a:solidFill>
                      <a:schemeClr val="bg2">
                        <a:lumMod val="50000"/>
                      </a:schemeClr>
                    </a:solidFill>
                    <a:latin typeface="Calibri" panose="020F0502020204030204"/>
                    <a:ea typeface="游ゴシック" panose="020B0400000000000000" pitchFamily="34" charset="-128"/>
                  </a:rPr>
                  <a:t>j</a:t>
                </a:r>
                <a:r>
                  <a:rPr lang="en-NZ" altLang="ja-JP" sz="1400" dirty="0">
                    <a:solidFill>
                      <a:schemeClr val="bg2">
                        <a:lumMod val="50000"/>
                      </a:schemeClr>
                    </a:solidFill>
                    <a:latin typeface="Calibri" panose="020F0502020204030204"/>
                    <a:ea typeface="游ゴシック" panose="020B0400000000000000" pitchFamily="34" charset="-128"/>
                  </a:rPr>
                  <a:t> nested within </a:t>
                </a:r>
                <a:r>
                  <a:rPr lang="en-NZ" altLang="ja-JP" sz="1400" b="1" i="1" dirty="0" err="1">
                    <a:solidFill>
                      <a:schemeClr val="bg2">
                        <a:lumMod val="50000"/>
                      </a:schemeClr>
                    </a:solidFill>
                    <a:latin typeface="Calibri" panose="020F0502020204030204"/>
                    <a:ea typeface="游ゴシック" panose="020B0400000000000000" pitchFamily="34" charset="-128"/>
                  </a:rPr>
                  <a:t>i</a:t>
                </a:r>
                <a:r>
                  <a:rPr lang="en-NZ" altLang="ja-JP" sz="1400" dirty="0">
                    <a:solidFill>
                      <a:schemeClr val="bg2">
                        <a:lumMod val="50000"/>
                      </a:schemeClr>
                    </a:solidFill>
                    <a:latin typeface="Calibri" panose="020F0502020204030204"/>
                    <a:ea typeface="游ゴシック" panose="020B0400000000000000" pitchFamily="34" charset="-128"/>
                  </a:rPr>
                  <a:t>’</a:t>
                </a:r>
                <a:br>
                  <a:rPr lang="en-NZ" altLang="ja-JP" sz="1400" dirty="0">
                    <a:solidFill>
                      <a:schemeClr val="bg2">
                        <a:lumMod val="50000"/>
                      </a:schemeClr>
                    </a:solidFill>
                    <a:latin typeface="Calibri" panose="020F0502020204030204"/>
                    <a:ea typeface="游ゴシック" panose="020B0400000000000000" pitchFamily="34" charset="-128"/>
                  </a:rPr>
                </a:br>
                <a14:m>
                  <m:oMath xmlns:m="http://schemas.openxmlformats.org/officeDocument/2006/math">
                    <m:r>
                      <a:rPr lang="en-NZ" altLang="ja-JP" sz="1400" b="1" i="1" smtClean="0">
                        <a:solidFill>
                          <a:schemeClr val="bg2">
                            <a:lumMod val="50000"/>
                          </a:schemeClr>
                        </a:solidFill>
                        <a:latin typeface="Cambria Math" panose="02040503050406030204" pitchFamily="18" charset="0"/>
                        <a:ea typeface="游ゴシック" panose="020B0400000000000000" pitchFamily="34" charset="-128"/>
                      </a:rPr>
                      <m:t>𝒌</m:t>
                    </m:r>
                    <m:r>
                      <a:rPr lang="en-NZ" altLang="ja-JP" sz="1400" b="1" i="1" smtClean="0">
                        <a:solidFill>
                          <a:schemeClr val="bg2">
                            <a:lumMod val="50000"/>
                          </a:schemeClr>
                        </a:solidFill>
                        <a:latin typeface="Cambria Math" panose="02040503050406030204" pitchFamily="18" charset="0"/>
                        <a:ea typeface="游ゴシック" panose="020B0400000000000000" pitchFamily="34" charset="-128"/>
                      </a:rPr>
                      <m:t>(</m:t>
                    </m:r>
                    <m:r>
                      <a:rPr lang="en-NZ" altLang="ja-JP" sz="1400" b="1" i="1" smtClean="0">
                        <a:solidFill>
                          <a:schemeClr val="bg2">
                            <a:lumMod val="50000"/>
                          </a:schemeClr>
                        </a:solidFill>
                        <a:latin typeface="Cambria Math" panose="02040503050406030204" pitchFamily="18" charset="0"/>
                        <a:ea typeface="游ゴシック" panose="020B0400000000000000" pitchFamily="34" charset="-128"/>
                      </a:rPr>
                      <m:t>𝒊𝒋</m:t>
                    </m:r>
                    <m:r>
                      <a:rPr lang="en-NZ" altLang="ja-JP" sz="1400" b="1" i="1" smtClean="0">
                        <a:solidFill>
                          <a:schemeClr val="bg2">
                            <a:lumMod val="50000"/>
                          </a:schemeClr>
                        </a:solidFill>
                        <a:latin typeface="Cambria Math" panose="02040503050406030204" pitchFamily="18" charset="0"/>
                        <a:ea typeface="游ゴシック" panose="020B0400000000000000" pitchFamily="34" charset="-128"/>
                      </a:rPr>
                      <m:t>)</m:t>
                    </m:r>
                  </m:oMath>
                </a14:m>
                <a:r>
                  <a:rPr lang="en-NZ" altLang="ja-JP" sz="1400" b="1" dirty="0">
                    <a:solidFill>
                      <a:schemeClr val="bg2">
                        <a:lumMod val="50000"/>
                      </a:schemeClr>
                    </a:solidFill>
                    <a:latin typeface="Calibri" panose="020F0502020204030204"/>
                    <a:ea typeface="游ゴシック" panose="020B0400000000000000" pitchFamily="34" charset="-128"/>
                  </a:rPr>
                  <a:t> </a:t>
                </a:r>
                <a:r>
                  <a:rPr lang="en-NZ" altLang="ja-JP" sz="1400" dirty="0">
                    <a:solidFill>
                      <a:schemeClr val="bg2">
                        <a:lumMod val="50000"/>
                      </a:schemeClr>
                    </a:solidFill>
                    <a:latin typeface="Calibri" panose="020F0502020204030204"/>
                    <a:ea typeface="游ゴシック" panose="020B0400000000000000" pitchFamily="34" charset="-128"/>
                  </a:rPr>
                  <a:t>is read as ‘k nested within </a:t>
                </a:r>
                <a:r>
                  <a:rPr lang="en-NZ" altLang="ja-JP" sz="1400" b="1" i="1" dirty="0" err="1">
                    <a:solidFill>
                      <a:schemeClr val="bg2">
                        <a:lumMod val="50000"/>
                      </a:schemeClr>
                    </a:solidFill>
                    <a:latin typeface="Calibri" panose="020F0502020204030204"/>
                    <a:ea typeface="游ゴシック" panose="020B0400000000000000" pitchFamily="34" charset="-128"/>
                  </a:rPr>
                  <a:t>ij</a:t>
                </a:r>
                <a:r>
                  <a:rPr lang="en-NZ" altLang="ja-JP" sz="1400" dirty="0">
                    <a:solidFill>
                      <a:schemeClr val="bg2">
                        <a:lumMod val="50000"/>
                      </a:schemeClr>
                    </a:solidFill>
                    <a:latin typeface="Calibri" panose="020F0502020204030204"/>
                    <a:ea typeface="游ゴシック" panose="020B0400000000000000" pitchFamily="34" charset="-128"/>
                  </a:rPr>
                  <a:t>’</a:t>
                </a:r>
              </a:p>
            </p:txBody>
          </p:sp>
        </mc:Choice>
        <mc:Fallback xmlns="">
          <p:sp>
            <p:nvSpPr>
              <p:cNvPr id="25" name="Text Placeholder 5">
                <a:extLst>
                  <a:ext uri="{FF2B5EF4-FFF2-40B4-BE49-F238E27FC236}">
                    <a16:creationId xmlns:a16="http://schemas.microsoft.com/office/drawing/2014/main" id="{7D853F2D-8630-E726-F63E-A20A8FE538A1}"/>
                  </a:ext>
                </a:extLst>
              </p:cNvPr>
              <p:cNvSpPr txBox="1">
                <a:spLocks noRot="1" noChangeAspect="1" noMove="1" noResize="1" noEditPoints="1" noAdjustHandles="1" noChangeArrowheads="1" noChangeShapeType="1" noTextEdit="1"/>
              </p:cNvSpPr>
              <p:nvPr/>
            </p:nvSpPr>
            <p:spPr>
              <a:xfrm>
                <a:off x="2522183" y="3513301"/>
                <a:ext cx="2861945" cy="532748"/>
              </a:xfrm>
              <a:prstGeom prst="rect">
                <a:avLst/>
              </a:prstGeom>
              <a:blipFill>
                <a:blip r:embed="rId6"/>
                <a:stretch>
                  <a:fillRect t="-1136" r="-640" b="-9091"/>
                </a:stretch>
              </a:blipFill>
            </p:spPr>
            <p:txBody>
              <a:bodyPr/>
              <a:lstStyle/>
              <a:p>
                <a:r>
                  <a:rPr lang="en-NZ">
                    <a:noFill/>
                  </a:rPr>
                  <a:t> </a:t>
                </a:r>
              </a:p>
            </p:txBody>
          </p:sp>
        </mc:Fallback>
      </mc:AlternateContent>
      <p:sp>
        <p:nvSpPr>
          <p:cNvPr id="26" name="Right Brace 25">
            <a:extLst>
              <a:ext uri="{FF2B5EF4-FFF2-40B4-BE49-F238E27FC236}">
                <a16:creationId xmlns:a16="http://schemas.microsoft.com/office/drawing/2014/main" id="{CA30D687-4E97-241C-0AC8-4823072319B9}"/>
              </a:ext>
            </a:extLst>
          </p:cNvPr>
          <p:cNvSpPr/>
          <p:nvPr/>
        </p:nvSpPr>
        <p:spPr>
          <a:xfrm>
            <a:off x="2204079" y="3527804"/>
            <a:ext cx="173216" cy="518245"/>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NZ" dirty="0"/>
          </a:p>
        </p:txBody>
      </p:sp>
      <p:sp>
        <p:nvSpPr>
          <p:cNvPr id="27" name="Text Placeholder 5">
            <a:extLst>
              <a:ext uri="{FF2B5EF4-FFF2-40B4-BE49-F238E27FC236}">
                <a16:creationId xmlns:a16="http://schemas.microsoft.com/office/drawing/2014/main" id="{8724D194-593C-DD9A-843F-6A873D169DB4}"/>
              </a:ext>
            </a:extLst>
          </p:cNvPr>
          <p:cNvSpPr txBox="1">
            <a:spLocks/>
          </p:cNvSpPr>
          <p:nvPr/>
        </p:nvSpPr>
        <p:spPr>
          <a:xfrm>
            <a:off x="231837" y="4371180"/>
            <a:ext cx="6265690" cy="413017"/>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1600" dirty="0">
                <a:solidFill>
                  <a:schemeClr val="tx1"/>
                </a:solidFill>
              </a:rPr>
              <a:t>We wish to test whether factor </a:t>
            </a:r>
            <a:r>
              <a:rPr lang="en-NZ" altLang="ja-JP" sz="1600" b="1" i="1" dirty="0">
                <a:solidFill>
                  <a:schemeClr val="tx1"/>
                </a:solidFill>
              </a:rPr>
              <a:t>A</a:t>
            </a:r>
            <a:r>
              <a:rPr lang="en-NZ" altLang="ja-JP" sz="1600" dirty="0">
                <a:solidFill>
                  <a:schemeClr val="tx1"/>
                </a:solidFill>
              </a:rPr>
              <a:t> has any effect on the response variable, i.e. we wish to test between the hypotheses:</a:t>
            </a:r>
          </a:p>
        </p:txBody>
      </p:sp>
      <mc:AlternateContent xmlns:mc="http://schemas.openxmlformats.org/markup-compatibility/2006" xmlns:a14="http://schemas.microsoft.com/office/drawing/2010/main">
        <mc:Choice Requires="a14">
          <p:sp>
            <p:nvSpPr>
              <p:cNvPr id="28" name="Text Placeholder 5">
                <a:extLst>
                  <a:ext uri="{FF2B5EF4-FFF2-40B4-BE49-F238E27FC236}">
                    <a16:creationId xmlns:a16="http://schemas.microsoft.com/office/drawing/2014/main" id="{77A20509-023E-BD96-9258-577BBAE45B50}"/>
                  </a:ext>
                </a:extLst>
              </p:cNvPr>
              <p:cNvSpPr txBox="1">
                <a:spLocks/>
              </p:cNvSpPr>
              <p:nvPr/>
            </p:nvSpPr>
            <p:spPr>
              <a:xfrm>
                <a:off x="1610943" y="5018887"/>
                <a:ext cx="3507477" cy="801442"/>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nSpc>
                    <a:spcPct val="100000"/>
                  </a:lnSpc>
                </a:pPr>
                <a14:m>
                  <m:oMath xmlns:m="http://schemas.openxmlformats.org/officeDocument/2006/math">
                    <m:sSub>
                      <m:sSubPr>
                        <m:ctrlPr>
                          <a:rPr lang="en-NZ" altLang="ja-JP" sz="1600" b="1" i="1" smtClean="0">
                            <a:solidFill>
                              <a:schemeClr val="tx1"/>
                            </a:solidFill>
                            <a:latin typeface="Cambria Math" panose="02040503050406030204" pitchFamily="18" charset="0"/>
                          </a:rPr>
                        </m:ctrlPr>
                      </m:sSubPr>
                      <m:e>
                        <m:r>
                          <a:rPr lang="en-NZ" altLang="ja-JP" sz="1600" b="1" i="1" smtClean="0">
                            <a:solidFill>
                              <a:schemeClr val="tx1"/>
                            </a:solidFill>
                            <a:latin typeface="Cambria Math" panose="02040503050406030204" pitchFamily="18" charset="0"/>
                          </a:rPr>
                          <m:t>𝑯</m:t>
                        </m:r>
                      </m:e>
                      <m:sub>
                        <m:r>
                          <a:rPr lang="en-NZ" altLang="ja-JP" sz="1600" b="1" i="1" smtClean="0">
                            <a:solidFill>
                              <a:schemeClr val="tx1"/>
                            </a:solidFill>
                            <a:latin typeface="Cambria Math" panose="02040503050406030204" pitchFamily="18" charset="0"/>
                          </a:rPr>
                          <m:t>𝟎</m:t>
                        </m:r>
                      </m:sub>
                    </m:sSub>
                    <m:r>
                      <a:rPr lang="en-NZ" altLang="ja-JP" sz="1600" b="1" i="1" smtClean="0">
                        <a:solidFill>
                          <a:schemeClr val="tx1"/>
                        </a:solidFill>
                        <a:latin typeface="Cambria Math" panose="02040503050406030204" pitchFamily="18" charset="0"/>
                      </a:rPr>
                      <m:t> :  </m:t>
                    </m:r>
                    <m:sSub>
                      <m:sSubPr>
                        <m:ctrlPr>
                          <a:rPr lang="en-NZ" altLang="ja-JP" sz="1600" b="1" i="1" smtClean="0">
                            <a:solidFill>
                              <a:schemeClr val="tx1"/>
                            </a:solidFill>
                            <a:latin typeface="Cambria Math" panose="02040503050406030204" pitchFamily="18" charset="0"/>
                          </a:rPr>
                        </m:ctrlPr>
                      </m:sSubPr>
                      <m:e>
                        <m:r>
                          <a:rPr lang="en-NZ" altLang="ja-JP" sz="1600" b="1" i="1" smtClean="0">
                            <a:solidFill>
                              <a:schemeClr val="tx1"/>
                            </a:solidFill>
                            <a:latin typeface="Cambria Math" panose="02040503050406030204" pitchFamily="18" charset="0"/>
                          </a:rPr>
                          <m:t>𝜶</m:t>
                        </m:r>
                      </m:e>
                      <m:sub>
                        <m:r>
                          <a:rPr lang="en-NZ" altLang="ja-JP" sz="1600" b="1" i="1" smtClean="0">
                            <a:solidFill>
                              <a:schemeClr val="tx1"/>
                            </a:solidFill>
                            <a:latin typeface="Cambria Math" panose="02040503050406030204" pitchFamily="18" charset="0"/>
                          </a:rPr>
                          <m:t>𝒊</m:t>
                        </m:r>
                      </m:sub>
                    </m:sSub>
                    <m:r>
                      <a:rPr lang="en-NZ" altLang="ja-JP" sz="1600" b="1" i="1" smtClean="0">
                        <a:solidFill>
                          <a:schemeClr val="tx1"/>
                        </a:solidFill>
                        <a:latin typeface="Cambria Math" panose="02040503050406030204" pitchFamily="18" charset="0"/>
                      </a:rPr>
                      <m:t>=</m:t>
                    </m:r>
                    <m:r>
                      <a:rPr lang="en-NZ" altLang="ja-JP" sz="1600" b="1" i="1" smtClean="0">
                        <a:solidFill>
                          <a:schemeClr val="tx1"/>
                        </a:solidFill>
                        <a:latin typeface="Cambria Math" panose="02040503050406030204" pitchFamily="18" charset="0"/>
                      </a:rPr>
                      <m:t>𝟎</m:t>
                    </m:r>
                  </m:oMath>
                </a14:m>
                <a:r>
                  <a:rPr lang="en-NZ" altLang="ja-JP" sz="1600" b="1" i="1" dirty="0">
                    <a:solidFill>
                      <a:schemeClr val="tx1"/>
                    </a:solidFill>
                    <a:latin typeface="Cambria Math" panose="02040503050406030204" pitchFamily="18" charset="0"/>
                  </a:rPr>
                  <a:t>  </a:t>
                </a:r>
                <a:r>
                  <a:rPr lang="en-NZ" altLang="ja-JP" sz="1600" dirty="0">
                    <a:solidFill>
                      <a:schemeClr val="tx1"/>
                    </a:solidFill>
                    <a:latin typeface="Cambria Math" panose="02040503050406030204" pitchFamily="18" charset="0"/>
                  </a:rPr>
                  <a:t>for all </a:t>
                </a:r>
                <a14:m>
                  <m:oMath xmlns:m="http://schemas.openxmlformats.org/officeDocument/2006/math">
                    <m:r>
                      <a:rPr lang="en-NZ" altLang="ja-JP" sz="1600" b="0" i="1" smtClean="0">
                        <a:solidFill>
                          <a:schemeClr val="tx1"/>
                        </a:solidFill>
                        <a:latin typeface="Cambria Math" panose="02040503050406030204" pitchFamily="18" charset="0"/>
                      </a:rPr>
                      <m:t>𝑖</m:t>
                    </m:r>
                    <m:r>
                      <a:rPr lang="en-NZ" altLang="ja-JP" sz="1600" b="0" i="1" smtClean="0">
                        <a:solidFill>
                          <a:schemeClr val="tx1"/>
                        </a:solidFill>
                        <a:latin typeface="Cambria Math" panose="02040503050406030204" pitchFamily="18" charset="0"/>
                      </a:rPr>
                      <m:t>=1, …, </m:t>
                    </m:r>
                    <m:r>
                      <a:rPr lang="en-NZ" altLang="ja-JP" sz="1600" b="0" i="1" smtClean="0">
                        <a:solidFill>
                          <a:schemeClr val="tx1"/>
                        </a:solidFill>
                        <a:latin typeface="Cambria Math" panose="02040503050406030204" pitchFamily="18" charset="0"/>
                      </a:rPr>
                      <m:t>𝑎</m:t>
                    </m:r>
                  </m:oMath>
                </a14:m>
                <a:r>
                  <a:rPr lang="en-NZ" altLang="ja-JP" sz="1600" dirty="0">
                    <a:solidFill>
                      <a:schemeClr val="tx1"/>
                    </a:solidFill>
                    <a:latin typeface="Cambria Math" panose="02040503050406030204" pitchFamily="18" charset="0"/>
                  </a:rPr>
                  <a:t> </a:t>
                </a:r>
                <a:br>
                  <a:rPr lang="en-NZ" altLang="ja-JP" sz="1600" b="1" i="1" dirty="0">
                    <a:solidFill>
                      <a:schemeClr val="tx1"/>
                    </a:solidFill>
                    <a:latin typeface="Cambria Math" panose="02040503050406030204" pitchFamily="18" charset="0"/>
                  </a:rPr>
                </a:br>
                <a14:m>
                  <m:oMath xmlns:m="http://schemas.openxmlformats.org/officeDocument/2006/math">
                    <m:sSub>
                      <m:sSubPr>
                        <m:ctrlPr>
                          <a:rPr lang="en-NZ" altLang="ja-JP" sz="1600" b="1" i="1">
                            <a:solidFill>
                              <a:schemeClr val="tx1"/>
                            </a:solidFill>
                            <a:latin typeface="Cambria Math" panose="02040503050406030204" pitchFamily="18" charset="0"/>
                          </a:rPr>
                        </m:ctrlPr>
                      </m:sSubPr>
                      <m:e>
                        <m:r>
                          <a:rPr lang="en-NZ" altLang="ja-JP" sz="1600" b="1" i="1">
                            <a:solidFill>
                              <a:schemeClr val="tx1"/>
                            </a:solidFill>
                            <a:latin typeface="Cambria Math" panose="02040503050406030204" pitchFamily="18" charset="0"/>
                          </a:rPr>
                          <m:t>𝑯</m:t>
                        </m:r>
                      </m:e>
                      <m:sub>
                        <m:r>
                          <a:rPr lang="en-NZ" altLang="ja-JP" sz="1600" b="1" i="1" smtClean="0">
                            <a:solidFill>
                              <a:schemeClr val="tx1"/>
                            </a:solidFill>
                            <a:latin typeface="Cambria Math" panose="02040503050406030204" pitchFamily="18" charset="0"/>
                          </a:rPr>
                          <m:t>𝟏</m:t>
                        </m:r>
                      </m:sub>
                    </m:sSub>
                    <m:r>
                      <a:rPr lang="en-NZ" altLang="ja-JP" sz="1600" b="1" i="1">
                        <a:solidFill>
                          <a:schemeClr val="tx1"/>
                        </a:solidFill>
                        <a:latin typeface="Cambria Math" panose="02040503050406030204" pitchFamily="18" charset="0"/>
                      </a:rPr>
                      <m:t> :  </m:t>
                    </m:r>
                    <m:sSub>
                      <m:sSubPr>
                        <m:ctrlPr>
                          <a:rPr lang="en-NZ" altLang="ja-JP" sz="1600" b="1" i="1" smtClean="0">
                            <a:solidFill>
                              <a:schemeClr val="tx1"/>
                            </a:solidFill>
                            <a:latin typeface="Cambria Math" panose="02040503050406030204" pitchFamily="18" charset="0"/>
                          </a:rPr>
                        </m:ctrlPr>
                      </m:sSubPr>
                      <m:e>
                        <m:r>
                          <a:rPr lang="en-NZ" altLang="ja-JP" sz="1600" b="1" i="1" smtClean="0">
                            <a:solidFill>
                              <a:schemeClr val="tx1"/>
                            </a:solidFill>
                            <a:latin typeface="Cambria Math" panose="02040503050406030204" pitchFamily="18" charset="0"/>
                          </a:rPr>
                          <m:t>𝜶</m:t>
                        </m:r>
                      </m:e>
                      <m:sub>
                        <m:r>
                          <a:rPr lang="en-NZ" altLang="ja-JP" sz="1600" b="1" i="1" smtClean="0">
                            <a:solidFill>
                              <a:schemeClr val="tx1"/>
                            </a:solidFill>
                            <a:latin typeface="Cambria Math" panose="02040503050406030204" pitchFamily="18" charset="0"/>
                          </a:rPr>
                          <m:t>𝒊</m:t>
                        </m:r>
                      </m:sub>
                    </m:sSub>
                    <m:r>
                      <a:rPr lang="en-NZ" altLang="ja-JP" sz="1600" b="1" i="1" smtClean="0">
                        <a:solidFill>
                          <a:schemeClr val="tx1"/>
                        </a:solidFill>
                        <a:latin typeface="Cambria Math" panose="02040503050406030204" pitchFamily="18" charset="0"/>
                      </a:rPr>
                      <m:t>≠</m:t>
                    </m:r>
                    <m:r>
                      <a:rPr lang="en-NZ" altLang="ja-JP" sz="1600" b="1" i="1" smtClean="0">
                        <a:solidFill>
                          <a:schemeClr val="tx1"/>
                        </a:solidFill>
                        <a:latin typeface="Cambria Math" panose="02040503050406030204" pitchFamily="18" charset="0"/>
                      </a:rPr>
                      <m:t>𝟎</m:t>
                    </m:r>
                  </m:oMath>
                </a14:m>
                <a:r>
                  <a:rPr lang="en-NZ" altLang="ja-JP" sz="1600" b="1" dirty="0">
                    <a:solidFill>
                      <a:schemeClr val="tx1"/>
                    </a:solidFill>
                  </a:rPr>
                  <a:t>  </a:t>
                </a:r>
                <a:r>
                  <a:rPr lang="en-NZ" altLang="ja-JP" sz="1600" dirty="0">
                    <a:solidFill>
                      <a:schemeClr val="tx1"/>
                    </a:solidFill>
                  </a:rPr>
                  <a:t>for some </a:t>
                </a:r>
                <a14:m>
                  <m:oMath xmlns:m="http://schemas.openxmlformats.org/officeDocument/2006/math">
                    <m:r>
                      <a:rPr lang="en-NZ" altLang="ja-JP" sz="1600" b="0" i="1" smtClean="0">
                        <a:solidFill>
                          <a:schemeClr val="tx1"/>
                        </a:solidFill>
                        <a:latin typeface="Cambria Math" panose="02040503050406030204" pitchFamily="18" charset="0"/>
                      </a:rPr>
                      <m:t>𝑖</m:t>
                    </m:r>
                  </m:oMath>
                </a14:m>
                <a:endParaRPr lang="en-NZ" altLang="ja-JP" sz="1600" dirty="0">
                  <a:solidFill>
                    <a:schemeClr val="tx1"/>
                  </a:solidFill>
                </a:endParaRPr>
              </a:p>
            </p:txBody>
          </p:sp>
        </mc:Choice>
        <mc:Fallback xmlns="">
          <p:sp>
            <p:nvSpPr>
              <p:cNvPr id="28" name="Text Placeholder 5">
                <a:extLst>
                  <a:ext uri="{FF2B5EF4-FFF2-40B4-BE49-F238E27FC236}">
                    <a16:creationId xmlns:a16="http://schemas.microsoft.com/office/drawing/2014/main" id="{77A20509-023E-BD96-9258-577BBAE45B50}"/>
                  </a:ext>
                </a:extLst>
              </p:cNvPr>
              <p:cNvSpPr txBox="1">
                <a:spLocks noRot="1" noChangeAspect="1" noMove="1" noResize="1" noEditPoints="1" noAdjustHandles="1" noChangeArrowheads="1" noChangeShapeType="1" noTextEdit="1"/>
              </p:cNvSpPr>
              <p:nvPr/>
            </p:nvSpPr>
            <p:spPr>
              <a:xfrm>
                <a:off x="1610943" y="5018887"/>
                <a:ext cx="3507477" cy="801442"/>
              </a:xfrm>
              <a:prstGeom prst="rect">
                <a:avLst/>
              </a:prstGeom>
              <a:blipFill>
                <a:blip r:embed="rId7"/>
                <a:stretch>
                  <a:fillRect t="-3030"/>
                </a:stretch>
              </a:blipFill>
            </p:spPr>
            <p:txBody>
              <a:bodyPr/>
              <a:lstStyle/>
              <a:p>
                <a:r>
                  <a:rPr lang="en-NZ">
                    <a:noFill/>
                  </a:rPr>
                  <a:t> </a:t>
                </a:r>
              </a:p>
            </p:txBody>
          </p:sp>
        </mc:Fallback>
      </mc:AlternateContent>
      <p:sp>
        <p:nvSpPr>
          <p:cNvPr id="29" name="Text Placeholder 5">
            <a:extLst>
              <a:ext uri="{FF2B5EF4-FFF2-40B4-BE49-F238E27FC236}">
                <a16:creationId xmlns:a16="http://schemas.microsoft.com/office/drawing/2014/main" id="{A7961574-AA87-8715-FC5A-6D10D2513380}"/>
              </a:ext>
            </a:extLst>
          </p:cNvPr>
          <p:cNvSpPr txBox="1">
            <a:spLocks/>
          </p:cNvSpPr>
          <p:nvPr/>
        </p:nvSpPr>
        <p:spPr>
          <a:xfrm>
            <a:off x="231836" y="6203193"/>
            <a:ext cx="7779399" cy="413017"/>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1200" dirty="0">
                <a:solidFill>
                  <a:schemeClr val="tx1"/>
                </a:solidFill>
              </a:rPr>
              <a:t>Since only some levels of </a:t>
            </a:r>
            <a:r>
              <a:rPr lang="en-NZ" altLang="ja-JP" sz="1200" b="1" i="1" dirty="0">
                <a:solidFill>
                  <a:schemeClr val="tx1"/>
                </a:solidFill>
              </a:rPr>
              <a:t>Factor B</a:t>
            </a:r>
            <a:r>
              <a:rPr lang="en-NZ" altLang="ja-JP" sz="1200" dirty="0">
                <a:solidFill>
                  <a:schemeClr val="tx1"/>
                </a:solidFill>
              </a:rPr>
              <a:t> appear within each level of </a:t>
            </a:r>
            <a:r>
              <a:rPr lang="en-NZ" altLang="ja-JP" sz="1200" b="1" dirty="0">
                <a:solidFill>
                  <a:schemeClr val="tx1"/>
                </a:solidFill>
              </a:rPr>
              <a:t>Factor </a:t>
            </a:r>
            <a:r>
              <a:rPr lang="en-NZ" altLang="ja-JP" sz="1200" b="1" i="1" dirty="0">
                <a:solidFill>
                  <a:schemeClr val="tx1"/>
                </a:solidFill>
              </a:rPr>
              <a:t>A</a:t>
            </a:r>
            <a:r>
              <a:rPr lang="en-NZ" altLang="ja-JP" sz="1200" dirty="0">
                <a:solidFill>
                  <a:schemeClr val="tx1"/>
                </a:solidFill>
              </a:rPr>
              <a:t> there can be no interactions between </a:t>
            </a:r>
            <a:r>
              <a:rPr lang="en-NZ" altLang="ja-JP" sz="1200" b="1" i="1" dirty="0">
                <a:solidFill>
                  <a:schemeClr val="tx1"/>
                </a:solidFill>
              </a:rPr>
              <a:t>A</a:t>
            </a:r>
            <a:r>
              <a:rPr lang="en-NZ" altLang="ja-JP" sz="1200" b="1" dirty="0">
                <a:solidFill>
                  <a:schemeClr val="tx1"/>
                </a:solidFill>
              </a:rPr>
              <a:t> </a:t>
            </a:r>
            <a:r>
              <a:rPr lang="en-NZ" altLang="ja-JP" sz="1200" dirty="0">
                <a:solidFill>
                  <a:schemeClr val="tx1"/>
                </a:solidFill>
              </a:rPr>
              <a:t>and </a:t>
            </a:r>
            <a:r>
              <a:rPr lang="en-NZ" altLang="ja-JP" sz="1200" b="1" i="1" dirty="0">
                <a:solidFill>
                  <a:schemeClr val="tx1"/>
                </a:solidFill>
              </a:rPr>
              <a:t>B.</a:t>
            </a:r>
            <a:endParaRPr lang="en-NZ" altLang="ja-JP" sz="1200" dirty="0">
              <a:solidFill>
                <a:schemeClr val="tx1"/>
              </a:solidFill>
            </a:endParaRPr>
          </a:p>
          <a:p>
            <a:pPr algn="just">
              <a:lnSpc>
                <a:spcPct val="100000"/>
              </a:lnSpc>
            </a:pPr>
            <a:r>
              <a:rPr lang="en-NZ" altLang="ja-JP" sz="1200" dirty="0">
                <a:solidFill>
                  <a:schemeClr val="tx1"/>
                </a:solidFill>
              </a:rPr>
              <a:t>We are not able to test whether </a:t>
            </a:r>
            <a:r>
              <a:rPr lang="en-NZ" altLang="ja-JP" sz="1200" b="1" i="1" dirty="0">
                <a:solidFill>
                  <a:schemeClr val="tx1"/>
                </a:solidFill>
              </a:rPr>
              <a:t>Factor B </a:t>
            </a:r>
            <a:r>
              <a:rPr lang="en-NZ" altLang="ja-JP" sz="1200" dirty="0">
                <a:solidFill>
                  <a:schemeClr val="tx1"/>
                </a:solidFill>
              </a:rPr>
              <a:t>has an effect on the response variable because of the nesting.</a:t>
            </a:r>
          </a:p>
        </p:txBody>
      </p:sp>
      <p:sp>
        <p:nvSpPr>
          <p:cNvPr id="30" name="Text Placeholder 5">
            <a:extLst>
              <a:ext uri="{FF2B5EF4-FFF2-40B4-BE49-F238E27FC236}">
                <a16:creationId xmlns:a16="http://schemas.microsoft.com/office/drawing/2014/main" id="{64FC58CA-5E1D-8AA7-E916-E6D3F951F5B2}"/>
              </a:ext>
            </a:extLst>
          </p:cNvPr>
          <p:cNvSpPr txBox="1">
            <a:spLocks/>
          </p:cNvSpPr>
          <p:nvPr/>
        </p:nvSpPr>
        <p:spPr>
          <a:xfrm>
            <a:off x="244973" y="5859804"/>
            <a:ext cx="996974" cy="413017"/>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1600" b="1" u="sng" dirty="0">
                <a:solidFill>
                  <a:schemeClr val="tx1"/>
                </a:solidFill>
              </a:rPr>
              <a:t>Note:</a:t>
            </a:r>
          </a:p>
        </p:txBody>
      </p:sp>
    </p:spTree>
    <p:extLst>
      <p:ext uri="{BB962C8B-B14F-4D97-AF65-F5344CB8AC3E}">
        <p14:creationId xmlns:p14="http://schemas.microsoft.com/office/powerpoint/2010/main" val="22011673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P spid="28" grpId="0"/>
      <p:bldP spid="29" grpId="0"/>
      <p:bldP spid="30"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2">
            <a:extLst>
              <a:ext uri="{FF2B5EF4-FFF2-40B4-BE49-F238E27FC236}">
                <a16:creationId xmlns:a16="http://schemas.microsoft.com/office/drawing/2014/main" id="{FCA3135E-12FE-4808-B68B-466D5B0EBCB1}"/>
              </a:ext>
            </a:extLst>
          </p:cNvPr>
          <p:cNvSpPr txBox="1">
            <a:spLocks/>
          </p:cNvSpPr>
          <p:nvPr/>
        </p:nvSpPr>
        <p:spPr>
          <a:xfrm>
            <a:off x="8775510" y="86139"/>
            <a:ext cx="3313855"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600" dirty="0">
                <a:solidFill>
                  <a:srgbClr val="DEDDDD"/>
                </a:solidFill>
                <a:latin typeface="Gidole"/>
                <a:ea typeface="游ゴシック" panose="020B0400000000000000" pitchFamily="34" charset="-128"/>
              </a:rPr>
              <a:t>5</a:t>
            </a:r>
            <a:r>
              <a:rPr kumimoji="1" lang="en-US" altLang="ja-JP"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rPr>
              <a:t>.2 – Two Stage Nested Design</a:t>
            </a:r>
            <a:endParaRPr kumimoji="1" lang="ja-JP" altLang="en-US"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endParaRPr>
          </a:p>
        </p:txBody>
      </p:sp>
      <p:sp>
        <p:nvSpPr>
          <p:cNvPr id="5" name="Title 6">
            <a:extLst>
              <a:ext uri="{FF2B5EF4-FFF2-40B4-BE49-F238E27FC236}">
                <a16:creationId xmlns:a16="http://schemas.microsoft.com/office/drawing/2014/main" id="{2BD5844C-C201-4666-ADB9-681CBA48DCC1}"/>
              </a:ext>
            </a:extLst>
          </p:cNvPr>
          <p:cNvSpPr txBox="1">
            <a:spLocks/>
          </p:cNvSpPr>
          <p:nvPr/>
        </p:nvSpPr>
        <p:spPr>
          <a:xfrm>
            <a:off x="251224" y="237833"/>
            <a:ext cx="9411391" cy="607201"/>
          </a:xfrm>
          <a:prstGeom prst="rect">
            <a:avLst/>
          </a:prstGeom>
        </p:spPr>
        <p:txBody>
          <a:bodyPr anchor="t">
            <a:normAutofit fontScale="85000" lnSpcReduction="10000"/>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pPr marL="0" marR="0" lvl="0" indent="0" algn="l" defTabSz="914324" rtl="0" eaLnBrk="1" fontAlgn="auto" latinLnBrk="0" hangingPunct="1">
              <a:lnSpc>
                <a:spcPct val="90000"/>
              </a:lnSpc>
              <a:spcBef>
                <a:spcPct val="0"/>
              </a:spcBef>
              <a:spcAft>
                <a:spcPts val="0"/>
              </a:spcAft>
              <a:buClrTx/>
              <a:buSzTx/>
              <a:buFontTx/>
              <a:buNone/>
              <a:tabLst/>
              <a:defRPr/>
            </a:pPr>
            <a:r>
              <a:rPr lang="en-US" altLang="ja-JP" b="1" u="sng" dirty="0">
                <a:solidFill>
                  <a:prstClr val="black"/>
                </a:solidFill>
                <a:latin typeface="Calibri" panose="020F0502020204030204"/>
                <a:ea typeface="游ゴシック Light" panose="020B0300000000000000" pitchFamily="34" charset="-128"/>
              </a:rPr>
              <a:t>5</a:t>
            </a:r>
            <a:r>
              <a:rPr kumimoji="1" lang="en-US" altLang="ja-JP"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rPr>
              <a:t>.2a – </a:t>
            </a:r>
            <a:r>
              <a:rPr lang="en-US" altLang="ja-JP" b="1" u="sng" dirty="0">
                <a:solidFill>
                  <a:prstClr val="black"/>
                </a:solidFill>
                <a:latin typeface="Calibri" panose="020F0502020204030204"/>
                <a:ea typeface="游ゴシック Light" panose="020B0300000000000000" pitchFamily="34" charset="-128"/>
              </a:rPr>
              <a:t>Mixed</a:t>
            </a:r>
            <a:r>
              <a:rPr kumimoji="1" lang="en-US" altLang="ja-JP"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rPr>
              <a:t> Effects Model for a 2-Stage Nested Design:</a:t>
            </a:r>
            <a:endParaRPr kumimoji="1" lang="ja-JP" altLang="en-US"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endParaRPr>
          </a:p>
        </p:txBody>
      </p:sp>
      <p:sp>
        <p:nvSpPr>
          <p:cNvPr id="10" name="Slide Number Placeholder 3">
            <a:extLst>
              <a:ext uri="{FF2B5EF4-FFF2-40B4-BE49-F238E27FC236}">
                <a16:creationId xmlns:a16="http://schemas.microsoft.com/office/drawing/2014/main" id="{B0C9041D-77F0-4656-90D4-0E84B7AC6B27}"/>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54AD89C-DF1E-4948-B597-5DD47B34A9CA}" type="slidenum">
              <a:rPr kumimoji="1" lang="ja-JP" altLang="en-US" sz="4000" b="0" i="0" u="none" strike="noStrike" kern="1200" cap="none" spc="0" normalizeH="0" baseline="0" noProof="0" smtClean="0">
                <a:ln>
                  <a:noFill/>
                </a:ln>
                <a:solidFill>
                  <a:srgbClr val="575454">
                    <a:lumMod val="20000"/>
                    <a:lumOff val="80000"/>
                  </a:srgbClr>
                </a:solidFill>
                <a:effectLst/>
                <a:uLnTx/>
                <a:uFillTx/>
                <a:latin typeface="Coo Hew"/>
                <a:ea typeface="游ゴシック" panose="020B0400000000000000"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1" lang="ja-JP" altLang="en-US" sz="4000" b="0" i="0" u="none" strike="noStrike" kern="1200" cap="none" spc="0" normalizeH="0" baseline="0" noProof="0" dirty="0">
              <a:ln>
                <a:noFill/>
              </a:ln>
              <a:solidFill>
                <a:srgbClr val="575454">
                  <a:lumMod val="20000"/>
                  <a:lumOff val="80000"/>
                </a:srgbClr>
              </a:solidFill>
              <a:effectLst/>
              <a:uLnTx/>
              <a:uFillTx/>
              <a:latin typeface="Coo Hew"/>
              <a:ea typeface="游ゴシック" panose="020B0400000000000000" pitchFamily="34" charset="-128"/>
              <a:cs typeface="+mn-cs"/>
            </a:endParaRPr>
          </a:p>
        </p:txBody>
      </p:sp>
      <p:sp>
        <p:nvSpPr>
          <p:cNvPr id="11" name="Text Placeholder 5">
            <a:extLst>
              <a:ext uri="{FF2B5EF4-FFF2-40B4-BE49-F238E27FC236}">
                <a16:creationId xmlns:a16="http://schemas.microsoft.com/office/drawing/2014/main" id="{C67FD996-886D-F16A-C1CE-1BD052717B7A}"/>
              </a:ext>
            </a:extLst>
          </p:cNvPr>
          <p:cNvSpPr txBox="1">
            <a:spLocks/>
          </p:cNvSpPr>
          <p:nvPr/>
        </p:nvSpPr>
        <p:spPr>
          <a:xfrm>
            <a:off x="312362" y="845034"/>
            <a:ext cx="11777003" cy="100949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lang="en-NZ" altLang="ja-JP" sz="1800" dirty="0">
                <a:solidFill>
                  <a:prstClr val="black"/>
                </a:solidFill>
                <a:latin typeface="Calibri" panose="020F0502020204030204"/>
                <a:ea typeface="游ゴシック" panose="020B0400000000000000" pitchFamily="34" charset="-128"/>
              </a:rPr>
              <a:t>Suppose we have a response variable </a:t>
            </a:r>
            <a:r>
              <a:rPr lang="en-NZ" altLang="ja-JP" sz="1800" b="1" i="1" dirty="0">
                <a:solidFill>
                  <a:prstClr val="black"/>
                </a:solidFill>
                <a:latin typeface="Calibri" panose="020F0502020204030204"/>
                <a:ea typeface="游ゴシック" panose="020B0400000000000000" pitchFamily="34" charset="-128"/>
              </a:rPr>
              <a:t>Y</a:t>
            </a:r>
            <a:r>
              <a:rPr lang="en-NZ" altLang="ja-JP" sz="1800" dirty="0">
                <a:solidFill>
                  <a:prstClr val="black"/>
                </a:solidFill>
                <a:latin typeface="Calibri" panose="020F0502020204030204"/>
                <a:ea typeface="游ゴシック" panose="020B0400000000000000" pitchFamily="34" charset="-128"/>
              </a:rPr>
              <a:t> which is modelled as a function of</a:t>
            </a:r>
          </a:p>
          <a:p>
            <a:pPr marL="971493" lvl="1" indent="-285750" algn="just">
              <a:lnSpc>
                <a:spcPct val="100000"/>
              </a:lnSpc>
              <a:spcBef>
                <a:spcPts val="0"/>
              </a:spcBef>
              <a:buFontTx/>
              <a:buChar char="-"/>
              <a:defRPr/>
            </a:pPr>
            <a:r>
              <a:rPr lang="en-NZ" altLang="ja-JP" sz="1800" dirty="0">
                <a:solidFill>
                  <a:prstClr val="black"/>
                </a:solidFill>
                <a:latin typeface="Calibri" panose="020F0502020204030204"/>
                <a:ea typeface="游ゴシック" panose="020B0400000000000000" pitchFamily="34" charset="-128"/>
              </a:rPr>
              <a:t>A factor </a:t>
            </a:r>
            <a:r>
              <a:rPr lang="en-NZ" altLang="ja-JP" sz="1800" b="1" i="1" dirty="0">
                <a:solidFill>
                  <a:prstClr val="black"/>
                </a:solidFill>
                <a:latin typeface="Calibri" panose="020F0502020204030204"/>
                <a:ea typeface="游ゴシック" panose="020B0400000000000000" pitchFamily="34" charset="-128"/>
              </a:rPr>
              <a:t>A</a:t>
            </a:r>
            <a:r>
              <a:rPr lang="en-NZ" altLang="ja-JP" sz="1800" dirty="0">
                <a:solidFill>
                  <a:prstClr val="black"/>
                </a:solidFill>
                <a:latin typeface="Calibri" panose="020F0502020204030204"/>
                <a:ea typeface="游ゴシック" panose="020B0400000000000000" pitchFamily="34" charset="-128"/>
              </a:rPr>
              <a:t> with </a:t>
            </a:r>
            <a:r>
              <a:rPr lang="en-NZ" altLang="ja-JP" sz="1800" b="1" i="1" dirty="0" err="1">
                <a:solidFill>
                  <a:prstClr val="black"/>
                </a:solidFill>
                <a:latin typeface="Calibri" panose="020F0502020204030204"/>
                <a:ea typeface="游ゴシック" panose="020B0400000000000000" pitchFamily="34" charset="-128"/>
              </a:rPr>
              <a:t>i</a:t>
            </a:r>
            <a:r>
              <a:rPr lang="en-NZ" altLang="ja-JP" sz="1800" b="1" i="1" dirty="0">
                <a:solidFill>
                  <a:prstClr val="black"/>
                </a:solidFill>
                <a:latin typeface="Calibri" panose="020F0502020204030204"/>
                <a:ea typeface="游ゴシック" panose="020B0400000000000000" pitchFamily="34" charset="-128"/>
              </a:rPr>
              <a:t> = 1, … , a </a:t>
            </a:r>
            <a:r>
              <a:rPr lang="en-NZ" altLang="ja-JP" sz="1800" dirty="0">
                <a:solidFill>
                  <a:prstClr val="black"/>
                </a:solidFill>
                <a:latin typeface="Calibri" panose="020F0502020204030204"/>
                <a:ea typeface="游ゴシック" panose="020B0400000000000000" pitchFamily="34" charset="-128"/>
              </a:rPr>
              <a:t>levels </a:t>
            </a:r>
          </a:p>
          <a:p>
            <a:pPr marL="971493" lvl="1" indent="-285750" algn="just">
              <a:lnSpc>
                <a:spcPct val="100000"/>
              </a:lnSpc>
              <a:spcBef>
                <a:spcPts val="0"/>
              </a:spcBef>
              <a:buFontTx/>
              <a:buChar char="-"/>
              <a:defRPr/>
            </a:pPr>
            <a:r>
              <a:rPr lang="en-NZ" altLang="ja-JP" sz="1800" dirty="0">
                <a:solidFill>
                  <a:prstClr val="black"/>
                </a:solidFill>
                <a:latin typeface="Calibri" panose="020F0502020204030204"/>
                <a:ea typeface="游ゴシック" panose="020B0400000000000000" pitchFamily="34" charset="-128"/>
              </a:rPr>
              <a:t>A factor </a:t>
            </a:r>
            <a:r>
              <a:rPr lang="en-NZ" altLang="ja-JP" sz="1800" b="1" i="1" dirty="0">
                <a:solidFill>
                  <a:prstClr val="black"/>
                </a:solidFill>
                <a:latin typeface="Calibri" panose="020F0502020204030204"/>
                <a:ea typeface="游ゴシック" panose="020B0400000000000000" pitchFamily="34" charset="-128"/>
              </a:rPr>
              <a:t>B</a:t>
            </a:r>
            <a:r>
              <a:rPr lang="en-NZ" altLang="ja-JP" sz="1800" dirty="0">
                <a:solidFill>
                  <a:prstClr val="black"/>
                </a:solidFill>
                <a:latin typeface="Calibri" panose="020F0502020204030204"/>
                <a:ea typeface="游ゴシック" panose="020B0400000000000000" pitchFamily="34" charset="-128"/>
              </a:rPr>
              <a:t> (with </a:t>
            </a:r>
            <a:r>
              <a:rPr lang="en-NZ" altLang="ja-JP" sz="1800" b="1" i="1" dirty="0">
                <a:solidFill>
                  <a:prstClr val="black"/>
                </a:solidFill>
                <a:latin typeface="Calibri" panose="020F0502020204030204"/>
                <a:ea typeface="游ゴシック" panose="020B0400000000000000" pitchFamily="34" charset="-128"/>
              </a:rPr>
              <a:t>b </a:t>
            </a:r>
            <a:r>
              <a:rPr lang="en-NZ" altLang="ja-JP" sz="1800" dirty="0">
                <a:solidFill>
                  <a:prstClr val="black"/>
                </a:solidFill>
                <a:latin typeface="Calibri" panose="020F0502020204030204"/>
                <a:ea typeface="游ゴシック" panose="020B0400000000000000" pitchFamily="34" charset="-128"/>
              </a:rPr>
              <a:t>randomly selected levels) nested in factor </a:t>
            </a:r>
            <a:r>
              <a:rPr lang="en-NZ" altLang="ja-JP" sz="1800" b="1" i="1" dirty="0">
                <a:solidFill>
                  <a:prstClr val="black"/>
                </a:solidFill>
                <a:latin typeface="Calibri" panose="020F0502020204030204"/>
                <a:ea typeface="游ゴシック" panose="020B0400000000000000" pitchFamily="34" charset="-128"/>
              </a:rPr>
              <a:t>A</a:t>
            </a:r>
          </a:p>
        </p:txBody>
      </p:sp>
      <p:sp>
        <p:nvSpPr>
          <p:cNvPr id="17" name="Text Placeholder 5">
            <a:extLst>
              <a:ext uri="{FF2B5EF4-FFF2-40B4-BE49-F238E27FC236}">
                <a16:creationId xmlns:a16="http://schemas.microsoft.com/office/drawing/2014/main" id="{DB67ABBD-EBE5-54A6-7329-9352FBDFC6FD}"/>
              </a:ext>
            </a:extLst>
          </p:cNvPr>
          <p:cNvSpPr txBox="1">
            <a:spLocks/>
          </p:cNvSpPr>
          <p:nvPr/>
        </p:nvSpPr>
        <p:spPr>
          <a:xfrm>
            <a:off x="312362" y="2025830"/>
            <a:ext cx="11777003" cy="41301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lang="en-NZ" altLang="ja-JP" sz="1800" dirty="0">
                <a:solidFill>
                  <a:prstClr val="black"/>
                </a:solidFill>
                <a:latin typeface="Calibri" panose="020F0502020204030204"/>
                <a:ea typeface="游ゴシック" panose="020B0400000000000000" pitchFamily="34" charset="-128"/>
              </a:rPr>
              <a:t>We take a balanced sample of </a:t>
            </a:r>
            <a:r>
              <a:rPr lang="en-NZ" altLang="ja-JP" sz="1800" b="1" i="1" dirty="0">
                <a:solidFill>
                  <a:prstClr val="black"/>
                </a:solidFill>
                <a:latin typeface="Calibri" panose="020F0502020204030204"/>
                <a:ea typeface="游ゴシック" panose="020B0400000000000000" pitchFamily="34" charset="-128"/>
              </a:rPr>
              <a:t>N</a:t>
            </a:r>
            <a:r>
              <a:rPr lang="en-NZ" altLang="ja-JP" sz="1800" dirty="0">
                <a:solidFill>
                  <a:prstClr val="black"/>
                </a:solidFill>
                <a:latin typeface="Calibri" panose="020F0502020204030204"/>
                <a:ea typeface="游ゴシック" panose="020B0400000000000000" pitchFamily="34" charset="-128"/>
              </a:rPr>
              <a:t> observations of </a:t>
            </a:r>
            <a:r>
              <a:rPr lang="en-NZ" altLang="ja-JP" sz="1800" b="1" i="1" dirty="0">
                <a:solidFill>
                  <a:prstClr val="black"/>
                </a:solidFill>
                <a:latin typeface="Calibri" panose="020F0502020204030204"/>
                <a:ea typeface="游ゴシック" panose="020B0400000000000000" pitchFamily="34" charset="-128"/>
              </a:rPr>
              <a:t>Y</a:t>
            </a:r>
            <a:r>
              <a:rPr lang="en-NZ" altLang="ja-JP" sz="1800" dirty="0">
                <a:solidFill>
                  <a:prstClr val="black"/>
                </a:solidFill>
                <a:latin typeface="Calibri" panose="020F0502020204030204"/>
                <a:ea typeface="游ゴシック" panose="020B0400000000000000" pitchFamily="34" charset="-128"/>
              </a:rPr>
              <a:t> with </a:t>
            </a:r>
            <a:r>
              <a:rPr lang="en-NZ" altLang="ja-JP" sz="1800" b="1" i="1" dirty="0">
                <a:solidFill>
                  <a:prstClr val="black"/>
                </a:solidFill>
                <a:latin typeface="Calibri" panose="020F0502020204030204"/>
                <a:ea typeface="游ゴシック" panose="020B0400000000000000" pitchFamily="34" charset="-128"/>
              </a:rPr>
              <a:t>n</a:t>
            </a:r>
            <a:r>
              <a:rPr lang="en-NZ" altLang="ja-JP" sz="1800" dirty="0">
                <a:solidFill>
                  <a:prstClr val="black"/>
                </a:solidFill>
                <a:latin typeface="Calibri" panose="020F0502020204030204"/>
                <a:ea typeface="游ゴシック" panose="020B0400000000000000" pitchFamily="34" charset="-128"/>
              </a:rPr>
              <a:t> observations in each cell. The </a:t>
            </a:r>
            <a:r>
              <a:rPr lang="en-NZ" altLang="ja-JP" sz="1800" b="1" i="1" dirty="0">
                <a:solidFill>
                  <a:prstClr val="black"/>
                </a:solidFill>
                <a:latin typeface="Calibri" panose="020F0502020204030204"/>
                <a:ea typeface="游ゴシック" panose="020B0400000000000000" pitchFamily="34" charset="-128"/>
              </a:rPr>
              <a:t>k</a:t>
            </a:r>
            <a:r>
              <a:rPr lang="en-NZ" altLang="ja-JP" sz="1800" b="1" i="1" baseline="30000" dirty="0">
                <a:solidFill>
                  <a:prstClr val="black"/>
                </a:solidFill>
                <a:latin typeface="Calibri" panose="020F0502020204030204"/>
                <a:ea typeface="游ゴシック" panose="020B0400000000000000" pitchFamily="34" charset="-128"/>
              </a:rPr>
              <a:t>th</a:t>
            </a:r>
            <a:r>
              <a:rPr lang="en-NZ" altLang="ja-JP" sz="1800" b="1" i="1" dirty="0">
                <a:solidFill>
                  <a:prstClr val="black"/>
                </a:solidFill>
                <a:latin typeface="Calibri" panose="020F0502020204030204"/>
                <a:ea typeface="游ゴシック" panose="020B0400000000000000" pitchFamily="34" charset="-128"/>
              </a:rPr>
              <a:t> </a:t>
            </a:r>
            <a:r>
              <a:rPr lang="en-NZ" altLang="ja-JP" sz="1800" dirty="0">
                <a:solidFill>
                  <a:prstClr val="black"/>
                </a:solidFill>
                <a:latin typeface="Calibri" panose="020F0502020204030204"/>
                <a:ea typeface="游ゴシック" panose="020B0400000000000000" pitchFamily="34" charset="-128"/>
              </a:rPr>
              <a:t>element in cell </a:t>
            </a:r>
            <a:r>
              <a:rPr lang="en-NZ" altLang="ja-JP" sz="1800" b="1" i="1" dirty="0">
                <a:solidFill>
                  <a:prstClr val="black"/>
                </a:solidFill>
                <a:latin typeface="Calibri" panose="020F0502020204030204"/>
                <a:ea typeface="游ゴシック" panose="020B0400000000000000" pitchFamily="34" charset="-128"/>
              </a:rPr>
              <a:t>(</a:t>
            </a:r>
            <a:r>
              <a:rPr lang="en-NZ" altLang="ja-JP" sz="1800" b="1" i="1" dirty="0" err="1">
                <a:solidFill>
                  <a:prstClr val="black"/>
                </a:solidFill>
                <a:latin typeface="Calibri" panose="020F0502020204030204"/>
                <a:ea typeface="游ゴシック" panose="020B0400000000000000" pitchFamily="34" charset="-128"/>
              </a:rPr>
              <a:t>i,j</a:t>
            </a:r>
            <a:r>
              <a:rPr lang="en-NZ" altLang="ja-JP" sz="1800" b="1" i="1" dirty="0">
                <a:solidFill>
                  <a:prstClr val="black"/>
                </a:solidFill>
                <a:latin typeface="Calibri" panose="020F0502020204030204"/>
                <a:ea typeface="游ゴシック" panose="020B0400000000000000" pitchFamily="34" charset="-128"/>
              </a:rPr>
              <a:t>)</a:t>
            </a:r>
            <a:r>
              <a:rPr lang="en-NZ" altLang="ja-JP" sz="1800" dirty="0">
                <a:solidFill>
                  <a:prstClr val="black"/>
                </a:solidFill>
                <a:latin typeface="Calibri" panose="020F0502020204030204"/>
                <a:ea typeface="游ゴシック" panose="020B0400000000000000" pitchFamily="34" charset="-128"/>
              </a:rPr>
              <a:t> is modelled as </a:t>
            </a:r>
          </a:p>
        </p:txBody>
      </p:sp>
      <mc:AlternateContent xmlns:mc="http://schemas.openxmlformats.org/markup-compatibility/2006" xmlns:a14="http://schemas.microsoft.com/office/drawing/2010/main">
        <mc:Choice Requires="a14">
          <p:sp>
            <p:nvSpPr>
              <p:cNvPr id="18" name="Text Placeholder 5">
                <a:extLst>
                  <a:ext uri="{FF2B5EF4-FFF2-40B4-BE49-F238E27FC236}">
                    <a16:creationId xmlns:a16="http://schemas.microsoft.com/office/drawing/2014/main" id="{0CEEAE7C-8B5C-49C1-DECF-ABDEC6F5C6BE}"/>
                  </a:ext>
                </a:extLst>
              </p:cNvPr>
              <p:cNvSpPr txBox="1">
                <a:spLocks/>
              </p:cNvSpPr>
              <p:nvPr/>
            </p:nvSpPr>
            <p:spPr>
              <a:xfrm>
                <a:off x="3364682" y="2457625"/>
                <a:ext cx="5462638" cy="47495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14:m>
                  <m:oMathPara xmlns:m="http://schemas.openxmlformats.org/officeDocument/2006/math">
                    <m:oMathParaPr>
                      <m:jc m:val="centerGroup"/>
                    </m:oMathParaPr>
                    <m:oMath xmlns:m="http://schemas.openxmlformats.org/officeDocument/2006/math">
                      <m:sSub>
                        <m:sSubPr>
                          <m:ctrlP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ctrlPr>
                        </m:sSubPr>
                        <m:e>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𝒀</m:t>
                          </m:r>
                        </m:e>
                        <m:sub>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𝒊𝒋𝒌</m:t>
                          </m:r>
                        </m:sub>
                      </m:sSub>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   =     </m:t>
                      </m:r>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𝝁</m:t>
                      </m:r>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  +   </m:t>
                      </m:r>
                      <m:sSub>
                        <m:sSubPr>
                          <m:ctrlP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ctrlPr>
                        </m:sSubPr>
                        <m:e>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𝜶</m:t>
                          </m:r>
                        </m:e>
                        <m:sub>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𝒊</m:t>
                          </m:r>
                        </m:sub>
                      </m:sSub>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  +   </m:t>
                      </m:r>
                      <m:sSub>
                        <m:sSubPr>
                          <m:ctrlP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ctrlPr>
                        </m:sSubPr>
                        <m:e>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𝑩</m:t>
                          </m:r>
                        </m:e>
                        <m:sub>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𝒋</m:t>
                          </m:r>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m:t>
                          </m:r>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𝒊</m:t>
                          </m:r>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m:t>
                          </m:r>
                        </m:sub>
                      </m:sSub>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  +   </m:t>
                      </m:r>
                      <m:sSub>
                        <m:sSubPr>
                          <m:ctrlP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ctrlPr>
                        </m:sSubPr>
                        <m:e>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𝝐</m:t>
                          </m:r>
                        </m:e>
                        <m:sub>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𝒌</m:t>
                          </m:r>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m:t>
                          </m:r>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𝒊𝒋</m:t>
                          </m:r>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m:t>
                          </m:r>
                        </m:sub>
                      </m:sSub>
                    </m:oMath>
                  </m:oMathPara>
                </a14:m>
                <a:endParaRPr kumimoji="1" lang="en-NZ" altLang="ja-JP" sz="1800" b="1" i="0"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800" b="1"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mc:Choice>
        <mc:Fallback xmlns="">
          <p:sp>
            <p:nvSpPr>
              <p:cNvPr id="18" name="Text Placeholder 5">
                <a:extLst>
                  <a:ext uri="{FF2B5EF4-FFF2-40B4-BE49-F238E27FC236}">
                    <a16:creationId xmlns:a16="http://schemas.microsoft.com/office/drawing/2014/main" id="{0CEEAE7C-8B5C-49C1-DECF-ABDEC6F5C6BE}"/>
                  </a:ext>
                </a:extLst>
              </p:cNvPr>
              <p:cNvSpPr txBox="1">
                <a:spLocks noRot="1" noChangeAspect="1" noMove="1" noResize="1" noEditPoints="1" noAdjustHandles="1" noChangeArrowheads="1" noChangeShapeType="1" noTextEdit="1"/>
              </p:cNvSpPr>
              <p:nvPr/>
            </p:nvSpPr>
            <p:spPr>
              <a:xfrm>
                <a:off x="3364682" y="2457625"/>
                <a:ext cx="5462638" cy="474953"/>
              </a:xfrm>
              <a:prstGeom prst="rect">
                <a:avLst/>
              </a:prstGeom>
              <a:blipFill>
                <a:blip r:embed="rId2"/>
                <a:stretch>
                  <a:fillRect/>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20" name="Text Placeholder 5">
                <a:extLst>
                  <a:ext uri="{FF2B5EF4-FFF2-40B4-BE49-F238E27FC236}">
                    <a16:creationId xmlns:a16="http://schemas.microsoft.com/office/drawing/2014/main" id="{91689025-3833-257B-1DD1-73CCD6DF11F5}"/>
                  </a:ext>
                </a:extLst>
              </p:cNvPr>
              <p:cNvSpPr txBox="1">
                <a:spLocks/>
              </p:cNvSpPr>
              <p:nvPr/>
            </p:nvSpPr>
            <p:spPr>
              <a:xfrm>
                <a:off x="530716" y="2952184"/>
                <a:ext cx="4867734" cy="1318675"/>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l-GR" altLang="ja-JP" sz="16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μ</a:t>
                </a:r>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is the population mean</a:t>
                </a:r>
                <a:endParaRPr kumimoji="1" lang="en-NZ" altLang="ja-JP" sz="16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14:m>
                  <m:oMath xmlns:m="http://schemas.openxmlformats.org/officeDocument/2006/math">
                    <m:sSub>
                      <m:sSubPr>
                        <m:ctrl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𝜶</m:t>
                        </m:r>
                      </m:e>
                      <m:sub>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𝒊</m:t>
                        </m:r>
                      </m:sub>
                    </m:sSub>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sSub>
                      <m:sSubPr>
                        <m:ctrl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𝝁</m:t>
                        </m:r>
                      </m:e>
                      <m:sub>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𝒊</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sub>
                    </m:sSub>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 −</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𝝁</m:t>
                    </m:r>
                  </m:oMath>
                </a14:m>
                <a:r>
                  <a:rPr kumimoji="1" lang="en-NZ" altLang="ja-JP" sz="16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a:t>
                </a:r>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is the effect of the </a:t>
                </a:r>
                <a:r>
                  <a:rPr kumimoji="1" lang="en-NZ" altLang="ja-JP" sz="1600" b="1" i="1" u="none" strike="noStrike" kern="1200" cap="none" spc="0" normalizeH="0" baseline="0" noProof="0" dirty="0" err="1">
                    <a:ln>
                      <a:noFill/>
                    </a:ln>
                    <a:solidFill>
                      <a:prstClr val="black"/>
                    </a:solidFill>
                    <a:effectLst/>
                    <a:uLnTx/>
                    <a:uFillTx/>
                    <a:latin typeface="Calibri" panose="020F0502020204030204"/>
                    <a:ea typeface="游ゴシック" panose="020B0400000000000000" pitchFamily="34" charset="-128"/>
                    <a:cs typeface="+mn-cs"/>
                  </a:rPr>
                  <a:t>i</a:t>
                </a:r>
                <a:r>
                  <a:rPr kumimoji="1" lang="en-NZ" altLang="ja-JP" sz="1600" b="1" i="1" u="none" strike="noStrike" kern="1200" cap="none" spc="0" normalizeH="0" baseline="30000" noProof="0" dirty="0" err="1">
                    <a:ln>
                      <a:noFill/>
                    </a:ln>
                    <a:solidFill>
                      <a:prstClr val="black"/>
                    </a:solidFill>
                    <a:effectLst/>
                    <a:uLnTx/>
                    <a:uFillTx/>
                    <a:latin typeface="Calibri" panose="020F0502020204030204"/>
                    <a:ea typeface="游ゴシック" panose="020B0400000000000000" pitchFamily="34" charset="-128"/>
                    <a:cs typeface="+mn-cs"/>
                  </a:rPr>
                  <a:t>th</a:t>
                </a:r>
                <a:r>
                  <a:rPr kumimoji="1" lang="en-NZ" altLang="ja-JP" sz="1600" b="0" i="1" u="none" strike="noStrike" kern="1200" cap="none" spc="0" normalizeH="0" baseline="-25000" noProof="0" dirty="0">
                    <a:ln>
                      <a:noFill/>
                    </a:ln>
                    <a:solidFill>
                      <a:prstClr val="black"/>
                    </a:solidFill>
                    <a:effectLst/>
                    <a:uLnTx/>
                    <a:uFillTx/>
                    <a:latin typeface="Calibri" panose="020F0502020204030204"/>
                    <a:ea typeface="游ゴシック" panose="020B0400000000000000" pitchFamily="34" charset="-128"/>
                    <a:cs typeface="+mn-cs"/>
                  </a:rPr>
                  <a:t> </a:t>
                </a:r>
                <a:r>
                  <a:rPr kumimoji="1" lang="en-NZ" altLang="ja-JP" sz="1600" b="0"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a:t>
                </a:r>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level of factor </a:t>
                </a:r>
                <a:r>
                  <a:rPr kumimoji="1" lang="en-NZ" altLang="ja-JP" sz="16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a:t>
                </a:r>
              </a:p>
              <a:p>
                <a:pPr lvl="0" algn="just">
                  <a:lnSpc>
                    <a:spcPct val="100000"/>
                  </a:lnSpc>
                  <a:defRPr/>
                </a:pPr>
                <a14:m>
                  <m:oMathPara xmlns:m="http://schemas.openxmlformats.org/officeDocument/2006/math">
                    <m:oMathParaPr>
                      <m:jc m:val="left"/>
                    </m:oMathParaPr>
                    <m:oMath xmlns:m="http://schemas.openxmlformats.org/officeDocument/2006/math">
                      <m:sSub>
                        <m:sSubPr>
                          <m:ctrl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𝑩</m:t>
                          </m:r>
                        </m:e>
                        <m:sub>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𝒋</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𝒊</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sub>
                      </m:sSub>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 ~ </m:t>
                      </m:r>
                      <m:r>
                        <a:rPr lang="en-NZ" altLang="ja-JP" sz="1600" b="1" i="1">
                          <a:solidFill>
                            <a:prstClr val="black"/>
                          </a:solidFill>
                          <a:latin typeface="Cambria Math" panose="02040503050406030204" pitchFamily="18" charset="0"/>
                        </a:rPr>
                        <m:t>𝑵</m:t>
                      </m:r>
                      <m:d>
                        <m:dPr>
                          <m:ctrlPr>
                            <a:rPr lang="en-NZ" altLang="ja-JP" sz="1600" b="1" i="1">
                              <a:solidFill>
                                <a:prstClr val="black"/>
                              </a:solidFill>
                              <a:latin typeface="Cambria Math" panose="02040503050406030204" pitchFamily="18" charset="0"/>
                            </a:rPr>
                          </m:ctrlPr>
                        </m:dPr>
                        <m:e>
                          <m:r>
                            <a:rPr lang="en-NZ" altLang="ja-JP" sz="1600" b="1" i="1">
                              <a:solidFill>
                                <a:prstClr val="black"/>
                              </a:solidFill>
                              <a:latin typeface="Cambria Math" panose="02040503050406030204" pitchFamily="18" charset="0"/>
                            </a:rPr>
                            <m:t>𝟎</m:t>
                          </m:r>
                          <m:r>
                            <a:rPr lang="en-NZ" altLang="ja-JP" sz="1600" b="1" i="1">
                              <a:solidFill>
                                <a:prstClr val="black"/>
                              </a:solidFill>
                              <a:latin typeface="Cambria Math" panose="02040503050406030204" pitchFamily="18" charset="0"/>
                            </a:rPr>
                            <m:t>, </m:t>
                          </m:r>
                          <m:sSubSup>
                            <m:sSubSupPr>
                              <m:ctrlPr>
                                <a:rPr lang="en-NZ" altLang="ja-JP" sz="1600" b="1" i="1" smtClean="0">
                                  <a:solidFill>
                                    <a:prstClr val="black"/>
                                  </a:solidFill>
                                  <a:latin typeface="Cambria Math" panose="02040503050406030204" pitchFamily="18" charset="0"/>
                                </a:rPr>
                              </m:ctrlPr>
                            </m:sSubSupPr>
                            <m:e>
                              <m:r>
                                <a:rPr lang="en-NZ" altLang="ja-JP" sz="1600" b="1" i="1">
                                  <a:solidFill>
                                    <a:prstClr val="black"/>
                                  </a:solidFill>
                                  <a:latin typeface="Cambria Math" panose="02040503050406030204" pitchFamily="18" charset="0"/>
                                </a:rPr>
                                <m:t>𝝈</m:t>
                              </m:r>
                            </m:e>
                            <m:sub>
                              <m:r>
                                <a:rPr lang="en-NZ" altLang="ja-JP" sz="1600" b="1" i="1" smtClean="0">
                                  <a:solidFill>
                                    <a:prstClr val="black"/>
                                  </a:solidFill>
                                  <a:latin typeface="Cambria Math" panose="02040503050406030204" pitchFamily="18" charset="0"/>
                                </a:rPr>
                                <m:t>𝑩</m:t>
                              </m:r>
                            </m:sub>
                            <m:sup>
                              <m:r>
                                <a:rPr lang="en-NZ" altLang="ja-JP" sz="1600" b="1" i="1">
                                  <a:solidFill>
                                    <a:prstClr val="black"/>
                                  </a:solidFill>
                                  <a:latin typeface="Cambria Math" panose="02040503050406030204" pitchFamily="18" charset="0"/>
                                </a:rPr>
                                <m:t>𝟐</m:t>
                              </m:r>
                            </m:sup>
                          </m:sSubSup>
                        </m:e>
                      </m:d>
                    </m:oMath>
                  </m:oMathPara>
                </a14:m>
                <a:endPar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14:m>
                  <m:oMathPara xmlns:m="http://schemas.openxmlformats.org/officeDocument/2006/math">
                    <m:oMathParaPr>
                      <m:jc m:val="left"/>
                    </m:oMathParaPr>
                    <m:oMath xmlns:m="http://schemas.openxmlformats.org/officeDocument/2006/math">
                      <m:sSub>
                        <m:sSubPr>
                          <m:ctrlP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𝝐</m:t>
                          </m:r>
                        </m:e>
                        <m:sub>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𝒌</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𝒊𝒋</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sub>
                      </m:sSub>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 ~ </m:t>
                      </m:r>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𝑵</m:t>
                      </m:r>
                      <m:d>
                        <m:dPr>
                          <m:ctrlP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ctrlPr>
                        </m:dPr>
                        <m:e>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𝟎</m:t>
                          </m:r>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 </m:t>
                          </m:r>
                          <m:sSup>
                            <m:sSupPr>
                              <m:ctrlP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ctrlPr>
                            </m:sSupPr>
                            <m:e>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𝝈</m:t>
                              </m:r>
                            </m:e>
                            <m:sup>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𝟐</m:t>
                              </m:r>
                            </m:sup>
                          </m:sSup>
                        </m:e>
                      </m:d>
                    </m:oMath>
                  </m:oMathPara>
                </a14:m>
                <a:endParaRPr kumimoji="1" lang="en-NZ" altLang="ja-JP" sz="1600" b="0"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mc:Choice>
        <mc:Fallback xmlns="">
          <p:sp>
            <p:nvSpPr>
              <p:cNvPr id="20" name="Text Placeholder 5">
                <a:extLst>
                  <a:ext uri="{FF2B5EF4-FFF2-40B4-BE49-F238E27FC236}">
                    <a16:creationId xmlns:a16="http://schemas.microsoft.com/office/drawing/2014/main" id="{91689025-3833-257B-1DD1-73CCD6DF11F5}"/>
                  </a:ext>
                </a:extLst>
              </p:cNvPr>
              <p:cNvSpPr txBox="1">
                <a:spLocks noRot="1" noChangeAspect="1" noMove="1" noResize="1" noEditPoints="1" noAdjustHandles="1" noChangeArrowheads="1" noChangeShapeType="1" noTextEdit="1"/>
              </p:cNvSpPr>
              <p:nvPr/>
            </p:nvSpPr>
            <p:spPr>
              <a:xfrm>
                <a:off x="530716" y="2952184"/>
                <a:ext cx="4867734" cy="1318675"/>
              </a:xfrm>
              <a:prstGeom prst="rect">
                <a:avLst/>
              </a:prstGeom>
              <a:blipFill>
                <a:blip r:embed="rId3"/>
                <a:stretch>
                  <a:fillRect l="-626" t="-1382"/>
                </a:stretch>
              </a:blipFill>
            </p:spPr>
            <p:txBody>
              <a:bodyPr/>
              <a:lstStyle/>
              <a:p>
                <a:r>
                  <a:rPr lang="en-NZ">
                    <a:noFill/>
                  </a:rPr>
                  <a:t> </a:t>
                </a:r>
              </a:p>
            </p:txBody>
          </p:sp>
        </mc:Fallback>
      </mc:AlternateContent>
      <p:sp>
        <p:nvSpPr>
          <p:cNvPr id="21" name="Text Placeholder 5">
            <a:extLst>
              <a:ext uri="{FF2B5EF4-FFF2-40B4-BE49-F238E27FC236}">
                <a16:creationId xmlns:a16="http://schemas.microsoft.com/office/drawing/2014/main" id="{2A3DBE85-D442-263A-265C-268BCEDF6E09}"/>
              </a:ext>
            </a:extLst>
          </p:cNvPr>
          <p:cNvSpPr txBox="1">
            <a:spLocks/>
          </p:cNvSpPr>
          <p:nvPr/>
        </p:nvSpPr>
        <p:spPr>
          <a:xfrm>
            <a:off x="5849639" y="2993383"/>
            <a:ext cx="4579200" cy="44493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We also have the usual constraint:</a:t>
            </a:r>
            <a:endParaRPr kumimoji="1" lang="en-NZ" altLang="ja-JP" sz="16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a:t>
            </a: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600" b="0"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mc:AlternateContent xmlns:mc="http://schemas.openxmlformats.org/markup-compatibility/2006" xmlns:a14="http://schemas.microsoft.com/office/drawing/2010/main">
        <mc:Choice Requires="a14">
          <p:sp>
            <p:nvSpPr>
              <p:cNvPr id="22" name="Text Placeholder 5">
                <a:extLst>
                  <a:ext uri="{FF2B5EF4-FFF2-40B4-BE49-F238E27FC236}">
                    <a16:creationId xmlns:a16="http://schemas.microsoft.com/office/drawing/2014/main" id="{5D727490-76E6-4F93-6BCD-054E1FDB3D14}"/>
                  </a:ext>
                </a:extLst>
              </p:cNvPr>
              <p:cNvSpPr txBox="1">
                <a:spLocks/>
              </p:cNvSpPr>
              <p:nvPr/>
            </p:nvSpPr>
            <p:spPr>
              <a:xfrm>
                <a:off x="5849639" y="3290833"/>
                <a:ext cx="1405094" cy="44493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14:m>
                  <m:oMath xmlns:m="http://schemas.openxmlformats.org/officeDocument/2006/math">
                    <m:nary>
                      <m:naryPr>
                        <m:chr m:val="∑"/>
                        <m:ctrlP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ctrlPr>
                      </m:naryPr>
                      <m:sub>
                        <m:r>
                          <m:rPr>
                            <m:brk m:alnAt="23"/>
                          </m:rP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𝒊</m:t>
                        </m:r>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m:t>
                        </m:r>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𝟏</m:t>
                        </m:r>
                      </m:sub>
                      <m:sup>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𝒂</m:t>
                        </m:r>
                      </m:sup>
                      <m:e>
                        <m:sSub>
                          <m:sSubPr>
                            <m:ctrlP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ctrlPr>
                          </m:sSubPr>
                          <m:e>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𝜶</m:t>
                            </m:r>
                          </m:e>
                          <m:sub>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𝒊</m:t>
                            </m:r>
                          </m:sub>
                        </m:sSub>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m:t>
                        </m:r>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𝟎</m:t>
                        </m:r>
                      </m:e>
                    </m:nary>
                  </m:oMath>
                </a14:m>
                <a:r>
                  <a:rPr kumimoji="1" lang="en-NZ" altLang="ja-JP" sz="18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a:t>
                </a: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8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800" b="1"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mc:Choice>
        <mc:Fallback xmlns="">
          <p:sp>
            <p:nvSpPr>
              <p:cNvPr id="22" name="Text Placeholder 5">
                <a:extLst>
                  <a:ext uri="{FF2B5EF4-FFF2-40B4-BE49-F238E27FC236}">
                    <a16:creationId xmlns:a16="http://schemas.microsoft.com/office/drawing/2014/main" id="{5D727490-76E6-4F93-6BCD-054E1FDB3D14}"/>
                  </a:ext>
                </a:extLst>
              </p:cNvPr>
              <p:cNvSpPr txBox="1">
                <a:spLocks noRot="1" noChangeAspect="1" noMove="1" noResize="1" noEditPoints="1" noAdjustHandles="1" noChangeArrowheads="1" noChangeShapeType="1" noTextEdit="1"/>
              </p:cNvSpPr>
              <p:nvPr/>
            </p:nvSpPr>
            <p:spPr>
              <a:xfrm>
                <a:off x="5849639" y="3290833"/>
                <a:ext cx="1405094" cy="444936"/>
              </a:xfrm>
              <a:prstGeom prst="rect">
                <a:avLst/>
              </a:prstGeom>
              <a:blipFill>
                <a:blip r:embed="rId4"/>
                <a:stretch>
                  <a:fillRect l="-24348" t="-100000" b="-136986"/>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23" name="Text Placeholder 5">
                <a:extLst>
                  <a:ext uri="{FF2B5EF4-FFF2-40B4-BE49-F238E27FC236}">
                    <a16:creationId xmlns:a16="http://schemas.microsoft.com/office/drawing/2014/main" id="{BAD1F8FD-0A2F-B0BF-ABE5-6232040CC8C5}"/>
                  </a:ext>
                </a:extLst>
              </p:cNvPr>
              <p:cNvSpPr txBox="1">
                <a:spLocks/>
              </p:cNvSpPr>
              <p:nvPr/>
            </p:nvSpPr>
            <p:spPr>
              <a:xfrm>
                <a:off x="7865132" y="3206532"/>
                <a:ext cx="2230812" cy="44493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14:m>
                  <m:oMath xmlns:m="http://schemas.openxmlformats.org/officeDocument/2006/math">
                    <m:f>
                      <m:fPr>
                        <m:ctrlP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ctrlPr>
                      </m:fPr>
                      <m:num>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𝟏</m:t>
                        </m:r>
                      </m:num>
                      <m:den>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𝒂</m:t>
                        </m:r>
                      </m:den>
                    </m:f>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 </m:t>
                    </m:r>
                    <m:nary>
                      <m:naryPr>
                        <m:chr m:val="∑"/>
                        <m:ctrlP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ctrlPr>
                      </m:naryPr>
                      <m:sub>
                        <m:r>
                          <m:rPr>
                            <m:brk m:alnAt="23"/>
                          </m:rP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𝒊</m:t>
                        </m:r>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m:t>
                        </m:r>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𝟏</m:t>
                        </m:r>
                      </m:sub>
                      <m:sup>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𝒂</m:t>
                        </m:r>
                      </m:sup>
                      <m:e>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 </m:t>
                        </m:r>
                        <m:sSub>
                          <m:sSubPr>
                            <m:ctrlP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ctrlPr>
                          </m:sSubPr>
                          <m:e>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𝝁</m:t>
                            </m:r>
                          </m:e>
                          <m:sub>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𝒊</m:t>
                            </m:r>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rPr>
                              <m:t>∙</m:t>
                            </m:r>
                          </m:sub>
                        </m:sSub>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 = </m:t>
                        </m:r>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𝝁</m:t>
                        </m:r>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 </m:t>
                        </m:r>
                      </m:e>
                    </m:nary>
                  </m:oMath>
                </a14:m>
                <a:r>
                  <a:rPr kumimoji="1" lang="en-NZ" altLang="ja-JP" sz="18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a:t>
                </a: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8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800" b="1"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mc:Choice>
        <mc:Fallback xmlns="">
          <p:sp>
            <p:nvSpPr>
              <p:cNvPr id="23" name="Text Placeholder 5">
                <a:extLst>
                  <a:ext uri="{FF2B5EF4-FFF2-40B4-BE49-F238E27FC236}">
                    <a16:creationId xmlns:a16="http://schemas.microsoft.com/office/drawing/2014/main" id="{BAD1F8FD-0A2F-B0BF-ABE5-6232040CC8C5}"/>
                  </a:ext>
                </a:extLst>
              </p:cNvPr>
              <p:cNvSpPr txBox="1">
                <a:spLocks noRot="1" noChangeAspect="1" noMove="1" noResize="1" noEditPoints="1" noAdjustHandles="1" noChangeArrowheads="1" noChangeShapeType="1" noTextEdit="1"/>
              </p:cNvSpPr>
              <p:nvPr/>
            </p:nvSpPr>
            <p:spPr>
              <a:xfrm>
                <a:off x="7865132" y="3206532"/>
                <a:ext cx="2230812" cy="444936"/>
              </a:xfrm>
              <a:prstGeom prst="rect">
                <a:avLst/>
              </a:prstGeom>
              <a:blipFill>
                <a:blip r:embed="rId5"/>
                <a:stretch>
                  <a:fillRect l="-6284" t="-84932" b="-152055"/>
                </a:stretch>
              </a:blipFill>
            </p:spPr>
            <p:txBody>
              <a:bodyPr/>
              <a:lstStyle/>
              <a:p>
                <a:r>
                  <a:rPr lang="en-NZ">
                    <a:noFill/>
                  </a:rPr>
                  <a:t> </a:t>
                </a:r>
              </a:p>
            </p:txBody>
          </p:sp>
        </mc:Fallback>
      </mc:AlternateContent>
      <p:sp>
        <p:nvSpPr>
          <p:cNvPr id="24" name="Text Placeholder 5">
            <a:extLst>
              <a:ext uri="{FF2B5EF4-FFF2-40B4-BE49-F238E27FC236}">
                <a16:creationId xmlns:a16="http://schemas.microsoft.com/office/drawing/2014/main" id="{DC488C4C-5411-6B3D-EF97-72605FD1DD2E}"/>
              </a:ext>
            </a:extLst>
          </p:cNvPr>
          <p:cNvSpPr txBox="1">
            <a:spLocks/>
          </p:cNvSpPr>
          <p:nvPr/>
        </p:nvSpPr>
        <p:spPr>
          <a:xfrm>
            <a:off x="7254733" y="3311527"/>
            <a:ext cx="465511" cy="365125"/>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lang="en-NZ" altLang="ja-JP" sz="1800" b="1" dirty="0">
                <a:solidFill>
                  <a:prstClr val="black"/>
                </a:solidFill>
                <a:latin typeface="Calibri" panose="020F0502020204030204"/>
                <a:ea typeface="游ゴシック" panose="020B0400000000000000" pitchFamily="34" charset="-128"/>
                <a:sym typeface="Wingdings" panose="05000000000000000000" pitchFamily="2" charset="2"/>
              </a:rPr>
              <a:t></a:t>
            </a:r>
            <a:endParaRPr kumimoji="1" lang="en-NZ" altLang="ja-JP" sz="1800" b="1"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mc:AlternateContent xmlns:mc="http://schemas.openxmlformats.org/markup-compatibility/2006" xmlns:a14="http://schemas.microsoft.com/office/drawing/2010/main">
        <mc:Choice Requires="a14">
          <p:sp>
            <p:nvSpPr>
              <p:cNvPr id="25" name="Text Placeholder 5">
                <a:extLst>
                  <a:ext uri="{FF2B5EF4-FFF2-40B4-BE49-F238E27FC236}">
                    <a16:creationId xmlns:a16="http://schemas.microsoft.com/office/drawing/2014/main" id="{7D853F2D-8630-E726-F63E-A20A8FE538A1}"/>
                  </a:ext>
                </a:extLst>
              </p:cNvPr>
              <p:cNvSpPr txBox="1">
                <a:spLocks/>
              </p:cNvSpPr>
              <p:nvPr/>
            </p:nvSpPr>
            <p:spPr>
              <a:xfrm>
                <a:off x="2522183" y="3513301"/>
                <a:ext cx="2861945" cy="532748"/>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14:m>
                  <m:oMath xmlns:m="http://schemas.openxmlformats.org/officeDocument/2006/math">
                    <m:r>
                      <a:rPr lang="en-NZ" altLang="ja-JP" sz="1400" b="1" i="1" smtClean="0">
                        <a:solidFill>
                          <a:schemeClr val="bg2">
                            <a:lumMod val="50000"/>
                          </a:schemeClr>
                        </a:solidFill>
                        <a:latin typeface="Cambria Math" panose="02040503050406030204" pitchFamily="18" charset="0"/>
                        <a:ea typeface="游ゴシック" panose="020B0400000000000000" pitchFamily="34" charset="-128"/>
                      </a:rPr>
                      <m:t>𝒋</m:t>
                    </m:r>
                    <m:r>
                      <a:rPr lang="en-NZ" altLang="ja-JP" sz="1400" b="1" i="1" smtClean="0">
                        <a:solidFill>
                          <a:schemeClr val="bg2">
                            <a:lumMod val="50000"/>
                          </a:schemeClr>
                        </a:solidFill>
                        <a:latin typeface="Cambria Math" panose="02040503050406030204" pitchFamily="18" charset="0"/>
                        <a:ea typeface="游ゴシック" panose="020B0400000000000000" pitchFamily="34" charset="-128"/>
                      </a:rPr>
                      <m:t>(</m:t>
                    </m:r>
                    <m:r>
                      <a:rPr lang="en-NZ" altLang="ja-JP" sz="1400" b="1" i="1" smtClean="0">
                        <a:solidFill>
                          <a:schemeClr val="bg2">
                            <a:lumMod val="50000"/>
                          </a:schemeClr>
                        </a:solidFill>
                        <a:latin typeface="Cambria Math" panose="02040503050406030204" pitchFamily="18" charset="0"/>
                        <a:ea typeface="游ゴシック" panose="020B0400000000000000" pitchFamily="34" charset="-128"/>
                      </a:rPr>
                      <m:t>𝒊</m:t>
                    </m:r>
                    <m:r>
                      <a:rPr lang="en-NZ" altLang="ja-JP" sz="1400" b="1" i="1" smtClean="0">
                        <a:solidFill>
                          <a:schemeClr val="bg2">
                            <a:lumMod val="50000"/>
                          </a:schemeClr>
                        </a:solidFill>
                        <a:latin typeface="Cambria Math" panose="02040503050406030204" pitchFamily="18" charset="0"/>
                        <a:ea typeface="游ゴシック" panose="020B0400000000000000" pitchFamily="34" charset="-128"/>
                      </a:rPr>
                      <m:t>)</m:t>
                    </m:r>
                  </m:oMath>
                </a14:m>
                <a:r>
                  <a:rPr lang="en-NZ" altLang="ja-JP" sz="1400" b="1" dirty="0">
                    <a:solidFill>
                      <a:schemeClr val="bg2">
                        <a:lumMod val="50000"/>
                      </a:schemeClr>
                    </a:solidFill>
                    <a:latin typeface="Calibri" panose="020F0502020204030204"/>
                    <a:ea typeface="游ゴシック" panose="020B0400000000000000" pitchFamily="34" charset="-128"/>
                  </a:rPr>
                  <a:t> </a:t>
                </a:r>
                <a:r>
                  <a:rPr lang="en-NZ" altLang="ja-JP" sz="1400" dirty="0">
                    <a:solidFill>
                      <a:schemeClr val="bg2">
                        <a:lumMod val="50000"/>
                      </a:schemeClr>
                    </a:solidFill>
                    <a:latin typeface="Calibri" panose="020F0502020204030204"/>
                    <a:ea typeface="游ゴシック" panose="020B0400000000000000" pitchFamily="34" charset="-128"/>
                  </a:rPr>
                  <a:t>is read as ‘</a:t>
                </a:r>
                <a:r>
                  <a:rPr lang="en-NZ" altLang="ja-JP" sz="1400" b="1" i="1" dirty="0">
                    <a:solidFill>
                      <a:schemeClr val="bg2">
                        <a:lumMod val="50000"/>
                      </a:schemeClr>
                    </a:solidFill>
                    <a:latin typeface="Calibri" panose="020F0502020204030204"/>
                    <a:ea typeface="游ゴシック" panose="020B0400000000000000" pitchFamily="34" charset="-128"/>
                  </a:rPr>
                  <a:t>j</a:t>
                </a:r>
                <a:r>
                  <a:rPr lang="en-NZ" altLang="ja-JP" sz="1400" dirty="0">
                    <a:solidFill>
                      <a:schemeClr val="bg2">
                        <a:lumMod val="50000"/>
                      </a:schemeClr>
                    </a:solidFill>
                    <a:latin typeface="Calibri" panose="020F0502020204030204"/>
                    <a:ea typeface="游ゴシック" panose="020B0400000000000000" pitchFamily="34" charset="-128"/>
                  </a:rPr>
                  <a:t> nested within </a:t>
                </a:r>
                <a:r>
                  <a:rPr lang="en-NZ" altLang="ja-JP" sz="1400" b="1" i="1" dirty="0" err="1">
                    <a:solidFill>
                      <a:schemeClr val="bg2">
                        <a:lumMod val="50000"/>
                      </a:schemeClr>
                    </a:solidFill>
                    <a:latin typeface="Calibri" panose="020F0502020204030204"/>
                    <a:ea typeface="游ゴシック" panose="020B0400000000000000" pitchFamily="34" charset="-128"/>
                  </a:rPr>
                  <a:t>i</a:t>
                </a:r>
                <a:r>
                  <a:rPr lang="en-NZ" altLang="ja-JP" sz="1400" dirty="0">
                    <a:solidFill>
                      <a:schemeClr val="bg2">
                        <a:lumMod val="50000"/>
                      </a:schemeClr>
                    </a:solidFill>
                    <a:latin typeface="Calibri" panose="020F0502020204030204"/>
                    <a:ea typeface="游ゴシック" panose="020B0400000000000000" pitchFamily="34" charset="-128"/>
                  </a:rPr>
                  <a:t>’</a:t>
                </a:r>
                <a:br>
                  <a:rPr lang="en-NZ" altLang="ja-JP" sz="1400" dirty="0">
                    <a:solidFill>
                      <a:schemeClr val="bg2">
                        <a:lumMod val="50000"/>
                      </a:schemeClr>
                    </a:solidFill>
                    <a:latin typeface="Calibri" panose="020F0502020204030204"/>
                    <a:ea typeface="游ゴシック" panose="020B0400000000000000" pitchFamily="34" charset="-128"/>
                  </a:rPr>
                </a:br>
                <a14:m>
                  <m:oMath xmlns:m="http://schemas.openxmlformats.org/officeDocument/2006/math">
                    <m:r>
                      <a:rPr lang="en-NZ" altLang="ja-JP" sz="1400" b="1" i="1" smtClean="0">
                        <a:solidFill>
                          <a:schemeClr val="bg2">
                            <a:lumMod val="50000"/>
                          </a:schemeClr>
                        </a:solidFill>
                        <a:latin typeface="Cambria Math" panose="02040503050406030204" pitchFamily="18" charset="0"/>
                        <a:ea typeface="游ゴシック" panose="020B0400000000000000" pitchFamily="34" charset="-128"/>
                      </a:rPr>
                      <m:t>𝒌</m:t>
                    </m:r>
                    <m:r>
                      <a:rPr lang="en-NZ" altLang="ja-JP" sz="1400" b="1" i="1" smtClean="0">
                        <a:solidFill>
                          <a:schemeClr val="bg2">
                            <a:lumMod val="50000"/>
                          </a:schemeClr>
                        </a:solidFill>
                        <a:latin typeface="Cambria Math" panose="02040503050406030204" pitchFamily="18" charset="0"/>
                        <a:ea typeface="游ゴシック" panose="020B0400000000000000" pitchFamily="34" charset="-128"/>
                      </a:rPr>
                      <m:t>(</m:t>
                    </m:r>
                    <m:r>
                      <a:rPr lang="en-NZ" altLang="ja-JP" sz="1400" b="1" i="1" smtClean="0">
                        <a:solidFill>
                          <a:schemeClr val="bg2">
                            <a:lumMod val="50000"/>
                          </a:schemeClr>
                        </a:solidFill>
                        <a:latin typeface="Cambria Math" panose="02040503050406030204" pitchFamily="18" charset="0"/>
                        <a:ea typeface="游ゴシック" panose="020B0400000000000000" pitchFamily="34" charset="-128"/>
                      </a:rPr>
                      <m:t>𝒊𝒋</m:t>
                    </m:r>
                    <m:r>
                      <a:rPr lang="en-NZ" altLang="ja-JP" sz="1400" b="1" i="1" smtClean="0">
                        <a:solidFill>
                          <a:schemeClr val="bg2">
                            <a:lumMod val="50000"/>
                          </a:schemeClr>
                        </a:solidFill>
                        <a:latin typeface="Cambria Math" panose="02040503050406030204" pitchFamily="18" charset="0"/>
                        <a:ea typeface="游ゴシック" panose="020B0400000000000000" pitchFamily="34" charset="-128"/>
                      </a:rPr>
                      <m:t>)</m:t>
                    </m:r>
                  </m:oMath>
                </a14:m>
                <a:r>
                  <a:rPr lang="en-NZ" altLang="ja-JP" sz="1400" b="1" dirty="0">
                    <a:solidFill>
                      <a:schemeClr val="bg2">
                        <a:lumMod val="50000"/>
                      </a:schemeClr>
                    </a:solidFill>
                    <a:latin typeface="Calibri" panose="020F0502020204030204"/>
                    <a:ea typeface="游ゴシック" panose="020B0400000000000000" pitchFamily="34" charset="-128"/>
                  </a:rPr>
                  <a:t> </a:t>
                </a:r>
                <a:r>
                  <a:rPr lang="en-NZ" altLang="ja-JP" sz="1400" dirty="0">
                    <a:solidFill>
                      <a:schemeClr val="bg2">
                        <a:lumMod val="50000"/>
                      </a:schemeClr>
                    </a:solidFill>
                    <a:latin typeface="Calibri" panose="020F0502020204030204"/>
                    <a:ea typeface="游ゴシック" panose="020B0400000000000000" pitchFamily="34" charset="-128"/>
                  </a:rPr>
                  <a:t>is read as ‘k nested within </a:t>
                </a:r>
                <a:r>
                  <a:rPr lang="en-NZ" altLang="ja-JP" sz="1400" b="1" i="1" dirty="0" err="1">
                    <a:solidFill>
                      <a:schemeClr val="bg2">
                        <a:lumMod val="50000"/>
                      </a:schemeClr>
                    </a:solidFill>
                    <a:latin typeface="Calibri" panose="020F0502020204030204"/>
                    <a:ea typeface="游ゴシック" panose="020B0400000000000000" pitchFamily="34" charset="-128"/>
                  </a:rPr>
                  <a:t>ij</a:t>
                </a:r>
                <a:r>
                  <a:rPr lang="en-NZ" altLang="ja-JP" sz="1400" dirty="0">
                    <a:solidFill>
                      <a:schemeClr val="bg2">
                        <a:lumMod val="50000"/>
                      </a:schemeClr>
                    </a:solidFill>
                    <a:latin typeface="Calibri" panose="020F0502020204030204"/>
                    <a:ea typeface="游ゴシック" panose="020B0400000000000000" pitchFamily="34" charset="-128"/>
                  </a:rPr>
                  <a:t>’</a:t>
                </a:r>
              </a:p>
            </p:txBody>
          </p:sp>
        </mc:Choice>
        <mc:Fallback xmlns="">
          <p:sp>
            <p:nvSpPr>
              <p:cNvPr id="25" name="Text Placeholder 5">
                <a:extLst>
                  <a:ext uri="{FF2B5EF4-FFF2-40B4-BE49-F238E27FC236}">
                    <a16:creationId xmlns:a16="http://schemas.microsoft.com/office/drawing/2014/main" id="{7D853F2D-8630-E726-F63E-A20A8FE538A1}"/>
                  </a:ext>
                </a:extLst>
              </p:cNvPr>
              <p:cNvSpPr txBox="1">
                <a:spLocks noRot="1" noChangeAspect="1" noMove="1" noResize="1" noEditPoints="1" noAdjustHandles="1" noChangeArrowheads="1" noChangeShapeType="1" noTextEdit="1"/>
              </p:cNvSpPr>
              <p:nvPr/>
            </p:nvSpPr>
            <p:spPr>
              <a:xfrm>
                <a:off x="2522183" y="3513301"/>
                <a:ext cx="2861945" cy="532748"/>
              </a:xfrm>
              <a:prstGeom prst="rect">
                <a:avLst/>
              </a:prstGeom>
              <a:blipFill>
                <a:blip r:embed="rId6"/>
                <a:stretch>
                  <a:fillRect t="-1136" r="-640" b="-9091"/>
                </a:stretch>
              </a:blipFill>
            </p:spPr>
            <p:txBody>
              <a:bodyPr/>
              <a:lstStyle/>
              <a:p>
                <a:r>
                  <a:rPr lang="en-NZ">
                    <a:noFill/>
                  </a:rPr>
                  <a:t> </a:t>
                </a:r>
              </a:p>
            </p:txBody>
          </p:sp>
        </mc:Fallback>
      </mc:AlternateContent>
      <p:sp>
        <p:nvSpPr>
          <p:cNvPr id="26" name="Right Brace 25">
            <a:extLst>
              <a:ext uri="{FF2B5EF4-FFF2-40B4-BE49-F238E27FC236}">
                <a16:creationId xmlns:a16="http://schemas.microsoft.com/office/drawing/2014/main" id="{CA30D687-4E97-241C-0AC8-4823072319B9}"/>
              </a:ext>
            </a:extLst>
          </p:cNvPr>
          <p:cNvSpPr/>
          <p:nvPr/>
        </p:nvSpPr>
        <p:spPr>
          <a:xfrm>
            <a:off x="2204079" y="3527804"/>
            <a:ext cx="173216" cy="518245"/>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NZ" dirty="0"/>
          </a:p>
        </p:txBody>
      </p:sp>
      <mc:AlternateContent xmlns:mc="http://schemas.openxmlformats.org/markup-compatibility/2006" xmlns:a14="http://schemas.microsoft.com/office/drawing/2010/main">
        <mc:Choice Requires="a14">
          <p:sp>
            <p:nvSpPr>
              <p:cNvPr id="32" name="Text Placeholder 5">
                <a:extLst>
                  <a:ext uri="{FF2B5EF4-FFF2-40B4-BE49-F238E27FC236}">
                    <a16:creationId xmlns:a16="http://schemas.microsoft.com/office/drawing/2014/main" id="{64FD1AA0-3156-DCF6-D1E8-F7463CAF27D9}"/>
                  </a:ext>
                </a:extLst>
              </p:cNvPr>
              <p:cNvSpPr txBox="1">
                <a:spLocks/>
              </p:cNvSpPr>
              <p:nvPr/>
            </p:nvSpPr>
            <p:spPr>
              <a:xfrm>
                <a:off x="668740" y="5090635"/>
                <a:ext cx="9918335" cy="987812"/>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1600" dirty="0">
                    <a:solidFill>
                      <a:schemeClr val="tx1"/>
                    </a:solidFill>
                  </a:rPr>
                  <a:t>We are also interested in the proportion of variance (after allowing for treatment) that is due to</a:t>
                </a:r>
              </a:p>
              <a:p>
                <a:pPr marL="1085793" lvl="1" indent="-400050" algn="just">
                  <a:lnSpc>
                    <a:spcPct val="100000"/>
                  </a:lnSpc>
                  <a:buFont typeface="+mj-lt"/>
                  <a:buAutoNum type="romanLcPeriod"/>
                </a:pPr>
                <a:r>
                  <a:rPr lang="en-NZ" altLang="ja-JP" sz="1600" dirty="0"/>
                  <a:t>Factor B   </a:t>
                </a:r>
                <a14:m>
                  <m:oMath xmlns:m="http://schemas.openxmlformats.org/officeDocument/2006/math">
                    <m:f>
                      <m:fPr>
                        <m:type m:val="lin"/>
                        <m:ctrlPr>
                          <a:rPr lang="en-NZ" altLang="ja-JP" sz="1600" i="1" smtClean="0">
                            <a:solidFill>
                              <a:srgbClr val="0070C0"/>
                            </a:solidFill>
                            <a:latin typeface="Cambria Math" panose="02040503050406030204" pitchFamily="18" charset="0"/>
                          </a:rPr>
                        </m:ctrlPr>
                      </m:fPr>
                      <m:num>
                        <m:sSubSup>
                          <m:sSubSupPr>
                            <m:ctrlPr>
                              <a:rPr lang="en-NZ" altLang="ja-JP" sz="1600" b="1" i="1">
                                <a:solidFill>
                                  <a:srgbClr val="0070C0"/>
                                </a:solidFill>
                                <a:latin typeface="Cambria Math" panose="02040503050406030204" pitchFamily="18" charset="0"/>
                              </a:rPr>
                            </m:ctrlPr>
                          </m:sSubSupPr>
                          <m:e>
                            <m:r>
                              <a:rPr lang="en-NZ" altLang="ja-JP" sz="1600" b="1" i="1">
                                <a:solidFill>
                                  <a:srgbClr val="0070C0"/>
                                </a:solidFill>
                                <a:latin typeface="Cambria Math" panose="02040503050406030204" pitchFamily="18" charset="0"/>
                              </a:rPr>
                              <m:t>𝝈</m:t>
                            </m:r>
                          </m:e>
                          <m:sub>
                            <m:r>
                              <a:rPr lang="en-NZ" altLang="ja-JP" sz="1600" b="1" i="1">
                                <a:solidFill>
                                  <a:srgbClr val="0070C0"/>
                                </a:solidFill>
                                <a:latin typeface="Cambria Math" panose="02040503050406030204" pitchFamily="18" charset="0"/>
                              </a:rPr>
                              <m:t>𝑩</m:t>
                            </m:r>
                          </m:sub>
                          <m:sup>
                            <m:r>
                              <a:rPr lang="en-NZ" altLang="ja-JP" sz="1600" b="1" i="1">
                                <a:solidFill>
                                  <a:srgbClr val="0070C0"/>
                                </a:solidFill>
                                <a:latin typeface="Cambria Math" panose="02040503050406030204" pitchFamily="18" charset="0"/>
                              </a:rPr>
                              <m:t>𝟐</m:t>
                            </m:r>
                          </m:sup>
                        </m:sSubSup>
                        <m:r>
                          <a:rPr lang="en-NZ" altLang="ja-JP" sz="1600" b="1" i="1">
                            <a:solidFill>
                              <a:srgbClr val="0070C0"/>
                            </a:solidFill>
                            <a:latin typeface="Cambria Math" panose="02040503050406030204" pitchFamily="18" charset="0"/>
                          </a:rPr>
                          <m:t> </m:t>
                        </m:r>
                      </m:num>
                      <m:den>
                        <m:r>
                          <a:rPr lang="en-NZ" altLang="ja-JP" sz="1600" b="0" i="1" smtClean="0">
                            <a:solidFill>
                              <a:srgbClr val="0070C0"/>
                            </a:solidFill>
                            <a:latin typeface="Cambria Math" panose="02040503050406030204" pitchFamily="18" charset="0"/>
                          </a:rPr>
                          <m:t>( </m:t>
                        </m:r>
                        <m:sSubSup>
                          <m:sSubSupPr>
                            <m:ctrlPr>
                              <a:rPr lang="en-NZ" altLang="ja-JP" sz="1600" b="1" i="1">
                                <a:solidFill>
                                  <a:srgbClr val="0070C0"/>
                                </a:solidFill>
                                <a:latin typeface="Cambria Math" panose="02040503050406030204" pitchFamily="18" charset="0"/>
                              </a:rPr>
                            </m:ctrlPr>
                          </m:sSubSupPr>
                          <m:e>
                            <m:r>
                              <a:rPr lang="en-NZ" altLang="ja-JP" sz="1600" b="1" i="1">
                                <a:solidFill>
                                  <a:srgbClr val="0070C0"/>
                                </a:solidFill>
                                <a:latin typeface="Cambria Math" panose="02040503050406030204" pitchFamily="18" charset="0"/>
                              </a:rPr>
                              <m:t>𝝈</m:t>
                            </m:r>
                          </m:e>
                          <m:sub>
                            <m:r>
                              <a:rPr lang="en-NZ" altLang="ja-JP" sz="1600" b="1" i="1">
                                <a:solidFill>
                                  <a:srgbClr val="0070C0"/>
                                </a:solidFill>
                                <a:latin typeface="Cambria Math" panose="02040503050406030204" pitchFamily="18" charset="0"/>
                              </a:rPr>
                              <m:t>𝑩</m:t>
                            </m:r>
                          </m:sub>
                          <m:sup>
                            <m:r>
                              <a:rPr lang="en-NZ" altLang="ja-JP" sz="1600" b="1" i="1">
                                <a:solidFill>
                                  <a:srgbClr val="0070C0"/>
                                </a:solidFill>
                                <a:latin typeface="Cambria Math" panose="02040503050406030204" pitchFamily="18" charset="0"/>
                              </a:rPr>
                              <m:t>𝟐</m:t>
                            </m:r>
                          </m:sup>
                        </m:sSubSup>
                        <m:r>
                          <a:rPr lang="en-NZ" altLang="ja-JP" sz="1600" b="1" i="1">
                            <a:solidFill>
                              <a:srgbClr val="0070C0"/>
                            </a:solidFill>
                            <a:latin typeface="Cambria Math" panose="02040503050406030204" pitchFamily="18" charset="0"/>
                          </a:rPr>
                          <m:t> +  </m:t>
                        </m:r>
                        <m:sSup>
                          <m:sSupPr>
                            <m:ctrlPr>
                              <a:rPr lang="en-NZ" altLang="ja-JP" sz="1600" b="1" i="1">
                                <a:solidFill>
                                  <a:srgbClr val="0070C0"/>
                                </a:solidFill>
                                <a:latin typeface="Cambria Math" panose="02040503050406030204" pitchFamily="18" charset="0"/>
                              </a:rPr>
                            </m:ctrlPr>
                          </m:sSupPr>
                          <m:e>
                            <m:r>
                              <a:rPr lang="en-NZ" altLang="ja-JP" sz="1600" b="1" i="1">
                                <a:solidFill>
                                  <a:srgbClr val="0070C0"/>
                                </a:solidFill>
                                <a:latin typeface="Cambria Math" panose="02040503050406030204" pitchFamily="18" charset="0"/>
                              </a:rPr>
                              <m:t>𝝈</m:t>
                            </m:r>
                          </m:e>
                          <m:sup>
                            <m:r>
                              <a:rPr lang="en-NZ" altLang="ja-JP" sz="1600" b="1" i="1">
                                <a:solidFill>
                                  <a:srgbClr val="0070C0"/>
                                </a:solidFill>
                                <a:latin typeface="Cambria Math" panose="02040503050406030204" pitchFamily="18" charset="0"/>
                              </a:rPr>
                              <m:t>𝟐</m:t>
                            </m:r>
                          </m:sup>
                        </m:sSup>
                        <m:r>
                          <a:rPr lang="en-NZ" altLang="ja-JP" sz="1600" b="1" i="1" smtClean="0">
                            <a:solidFill>
                              <a:srgbClr val="0070C0"/>
                            </a:solidFill>
                            <a:latin typeface="Cambria Math" panose="02040503050406030204" pitchFamily="18" charset="0"/>
                          </a:rPr>
                          <m:t> )</m:t>
                        </m:r>
                      </m:den>
                    </m:f>
                  </m:oMath>
                </a14:m>
                <a:endParaRPr lang="en-NZ" altLang="ja-JP" sz="1600" dirty="0">
                  <a:solidFill>
                    <a:schemeClr val="tx1"/>
                  </a:solidFill>
                </a:endParaRPr>
              </a:p>
              <a:p>
                <a:pPr marL="1085793" lvl="1" indent="-400050">
                  <a:lnSpc>
                    <a:spcPct val="100000"/>
                  </a:lnSpc>
                  <a:buFont typeface="+mj-lt"/>
                  <a:buAutoNum type="romanLcPeriod"/>
                </a:pPr>
                <a:r>
                  <a:rPr lang="en-NZ" altLang="ja-JP" sz="1600" dirty="0"/>
                  <a:t>Residual unexplained variation  </a:t>
                </a:r>
                <a14:m>
                  <m:oMath xmlns:m="http://schemas.openxmlformats.org/officeDocument/2006/math">
                    <m:f>
                      <m:fPr>
                        <m:type m:val="lin"/>
                        <m:ctrlPr>
                          <a:rPr lang="en-NZ" altLang="ja-JP" sz="1600" i="1" smtClean="0">
                            <a:solidFill>
                              <a:srgbClr val="0070C0"/>
                            </a:solidFill>
                            <a:latin typeface="Cambria Math" panose="02040503050406030204" pitchFamily="18" charset="0"/>
                          </a:rPr>
                        </m:ctrlPr>
                      </m:fPr>
                      <m:num>
                        <m:sSup>
                          <m:sSupPr>
                            <m:ctrlPr>
                              <a:rPr lang="en-NZ" altLang="ja-JP" sz="1600" b="1" i="1" smtClean="0">
                                <a:solidFill>
                                  <a:srgbClr val="0070C0"/>
                                </a:solidFill>
                                <a:latin typeface="Cambria Math" panose="02040503050406030204" pitchFamily="18" charset="0"/>
                              </a:rPr>
                            </m:ctrlPr>
                          </m:sSupPr>
                          <m:e>
                            <m:r>
                              <a:rPr lang="en-NZ" altLang="ja-JP" sz="1600" b="1" i="1" smtClean="0">
                                <a:solidFill>
                                  <a:srgbClr val="0070C0"/>
                                </a:solidFill>
                                <a:latin typeface="Cambria Math" panose="02040503050406030204" pitchFamily="18" charset="0"/>
                              </a:rPr>
                              <m:t>𝝈</m:t>
                            </m:r>
                          </m:e>
                          <m:sup>
                            <m:r>
                              <a:rPr lang="en-NZ" altLang="ja-JP" sz="1600" b="1" i="1" smtClean="0">
                                <a:solidFill>
                                  <a:srgbClr val="0070C0"/>
                                </a:solidFill>
                                <a:latin typeface="Cambria Math" panose="02040503050406030204" pitchFamily="18" charset="0"/>
                              </a:rPr>
                              <m:t>𝟐</m:t>
                            </m:r>
                          </m:sup>
                        </m:sSup>
                        <m:r>
                          <a:rPr lang="en-NZ" altLang="ja-JP" sz="1600" b="1" i="1">
                            <a:solidFill>
                              <a:srgbClr val="0070C0"/>
                            </a:solidFill>
                            <a:latin typeface="Cambria Math" panose="02040503050406030204" pitchFamily="18" charset="0"/>
                          </a:rPr>
                          <m:t> </m:t>
                        </m:r>
                      </m:num>
                      <m:den>
                        <m:r>
                          <a:rPr lang="en-NZ" altLang="ja-JP" sz="1600" b="0" i="1" smtClean="0">
                            <a:solidFill>
                              <a:srgbClr val="0070C0"/>
                            </a:solidFill>
                            <a:latin typeface="Cambria Math" panose="02040503050406030204" pitchFamily="18" charset="0"/>
                          </a:rPr>
                          <m:t>( </m:t>
                        </m:r>
                        <m:sSubSup>
                          <m:sSubSupPr>
                            <m:ctrlPr>
                              <a:rPr lang="en-NZ" altLang="ja-JP" sz="1600" b="1" i="1">
                                <a:solidFill>
                                  <a:srgbClr val="0070C0"/>
                                </a:solidFill>
                                <a:latin typeface="Cambria Math" panose="02040503050406030204" pitchFamily="18" charset="0"/>
                              </a:rPr>
                            </m:ctrlPr>
                          </m:sSubSupPr>
                          <m:e>
                            <m:r>
                              <a:rPr lang="en-NZ" altLang="ja-JP" sz="1600" b="1" i="1">
                                <a:solidFill>
                                  <a:srgbClr val="0070C0"/>
                                </a:solidFill>
                                <a:latin typeface="Cambria Math" panose="02040503050406030204" pitchFamily="18" charset="0"/>
                              </a:rPr>
                              <m:t>𝝈</m:t>
                            </m:r>
                          </m:e>
                          <m:sub>
                            <m:r>
                              <a:rPr lang="en-NZ" altLang="ja-JP" sz="1600" b="1" i="1">
                                <a:solidFill>
                                  <a:srgbClr val="0070C0"/>
                                </a:solidFill>
                                <a:latin typeface="Cambria Math" panose="02040503050406030204" pitchFamily="18" charset="0"/>
                              </a:rPr>
                              <m:t>𝑩</m:t>
                            </m:r>
                          </m:sub>
                          <m:sup>
                            <m:r>
                              <a:rPr lang="en-NZ" altLang="ja-JP" sz="1600" b="1" i="1">
                                <a:solidFill>
                                  <a:srgbClr val="0070C0"/>
                                </a:solidFill>
                                <a:latin typeface="Cambria Math" panose="02040503050406030204" pitchFamily="18" charset="0"/>
                              </a:rPr>
                              <m:t>𝟐</m:t>
                            </m:r>
                          </m:sup>
                        </m:sSubSup>
                        <m:r>
                          <a:rPr lang="en-NZ" altLang="ja-JP" sz="1600" b="1" i="1">
                            <a:solidFill>
                              <a:srgbClr val="0070C0"/>
                            </a:solidFill>
                            <a:latin typeface="Cambria Math" panose="02040503050406030204" pitchFamily="18" charset="0"/>
                          </a:rPr>
                          <m:t> +  </m:t>
                        </m:r>
                        <m:sSup>
                          <m:sSupPr>
                            <m:ctrlPr>
                              <a:rPr lang="en-NZ" altLang="ja-JP" sz="1600" b="1" i="1">
                                <a:solidFill>
                                  <a:srgbClr val="0070C0"/>
                                </a:solidFill>
                                <a:latin typeface="Cambria Math" panose="02040503050406030204" pitchFamily="18" charset="0"/>
                              </a:rPr>
                            </m:ctrlPr>
                          </m:sSupPr>
                          <m:e>
                            <m:r>
                              <a:rPr lang="en-NZ" altLang="ja-JP" sz="1600" b="1" i="1">
                                <a:solidFill>
                                  <a:srgbClr val="0070C0"/>
                                </a:solidFill>
                                <a:latin typeface="Cambria Math" panose="02040503050406030204" pitchFamily="18" charset="0"/>
                              </a:rPr>
                              <m:t>𝝈</m:t>
                            </m:r>
                          </m:e>
                          <m:sup>
                            <m:r>
                              <a:rPr lang="en-NZ" altLang="ja-JP" sz="1600" b="1" i="1">
                                <a:solidFill>
                                  <a:srgbClr val="0070C0"/>
                                </a:solidFill>
                                <a:latin typeface="Cambria Math" panose="02040503050406030204" pitchFamily="18" charset="0"/>
                              </a:rPr>
                              <m:t>𝟐</m:t>
                            </m:r>
                          </m:sup>
                        </m:sSup>
                        <m:r>
                          <a:rPr lang="en-NZ" altLang="ja-JP" sz="1600" b="1" i="1" smtClean="0">
                            <a:solidFill>
                              <a:srgbClr val="0070C0"/>
                            </a:solidFill>
                            <a:latin typeface="Cambria Math" panose="02040503050406030204" pitchFamily="18" charset="0"/>
                          </a:rPr>
                          <m:t> )</m:t>
                        </m:r>
                      </m:den>
                    </m:f>
                  </m:oMath>
                </a14:m>
                <a:r>
                  <a:rPr lang="en-NZ" altLang="ja-JP" sz="1600" dirty="0">
                    <a:solidFill>
                      <a:srgbClr val="0070C0"/>
                    </a:solidFill>
                  </a:rPr>
                  <a:t> </a:t>
                </a:r>
                <a:endParaRPr lang="en-NZ" altLang="ja-JP" sz="1600" dirty="0"/>
              </a:p>
            </p:txBody>
          </p:sp>
        </mc:Choice>
        <mc:Fallback xmlns="">
          <p:sp>
            <p:nvSpPr>
              <p:cNvPr id="32" name="Text Placeholder 5">
                <a:extLst>
                  <a:ext uri="{FF2B5EF4-FFF2-40B4-BE49-F238E27FC236}">
                    <a16:creationId xmlns:a16="http://schemas.microsoft.com/office/drawing/2014/main" id="{64FD1AA0-3156-DCF6-D1E8-F7463CAF27D9}"/>
                  </a:ext>
                </a:extLst>
              </p:cNvPr>
              <p:cNvSpPr txBox="1">
                <a:spLocks noRot="1" noChangeAspect="1" noMove="1" noResize="1" noEditPoints="1" noAdjustHandles="1" noChangeArrowheads="1" noChangeShapeType="1" noTextEdit="1"/>
              </p:cNvSpPr>
              <p:nvPr/>
            </p:nvSpPr>
            <p:spPr>
              <a:xfrm>
                <a:off x="668740" y="5090635"/>
                <a:ext cx="9918335" cy="987812"/>
              </a:xfrm>
              <a:prstGeom prst="rect">
                <a:avLst/>
              </a:prstGeom>
              <a:blipFill>
                <a:blip r:embed="rId7"/>
                <a:stretch>
                  <a:fillRect l="-369" t="-2469" b="-56173"/>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33" name="Text Placeholder 5">
                <a:extLst>
                  <a:ext uri="{FF2B5EF4-FFF2-40B4-BE49-F238E27FC236}">
                    <a16:creationId xmlns:a16="http://schemas.microsoft.com/office/drawing/2014/main" id="{81C4562A-FA03-D0F0-1AB2-F0524AB15151}"/>
                  </a:ext>
                </a:extLst>
              </p:cNvPr>
              <p:cNvSpPr txBox="1">
                <a:spLocks/>
              </p:cNvSpPr>
              <p:nvPr/>
            </p:nvSpPr>
            <p:spPr>
              <a:xfrm>
                <a:off x="668740" y="6154156"/>
                <a:ext cx="4804823" cy="537541"/>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1600" dirty="0">
                    <a:solidFill>
                      <a:schemeClr val="tx1"/>
                    </a:solidFill>
                  </a:rPr>
                  <a:t> </a:t>
                </a:r>
                <a14:m>
                  <m:oMath xmlns:m="http://schemas.openxmlformats.org/officeDocument/2006/math">
                    <m:sSubSup>
                      <m:sSubSupPr>
                        <m:ctrlPr>
                          <a:rPr lang="en-NZ" altLang="ja-JP" sz="1600" b="1" i="1" smtClean="0">
                            <a:solidFill>
                              <a:schemeClr val="tx1"/>
                            </a:solidFill>
                            <a:latin typeface="Cambria Math" panose="02040503050406030204" pitchFamily="18" charset="0"/>
                          </a:rPr>
                        </m:ctrlPr>
                      </m:sSubSupPr>
                      <m:e>
                        <m:r>
                          <a:rPr lang="en-NZ" altLang="ja-JP" sz="1600" b="1" i="1">
                            <a:solidFill>
                              <a:schemeClr val="tx1"/>
                            </a:solidFill>
                            <a:latin typeface="Cambria Math" panose="02040503050406030204" pitchFamily="18" charset="0"/>
                          </a:rPr>
                          <m:t>𝝈</m:t>
                        </m:r>
                      </m:e>
                      <m:sub>
                        <m:r>
                          <a:rPr lang="en-NZ" altLang="ja-JP" sz="1600" b="1" i="1">
                            <a:solidFill>
                              <a:schemeClr val="tx1"/>
                            </a:solidFill>
                            <a:latin typeface="Cambria Math" panose="02040503050406030204" pitchFamily="18" charset="0"/>
                          </a:rPr>
                          <m:t>𝑩</m:t>
                        </m:r>
                      </m:sub>
                      <m:sup>
                        <m:r>
                          <a:rPr lang="en-NZ" altLang="ja-JP" sz="1600" b="1" i="1">
                            <a:solidFill>
                              <a:schemeClr val="tx1"/>
                            </a:solidFill>
                            <a:latin typeface="Cambria Math" panose="02040503050406030204" pitchFamily="18" charset="0"/>
                          </a:rPr>
                          <m:t>𝟐</m:t>
                        </m:r>
                      </m:sup>
                    </m:sSubSup>
                    <m:r>
                      <a:rPr lang="en-NZ" altLang="ja-JP" sz="1600" b="1" i="1">
                        <a:solidFill>
                          <a:schemeClr val="tx1"/>
                        </a:solidFill>
                        <a:latin typeface="Cambria Math" panose="02040503050406030204" pitchFamily="18" charset="0"/>
                      </a:rPr>
                      <m:t> </m:t>
                    </m:r>
                  </m:oMath>
                </a14:m>
                <a:r>
                  <a:rPr lang="en-NZ" altLang="ja-JP" sz="1600" dirty="0">
                    <a:solidFill>
                      <a:schemeClr val="tx1"/>
                    </a:solidFill>
                  </a:rPr>
                  <a:t> and  </a:t>
                </a:r>
                <a14:m>
                  <m:oMath xmlns:m="http://schemas.openxmlformats.org/officeDocument/2006/math">
                    <m:sSup>
                      <m:sSupPr>
                        <m:ctrlPr>
                          <a:rPr lang="en-NZ" altLang="ja-JP" sz="1600" b="1" i="1">
                            <a:solidFill>
                              <a:schemeClr val="tx1"/>
                            </a:solidFill>
                            <a:latin typeface="Cambria Math" panose="02040503050406030204" pitchFamily="18" charset="0"/>
                          </a:rPr>
                        </m:ctrlPr>
                      </m:sSupPr>
                      <m:e>
                        <m:r>
                          <a:rPr lang="en-NZ" altLang="ja-JP" sz="1600" b="1" i="1">
                            <a:solidFill>
                              <a:schemeClr val="tx1"/>
                            </a:solidFill>
                            <a:latin typeface="Cambria Math" panose="02040503050406030204" pitchFamily="18" charset="0"/>
                          </a:rPr>
                          <m:t>𝝈</m:t>
                        </m:r>
                      </m:e>
                      <m:sup>
                        <m:r>
                          <a:rPr lang="en-NZ" altLang="ja-JP" sz="1600" b="1" i="1">
                            <a:solidFill>
                              <a:schemeClr val="tx1"/>
                            </a:solidFill>
                            <a:latin typeface="Cambria Math" panose="02040503050406030204" pitchFamily="18" charset="0"/>
                          </a:rPr>
                          <m:t>𝟐</m:t>
                        </m:r>
                      </m:sup>
                    </m:sSup>
                    <m:r>
                      <a:rPr lang="en-NZ" altLang="ja-JP" sz="1600" b="1" i="1">
                        <a:solidFill>
                          <a:schemeClr val="tx1"/>
                        </a:solidFill>
                        <a:latin typeface="Cambria Math" panose="02040503050406030204" pitchFamily="18" charset="0"/>
                      </a:rPr>
                      <m:t> </m:t>
                    </m:r>
                  </m:oMath>
                </a14:m>
                <a:r>
                  <a:rPr lang="en-NZ" altLang="ja-JP" sz="1600" dirty="0">
                    <a:solidFill>
                      <a:schemeClr val="tx1"/>
                    </a:solidFill>
                  </a:rPr>
                  <a:t> must be estimated from the data.  </a:t>
                </a:r>
                <a:endParaRPr lang="en-NZ" altLang="ja-JP" sz="1600" dirty="0"/>
              </a:p>
            </p:txBody>
          </p:sp>
        </mc:Choice>
        <mc:Fallback xmlns="">
          <p:sp>
            <p:nvSpPr>
              <p:cNvPr id="33" name="Text Placeholder 5">
                <a:extLst>
                  <a:ext uri="{FF2B5EF4-FFF2-40B4-BE49-F238E27FC236}">
                    <a16:creationId xmlns:a16="http://schemas.microsoft.com/office/drawing/2014/main" id="{81C4562A-FA03-D0F0-1AB2-F0524AB15151}"/>
                  </a:ext>
                </a:extLst>
              </p:cNvPr>
              <p:cNvSpPr txBox="1">
                <a:spLocks noRot="1" noChangeAspect="1" noMove="1" noResize="1" noEditPoints="1" noAdjustHandles="1" noChangeArrowheads="1" noChangeShapeType="1" noTextEdit="1"/>
              </p:cNvSpPr>
              <p:nvPr/>
            </p:nvSpPr>
            <p:spPr>
              <a:xfrm>
                <a:off x="668740" y="6154156"/>
                <a:ext cx="4804823" cy="537541"/>
              </a:xfrm>
              <a:prstGeom prst="rect">
                <a:avLst/>
              </a:prstGeom>
              <a:blipFill>
                <a:blip r:embed="rId8"/>
                <a:stretch>
                  <a:fillRect/>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2" name="Text Placeholder 5">
                <a:extLst>
                  <a:ext uri="{FF2B5EF4-FFF2-40B4-BE49-F238E27FC236}">
                    <a16:creationId xmlns:a16="http://schemas.microsoft.com/office/drawing/2014/main" id="{E53A05A3-E724-D7C0-EF59-AD4CEA882E4D}"/>
                  </a:ext>
                </a:extLst>
              </p:cNvPr>
              <p:cNvSpPr txBox="1">
                <a:spLocks/>
              </p:cNvSpPr>
              <p:nvPr/>
            </p:nvSpPr>
            <p:spPr>
              <a:xfrm>
                <a:off x="0" y="4471244"/>
                <a:ext cx="12192000" cy="413017"/>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14:m>
                  <m:oMathPara xmlns:m="http://schemas.openxmlformats.org/officeDocument/2006/math">
                    <m:oMathParaPr>
                      <m:jc m:val="centerGroup"/>
                    </m:oMathParaPr>
                    <m:oMath xmlns:m="http://schemas.openxmlformats.org/officeDocument/2006/math">
                      <m:r>
                        <a:rPr lang="en-NZ" altLang="ja-JP" sz="1800" b="1" i="1" smtClean="0">
                          <a:solidFill>
                            <a:srgbClr val="0070C0"/>
                          </a:solidFill>
                          <a:latin typeface="Cambria Math" panose="02040503050406030204" pitchFamily="18" charset="0"/>
                        </a:rPr>
                        <m:t>𝑽𝒂𝒓</m:t>
                      </m:r>
                      <m:d>
                        <m:dPr>
                          <m:begChr m:val="["/>
                          <m:endChr m:val="]"/>
                          <m:ctrlPr>
                            <a:rPr lang="en-NZ" altLang="ja-JP" sz="1800" b="1" i="1" smtClean="0">
                              <a:solidFill>
                                <a:srgbClr val="0070C0"/>
                              </a:solidFill>
                              <a:latin typeface="Cambria Math" panose="02040503050406030204" pitchFamily="18" charset="0"/>
                            </a:rPr>
                          </m:ctrlPr>
                        </m:dPr>
                        <m:e>
                          <m:r>
                            <a:rPr lang="en-NZ" altLang="ja-JP" sz="1800" b="1" i="1" smtClean="0">
                              <a:solidFill>
                                <a:srgbClr val="0070C0"/>
                              </a:solidFill>
                              <a:latin typeface="Cambria Math" panose="02040503050406030204" pitchFamily="18" charset="0"/>
                            </a:rPr>
                            <m:t> </m:t>
                          </m:r>
                          <m:sSub>
                            <m:sSubPr>
                              <m:ctrlPr>
                                <a:rPr lang="en-NZ" altLang="ja-JP" sz="1800" b="1" i="1">
                                  <a:solidFill>
                                    <a:srgbClr val="0070C0"/>
                                  </a:solidFill>
                                  <a:latin typeface="Cambria Math" panose="02040503050406030204" pitchFamily="18" charset="0"/>
                                </a:rPr>
                              </m:ctrlPr>
                            </m:sSubPr>
                            <m:e>
                              <m:r>
                                <a:rPr lang="en-NZ" altLang="ja-JP" sz="1800" b="1" i="1">
                                  <a:solidFill>
                                    <a:srgbClr val="0070C0"/>
                                  </a:solidFill>
                                  <a:latin typeface="Cambria Math" panose="02040503050406030204" pitchFamily="18" charset="0"/>
                                </a:rPr>
                                <m:t>𝒀</m:t>
                              </m:r>
                            </m:e>
                            <m:sub>
                              <m:r>
                                <a:rPr lang="en-NZ" altLang="ja-JP" sz="1800" b="1" i="1">
                                  <a:solidFill>
                                    <a:srgbClr val="0070C0"/>
                                  </a:solidFill>
                                  <a:latin typeface="Cambria Math" panose="02040503050406030204" pitchFamily="18" charset="0"/>
                                </a:rPr>
                                <m:t>𝒊𝒋𝒌</m:t>
                              </m:r>
                            </m:sub>
                          </m:sSub>
                          <m:r>
                            <a:rPr lang="en-NZ" altLang="ja-JP" sz="1800" b="1" i="1" smtClean="0">
                              <a:solidFill>
                                <a:srgbClr val="0070C0"/>
                              </a:solidFill>
                              <a:latin typeface="Cambria Math" panose="02040503050406030204" pitchFamily="18" charset="0"/>
                            </a:rPr>
                            <m:t> </m:t>
                          </m:r>
                        </m:e>
                      </m:d>
                      <m:r>
                        <a:rPr lang="en-NZ" altLang="ja-JP" sz="1800" b="1" i="1" smtClean="0">
                          <a:solidFill>
                            <a:srgbClr val="0070C0"/>
                          </a:solidFill>
                          <a:latin typeface="Cambria Math" panose="02040503050406030204" pitchFamily="18" charset="0"/>
                        </a:rPr>
                        <m:t> =</m:t>
                      </m:r>
                      <m:r>
                        <a:rPr lang="en-NZ" altLang="ja-JP" sz="1800" b="1" i="1" smtClean="0">
                          <a:solidFill>
                            <a:srgbClr val="0070C0"/>
                          </a:solidFill>
                          <a:latin typeface="Cambria Math" panose="02040503050406030204" pitchFamily="18" charset="0"/>
                        </a:rPr>
                        <m:t>𝑽𝒂𝒓</m:t>
                      </m:r>
                      <m:d>
                        <m:dPr>
                          <m:begChr m:val="["/>
                          <m:endChr m:val="]"/>
                          <m:ctrlPr>
                            <a:rPr lang="en-NZ" altLang="ja-JP" sz="1800" b="1" i="1" smtClean="0">
                              <a:solidFill>
                                <a:srgbClr val="0070C0"/>
                              </a:solidFill>
                              <a:latin typeface="Cambria Math" panose="02040503050406030204" pitchFamily="18" charset="0"/>
                            </a:rPr>
                          </m:ctrlPr>
                        </m:dPr>
                        <m:e>
                          <m:r>
                            <a:rPr lang="en-NZ" altLang="ja-JP" sz="1800" b="1" i="1" smtClean="0">
                              <a:solidFill>
                                <a:srgbClr val="0070C0"/>
                              </a:solidFill>
                              <a:latin typeface="Cambria Math" panose="02040503050406030204" pitchFamily="18" charset="0"/>
                            </a:rPr>
                            <m:t> </m:t>
                          </m:r>
                          <m:r>
                            <a:rPr lang="en-NZ" altLang="ja-JP" sz="1800" b="1" i="1">
                              <a:solidFill>
                                <a:srgbClr val="0070C0"/>
                              </a:solidFill>
                              <a:latin typeface="Cambria Math" panose="02040503050406030204" pitchFamily="18" charset="0"/>
                            </a:rPr>
                            <m:t>𝝁</m:t>
                          </m:r>
                          <m:r>
                            <a:rPr lang="en-NZ" altLang="ja-JP" sz="1800" b="1" i="1">
                              <a:solidFill>
                                <a:srgbClr val="0070C0"/>
                              </a:solidFill>
                              <a:latin typeface="Cambria Math" panose="02040503050406030204" pitchFamily="18" charset="0"/>
                            </a:rPr>
                            <m:t>  +   </m:t>
                          </m:r>
                          <m:sSub>
                            <m:sSubPr>
                              <m:ctrlPr>
                                <a:rPr lang="en-NZ" altLang="ja-JP" sz="1800" b="1" i="1">
                                  <a:solidFill>
                                    <a:srgbClr val="0070C0"/>
                                  </a:solidFill>
                                  <a:latin typeface="Cambria Math" panose="02040503050406030204" pitchFamily="18" charset="0"/>
                                </a:rPr>
                              </m:ctrlPr>
                            </m:sSubPr>
                            <m:e>
                              <m:r>
                                <a:rPr lang="en-NZ" altLang="ja-JP" sz="1800" b="1" i="1">
                                  <a:solidFill>
                                    <a:srgbClr val="0070C0"/>
                                  </a:solidFill>
                                  <a:latin typeface="Cambria Math" panose="02040503050406030204" pitchFamily="18" charset="0"/>
                                </a:rPr>
                                <m:t>𝜶</m:t>
                              </m:r>
                            </m:e>
                            <m:sub>
                              <m:r>
                                <a:rPr lang="en-NZ" altLang="ja-JP" sz="1800" b="1" i="1">
                                  <a:solidFill>
                                    <a:srgbClr val="0070C0"/>
                                  </a:solidFill>
                                  <a:latin typeface="Cambria Math" panose="02040503050406030204" pitchFamily="18" charset="0"/>
                                </a:rPr>
                                <m:t>𝒊</m:t>
                              </m:r>
                            </m:sub>
                          </m:sSub>
                          <m:r>
                            <a:rPr lang="en-NZ" altLang="ja-JP" sz="1800" b="1" i="1">
                              <a:solidFill>
                                <a:srgbClr val="0070C0"/>
                              </a:solidFill>
                              <a:latin typeface="Cambria Math" panose="02040503050406030204" pitchFamily="18" charset="0"/>
                            </a:rPr>
                            <m:t>  +   </m:t>
                          </m:r>
                          <m:sSub>
                            <m:sSubPr>
                              <m:ctrlPr>
                                <a:rPr lang="en-NZ" altLang="ja-JP" sz="1800" b="1" i="1">
                                  <a:solidFill>
                                    <a:srgbClr val="0070C0"/>
                                  </a:solidFill>
                                  <a:latin typeface="Cambria Math" panose="02040503050406030204" pitchFamily="18" charset="0"/>
                                </a:rPr>
                              </m:ctrlPr>
                            </m:sSubPr>
                            <m:e>
                              <m:r>
                                <a:rPr lang="en-NZ" altLang="ja-JP" sz="1800" b="1" i="1">
                                  <a:solidFill>
                                    <a:srgbClr val="0070C0"/>
                                  </a:solidFill>
                                  <a:latin typeface="Cambria Math" panose="02040503050406030204" pitchFamily="18" charset="0"/>
                                </a:rPr>
                                <m:t>𝑩</m:t>
                              </m:r>
                            </m:e>
                            <m:sub>
                              <m:r>
                                <a:rPr lang="en-NZ" altLang="ja-JP" sz="1800" b="1" i="1">
                                  <a:solidFill>
                                    <a:srgbClr val="0070C0"/>
                                  </a:solidFill>
                                  <a:latin typeface="Cambria Math" panose="02040503050406030204" pitchFamily="18" charset="0"/>
                                </a:rPr>
                                <m:t>𝒋</m:t>
                              </m:r>
                              <m:d>
                                <m:dPr>
                                  <m:ctrlPr>
                                    <a:rPr lang="en-NZ" altLang="ja-JP" sz="1800" b="1" i="1">
                                      <a:solidFill>
                                        <a:srgbClr val="0070C0"/>
                                      </a:solidFill>
                                      <a:latin typeface="Cambria Math" panose="02040503050406030204" pitchFamily="18" charset="0"/>
                                    </a:rPr>
                                  </m:ctrlPr>
                                </m:dPr>
                                <m:e>
                                  <m:r>
                                    <a:rPr lang="en-NZ" altLang="ja-JP" sz="1800" b="1" i="1">
                                      <a:solidFill>
                                        <a:srgbClr val="0070C0"/>
                                      </a:solidFill>
                                      <a:latin typeface="Cambria Math" panose="02040503050406030204" pitchFamily="18" charset="0"/>
                                    </a:rPr>
                                    <m:t>𝒊</m:t>
                                  </m:r>
                                </m:e>
                              </m:d>
                            </m:sub>
                          </m:sSub>
                          <m:r>
                            <a:rPr lang="en-NZ" altLang="ja-JP" sz="1800" b="1" i="1">
                              <a:solidFill>
                                <a:srgbClr val="0070C0"/>
                              </a:solidFill>
                              <a:latin typeface="Cambria Math" panose="02040503050406030204" pitchFamily="18" charset="0"/>
                            </a:rPr>
                            <m:t>  +   </m:t>
                          </m:r>
                          <m:sSub>
                            <m:sSubPr>
                              <m:ctrlPr>
                                <a:rPr lang="en-NZ" altLang="ja-JP" sz="1800" b="1" i="1">
                                  <a:solidFill>
                                    <a:srgbClr val="0070C0"/>
                                  </a:solidFill>
                                  <a:latin typeface="Cambria Math" panose="02040503050406030204" pitchFamily="18" charset="0"/>
                                </a:rPr>
                              </m:ctrlPr>
                            </m:sSubPr>
                            <m:e>
                              <m:r>
                                <a:rPr lang="en-NZ" altLang="ja-JP" sz="1800" b="1" i="1">
                                  <a:solidFill>
                                    <a:srgbClr val="0070C0"/>
                                  </a:solidFill>
                                  <a:latin typeface="Cambria Math" panose="02040503050406030204" pitchFamily="18" charset="0"/>
                                </a:rPr>
                                <m:t>𝝐</m:t>
                              </m:r>
                            </m:e>
                            <m:sub>
                              <m:r>
                                <a:rPr lang="en-NZ" altLang="ja-JP" sz="1800" b="1" i="1">
                                  <a:solidFill>
                                    <a:srgbClr val="0070C0"/>
                                  </a:solidFill>
                                  <a:latin typeface="Cambria Math" panose="02040503050406030204" pitchFamily="18" charset="0"/>
                                </a:rPr>
                                <m:t>𝒌</m:t>
                              </m:r>
                              <m:d>
                                <m:dPr>
                                  <m:ctrlPr>
                                    <a:rPr lang="en-NZ" altLang="ja-JP" sz="1800" b="1" i="1">
                                      <a:solidFill>
                                        <a:srgbClr val="0070C0"/>
                                      </a:solidFill>
                                      <a:latin typeface="Cambria Math" panose="02040503050406030204" pitchFamily="18" charset="0"/>
                                    </a:rPr>
                                  </m:ctrlPr>
                                </m:dPr>
                                <m:e>
                                  <m:r>
                                    <a:rPr lang="en-NZ" altLang="ja-JP" sz="1800" b="1" i="1">
                                      <a:solidFill>
                                        <a:srgbClr val="0070C0"/>
                                      </a:solidFill>
                                      <a:latin typeface="Cambria Math" panose="02040503050406030204" pitchFamily="18" charset="0"/>
                                    </a:rPr>
                                    <m:t>𝒊𝒋</m:t>
                                  </m:r>
                                </m:e>
                              </m:d>
                            </m:sub>
                          </m:sSub>
                          <m:r>
                            <a:rPr lang="en-NZ" altLang="ja-JP" sz="1800" b="1" i="1" smtClean="0">
                              <a:solidFill>
                                <a:srgbClr val="0070C0"/>
                              </a:solidFill>
                              <a:latin typeface="Cambria Math" panose="02040503050406030204" pitchFamily="18" charset="0"/>
                            </a:rPr>
                            <m:t> </m:t>
                          </m:r>
                        </m:e>
                      </m:d>
                      <m:r>
                        <a:rPr lang="en-NZ" altLang="ja-JP" sz="1800" b="1" i="1" smtClean="0">
                          <a:solidFill>
                            <a:srgbClr val="0070C0"/>
                          </a:solidFill>
                          <a:latin typeface="Cambria Math" panose="02040503050406030204" pitchFamily="18" charset="0"/>
                        </a:rPr>
                        <m:t> </m:t>
                      </m:r>
                      <m:r>
                        <a:rPr lang="en-NZ" altLang="ja-JP" sz="1800" b="1" i="1">
                          <a:solidFill>
                            <a:srgbClr val="0070C0"/>
                          </a:solidFill>
                          <a:latin typeface="Cambria Math" panose="02040503050406030204" pitchFamily="18" charset="0"/>
                        </a:rPr>
                        <m:t>=</m:t>
                      </m:r>
                      <m:r>
                        <a:rPr lang="en-NZ" altLang="ja-JP" sz="1800" b="1" i="1" smtClean="0">
                          <a:solidFill>
                            <a:srgbClr val="0070C0"/>
                          </a:solidFill>
                          <a:latin typeface="Cambria Math" panose="02040503050406030204" pitchFamily="18" charset="0"/>
                        </a:rPr>
                        <m:t>𝑽𝒂𝒓</m:t>
                      </m:r>
                      <m:d>
                        <m:dPr>
                          <m:begChr m:val="["/>
                          <m:endChr m:val="]"/>
                          <m:ctrlPr>
                            <a:rPr lang="en-NZ" altLang="ja-JP" sz="1800" b="1" i="1">
                              <a:solidFill>
                                <a:srgbClr val="0070C0"/>
                              </a:solidFill>
                              <a:latin typeface="Cambria Math" panose="02040503050406030204" pitchFamily="18" charset="0"/>
                            </a:rPr>
                          </m:ctrlPr>
                        </m:dPr>
                        <m:e>
                          <m:r>
                            <a:rPr lang="en-NZ" altLang="ja-JP" sz="1800" b="1" i="1">
                              <a:solidFill>
                                <a:srgbClr val="0070C0"/>
                              </a:solidFill>
                              <a:latin typeface="Cambria Math" panose="02040503050406030204" pitchFamily="18" charset="0"/>
                            </a:rPr>
                            <m:t> </m:t>
                          </m:r>
                          <m:r>
                            <a:rPr lang="en-NZ" altLang="ja-JP" sz="1800" b="1" i="1">
                              <a:solidFill>
                                <a:srgbClr val="0070C0"/>
                              </a:solidFill>
                              <a:latin typeface="Cambria Math" panose="02040503050406030204" pitchFamily="18" charset="0"/>
                            </a:rPr>
                            <m:t>𝝁</m:t>
                          </m:r>
                          <m:r>
                            <a:rPr lang="en-NZ" altLang="ja-JP" sz="1800" b="1" i="1" smtClean="0">
                              <a:solidFill>
                                <a:srgbClr val="0070C0"/>
                              </a:solidFill>
                              <a:latin typeface="Cambria Math" panose="02040503050406030204" pitchFamily="18" charset="0"/>
                            </a:rPr>
                            <m:t> </m:t>
                          </m:r>
                        </m:e>
                      </m:d>
                      <m:r>
                        <a:rPr lang="en-NZ" altLang="ja-JP" sz="1800" b="1" i="1" smtClean="0">
                          <a:solidFill>
                            <a:srgbClr val="0070C0"/>
                          </a:solidFill>
                          <a:latin typeface="Cambria Math" panose="02040503050406030204" pitchFamily="18" charset="0"/>
                        </a:rPr>
                        <m:t> +</m:t>
                      </m:r>
                      <m:r>
                        <a:rPr lang="en-NZ" altLang="ja-JP" sz="1800" b="1" i="1" smtClean="0">
                          <a:solidFill>
                            <a:srgbClr val="0070C0"/>
                          </a:solidFill>
                          <a:latin typeface="Cambria Math" panose="02040503050406030204" pitchFamily="18" charset="0"/>
                        </a:rPr>
                        <m:t>𝑽𝒂𝒓</m:t>
                      </m:r>
                      <m:d>
                        <m:dPr>
                          <m:begChr m:val="["/>
                          <m:endChr m:val="]"/>
                          <m:ctrlPr>
                            <a:rPr lang="en-NZ" altLang="ja-JP" sz="1800" b="1" i="1">
                              <a:solidFill>
                                <a:srgbClr val="0070C0"/>
                              </a:solidFill>
                              <a:latin typeface="Cambria Math" panose="02040503050406030204" pitchFamily="18" charset="0"/>
                            </a:rPr>
                          </m:ctrlPr>
                        </m:dPr>
                        <m:e>
                          <m:r>
                            <a:rPr lang="en-NZ" altLang="ja-JP" sz="1800" b="1" i="1">
                              <a:solidFill>
                                <a:srgbClr val="0070C0"/>
                              </a:solidFill>
                              <a:latin typeface="Cambria Math" panose="02040503050406030204" pitchFamily="18" charset="0"/>
                            </a:rPr>
                            <m:t> </m:t>
                          </m:r>
                          <m:sSub>
                            <m:sSubPr>
                              <m:ctrlPr>
                                <a:rPr lang="en-NZ" altLang="ja-JP" sz="1800" b="1" i="1">
                                  <a:solidFill>
                                    <a:srgbClr val="0070C0"/>
                                  </a:solidFill>
                                  <a:latin typeface="Cambria Math" panose="02040503050406030204" pitchFamily="18" charset="0"/>
                                </a:rPr>
                              </m:ctrlPr>
                            </m:sSubPr>
                            <m:e>
                              <m:r>
                                <a:rPr lang="en-NZ" altLang="ja-JP" sz="1800" b="1" i="1">
                                  <a:solidFill>
                                    <a:srgbClr val="0070C0"/>
                                  </a:solidFill>
                                  <a:latin typeface="Cambria Math" panose="02040503050406030204" pitchFamily="18" charset="0"/>
                                </a:rPr>
                                <m:t>𝜶</m:t>
                              </m:r>
                            </m:e>
                            <m:sub>
                              <m:r>
                                <a:rPr lang="en-NZ" altLang="ja-JP" sz="1800" b="1" i="1">
                                  <a:solidFill>
                                    <a:srgbClr val="0070C0"/>
                                  </a:solidFill>
                                  <a:latin typeface="Cambria Math" panose="02040503050406030204" pitchFamily="18" charset="0"/>
                                </a:rPr>
                                <m:t>𝒊</m:t>
                              </m:r>
                            </m:sub>
                          </m:sSub>
                          <m:r>
                            <a:rPr lang="en-NZ" altLang="ja-JP" sz="1800" b="1" i="1">
                              <a:solidFill>
                                <a:srgbClr val="0070C0"/>
                              </a:solidFill>
                              <a:latin typeface="Cambria Math" panose="02040503050406030204" pitchFamily="18" charset="0"/>
                            </a:rPr>
                            <m:t> </m:t>
                          </m:r>
                        </m:e>
                      </m:d>
                      <m:r>
                        <a:rPr lang="en-NZ" altLang="ja-JP" sz="1800" b="1" i="1" smtClean="0">
                          <a:solidFill>
                            <a:srgbClr val="0070C0"/>
                          </a:solidFill>
                          <a:latin typeface="Cambria Math" panose="02040503050406030204" pitchFamily="18" charset="0"/>
                        </a:rPr>
                        <m:t> +</m:t>
                      </m:r>
                      <m:r>
                        <a:rPr lang="en-NZ" altLang="ja-JP" sz="1800" b="1" i="1" smtClean="0">
                          <a:solidFill>
                            <a:srgbClr val="0070C0"/>
                          </a:solidFill>
                          <a:latin typeface="Cambria Math" panose="02040503050406030204" pitchFamily="18" charset="0"/>
                        </a:rPr>
                        <m:t>𝑽𝒂𝒓</m:t>
                      </m:r>
                      <m:d>
                        <m:dPr>
                          <m:begChr m:val="["/>
                          <m:endChr m:val="]"/>
                          <m:ctrlPr>
                            <a:rPr lang="en-NZ" altLang="ja-JP" sz="1800" b="1" i="1">
                              <a:solidFill>
                                <a:srgbClr val="0070C0"/>
                              </a:solidFill>
                              <a:latin typeface="Cambria Math" panose="02040503050406030204" pitchFamily="18" charset="0"/>
                            </a:rPr>
                          </m:ctrlPr>
                        </m:dPr>
                        <m:e>
                          <m:r>
                            <a:rPr lang="en-NZ" altLang="ja-JP" sz="1800" b="1" i="1">
                              <a:solidFill>
                                <a:srgbClr val="0070C0"/>
                              </a:solidFill>
                              <a:latin typeface="Cambria Math" panose="02040503050406030204" pitchFamily="18" charset="0"/>
                            </a:rPr>
                            <m:t> </m:t>
                          </m:r>
                          <m:sSub>
                            <m:sSubPr>
                              <m:ctrlPr>
                                <a:rPr lang="en-NZ" altLang="ja-JP" sz="1800" b="1" i="1">
                                  <a:solidFill>
                                    <a:srgbClr val="0070C0"/>
                                  </a:solidFill>
                                  <a:latin typeface="Cambria Math" panose="02040503050406030204" pitchFamily="18" charset="0"/>
                                </a:rPr>
                              </m:ctrlPr>
                            </m:sSubPr>
                            <m:e>
                              <m:r>
                                <a:rPr lang="en-NZ" altLang="ja-JP" sz="1800" b="1" i="1">
                                  <a:solidFill>
                                    <a:srgbClr val="0070C0"/>
                                  </a:solidFill>
                                  <a:latin typeface="Cambria Math" panose="02040503050406030204" pitchFamily="18" charset="0"/>
                                </a:rPr>
                                <m:t>𝑩</m:t>
                              </m:r>
                            </m:e>
                            <m:sub>
                              <m:r>
                                <a:rPr lang="en-NZ" altLang="ja-JP" sz="1800" b="1" i="1">
                                  <a:solidFill>
                                    <a:srgbClr val="0070C0"/>
                                  </a:solidFill>
                                  <a:latin typeface="Cambria Math" panose="02040503050406030204" pitchFamily="18" charset="0"/>
                                </a:rPr>
                                <m:t>𝒋</m:t>
                              </m:r>
                              <m:d>
                                <m:dPr>
                                  <m:ctrlPr>
                                    <a:rPr lang="en-NZ" altLang="ja-JP" sz="1800" b="1" i="1">
                                      <a:solidFill>
                                        <a:srgbClr val="0070C0"/>
                                      </a:solidFill>
                                      <a:latin typeface="Cambria Math" panose="02040503050406030204" pitchFamily="18" charset="0"/>
                                    </a:rPr>
                                  </m:ctrlPr>
                                </m:dPr>
                                <m:e>
                                  <m:r>
                                    <a:rPr lang="en-NZ" altLang="ja-JP" sz="1800" b="1" i="1">
                                      <a:solidFill>
                                        <a:srgbClr val="0070C0"/>
                                      </a:solidFill>
                                      <a:latin typeface="Cambria Math" panose="02040503050406030204" pitchFamily="18" charset="0"/>
                                    </a:rPr>
                                    <m:t>𝒊</m:t>
                                  </m:r>
                                </m:e>
                              </m:d>
                            </m:sub>
                          </m:sSub>
                          <m:r>
                            <a:rPr lang="en-NZ" altLang="ja-JP" sz="1800" b="1" i="1">
                              <a:solidFill>
                                <a:srgbClr val="0070C0"/>
                              </a:solidFill>
                              <a:latin typeface="Cambria Math" panose="02040503050406030204" pitchFamily="18" charset="0"/>
                            </a:rPr>
                            <m:t> </m:t>
                          </m:r>
                        </m:e>
                      </m:d>
                      <m:r>
                        <a:rPr lang="en-NZ" altLang="ja-JP" sz="1800" b="1" i="1" smtClean="0">
                          <a:solidFill>
                            <a:srgbClr val="0070C0"/>
                          </a:solidFill>
                          <a:latin typeface="Cambria Math" panose="02040503050406030204" pitchFamily="18" charset="0"/>
                        </a:rPr>
                        <m:t> +</m:t>
                      </m:r>
                      <m:r>
                        <a:rPr lang="en-NZ" altLang="ja-JP" sz="1800" b="1" i="1" smtClean="0">
                          <a:solidFill>
                            <a:srgbClr val="0070C0"/>
                          </a:solidFill>
                          <a:latin typeface="Cambria Math" panose="02040503050406030204" pitchFamily="18" charset="0"/>
                        </a:rPr>
                        <m:t>𝑽𝒂𝒓</m:t>
                      </m:r>
                      <m:d>
                        <m:dPr>
                          <m:begChr m:val="["/>
                          <m:endChr m:val="]"/>
                          <m:ctrlPr>
                            <a:rPr lang="en-NZ" altLang="ja-JP" sz="1800" b="1" i="1">
                              <a:solidFill>
                                <a:srgbClr val="0070C0"/>
                              </a:solidFill>
                              <a:latin typeface="Cambria Math" panose="02040503050406030204" pitchFamily="18" charset="0"/>
                            </a:rPr>
                          </m:ctrlPr>
                        </m:dPr>
                        <m:e>
                          <m:r>
                            <a:rPr lang="en-NZ" altLang="ja-JP" sz="1800" b="1" i="1">
                              <a:solidFill>
                                <a:srgbClr val="0070C0"/>
                              </a:solidFill>
                              <a:latin typeface="Cambria Math" panose="02040503050406030204" pitchFamily="18" charset="0"/>
                            </a:rPr>
                            <m:t> </m:t>
                          </m:r>
                          <m:sSub>
                            <m:sSubPr>
                              <m:ctrlPr>
                                <a:rPr lang="en-NZ" altLang="ja-JP" sz="1800" b="1" i="1">
                                  <a:solidFill>
                                    <a:srgbClr val="0070C0"/>
                                  </a:solidFill>
                                  <a:latin typeface="Cambria Math" panose="02040503050406030204" pitchFamily="18" charset="0"/>
                                </a:rPr>
                              </m:ctrlPr>
                            </m:sSubPr>
                            <m:e>
                              <m:r>
                                <a:rPr lang="en-NZ" altLang="ja-JP" sz="1800" b="1" i="1">
                                  <a:solidFill>
                                    <a:srgbClr val="0070C0"/>
                                  </a:solidFill>
                                  <a:latin typeface="Cambria Math" panose="02040503050406030204" pitchFamily="18" charset="0"/>
                                </a:rPr>
                                <m:t>𝝐</m:t>
                              </m:r>
                            </m:e>
                            <m:sub>
                              <m:r>
                                <a:rPr lang="en-NZ" altLang="ja-JP" sz="1800" b="1" i="1">
                                  <a:solidFill>
                                    <a:srgbClr val="0070C0"/>
                                  </a:solidFill>
                                  <a:latin typeface="Cambria Math" panose="02040503050406030204" pitchFamily="18" charset="0"/>
                                </a:rPr>
                                <m:t>𝒌</m:t>
                              </m:r>
                              <m:d>
                                <m:dPr>
                                  <m:ctrlPr>
                                    <a:rPr lang="en-NZ" altLang="ja-JP" sz="1800" b="1" i="1">
                                      <a:solidFill>
                                        <a:srgbClr val="0070C0"/>
                                      </a:solidFill>
                                      <a:latin typeface="Cambria Math" panose="02040503050406030204" pitchFamily="18" charset="0"/>
                                    </a:rPr>
                                  </m:ctrlPr>
                                </m:dPr>
                                <m:e>
                                  <m:r>
                                    <a:rPr lang="en-NZ" altLang="ja-JP" sz="1800" b="1" i="1">
                                      <a:solidFill>
                                        <a:srgbClr val="0070C0"/>
                                      </a:solidFill>
                                      <a:latin typeface="Cambria Math" panose="02040503050406030204" pitchFamily="18" charset="0"/>
                                    </a:rPr>
                                    <m:t>𝒊𝒋</m:t>
                                  </m:r>
                                </m:e>
                              </m:d>
                            </m:sub>
                          </m:sSub>
                          <m:r>
                            <a:rPr lang="en-NZ" altLang="ja-JP" sz="1800" b="1" i="1">
                              <a:solidFill>
                                <a:srgbClr val="0070C0"/>
                              </a:solidFill>
                              <a:latin typeface="Cambria Math" panose="02040503050406030204" pitchFamily="18" charset="0"/>
                            </a:rPr>
                            <m:t> </m:t>
                          </m:r>
                        </m:e>
                      </m:d>
                      <m:r>
                        <a:rPr lang="en-NZ" altLang="ja-JP" sz="1800" b="1" i="0" smtClean="0">
                          <a:solidFill>
                            <a:srgbClr val="0070C0"/>
                          </a:solidFill>
                          <a:latin typeface="Cambria Math" panose="02040503050406030204" pitchFamily="18" charset="0"/>
                        </a:rPr>
                        <m:t>=</m:t>
                      </m:r>
                      <m:sSubSup>
                        <m:sSubSupPr>
                          <m:ctrlPr>
                            <a:rPr lang="en-NZ" altLang="ja-JP" sz="1800" b="1" i="1">
                              <a:solidFill>
                                <a:srgbClr val="0070C0"/>
                              </a:solidFill>
                              <a:latin typeface="Cambria Math" panose="02040503050406030204" pitchFamily="18" charset="0"/>
                            </a:rPr>
                          </m:ctrlPr>
                        </m:sSubSupPr>
                        <m:e>
                          <m:r>
                            <a:rPr lang="en-NZ" altLang="ja-JP" sz="1800" b="1" i="1">
                              <a:solidFill>
                                <a:srgbClr val="0070C0"/>
                              </a:solidFill>
                              <a:latin typeface="Cambria Math" panose="02040503050406030204" pitchFamily="18" charset="0"/>
                            </a:rPr>
                            <m:t>𝝈</m:t>
                          </m:r>
                        </m:e>
                        <m:sub>
                          <m:r>
                            <a:rPr lang="en-NZ" altLang="ja-JP" sz="1800" b="1" i="1">
                              <a:solidFill>
                                <a:srgbClr val="0070C0"/>
                              </a:solidFill>
                              <a:latin typeface="Cambria Math" panose="02040503050406030204" pitchFamily="18" charset="0"/>
                            </a:rPr>
                            <m:t>𝑩</m:t>
                          </m:r>
                        </m:sub>
                        <m:sup>
                          <m:r>
                            <a:rPr lang="en-NZ" altLang="ja-JP" sz="1800" b="1" i="1">
                              <a:solidFill>
                                <a:srgbClr val="0070C0"/>
                              </a:solidFill>
                              <a:latin typeface="Cambria Math" panose="02040503050406030204" pitchFamily="18" charset="0"/>
                            </a:rPr>
                            <m:t>𝟐</m:t>
                          </m:r>
                        </m:sup>
                      </m:sSubSup>
                      <m:r>
                        <m:rPr>
                          <m:nor/>
                        </m:rPr>
                        <a:rPr lang="en-NZ" altLang="ja-JP" sz="1800" b="1" dirty="0">
                          <a:solidFill>
                            <a:srgbClr val="0070C0"/>
                          </a:solidFill>
                        </a:rPr>
                        <m:t> + </m:t>
                      </m:r>
                      <m:sSup>
                        <m:sSupPr>
                          <m:ctrlPr>
                            <a:rPr lang="en-NZ" altLang="ja-JP" sz="1800" b="1" i="1">
                              <a:solidFill>
                                <a:srgbClr val="0070C0"/>
                              </a:solidFill>
                              <a:latin typeface="Cambria Math" panose="02040503050406030204" pitchFamily="18" charset="0"/>
                            </a:rPr>
                          </m:ctrlPr>
                        </m:sSupPr>
                        <m:e>
                          <m:r>
                            <a:rPr lang="en-NZ" altLang="ja-JP" sz="1800" b="1" i="1">
                              <a:solidFill>
                                <a:srgbClr val="0070C0"/>
                              </a:solidFill>
                              <a:latin typeface="Cambria Math" panose="02040503050406030204" pitchFamily="18" charset="0"/>
                            </a:rPr>
                            <m:t>𝝈</m:t>
                          </m:r>
                        </m:e>
                        <m:sup>
                          <m:r>
                            <a:rPr lang="en-NZ" altLang="ja-JP" sz="1800" b="1" i="1">
                              <a:solidFill>
                                <a:srgbClr val="0070C0"/>
                              </a:solidFill>
                              <a:latin typeface="Cambria Math" panose="02040503050406030204" pitchFamily="18" charset="0"/>
                            </a:rPr>
                            <m:t>𝟐</m:t>
                          </m:r>
                        </m:sup>
                      </m:sSup>
                    </m:oMath>
                  </m:oMathPara>
                </a14:m>
                <a:endParaRPr lang="en-NZ" altLang="ja-JP" sz="1800" b="1" dirty="0">
                  <a:solidFill>
                    <a:srgbClr val="0070C0"/>
                  </a:solidFill>
                </a:endParaRPr>
              </a:p>
            </p:txBody>
          </p:sp>
        </mc:Choice>
        <mc:Fallback xmlns="">
          <p:sp>
            <p:nvSpPr>
              <p:cNvPr id="2" name="Text Placeholder 5">
                <a:extLst>
                  <a:ext uri="{FF2B5EF4-FFF2-40B4-BE49-F238E27FC236}">
                    <a16:creationId xmlns:a16="http://schemas.microsoft.com/office/drawing/2014/main" id="{E53A05A3-E724-D7C0-EF59-AD4CEA882E4D}"/>
                  </a:ext>
                </a:extLst>
              </p:cNvPr>
              <p:cNvSpPr txBox="1">
                <a:spLocks noRot="1" noChangeAspect="1" noMove="1" noResize="1" noEditPoints="1" noAdjustHandles="1" noChangeArrowheads="1" noChangeShapeType="1" noTextEdit="1"/>
              </p:cNvSpPr>
              <p:nvPr/>
            </p:nvSpPr>
            <p:spPr>
              <a:xfrm>
                <a:off x="0" y="4471244"/>
                <a:ext cx="12192000" cy="413017"/>
              </a:xfrm>
              <a:prstGeom prst="rect">
                <a:avLst/>
              </a:prstGeom>
              <a:blipFill>
                <a:blip r:embed="rId9"/>
                <a:stretch>
                  <a:fillRect b="-10294"/>
                </a:stretch>
              </a:blipFill>
            </p:spPr>
            <p:txBody>
              <a:bodyPr/>
              <a:lstStyle/>
              <a:p>
                <a:r>
                  <a:rPr lang="en-NZ">
                    <a:noFill/>
                  </a:rPr>
                  <a:t> </a:t>
                </a:r>
              </a:p>
            </p:txBody>
          </p:sp>
        </mc:Fallback>
      </mc:AlternateContent>
    </p:spTree>
    <p:extLst>
      <p:ext uri="{BB962C8B-B14F-4D97-AF65-F5344CB8AC3E}">
        <p14:creationId xmlns:p14="http://schemas.microsoft.com/office/powerpoint/2010/main" val="19074999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p:bldP spid="33" grpId="0"/>
      <p:bldP spid="2"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Slide Number Placeholder 3">
            <a:extLst>
              <a:ext uri="{FF2B5EF4-FFF2-40B4-BE49-F238E27FC236}">
                <a16:creationId xmlns:a16="http://schemas.microsoft.com/office/drawing/2014/main" id="{B0C9041D-77F0-4656-90D4-0E84B7AC6B27}"/>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54AD89C-DF1E-4948-B597-5DD47B34A9CA}" type="slidenum">
              <a:rPr kumimoji="1" lang="ja-JP" altLang="en-US" sz="4000" b="0" i="0" u="none" strike="noStrike" kern="1200" cap="none" spc="0" normalizeH="0" baseline="0" noProof="0" smtClean="0">
                <a:ln>
                  <a:noFill/>
                </a:ln>
                <a:solidFill>
                  <a:srgbClr val="575454">
                    <a:lumMod val="20000"/>
                    <a:lumOff val="80000"/>
                  </a:srgbClr>
                </a:solidFill>
                <a:effectLst/>
                <a:uLnTx/>
                <a:uFillTx/>
                <a:latin typeface="Coo Hew"/>
                <a:ea typeface="游ゴシック" panose="020B0400000000000000"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1" lang="ja-JP" altLang="en-US" sz="4000" b="0" i="0" u="none" strike="noStrike" kern="1200" cap="none" spc="0" normalizeH="0" baseline="0" noProof="0" dirty="0">
              <a:ln>
                <a:noFill/>
              </a:ln>
              <a:solidFill>
                <a:srgbClr val="575454">
                  <a:lumMod val="20000"/>
                  <a:lumOff val="80000"/>
                </a:srgbClr>
              </a:solidFill>
              <a:effectLst/>
              <a:uLnTx/>
              <a:uFillTx/>
              <a:latin typeface="Coo Hew"/>
              <a:ea typeface="游ゴシック" panose="020B0400000000000000" pitchFamily="34" charset="-128"/>
              <a:cs typeface="+mn-cs"/>
            </a:endParaRPr>
          </a:p>
        </p:txBody>
      </p:sp>
      <p:sp>
        <p:nvSpPr>
          <p:cNvPr id="17" name="Title 6">
            <a:extLst>
              <a:ext uri="{FF2B5EF4-FFF2-40B4-BE49-F238E27FC236}">
                <a16:creationId xmlns:a16="http://schemas.microsoft.com/office/drawing/2014/main" id="{F9AC280D-18B1-E2AA-DC35-A15247F1A80A}"/>
              </a:ext>
            </a:extLst>
          </p:cNvPr>
          <p:cNvSpPr txBox="1">
            <a:spLocks/>
          </p:cNvSpPr>
          <p:nvPr/>
        </p:nvSpPr>
        <p:spPr>
          <a:xfrm>
            <a:off x="251224" y="237833"/>
            <a:ext cx="8660764" cy="607201"/>
          </a:xfrm>
          <a:prstGeom prst="rect">
            <a:avLst/>
          </a:prstGeom>
        </p:spPr>
        <p:txBody>
          <a:bodyPr anchor="t">
            <a:normAutofit/>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pPr marL="0" marR="0" lvl="0" indent="0" algn="l" defTabSz="914324" rtl="0" eaLnBrk="1" fontAlgn="auto" latinLnBrk="0" hangingPunct="1">
              <a:lnSpc>
                <a:spcPct val="90000"/>
              </a:lnSpc>
              <a:spcBef>
                <a:spcPct val="0"/>
              </a:spcBef>
              <a:spcAft>
                <a:spcPts val="0"/>
              </a:spcAft>
              <a:buClrTx/>
              <a:buSzTx/>
              <a:buFontTx/>
              <a:buNone/>
              <a:tabLst/>
              <a:defRPr/>
            </a:pPr>
            <a:r>
              <a:rPr lang="en-US" altLang="ja-JP" b="1" u="sng" dirty="0">
                <a:solidFill>
                  <a:prstClr val="black"/>
                </a:solidFill>
                <a:latin typeface="Calibri" panose="020F0502020204030204"/>
                <a:ea typeface="游ゴシック Light" panose="020B0300000000000000" pitchFamily="34" charset="-128"/>
              </a:rPr>
              <a:t>5.2</a:t>
            </a:r>
            <a:r>
              <a:rPr kumimoji="1" lang="en-US" altLang="ja-JP"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rPr>
              <a:t>b – Breakdown of Sums of Squares:</a:t>
            </a:r>
            <a:endParaRPr kumimoji="1" lang="ja-JP" altLang="en-US"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endParaRPr>
          </a:p>
        </p:txBody>
      </p:sp>
      <mc:AlternateContent xmlns:mc="http://schemas.openxmlformats.org/markup-compatibility/2006" xmlns:a14="http://schemas.microsoft.com/office/drawing/2010/main">
        <mc:Choice Requires="a14">
          <p:sp>
            <p:nvSpPr>
              <p:cNvPr id="21" name="Text Placeholder 5">
                <a:extLst>
                  <a:ext uri="{FF2B5EF4-FFF2-40B4-BE49-F238E27FC236}">
                    <a16:creationId xmlns:a16="http://schemas.microsoft.com/office/drawing/2014/main" id="{31175F7B-BBF0-10DE-1496-6FAC04E3477E}"/>
                  </a:ext>
                </a:extLst>
              </p:cNvPr>
              <p:cNvSpPr txBox="1">
                <a:spLocks/>
              </p:cNvSpPr>
              <p:nvPr/>
            </p:nvSpPr>
            <p:spPr>
              <a:xfrm>
                <a:off x="251223" y="1035263"/>
                <a:ext cx="11232109" cy="497400"/>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gn="just">
                  <a:lnSpc>
                    <a:spcPct val="100000"/>
                  </a:lnSpc>
                  <a:defRPr/>
                </a:pPr>
                <a:r>
                  <a:rPr lang="en-NZ" altLang="ja-JP" sz="2200" b="1" dirty="0">
                    <a:solidFill>
                      <a:prstClr val="black"/>
                    </a:solidFill>
                  </a:rPr>
                  <a:t>Lemma:</a:t>
                </a:r>
                <a:endParaRPr lang="en-NZ" altLang="ja-JP" sz="2200" dirty="0">
                  <a:solidFill>
                    <a:prstClr val="black"/>
                  </a:solidFill>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14:m>
                  <m:oMathPara xmlns:m="http://schemas.openxmlformats.org/officeDocument/2006/math">
                    <m:oMathParaPr>
                      <m:jc m:val="centerGroup"/>
                    </m:oMathParaPr>
                    <m:oMath xmlns:m="http://schemas.openxmlformats.org/officeDocument/2006/math">
                      <m:sSub>
                        <m:sSubPr>
                          <m:ctrlPr>
                            <a:rPr kumimoji="1" lang="en-NZ" altLang="ja-JP" sz="2200" b="1" i="1" u="none" strike="noStrike" kern="1200" cap="none" spc="0" normalizeH="0" baseline="0" noProof="0" smtClean="0">
                              <a:ln>
                                <a:noFill/>
                              </a:ln>
                              <a:solidFill>
                                <a:srgbClr val="C00000"/>
                              </a:solidFill>
                              <a:effectLst/>
                              <a:uLnTx/>
                              <a:uFillTx/>
                              <a:latin typeface="Cambria Math" panose="02040503050406030204" pitchFamily="18" charset="0"/>
                              <a:cs typeface="+mn-cs"/>
                            </a:rPr>
                          </m:ctrlPr>
                        </m:sSubPr>
                        <m:e>
                          <m:r>
                            <a:rPr kumimoji="1" lang="en-NZ" altLang="ja-JP" sz="22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𝒀</m:t>
                          </m:r>
                        </m:e>
                        <m:sub>
                          <m:r>
                            <a:rPr kumimoji="1" lang="en-NZ" altLang="ja-JP" sz="22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𝒊𝒋𝒌</m:t>
                          </m:r>
                        </m:sub>
                      </m:sSub>
                      <m:r>
                        <a:rPr kumimoji="1" lang="en-NZ" altLang="ja-JP" sz="2200" b="1" i="1" u="none" strike="noStrike" kern="1200" cap="none" spc="0" normalizeH="0" baseline="0" noProof="0" smtClean="0">
                          <a:ln>
                            <a:noFill/>
                          </a:ln>
                          <a:solidFill>
                            <a:srgbClr val="C00000"/>
                          </a:solidFill>
                          <a:effectLst/>
                          <a:uLnTx/>
                          <a:uFillTx/>
                          <a:latin typeface="Cambria Math" panose="02040503050406030204" pitchFamily="18" charset="0"/>
                          <a:cs typeface="+mn-cs"/>
                        </a:rPr>
                        <m:t>  −  </m:t>
                      </m:r>
                      <m:sSub>
                        <m:sSubPr>
                          <m:ctrlPr>
                            <a:rPr kumimoji="1" lang="en-NZ" altLang="ja-JP" sz="2200" b="1" i="1" u="none" strike="noStrike" kern="1200" cap="none" spc="0" normalizeH="0" baseline="0" noProof="0" smtClean="0">
                              <a:ln>
                                <a:noFill/>
                              </a:ln>
                              <a:solidFill>
                                <a:srgbClr val="C00000"/>
                              </a:solidFill>
                              <a:effectLst/>
                              <a:uLnTx/>
                              <a:uFillTx/>
                              <a:latin typeface="Cambria Math" panose="02040503050406030204" pitchFamily="18" charset="0"/>
                              <a:cs typeface="+mn-cs"/>
                            </a:rPr>
                          </m:ctrlPr>
                        </m:sSubPr>
                        <m:e>
                          <m:acc>
                            <m:accPr>
                              <m:chr m:val="̅"/>
                              <m:ctrlPr>
                                <a:rPr kumimoji="1" lang="en-NZ" altLang="ja-JP" sz="2200" b="1" i="1" u="none" strike="noStrike" kern="1200" cap="none" spc="0" normalizeH="0" baseline="0" noProof="0" smtClean="0">
                                  <a:ln>
                                    <a:noFill/>
                                  </a:ln>
                                  <a:solidFill>
                                    <a:srgbClr val="C00000"/>
                                  </a:solidFill>
                                  <a:effectLst/>
                                  <a:uLnTx/>
                                  <a:uFillTx/>
                                  <a:latin typeface="Cambria Math" panose="02040503050406030204" pitchFamily="18" charset="0"/>
                                  <a:cs typeface="+mn-cs"/>
                                </a:rPr>
                              </m:ctrlPr>
                            </m:accPr>
                            <m:e>
                              <m:r>
                                <a:rPr kumimoji="1" lang="en-NZ" altLang="ja-JP" sz="22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𝒀</m:t>
                              </m:r>
                            </m:e>
                          </m:acc>
                        </m:e>
                        <m:sub>
                          <m:r>
                            <a:rPr kumimoji="1" lang="en-NZ" altLang="ja-JP" sz="2200" b="1" i="1" u="none" strike="noStrike" kern="1200" cap="none" spc="0" normalizeH="0" baseline="0" noProof="0" smtClean="0">
                              <a:ln>
                                <a:noFill/>
                              </a:ln>
                              <a:solidFill>
                                <a:srgbClr val="C00000"/>
                              </a:solidFill>
                              <a:effectLst/>
                              <a:uLnTx/>
                              <a:uFillTx/>
                              <a:latin typeface="Cambria Math" panose="02040503050406030204" pitchFamily="18" charset="0"/>
                              <a:ea typeface="Cambria Math" panose="02040503050406030204" pitchFamily="18" charset="0"/>
                              <a:cs typeface="+mn-cs"/>
                            </a:rPr>
                            <m:t>∙∙∙</m:t>
                          </m:r>
                        </m:sub>
                      </m:sSub>
                      <m:r>
                        <a:rPr kumimoji="1" lang="en-NZ" altLang="ja-JP" sz="2200" b="1" i="1" u="none" strike="noStrike" kern="1200" cap="none" spc="0" normalizeH="0" baseline="0" noProof="0" smtClean="0">
                          <a:ln>
                            <a:noFill/>
                          </a:ln>
                          <a:solidFill>
                            <a:srgbClr val="C00000"/>
                          </a:solidFill>
                          <a:effectLst/>
                          <a:uLnTx/>
                          <a:uFillTx/>
                          <a:latin typeface="Cambria Math" panose="02040503050406030204" pitchFamily="18" charset="0"/>
                          <a:cs typeface="+mn-cs"/>
                        </a:rPr>
                        <m:t>  =   </m:t>
                      </m:r>
                      <m:d>
                        <m:dPr>
                          <m:ctrlPr>
                            <a:rPr kumimoji="1" lang="en-NZ" altLang="ja-JP" sz="2200" b="1" i="1" u="none" strike="noStrike" kern="1200" cap="none" spc="0" normalizeH="0" baseline="0" noProof="0" smtClean="0">
                              <a:ln>
                                <a:noFill/>
                              </a:ln>
                              <a:solidFill>
                                <a:srgbClr val="C00000"/>
                              </a:solidFill>
                              <a:effectLst/>
                              <a:uLnTx/>
                              <a:uFillTx/>
                              <a:latin typeface="Cambria Math" panose="02040503050406030204" pitchFamily="18" charset="0"/>
                              <a:cs typeface="+mn-cs"/>
                            </a:rPr>
                          </m:ctrlPr>
                        </m:dPr>
                        <m:e>
                          <m:sSub>
                            <m:sSubPr>
                              <m:ctrlPr>
                                <a:rPr kumimoji="1" lang="en-NZ" altLang="ja-JP" sz="2200" b="1" i="1" u="none" strike="noStrike" kern="1200" cap="none" spc="0" normalizeH="0" baseline="0" noProof="0">
                                  <a:ln>
                                    <a:noFill/>
                                  </a:ln>
                                  <a:solidFill>
                                    <a:srgbClr val="C00000"/>
                                  </a:solidFill>
                                  <a:effectLst/>
                                  <a:uLnTx/>
                                  <a:uFillTx/>
                                  <a:latin typeface="Cambria Math" panose="02040503050406030204" pitchFamily="18" charset="0"/>
                                  <a:cs typeface="+mn-cs"/>
                                </a:rPr>
                              </m:ctrlPr>
                            </m:sSubPr>
                            <m:e>
                              <m:r>
                                <a:rPr kumimoji="1" lang="en-NZ" altLang="ja-JP" sz="2200" b="1" i="1" u="none" strike="noStrike" kern="1200" cap="none" spc="0" normalizeH="0" baseline="0" noProof="0" smtClean="0">
                                  <a:ln>
                                    <a:noFill/>
                                  </a:ln>
                                  <a:solidFill>
                                    <a:srgbClr val="C00000"/>
                                  </a:solidFill>
                                  <a:effectLst/>
                                  <a:uLnTx/>
                                  <a:uFillTx/>
                                  <a:latin typeface="Cambria Math" panose="02040503050406030204" pitchFamily="18" charset="0"/>
                                  <a:cs typeface="+mn-cs"/>
                                </a:rPr>
                                <m:t> </m:t>
                              </m:r>
                              <m:acc>
                                <m:accPr>
                                  <m:chr m:val="̅"/>
                                  <m:ctrlPr>
                                    <a:rPr kumimoji="1" lang="en-NZ" altLang="ja-JP" sz="2200" b="1" i="1" u="none" strike="noStrike" kern="1200" cap="none" spc="0" normalizeH="0" baseline="0" noProof="0" smtClean="0">
                                      <a:ln>
                                        <a:noFill/>
                                      </a:ln>
                                      <a:solidFill>
                                        <a:srgbClr val="C00000"/>
                                      </a:solidFill>
                                      <a:effectLst/>
                                      <a:uLnTx/>
                                      <a:uFillTx/>
                                      <a:latin typeface="Cambria Math" panose="02040503050406030204" pitchFamily="18" charset="0"/>
                                      <a:cs typeface="+mn-cs"/>
                                    </a:rPr>
                                  </m:ctrlPr>
                                </m:accPr>
                                <m:e>
                                  <m:r>
                                    <a:rPr kumimoji="1" lang="en-NZ" altLang="ja-JP" sz="2200" b="1" i="1" u="none" strike="noStrike" kern="1200" cap="none" spc="0" normalizeH="0" baseline="0" noProof="0">
                                      <a:ln>
                                        <a:noFill/>
                                      </a:ln>
                                      <a:solidFill>
                                        <a:srgbClr val="C00000"/>
                                      </a:solidFill>
                                      <a:effectLst/>
                                      <a:uLnTx/>
                                      <a:uFillTx/>
                                      <a:latin typeface="Cambria Math" panose="02040503050406030204" pitchFamily="18" charset="0"/>
                                      <a:cs typeface="+mn-cs"/>
                                    </a:rPr>
                                    <m:t>𝒀</m:t>
                                  </m:r>
                                </m:e>
                              </m:acc>
                            </m:e>
                            <m:sub>
                              <m:r>
                                <a:rPr kumimoji="1" lang="en-NZ" altLang="ja-JP" sz="22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𝒊</m:t>
                              </m:r>
                              <m:r>
                                <a:rPr kumimoji="1" lang="en-NZ" altLang="ja-JP" sz="2200" b="1" i="1" u="none" strike="noStrike" kern="1200" cap="none" spc="0" normalizeH="0" baseline="0" noProof="0">
                                  <a:ln>
                                    <a:noFill/>
                                  </a:ln>
                                  <a:solidFill>
                                    <a:srgbClr val="C00000"/>
                                  </a:solidFill>
                                  <a:effectLst/>
                                  <a:uLnTx/>
                                  <a:uFillTx/>
                                  <a:latin typeface="Cambria Math" panose="02040503050406030204" pitchFamily="18" charset="0"/>
                                  <a:ea typeface="Cambria Math" panose="02040503050406030204" pitchFamily="18" charset="0"/>
                                  <a:cs typeface="+mn-cs"/>
                                </a:rPr>
                                <m:t>∙∙</m:t>
                              </m:r>
                            </m:sub>
                          </m:sSub>
                          <m:r>
                            <a:rPr kumimoji="1" lang="en-NZ" altLang="ja-JP" sz="2200" b="1" i="1" u="none" strike="noStrike" kern="1200" cap="none" spc="0" normalizeH="0" baseline="0" noProof="0" smtClean="0">
                              <a:ln>
                                <a:noFill/>
                              </a:ln>
                              <a:solidFill>
                                <a:srgbClr val="C00000"/>
                              </a:solidFill>
                              <a:effectLst/>
                              <a:uLnTx/>
                              <a:uFillTx/>
                              <a:latin typeface="Cambria Math" panose="02040503050406030204" pitchFamily="18" charset="0"/>
                              <a:ea typeface="Cambria Math" panose="02040503050406030204" pitchFamily="18" charset="0"/>
                              <a:cs typeface="+mn-cs"/>
                            </a:rPr>
                            <m:t>  − </m:t>
                          </m:r>
                          <m:sSub>
                            <m:sSubPr>
                              <m:ctrlPr>
                                <a:rPr kumimoji="1" lang="en-NZ" altLang="ja-JP" sz="2200" b="1" i="1" u="none" strike="noStrike" kern="1200" cap="none" spc="0" normalizeH="0" baseline="0" noProof="0">
                                  <a:ln>
                                    <a:noFill/>
                                  </a:ln>
                                  <a:solidFill>
                                    <a:srgbClr val="C00000"/>
                                  </a:solidFill>
                                  <a:effectLst/>
                                  <a:uLnTx/>
                                  <a:uFillTx/>
                                  <a:latin typeface="Cambria Math" panose="02040503050406030204" pitchFamily="18" charset="0"/>
                                  <a:cs typeface="+mn-cs"/>
                                </a:rPr>
                              </m:ctrlPr>
                            </m:sSubPr>
                            <m:e>
                              <m:acc>
                                <m:accPr>
                                  <m:chr m:val="̅"/>
                                  <m:ctrlPr>
                                    <a:rPr kumimoji="1" lang="en-NZ" altLang="ja-JP" sz="2200" b="1" i="1" u="none" strike="noStrike" kern="1200" cap="none" spc="0" normalizeH="0" baseline="0" noProof="0">
                                      <a:ln>
                                        <a:noFill/>
                                      </a:ln>
                                      <a:solidFill>
                                        <a:srgbClr val="C00000"/>
                                      </a:solidFill>
                                      <a:effectLst/>
                                      <a:uLnTx/>
                                      <a:uFillTx/>
                                      <a:latin typeface="Cambria Math" panose="02040503050406030204" pitchFamily="18" charset="0"/>
                                      <a:cs typeface="+mn-cs"/>
                                    </a:rPr>
                                  </m:ctrlPr>
                                </m:accPr>
                                <m:e>
                                  <m:r>
                                    <a:rPr kumimoji="1" lang="en-NZ" altLang="ja-JP" sz="2200" b="1" i="1" u="none" strike="noStrike" kern="1200" cap="none" spc="0" normalizeH="0" baseline="0" noProof="0">
                                      <a:ln>
                                        <a:noFill/>
                                      </a:ln>
                                      <a:solidFill>
                                        <a:srgbClr val="C00000"/>
                                      </a:solidFill>
                                      <a:effectLst/>
                                      <a:uLnTx/>
                                      <a:uFillTx/>
                                      <a:latin typeface="Cambria Math" panose="02040503050406030204" pitchFamily="18" charset="0"/>
                                      <a:cs typeface="+mn-cs"/>
                                    </a:rPr>
                                    <m:t>𝒀</m:t>
                                  </m:r>
                                </m:e>
                              </m:acc>
                            </m:e>
                            <m:sub>
                              <m:r>
                                <a:rPr kumimoji="1" lang="en-NZ" altLang="ja-JP" sz="2200" b="1" i="1" u="none" strike="noStrike" kern="1200" cap="none" spc="0" normalizeH="0" baseline="0" noProof="0">
                                  <a:ln>
                                    <a:noFill/>
                                  </a:ln>
                                  <a:solidFill>
                                    <a:srgbClr val="C00000"/>
                                  </a:solidFill>
                                  <a:effectLst/>
                                  <a:uLnTx/>
                                  <a:uFillTx/>
                                  <a:latin typeface="Cambria Math" panose="02040503050406030204" pitchFamily="18" charset="0"/>
                                  <a:ea typeface="Cambria Math" panose="02040503050406030204" pitchFamily="18" charset="0"/>
                                  <a:cs typeface="+mn-cs"/>
                                </a:rPr>
                                <m:t>∙∙∙</m:t>
                              </m:r>
                            </m:sub>
                          </m:sSub>
                          <m:r>
                            <a:rPr kumimoji="1" lang="en-NZ" altLang="ja-JP" sz="2200" b="1" i="1" u="none" strike="noStrike" kern="1200" cap="none" spc="0" normalizeH="0" baseline="0" noProof="0" smtClean="0">
                              <a:ln>
                                <a:noFill/>
                              </a:ln>
                              <a:solidFill>
                                <a:srgbClr val="C00000"/>
                              </a:solidFill>
                              <a:effectLst/>
                              <a:uLnTx/>
                              <a:uFillTx/>
                              <a:latin typeface="Cambria Math" panose="02040503050406030204" pitchFamily="18" charset="0"/>
                              <a:ea typeface="Cambria Math" panose="02040503050406030204" pitchFamily="18" charset="0"/>
                              <a:cs typeface="+mn-cs"/>
                            </a:rPr>
                            <m:t> </m:t>
                          </m:r>
                        </m:e>
                      </m:d>
                      <m:r>
                        <a:rPr kumimoji="1" lang="en-NZ" altLang="ja-JP" sz="2200" b="1" i="1" u="none" strike="noStrike" kern="1200" cap="none" spc="0" normalizeH="0" baseline="0" noProof="0" smtClean="0">
                          <a:ln>
                            <a:noFill/>
                          </a:ln>
                          <a:solidFill>
                            <a:srgbClr val="C00000"/>
                          </a:solidFill>
                          <a:effectLst/>
                          <a:uLnTx/>
                          <a:uFillTx/>
                          <a:latin typeface="Cambria Math" panose="02040503050406030204" pitchFamily="18" charset="0"/>
                          <a:ea typeface="Cambria Math" panose="02040503050406030204" pitchFamily="18" charset="0"/>
                          <a:cs typeface="+mn-cs"/>
                        </a:rPr>
                        <m:t> + </m:t>
                      </m:r>
                      <m:d>
                        <m:dPr>
                          <m:ctrlPr>
                            <a:rPr kumimoji="1" lang="en-NZ" altLang="ja-JP" sz="2200" b="1" i="1" u="none" strike="noStrike" kern="1200" cap="none" spc="0" normalizeH="0" baseline="0" noProof="0">
                              <a:ln>
                                <a:noFill/>
                              </a:ln>
                              <a:solidFill>
                                <a:srgbClr val="C00000"/>
                              </a:solidFill>
                              <a:effectLst/>
                              <a:uLnTx/>
                              <a:uFillTx/>
                              <a:latin typeface="Cambria Math" panose="02040503050406030204" pitchFamily="18" charset="0"/>
                              <a:cs typeface="+mn-cs"/>
                            </a:rPr>
                          </m:ctrlPr>
                        </m:dPr>
                        <m:e>
                          <m:sSub>
                            <m:sSubPr>
                              <m:ctrlPr>
                                <a:rPr kumimoji="1" lang="en-NZ" altLang="ja-JP" sz="2200" b="1" i="1" u="none" strike="noStrike" kern="1200" cap="none" spc="0" normalizeH="0" baseline="0" noProof="0">
                                  <a:ln>
                                    <a:noFill/>
                                  </a:ln>
                                  <a:solidFill>
                                    <a:srgbClr val="C00000"/>
                                  </a:solidFill>
                                  <a:effectLst/>
                                  <a:uLnTx/>
                                  <a:uFillTx/>
                                  <a:latin typeface="Cambria Math" panose="02040503050406030204" pitchFamily="18" charset="0"/>
                                  <a:cs typeface="+mn-cs"/>
                                </a:rPr>
                              </m:ctrlPr>
                            </m:sSubPr>
                            <m:e>
                              <m:r>
                                <a:rPr kumimoji="1" lang="en-NZ" altLang="ja-JP" sz="2200" b="1" i="1" u="none" strike="noStrike" kern="1200" cap="none" spc="0" normalizeH="0" baseline="0" noProof="0">
                                  <a:ln>
                                    <a:noFill/>
                                  </a:ln>
                                  <a:solidFill>
                                    <a:srgbClr val="C00000"/>
                                  </a:solidFill>
                                  <a:effectLst/>
                                  <a:uLnTx/>
                                  <a:uFillTx/>
                                  <a:latin typeface="Cambria Math" panose="02040503050406030204" pitchFamily="18" charset="0"/>
                                  <a:cs typeface="+mn-cs"/>
                                </a:rPr>
                                <m:t> </m:t>
                              </m:r>
                              <m:acc>
                                <m:accPr>
                                  <m:chr m:val="̅"/>
                                  <m:ctrlPr>
                                    <a:rPr kumimoji="1" lang="en-NZ" altLang="ja-JP" sz="2200" b="1" i="1" u="none" strike="noStrike" kern="1200" cap="none" spc="0" normalizeH="0" baseline="0" noProof="0">
                                      <a:ln>
                                        <a:noFill/>
                                      </a:ln>
                                      <a:solidFill>
                                        <a:srgbClr val="C00000"/>
                                      </a:solidFill>
                                      <a:effectLst/>
                                      <a:uLnTx/>
                                      <a:uFillTx/>
                                      <a:latin typeface="Cambria Math" panose="02040503050406030204" pitchFamily="18" charset="0"/>
                                      <a:cs typeface="+mn-cs"/>
                                    </a:rPr>
                                  </m:ctrlPr>
                                </m:accPr>
                                <m:e>
                                  <m:r>
                                    <a:rPr kumimoji="1" lang="en-NZ" altLang="ja-JP" sz="2200" b="1" i="1" u="none" strike="noStrike" kern="1200" cap="none" spc="0" normalizeH="0" baseline="0" noProof="0">
                                      <a:ln>
                                        <a:noFill/>
                                      </a:ln>
                                      <a:solidFill>
                                        <a:srgbClr val="C00000"/>
                                      </a:solidFill>
                                      <a:effectLst/>
                                      <a:uLnTx/>
                                      <a:uFillTx/>
                                      <a:latin typeface="Cambria Math" panose="02040503050406030204" pitchFamily="18" charset="0"/>
                                      <a:cs typeface="+mn-cs"/>
                                    </a:rPr>
                                    <m:t>𝒀</m:t>
                                  </m:r>
                                </m:e>
                              </m:acc>
                            </m:e>
                            <m:sub>
                              <m:r>
                                <a:rPr kumimoji="1" lang="en-NZ" altLang="ja-JP" sz="22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𝒊</m:t>
                              </m:r>
                              <m:r>
                                <a:rPr kumimoji="1" lang="en-NZ" altLang="ja-JP" sz="2200" b="1" i="1" u="none" strike="noStrike" kern="1200" cap="none" spc="0" normalizeH="0" baseline="0" noProof="0" smtClean="0">
                                  <a:ln>
                                    <a:noFill/>
                                  </a:ln>
                                  <a:solidFill>
                                    <a:srgbClr val="C00000"/>
                                  </a:solidFill>
                                  <a:effectLst/>
                                  <a:uLnTx/>
                                  <a:uFillTx/>
                                  <a:latin typeface="Cambria Math" panose="02040503050406030204" pitchFamily="18" charset="0"/>
                                  <a:ea typeface="Cambria Math" panose="02040503050406030204" pitchFamily="18" charset="0"/>
                                  <a:cs typeface="+mn-cs"/>
                                </a:rPr>
                                <m:t>𝒋</m:t>
                              </m:r>
                              <m:r>
                                <a:rPr kumimoji="1" lang="en-NZ" altLang="ja-JP" sz="2200" b="1" i="1" u="none" strike="noStrike" kern="1200" cap="none" spc="0" normalizeH="0" baseline="0" noProof="0">
                                  <a:ln>
                                    <a:noFill/>
                                  </a:ln>
                                  <a:solidFill>
                                    <a:srgbClr val="C00000"/>
                                  </a:solidFill>
                                  <a:effectLst/>
                                  <a:uLnTx/>
                                  <a:uFillTx/>
                                  <a:latin typeface="Cambria Math" panose="02040503050406030204" pitchFamily="18" charset="0"/>
                                  <a:ea typeface="Cambria Math" panose="02040503050406030204" pitchFamily="18" charset="0"/>
                                  <a:cs typeface="+mn-cs"/>
                                </a:rPr>
                                <m:t>∙</m:t>
                              </m:r>
                            </m:sub>
                          </m:sSub>
                          <m:r>
                            <a:rPr kumimoji="1" lang="en-NZ" altLang="ja-JP" sz="2200" b="1" i="1" u="none" strike="noStrike" kern="1200" cap="none" spc="0" normalizeH="0" baseline="0" noProof="0">
                              <a:ln>
                                <a:noFill/>
                              </a:ln>
                              <a:solidFill>
                                <a:srgbClr val="C00000"/>
                              </a:solidFill>
                              <a:effectLst/>
                              <a:uLnTx/>
                              <a:uFillTx/>
                              <a:latin typeface="Cambria Math" panose="02040503050406030204" pitchFamily="18" charset="0"/>
                              <a:ea typeface="Cambria Math" panose="02040503050406030204" pitchFamily="18" charset="0"/>
                              <a:cs typeface="+mn-cs"/>
                            </a:rPr>
                            <m:t>  − </m:t>
                          </m:r>
                          <m:sSub>
                            <m:sSubPr>
                              <m:ctrlPr>
                                <a:rPr kumimoji="1" lang="en-NZ" altLang="ja-JP" sz="2200" b="1" i="1" u="none" strike="noStrike" kern="1200" cap="none" spc="0" normalizeH="0" baseline="0" noProof="0">
                                  <a:ln>
                                    <a:noFill/>
                                  </a:ln>
                                  <a:solidFill>
                                    <a:srgbClr val="C00000"/>
                                  </a:solidFill>
                                  <a:effectLst/>
                                  <a:uLnTx/>
                                  <a:uFillTx/>
                                  <a:latin typeface="Cambria Math" panose="02040503050406030204" pitchFamily="18" charset="0"/>
                                  <a:cs typeface="+mn-cs"/>
                                </a:rPr>
                              </m:ctrlPr>
                            </m:sSubPr>
                            <m:e>
                              <m:acc>
                                <m:accPr>
                                  <m:chr m:val="̅"/>
                                  <m:ctrlPr>
                                    <a:rPr kumimoji="1" lang="en-NZ" altLang="ja-JP" sz="2200" b="1" i="1" u="none" strike="noStrike" kern="1200" cap="none" spc="0" normalizeH="0" baseline="0" noProof="0">
                                      <a:ln>
                                        <a:noFill/>
                                      </a:ln>
                                      <a:solidFill>
                                        <a:srgbClr val="C00000"/>
                                      </a:solidFill>
                                      <a:effectLst/>
                                      <a:uLnTx/>
                                      <a:uFillTx/>
                                      <a:latin typeface="Cambria Math" panose="02040503050406030204" pitchFamily="18" charset="0"/>
                                      <a:cs typeface="+mn-cs"/>
                                    </a:rPr>
                                  </m:ctrlPr>
                                </m:accPr>
                                <m:e>
                                  <m:r>
                                    <a:rPr kumimoji="1" lang="en-NZ" altLang="ja-JP" sz="2200" b="1" i="1" u="none" strike="noStrike" kern="1200" cap="none" spc="0" normalizeH="0" baseline="0" noProof="0">
                                      <a:ln>
                                        <a:noFill/>
                                      </a:ln>
                                      <a:solidFill>
                                        <a:srgbClr val="C00000"/>
                                      </a:solidFill>
                                      <a:effectLst/>
                                      <a:uLnTx/>
                                      <a:uFillTx/>
                                      <a:latin typeface="Cambria Math" panose="02040503050406030204" pitchFamily="18" charset="0"/>
                                      <a:cs typeface="+mn-cs"/>
                                    </a:rPr>
                                    <m:t>𝒀</m:t>
                                  </m:r>
                                </m:e>
                              </m:acc>
                            </m:e>
                            <m:sub>
                              <m:r>
                                <a:rPr kumimoji="1" lang="en-NZ" altLang="ja-JP" sz="22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𝒊</m:t>
                              </m:r>
                              <m:r>
                                <a:rPr kumimoji="1" lang="en-NZ" altLang="ja-JP" sz="2200" b="1" i="1" u="none" strike="noStrike" kern="1200" cap="none" spc="0" normalizeH="0" baseline="0" noProof="0">
                                  <a:ln>
                                    <a:noFill/>
                                  </a:ln>
                                  <a:solidFill>
                                    <a:srgbClr val="C00000"/>
                                  </a:solidFill>
                                  <a:effectLst/>
                                  <a:uLnTx/>
                                  <a:uFillTx/>
                                  <a:latin typeface="Cambria Math" panose="02040503050406030204" pitchFamily="18" charset="0"/>
                                  <a:ea typeface="Cambria Math" panose="02040503050406030204" pitchFamily="18" charset="0"/>
                                  <a:cs typeface="+mn-cs"/>
                                </a:rPr>
                                <m:t>∙∙</m:t>
                              </m:r>
                            </m:sub>
                          </m:sSub>
                          <m:r>
                            <a:rPr kumimoji="1" lang="en-NZ" altLang="ja-JP" sz="2200" b="1" i="1" u="none" strike="noStrike" kern="1200" cap="none" spc="0" normalizeH="0" baseline="0" noProof="0">
                              <a:ln>
                                <a:noFill/>
                              </a:ln>
                              <a:solidFill>
                                <a:srgbClr val="C00000"/>
                              </a:solidFill>
                              <a:effectLst/>
                              <a:uLnTx/>
                              <a:uFillTx/>
                              <a:latin typeface="Cambria Math" panose="02040503050406030204" pitchFamily="18" charset="0"/>
                              <a:ea typeface="Cambria Math" panose="02040503050406030204" pitchFamily="18" charset="0"/>
                              <a:cs typeface="+mn-cs"/>
                            </a:rPr>
                            <m:t> </m:t>
                          </m:r>
                        </m:e>
                      </m:d>
                      <m:r>
                        <a:rPr kumimoji="1" lang="en-NZ" altLang="ja-JP" sz="2200" b="1" i="1" u="none" strike="noStrike" kern="1200" cap="none" spc="0" normalizeH="0" baseline="0" noProof="0" smtClean="0">
                          <a:ln>
                            <a:noFill/>
                          </a:ln>
                          <a:solidFill>
                            <a:srgbClr val="C00000"/>
                          </a:solidFill>
                          <a:effectLst/>
                          <a:uLnTx/>
                          <a:uFillTx/>
                          <a:latin typeface="Cambria Math" panose="02040503050406030204" pitchFamily="18" charset="0"/>
                          <a:ea typeface="Cambria Math" panose="02040503050406030204" pitchFamily="18" charset="0"/>
                          <a:cs typeface="+mn-cs"/>
                        </a:rPr>
                        <m:t>  +  </m:t>
                      </m:r>
                      <m:d>
                        <m:dPr>
                          <m:ctrlPr>
                            <a:rPr kumimoji="1" lang="en-NZ" altLang="ja-JP" sz="2200" b="1" i="1" u="none" strike="noStrike" kern="1200" cap="none" spc="0" normalizeH="0" baseline="0" noProof="0">
                              <a:ln>
                                <a:noFill/>
                              </a:ln>
                              <a:solidFill>
                                <a:srgbClr val="C00000"/>
                              </a:solidFill>
                              <a:effectLst/>
                              <a:uLnTx/>
                              <a:uFillTx/>
                              <a:latin typeface="Cambria Math" panose="02040503050406030204" pitchFamily="18" charset="0"/>
                              <a:cs typeface="+mn-cs"/>
                            </a:rPr>
                          </m:ctrlPr>
                        </m:dPr>
                        <m:e>
                          <m:sSub>
                            <m:sSubPr>
                              <m:ctrlPr>
                                <a:rPr kumimoji="1" lang="en-NZ" altLang="ja-JP" sz="2200" b="1" i="1" u="none" strike="noStrike" kern="1200" cap="none" spc="0" normalizeH="0" baseline="0" noProof="0">
                                  <a:ln>
                                    <a:noFill/>
                                  </a:ln>
                                  <a:solidFill>
                                    <a:srgbClr val="C00000"/>
                                  </a:solidFill>
                                  <a:effectLst/>
                                  <a:uLnTx/>
                                  <a:uFillTx/>
                                  <a:latin typeface="Cambria Math" panose="02040503050406030204" pitchFamily="18" charset="0"/>
                                  <a:cs typeface="+mn-cs"/>
                                </a:rPr>
                              </m:ctrlPr>
                            </m:sSubPr>
                            <m:e>
                              <m:r>
                                <a:rPr kumimoji="1" lang="en-NZ" altLang="ja-JP" sz="2200" b="1" i="1" u="none" strike="noStrike" kern="1200" cap="none" spc="0" normalizeH="0" baseline="0" noProof="0">
                                  <a:ln>
                                    <a:noFill/>
                                  </a:ln>
                                  <a:solidFill>
                                    <a:srgbClr val="C00000"/>
                                  </a:solidFill>
                                  <a:effectLst/>
                                  <a:uLnTx/>
                                  <a:uFillTx/>
                                  <a:latin typeface="Cambria Math" panose="02040503050406030204" pitchFamily="18" charset="0"/>
                                  <a:cs typeface="+mn-cs"/>
                                </a:rPr>
                                <m:t>𝒀</m:t>
                              </m:r>
                            </m:e>
                            <m:sub>
                              <m:r>
                                <a:rPr kumimoji="1" lang="en-NZ" altLang="ja-JP" sz="2200" b="1" i="1" u="none" strike="noStrike" kern="1200" cap="none" spc="0" normalizeH="0" baseline="0" noProof="0">
                                  <a:ln>
                                    <a:noFill/>
                                  </a:ln>
                                  <a:solidFill>
                                    <a:srgbClr val="C00000"/>
                                  </a:solidFill>
                                  <a:effectLst/>
                                  <a:uLnTx/>
                                  <a:uFillTx/>
                                  <a:latin typeface="Cambria Math" panose="02040503050406030204" pitchFamily="18" charset="0"/>
                                  <a:cs typeface="+mn-cs"/>
                                </a:rPr>
                                <m:t>𝒊𝒋𝒌</m:t>
                              </m:r>
                            </m:sub>
                          </m:sSub>
                          <m:r>
                            <a:rPr kumimoji="1" lang="en-NZ" altLang="ja-JP" sz="2200" b="1" i="1" u="none" strike="noStrike" kern="1200" cap="none" spc="0" normalizeH="0" baseline="0" noProof="0" smtClean="0">
                              <a:ln>
                                <a:noFill/>
                              </a:ln>
                              <a:solidFill>
                                <a:srgbClr val="C00000"/>
                              </a:solidFill>
                              <a:effectLst/>
                              <a:uLnTx/>
                              <a:uFillTx/>
                              <a:latin typeface="Cambria Math" panose="02040503050406030204" pitchFamily="18" charset="0"/>
                              <a:cs typeface="+mn-cs"/>
                            </a:rPr>
                            <m:t> −</m:t>
                          </m:r>
                          <m:sSub>
                            <m:sSubPr>
                              <m:ctrlPr>
                                <a:rPr kumimoji="1" lang="en-NZ" altLang="ja-JP" sz="2200" b="1" i="1" u="none" strike="noStrike" kern="1200" cap="none" spc="0" normalizeH="0" baseline="0" noProof="0">
                                  <a:ln>
                                    <a:noFill/>
                                  </a:ln>
                                  <a:solidFill>
                                    <a:srgbClr val="C00000"/>
                                  </a:solidFill>
                                  <a:effectLst/>
                                  <a:uLnTx/>
                                  <a:uFillTx/>
                                  <a:latin typeface="Cambria Math" panose="02040503050406030204" pitchFamily="18" charset="0"/>
                                  <a:cs typeface="+mn-cs"/>
                                </a:rPr>
                              </m:ctrlPr>
                            </m:sSubPr>
                            <m:e>
                              <m:r>
                                <a:rPr kumimoji="1" lang="en-NZ" altLang="ja-JP" sz="2200" b="1" i="1" u="none" strike="noStrike" kern="1200" cap="none" spc="0" normalizeH="0" baseline="0" noProof="0" smtClean="0">
                                  <a:ln>
                                    <a:noFill/>
                                  </a:ln>
                                  <a:solidFill>
                                    <a:srgbClr val="C00000"/>
                                  </a:solidFill>
                                  <a:effectLst/>
                                  <a:uLnTx/>
                                  <a:uFillTx/>
                                  <a:latin typeface="Cambria Math" panose="02040503050406030204" pitchFamily="18" charset="0"/>
                                  <a:cs typeface="+mn-cs"/>
                                </a:rPr>
                                <m:t> </m:t>
                              </m:r>
                              <m:acc>
                                <m:accPr>
                                  <m:chr m:val="̅"/>
                                  <m:ctrlPr>
                                    <a:rPr kumimoji="1" lang="en-NZ" altLang="ja-JP" sz="2200" b="1" i="1" u="none" strike="noStrike" kern="1200" cap="none" spc="0" normalizeH="0" baseline="0" noProof="0">
                                      <a:ln>
                                        <a:noFill/>
                                      </a:ln>
                                      <a:solidFill>
                                        <a:srgbClr val="C00000"/>
                                      </a:solidFill>
                                      <a:effectLst/>
                                      <a:uLnTx/>
                                      <a:uFillTx/>
                                      <a:latin typeface="Cambria Math" panose="02040503050406030204" pitchFamily="18" charset="0"/>
                                      <a:cs typeface="+mn-cs"/>
                                    </a:rPr>
                                  </m:ctrlPr>
                                </m:accPr>
                                <m:e>
                                  <m:r>
                                    <a:rPr kumimoji="1" lang="en-NZ" altLang="ja-JP" sz="2200" b="1" i="1" u="none" strike="noStrike" kern="1200" cap="none" spc="0" normalizeH="0" baseline="0" noProof="0">
                                      <a:ln>
                                        <a:noFill/>
                                      </a:ln>
                                      <a:solidFill>
                                        <a:srgbClr val="C00000"/>
                                      </a:solidFill>
                                      <a:effectLst/>
                                      <a:uLnTx/>
                                      <a:uFillTx/>
                                      <a:latin typeface="Cambria Math" panose="02040503050406030204" pitchFamily="18" charset="0"/>
                                      <a:cs typeface="+mn-cs"/>
                                    </a:rPr>
                                    <m:t>𝒀</m:t>
                                  </m:r>
                                </m:e>
                              </m:acc>
                            </m:e>
                            <m:sub>
                              <m:r>
                                <a:rPr kumimoji="1" lang="en-NZ" altLang="ja-JP" sz="22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𝒊𝒋</m:t>
                              </m:r>
                              <m:r>
                                <a:rPr kumimoji="1" lang="en-NZ" altLang="ja-JP" sz="2200" b="1" i="1" u="none" strike="noStrike" kern="1200" cap="none" spc="0" normalizeH="0" baseline="0" noProof="0">
                                  <a:ln>
                                    <a:noFill/>
                                  </a:ln>
                                  <a:solidFill>
                                    <a:srgbClr val="C00000"/>
                                  </a:solidFill>
                                  <a:effectLst/>
                                  <a:uLnTx/>
                                  <a:uFillTx/>
                                  <a:latin typeface="Cambria Math" panose="02040503050406030204" pitchFamily="18" charset="0"/>
                                  <a:ea typeface="Cambria Math" panose="02040503050406030204" pitchFamily="18" charset="0"/>
                                  <a:cs typeface="+mn-cs"/>
                                </a:rPr>
                                <m:t>∙</m:t>
                              </m:r>
                            </m:sub>
                          </m:sSub>
                          <m:r>
                            <a:rPr kumimoji="1" lang="en-NZ" altLang="ja-JP" sz="2200" b="1" i="1" u="none" strike="noStrike" kern="1200" cap="none" spc="0" normalizeH="0" baseline="0" noProof="0">
                              <a:ln>
                                <a:noFill/>
                              </a:ln>
                              <a:solidFill>
                                <a:srgbClr val="C00000"/>
                              </a:solidFill>
                              <a:effectLst/>
                              <a:uLnTx/>
                              <a:uFillTx/>
                              <a:latin typeface="Cambria Math" panose="02040503050406030204" pitchFamily="18" charset="0"/>
                              <a:ea typeface="Cambria Math" panose="02040503050406030204" pitchFamily="18" charset="0"/>
                              <a:cs typeface="+mn-cs"/>
                            </a:rPr>
                            <m:t> </m:t>
                          </m:r>
                        </m:e>
                      </m:d>
                    </m:oMath>
                  </m:oMathPara>
                </a14:m>
                <a:endParaRPr kumimoji="1" lang="en-NZ" altLang="ja-JP" sz="22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p:txBody>
          </p:sp>
        </mc:Choice>
        <mc:Fallback xmlns="">
          <p:sp>
            <p:nvSpPr>
              <p:cNvPr id="21" name="Text Placeholder 5">
                <a:extLst>
                  <a:ext uri="{FF2B5EF4-FFF2-40B4-BE49-F238E27FC236}">
                    <a16:creationId xmlns:a16="http://schemas.microsoft.com/office/drawing/2014/main" id="{31175F7B-BBF0-10DE-1496-6FAC04E3477E}"/>
                  </a:ext>
                </a:extLst>
              </p:cNvPr>
              <p:cNvSpPr txBox="1">
                <a:spLocks noRot="1" noChangeAspect="1" noMove="1" noResize="1" noEditPoints="1" noAdjustHandles="1" noChangeArrowheads="1" noChangeShapeType="1" noTextEdit="1"/>
              </p:cNvSpPr>
              <p:nvPr/>
            </p:nvSpPr>
            <p:spPr>
              <a:xfrm>
                <a:off x="251223" y="1035263"/>
                <a:ext cx="11232109" cy="497400"/>
              </a:xfrm>
              <a:prstGeom prst="rect">
                <a:avLst/>
              </a:prstGeom>
              <a:blipFill>
                <a:blip r:embed="rId2"/>
                <a:stretch>
                  <a:fillRect l="-705" t="-8642" b="-75309"/>
                </a:stretch>
              </a:blipFill>
            </p:spPr>
            <p:txBody>
              <a:bodyPr/>
              <a:lstStyle/>
              <a:p>
                <a:r>
                  <a:rPr lang="en-NZ">
                    <a:noFill/>
                  </a:rPr>
                  <a:t> </a:t>
                </a:r>
              </a:p>
            </p:txBody>
          </p:sp>
        </mc:Fallback>
      </mc:AlternateContent>
      <p:sp>
        <p:nvSpPr>
          <p:cNvPr id="22" name="Footer Placeholder 2">
            <a:extLst>
              <a:ext uri="{FF2B5EF4-FFF2-40B4-BE49-F238E27FC236}">
                <a16:creationId xmlns:a16="http://schemas.microsoft.com/office/drawing/2014/main" id="{19DF3065-3538-F202-1605-E49CE57FED85}"/>
              </a:ext>
            </a:extLst>
          </p:cNvPr>
          <p:cNvSpPr txBox="1">
            <a:spLocks/>
          </p:cNvSpPr>
          <p:nvPr/>
        </p:nvSpPr>
        <p:spPr>
          <a:xfrm>
            <a:off x="8775510" y="86139"/>
            <a:ext cx="3313855"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600" dirty="0">
                <a:solidFill>
                  <a:srgbClr val="DEDDDD"/>
                </a:solidFill>
                <a:latin typeface="Gidole"/>
                <a:ea typeface="游ゴシック" panose="020B0400000000000000" pitchFamily="34" charset="-128"/>
              </a:rPr>
              <a:t>5</a:t>
            </a:r>
            <a:r>
              <a:rPr kumimoji="1" lang="en-US" altLang="ja-JP"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rPr>
              <a:t>.2 – Two Stage Nested Design</a:t>
            </a:r>
            <a:endParaRPr kumimoji="1" lang="ja-JP" altLang="en-US"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endParaRPr>
          </a:p>
        </p:txBody>
      </p:sp>
      <p:sp>
        <p:nvSpPr>
          <p:cNvPr id="13" name="Text Placeholder 5">
            <a:extLst>
              <a:ext uri="{FF2B5EF4-FFF2-40B4-BE49-F238E27FC236}">
                <a16:creationId xmlns:a16="http://schemas.microsoft.com/office/drawing/2014/main" id="{ECD4D5CD-E543-8623-F926-3F3FDAA80C4F}"/>
              </a:ext>
            </a:extLst>
          </p:cNvPr>
          <p:cNvSpPr txBox="1">
            <a:spLocks/>
          </p:cNvSpPr>
          <p:nvPr/>
        </p:nvSpPr>
        <p:spPr>
          <a:xfrm>
            <a:off x="251223" y="2006231"/>
            <a:ext cx="11232109" cy="504957"/>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2200" b="1" i="1" dirty="0">
                <a:solidFill>
                  <a:schemeClr val="tx1"/>
                </a:solidFill>
              </a:rPr>
              <a:t>Proof:</a:t>
            </a:r>
            <a:r>
              <a:rPr lang="en-NZ" altLang="ja-JP" sz="2200" i="1" dirty="0">
                <a:solidFill>
                  <a:schemeClr val="tx1"/>
                </a:solidFill>
              </a:rPr>
              <a:t>  </a:t>
            </a:r>
            <a:r>
              <a:rPr lang="en-NZ" altLang="ja-JP" sz="2200" dirty="0">
                <a:solidFill>
                  <a:schemeClr val="tx1"/>
                </a:solidFill>
              </a:rPr>
              <a:t>Simply write out the right hand side and collect like terms. </a:t>
            </a:r>
            <a:r>
              <a:rPr lang="en-NZ" altLang="ja-JP" sz="1200" dirty="0">
                <a:solidFill>
                  <a:schemeClr val="tx1"/>
                </a:solidFill>
              </a:rPr>
              <a:t>□</a:t>
            </a:r>
            <a:endParaRPr lang="en-NZ" altLang="ja-JP" sz="2200" dirty="0">
              <a:solidFill>
                <a:schemeClr val="tx1"/>
              </a:solidFill>
            </a:endParaRPr>
          </a:p>
        </p:txBody>
      </p:sp>
      <p:cxnSp>
        <p:nvCxnSpPr>
          <p:cNvPr id="19" name="Straight Connector 18">
            <a:extLst>
              <a:ext uri="{FF2B5EF4-FFF2-40B4-BE49-F238E27FC236}">
                <a16:creationId xmlns:a16="http://schemas.microsoft.com/office/drawing/2014/main" id="{6F69B75A-2E94-DFC7-7FB8-662C58D6B843}"/>
              </a:ext>
            </a:extLst>
          </p:cNvPr>
          <p:cNvCxnSpPr/>
          <p:nvPr/>
        </p:nvCxnSpPr>
        <p:spPr>
          <a:xfrm flipV="1">
            <a:off x="4189864" y="1283963"/>
            <a:ext cx="573205" cy="668741"/>
          </a:xfrm>
          <a:prstGeom prst="line">
            <a:avLst/>
          </a:prstGeom>
          <a:ln>
            <a:prstDash val="lgDash"/>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4BA05F71-8040-0351-26D0-DF3A8B7F87F8}"/>
              </a:ext>
            </a:extLst>
          </p:cNvPr>
          <p:cNvCxnSpPr/>
          <p:nvPr/>
        </p:nvCxnSpPr>
        <p:spPr>
          <a:xfrm flipV="1">
            <a:off x="6855728" y="1283962"/>
            <a:ext cx="573205" cy="668741"/>
          </a:xfrm>
          <a:prstGeom prst="line">
            <a:avLst/>
          </a:prstGeom>
          <a:ln>
            <a:prstDash val="lgDash"/>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2BBCCA8-9661-A0AC-CFD4-21254DA2F102}"/>
              </a:ext>
            </a:extLst>
          </p:cNvPr>
          <p:cNvCxnSpPr>
            <a:cxnSpLocks/>
          </p:cNvCxnSpPr>
          <p:nvPr/>
        </p:nvCxnSpPr>
        <p:spPr>
          <a:xfrm flipV="1">
            <a:off x="6096000" y="1283962"/>
            <a:ext cx="573205" cy="668741"/>
          </a:xfrm>
          <a:prstGeom prst="line">
            <a:avLst/>
          </a:prstGeom>
          <a:ln>
            <a:solidFill>
              <a:srgbClr val="00B050"/>
            </a:solidFill>
            <a:prstDash val="lgDash"/>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136450A-8E78-58D2-70EC-BE22361335EA}"/>
              </a:ext>
            </a:extLst>
          </p:cNvPr>
          <p:cNvCxnSpPr>
            <a:cxnSpLocks/>
          </p:cNvCxnSpPr>
          <p:nvPr/>
        </p:nvCxnSpPr>
        <p:spPr>
          <a:xfrm flipV="1">
            <a:off x="9038353" y="1283887"/>
            <a:ext cx="573205" cy="668741"/>
          </a:xfrm>
          <a:prstGeom prst="line">
            <a:avLst/>
          </a:prstGeom>
          <a:ln>
            <a:solidFill>
              <a:srgbClr val="00B050"/>
            </a:solidFill>
            <a:prstDash val="lgDash"/>
          </a:ln>
        </p:spPr>
        <p:style>
          <a:lnRef idx="1">
            <a:schemeClr val="accent1"/>
          </a:lnRef>
          <a:fillRef idx="0">
            <a:schemeClr val="accent1"/>
          </a:fillRef>
          <a:effectRef idx="0">
            <a:schemeClr val="accent1"/>
          </a:effectRef>
          <a:fontRef idx="minor">
            <a:schemeClr val="tx1"/>
          </a:fontRef>
        </p:style>
      </p:cxnSp>
      <p:sp>
        <p:nvSpPr>
          <p:cNvPr id="32" name="Text Placeholder 5">
            <a:extLst>
              <a:ext uri="{FF2B5EF4-FFF2-40B4-BE49-F238E27FC236}">
                <a16:creationId xmlns:a16="http://schemas.microsoft.com/office/drawing/2014/main" id="{058794DA-E015-6748-DF81-F33CF1B4F49D}"/>
              </a:ext>
            </a:extLst>
          </p:cNvPr>
          <p:cNvSpPr txBox="1">
            <a:spLocks/>
          </p:cNvSpPr>
          <p:nvPr/>
        </p:nvSpPr>
        <p:spPr>
          <a:xfrm>
            <a:off x="4827270" y="994041"/>
            <a:ext cx="775649" cy="367380"/>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ctr">
              <a:lnSpc>
                <a:spcPct val="100000"/>
              </a:lnSpc>
            </a:pPr>
            <a:r>
              <a:rPr lang="en-NZ" altLang="ja-JP" sz="3000" dirty="0">
                <a:solidFill>
                  <a:srgbClr val="0070C0"/>
                </a:solidFill>
                <a:sym typeface="Wingdings" panose="05000000000000000000" pitchFamily="2" charset="2"/>
              </a:rPr>
              <a:t></a:t>
            </a:r>
            <a:endParaRPr lang="en-NZ" altLang="ja-JP" sz="3000" dirty="0">
              <a:solidFill>
                <a:srgbClr val="0070C0"/>
              </a:solidFill>
            </a:endParaRPr>
          </a:p>
        </p:txBody>
      </p:sp>
      <p:sp>
        <p:nvSpPr>
          <p:cNvPr id="33" name="Text Placeholder 5">
            <a:extLst>
              <a:ext uri="{FF2B5EF4-FFF2-40B4-BE49-F238E27FC236}">
                <a16:creationId xmlns:a16="http://schemas.microsoft.com/office/drawing/2014/main" id="{9F057B81-39D6-3B90-2838-4B87D2D6EDC3}"/>
              </a:ext>
            </a:extLst>
          </p:cNvPr>
          <p:cNvSpPr txBox="1">
            <a:spLocks/>
          </p:cNvSpPr>
          <p:nvPr/>
        </p:nvSpPr>
        <p:spPr>
          <a:xfrm>
            <a:off x="8226309" y="996728"/>
            <a:ext cx="775649" cy="367380"/>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ctr">
              <a:lnSpc>
                <a:spcPct val="100000"/>
              </a:lnSpc>
            </a:pPr>
            <a:r>
              <a:rPr lang="en-NZ" altLang="ja-JP" sz="3000" dirty="0">
                <a:solidFill>
                  <a:srgbClr val="0070C0"/>
                </a:solidFill>
                <a:sym typeface="Wingdings" panose="05000000000000000000" pitchFamily="2" charset="2"/>
              </a:rPr>
              <a:t></a:t>
            </a:r>
            <a:endParaRPr lang="en-NZ" altLang="ja-JP" sz="3000" dirty="0">
              <a:solidFill>
                <a:srgbClr val="0070C0"/>
              </a:solidFill>
            </a:endParaRPr>
          </a:p>
        </p:txBody>
      </p:sp>
    </p:spTree>
    <p:extLst>
      <p:ext uri="{BB962C8B-B14F-4D97-AF65-F5344CB8AC3E}">
        <p14:creationId xmlns:p14="http://schemas.microsoft.com/office/powerpoint/2010/main" val="19823139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9"/>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3"/>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0"/>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3"/>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32" grpId="0"/>
      <p:bldP spid="33"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Slide Number Placeholder 3">
            <a:extLst>
              <a:ext uri="{FF2B5EF4-FFF2-40B4-BE49-F238E27FC236}">
                <a16:creationId xmlns:a16="http://schemas.microsoft.com/office/drawing/2014/main" id="{B0C9041D-77F0-4656-90D4-0E84B7AC6B27}"/>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54AD89C-DF1E-4948-B597-5DD47B34A9CA}" type="slidenum">
              <a:rPr kumimoji="1" lang="ja-JP" altLang="en-US" sz="4000" b="0" i="0" u="none" strike="noStrike" kern="1200" cap="none" spc="0" normalizeH="0" baseline="0" noProof="0" smtClean="0">
                <a:ln>
                  <a:noFill/>
                </a:ln>
                <a:solidFill>
                  <a:srgbClr val="575454">
                    <a:lumMod val="20000"/>
                    <a:lumOff val="80000"/>
                  </a:srgbClr>
                </a:solidFill>
                <a:effectLst/>
                <a:uLnTx/>
                <a:uFillTx/>
                <a:latin typeface="Coo Hew"/>
                <a:ea typeface="游ゴシック" panose="020B0400000000000000"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1" lang="ja-JP" altLang="en-US" sz="4000" b="0" i="0" u="none" strike="noStrike" kern="1200" cap="none" spc="0" normalizeH="0" baseline="0" noProof="0" dirty="0">
              <a:ln>
                <a:noFill/>
              </a:ln>
              <a:solidFill>
                <a:srgbClr val="575454">
                  <a:lumMod val="20000"/>
                  <a:lumOff val="80000"/>
                </a:srgbClr>
              </a:solidFill>
              <a:effectLst/>
              <a:uLnTx/>
              <a:uFillTx/>
              <a:latin typeface="Coo Hew"/>
              <a:ea typeface="游ゴシック" panose="020B0400000000000000" pitchFamily="34" charset="-128"/>
              <a:cs typeface="+mn-cs"/>
            </a:endParaRPr>
          </a:p>
        </p:txBody>
      </p:sp>
      <mc:AlternateContent xmlns:mc="http://schemas.openxmlformats.org/markup-compatibility/2006" xmlns:a14="http://schemas.microsoft.com/office/drawing/2010/main">
        <mc:Choice Requires="a14">
          <p:sp>
            <p:nvSpPr>
              <p:cNvPr id="21" name="Text Placeholder 5">
                <a:extLst>
                  <a:ext uri="{FF2B5EF4-FFF2-40B4-BE49-F238E27FC236}">
                    <a16:creationId xmlns:a16="http://schemas.microsoft.com/office/drawing/2014/main" id="{DBA0427A-F068-434B-84BF-17437B3BF697}"/>
                  </a:ext>
                </a:extLst>
              </p:cNvPr>
              <p:cNvSpPr txBox="1">
                <a:spLocks/>
              </p:cNvSpPr>
              <p:nvPr/>
            </p:nvSpPr>
            <p:spPr>
              <a:xfrm>
                <a:off x="251223" y="1035263"/>
                <a:ext cx="11232109" cy="970968"/>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22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Lemma:</a:t>
                </a:r>
                <a:endParaRPr kumimoji="1" lang="en-NZ" altLang="ja-JP" sz="22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14:m>
                  <m:oMathPara xmlns:m="http://schemas.openxmlformats.org/officeDocument/2006/math">
                    <m:oMathParaPr>
                      <m:jc m:val="centerGroup"/>
                    </m:oMathParaPr>
                    <m:oMath xmlns:m="http://schemas.openxmlformats.org/officeDocument/2006/math">
                      <m:sSub>
                        <m:sSubPr>
                          <m:ctrlPr>
                            <a:rPr kumimoji="1" lang="en-NZ" altLang="ja-JP" sz="2200" b="1" i="1" u="none" strike="noStrike" kern="1200" cap="none" spc="0" normalizeH="0" baseline="0" noProof="0" smtClean="0">
                              <a:ln>
                                <a:noFill/>
                              </a:ln>
                              <a:solidFill>
                                <a:srgbClr val="C00000"/>
                              </a:solidFill>
                              <a:effectLst/>
                              <a:uLnTx/>
                              <a:uFillTx/>
                              <a:latin typeface="Cambria Math" panose="02040503050406030204" pitchFamily="18" charset="0"/>
                              <a:cs typeface="+mn-cs"/>
                            </a:rPr>
                          </m:ctrlPr>
                        </m:sSubPr>
                        <m:e>
                          <m:r>
                            <a:rPr kumimoji="1" lang="en-NZ" altLang="ja-JP" sz="22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𝒀</m:t>
                          </m:r>
                        </m:e>
                        <m:sub>
                          <m:r>
                            <a:rPr kumimoji="1" lang="en-NZ" altLang="ja-JP" sz="22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𝒊𝒋𝒌</m:t>
                          </m:r>
                        </m:sub>
                      </m:sSub>
                      <m:r>
                        <a:rPr kumimoji="1" lang="en-NZ" altLang="ja-JP" sz="2200" b="1" i="1" u="none" strike="noStrike" kern="1200" cap="none" spc="0" normalizeH="0" baseline="0" noProof="0" smtClean="0">
                          <a:ln>
                            <a:noFill/>
                          </a:ln>
                          <a:solidFill>
                            <a:srgbClr val="C00000"/>
                          </a:solidFill>
                          <a:effectLst/>
                          <a:uLnTx/>
                          <a:uFillTx/>
                          <a:latin typeface="Cambria Math" panose="02040503050406030204" pitchFamily="18" charset="0"/>
                          <a:cs typeface="+mn-cs"/>
                        </a:rPr>
                        <m:t>  −  </m:t>
                      </m:r>
                      <m:sSub>
                        <m:sSubPr>
                          <m:ctrlPr>
                            <a:rPr kumimoji="1" lang="en-NZ" altLang="ja-JP" sz="2200" b="1" i="1" u="none" strike="noStrike" kern="1200" cap="none" spc="0" normalizeH="0" baseline="0" noProof="0" smtClean="0">
                              <a:ln>
                                <a:noFill/>
                              </a:ln>
                              <a:solidFill>
                                <a:srgbClr val="C00000"/>
                              </a:solidFill>
                              <a:effectLst/>
                              <a:uLnTx/>
                              <a:uFillTx/>
                              <a:latin typeface="Cambria Math" panose="02040503050406030204" pitchFamily="18" charset="0"/>
                              <a:cs typeface="+mn-cs"/>
                            </a:rPr>
                          </m:ctrlPr>
                        </m:sSubPr>
                        <m:e>
                          <m:acc>
                            <m:accPr>
                              <m:chr m:val="̅"/>
                              <m:ctrlPr>
                                <a:rPr kumimoji="1" lang="en-NZ" altLang="ja-JP" sz="2200" b="1" i="1" u="none" strike="noStrike" kern="1200" cap="none" spc="0" normalizeH="0" baseline="0" noProof="0" smtClean="0">
                                  <a:ln>
                                    <a:noFill/>
                                  </a:ln>
                                  <a:solidFill>
                                    <a:srgbClr val="C00000"/>
                                  </a:solidFill>
                                  <a:effectLst/>
                                  <a:uLnTx/>
                                  <a:uFillTx/>
                                  <a:latin typeface="Cambria Math" panose="02040503050406030204" pitchFamily="18" charset="0"/>
                                  <a:cs typeface="+mn-cs"/>
                                </a:rPr>
                              </m:ctrlPr>
                            </m:accPr>
                            <m:e>
                              <m:r>
                                <a:rPr kumimoji="1" lang="en-NZ" altLang="ja-JP" sz="22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𝒀</m:t>
                              </m:r>
                            </m:e>
                          </m:acc>
                        </m:e>
                        <m:sub>
                          <m:r>
                            <a:rPr kumimoji="1" lang="en-NZ" altLang="ja-JP" sz="2200" b="1" i="1" u="none" strike="noStrike" kern="1200" cap="none" spc="0" normalizeH="0" baseline="0" noProof="0" smtClean="0">
                              <a:ln>
                                <a:noFill/>
                              </a:ln>
                              <a:solidFill>
                                <a:srgbClr val="C00000"/>
                              </a:solidFill>
                              <a:effectLst/>
                              <a:uLnTx/>
                              <a:uFillTx/>
                              <a:latin typeface="Cambria Math" panose="02040503050406030204" pitchFamily="18" charset="0"/>
                              <a:ea typeface="Cambria Math" panose="02040503050406030204" pitchFamily="18" charset="0"/>
                              <a:cs typeface="+mn-cs"/>
                            </a:rPr>
                            <m:t>∙∙∙</m:t>
                          </m:r>
                        </m:sub>
                      </m:sSub>
                      <m:r>
                        <a:rPr kumimoji="1" lang="en-NZ" altLang="ja-JP" sz="2200" b="1" i="1" u="none" strike="noStrike" kern="1200" cap="none" spc="0" normalizeH="0" baseline="0" noProof="0" smtClean="0">
                          <a:ln>
                            <a:noFill/>
                          </a:ln>
                          <a:solidFill>
                            <a:srgbClr val="C00000"/>
                          </a:solidFill>
                          <a:effectLst/>
                          <a:uLnTx/>
                          <a:uFillTx/>
                          <a:latin typeface="Cambria Math" panose="02040503050406030204" pitchFamily="18" charset="0"/>
                          <a:cs typeface="+mn-cs"/>
                        </a:rPr>
                        <m:t>  =   </m:t>
                      </m:r>
                      <m:d>
                        <m:dPr>
                          <m:ctrlPr>
                            <a:rPr kumimoji="1" lang="en-NZ" altLang="ja-JP" sz="2200" b="1" i="1" u="none" strike="noStrike" kern="1200" cap="none" spc="0" normalizeH="0" baseline="0" noProof="0" smtClean="0">
                              <a:ln>
                                <a:noFill/>
                              </a:ln>
                              <a:solidFill>
                                <a:srgbClr val="C00000"/>
                              </a:solidFill>
                              <a:effectLst/>
                              <a:uLnTx/>
                              <a:uFillTx/>
                              <a:latin typeface="Cambria Math" panose="02040503050406030204" pitchFamily="18" charset="0"/>
                              <a:cs typeface="+mn-cs"/>
                            </a:rPr>
                          </m:ctrlPr>
                        </m:dPr>
                        <m:e>
                          <m:sSub>
                            <m:sSubPr>
                              <m:ctrlPr>
                                <a:rPr kumimoji="1" lang="en-NZ" altLang="ja-JP" sz="2200" b="1" i="1" u="none" strike="noStrike" kern="1200" cap="none" spc="0" normalizeH="0" baseline="0" noProof="0">
                                  <a:ln>
                                    <a:noFill/>
                                  </a:ln>
                                  <a:solidFill>
                                    <a:srgbClr val="C00000"/>
                                  </a:solidFill>
                                  <a:effectLst/>
                                  <a:uLnTx/>
                                  <a:uFillTx/>
                                  <a:latin typeface="Cambria Math" panose="02040503050406030204" pitchFamily="18" charset="0"/>
                                  <a:cs typeface="+mn-cs"/>
                                </a:rPr>
                              </m:ctrlPr>
                            </m:sSubPr>
                            <m:e>
                              <m:r>
                                <a:rPr kumimoji="1" lang="en-NZ" altLang="ja-JP" sz="2200" b="1" i="1" u="none" strike="noStrike" kern="1200" cap="none" spc="0" normalizeH="0" baseline="0" noProof="0" smtClean="0">
                                  <a:ln>
                                    <a:noFill/>
                                  </a:ln>
                                  <a:solidFill>
                                    <a:srgbClr val="C00000"/>
                                  </a:solidFill>
                                  <a:effectLst/>
                                  <a:uLnTx/>
                                  <a:uFillTx/>
                                  <a:latin typeface="Cambria Math" panose="02040503050406030204" pitchFamily="18" charset="0"/>
                                  <a:cs typeface="+mn-cs"/>
                                </a:rPr>
                                <m:t> </m:t>
                              </m:r>
                              <m:acc>
                                <m:accPr>
                                  <m:chr m:val="̅"/>
                                  <m:ctrlPr>
                                    <a:rPr kumimoji="1" lang="en-NZ" altLang="ja-JP" sz="2200" b="1" i="1" u="none" strike="noStrike" kern="1200" cap="none" spc="0" normalizeH="0" baseline="0" noProof="0" smtClean="0">
                                      <a:ln>
                                        <a:noFill/>
                                      </a:ln>
                                      <a:solidFill>
                                        <a:srgbClr val="C00000"/>
                                      </a:solidFill>
                                      <a:effectLst/>
                                      <a:uLnTx/>
                                      <a:uFillTx/>
                                      <a:latin typeface="Cambria Math" panose="02040503050406030204" pitchFamily="18" charset="0"/>
                                      <a:cs typeface="+mn-cs"/>
                                    </a:rPr>
                                  </m:ctrlPr>
                                </m:accPr>
                                <m:e>
                                  <m:r>
                                    <a:rPr kumimoji="1" lang="en-NZ" altLang="ja-JP" sz="2200" b="1" i="1" u="none" strike="noStrike" kern="1200" cap="none" spc="0" normalizeH="0" baseline="0" noProof="0">
                                      <a:ln>
                                        <a:noFill/>
                                      </a:ln>
                                      <a:solidFill>
                                        <a:srgbClr val="C00000"/>
                                      </a:solidFill>
                                      <a:effectLst/>
                                      <a:uLnTx/>
                                      <a:uFillTx/>
                                      <a:latin typeface="Cambria Math" panose="02040503050406030204" pitchFamily="18" charset="0"/>
                                      <a:cs typeface="+mn-cs"/>
                                    </a:rPr>
                                    <m:t>𝒀</m:t>
                                  </m:r>
                                </m:e>
                              </m:acc>
                            </m:e>
                            <m:sub>
                              <m:r>
                                <a:rPr kumimoji="1" lang="en-NZ" altLang="ja-JP" sz="22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𝒊</m:t>
                              </m:r>
                              <m:r>
                                <a:rPr kumimoji="1" lang="en-NZ" altLang="ja-JP" sz="2200" b="1" i="1" u="none" strike="noStrike" kern="1200" cap="none" spc="0" normalizeH="0" baseline="0" noProof="0">
                                  <a:ln>
                                    <a:noFill/>
                                  </a:ln>
                                  <a:solidFill>
                                    <a:srgbClr val="C00000"/>
                                  </a:solidFill>
                                  <a:effectLst/>
                                  <a:uLnTx/>
                                  <a:uFillTx/>
                                  <a:latin typeface="Cambria Math" panose="02040503050406030204" pitchFamily="18" charset="0"/>
                                  <a:ea typeface="Cambria Math" panose="02040503050406030204" pitchFamily="18" charset="0"/>
                                  <a:cs typeface="+mn-cs"/>
                                </a:rPr>
                                <m:t>∙∙</m:t>
                              </m:r>
                            </m:sub>
                          </m:sSub>
                          <m:r>
                            <a:rPr kumimoji="1" lang="en-NZ" altLang="ja-JP" sz="2200" b="1" i="1" u="none" strike="noStrike" kern="1200" cap="none" spc="0" normalizeH="0" baseline="0" noProof="0" smtClean="0">
                              <a:ln>
                                <a:noFill/>
                              </a:ln>
                              <a:solidFill>
                                <a:srgbClr val="C00000"/>
                              </a:solidFill>
                              <a:effectLst/>
                              <a:uLnTx/>
                              <a:uFillTx/>
                              <a:latin typeface="Cambria Math" panose="02040503050406030204" pitchFamily="18" charset="0"/>
                              <a:ea typeface="Cambria Math" panose="02040503050406030204" pitchFamily="18" charset="0"/>
                              <a:cs typeface="+mn-cs"/>
                            </a:rPr>
                            <m:t>  − </m:t>
                          </m:r>
                          <m:sSub>
                            <m:sSubPr>
                              <m:ctrlPr>
                                <a:rPr kumimoji="1" lang="en-NZ" altLang="ja-JP" sz="2200" b="1" i="1" u="none" strike="noStrike" kern="1200" cap="none" spc="0" normalizeH="0" baseline="0" noProof="0">
                                  <a:ln>
                                    <a:noFill/>
                                  </a:ln>
                                  <a:solidFill>
                                    <a:srgbClr val="C00000"/>
                                  </a:solidFill>
                                  <a:effectLst/>
                                  <a:uLnTx/>
                                  <a:uFillTx/>
                                  <a:latin typeface="Cambria Math" panose="02040503050406030204" pitchFamily="18" charset="0"/>
                                  <a:cs typeface="+mn-cs"/>
                                </a:rPr>
                              </m:ctrlPr>
                            </m:sSubPr>
                            <m:e>
                              <m:acc>
                                <m:accPr>
                                  <m:chr m:val="̅"/>
                                  <m:ctrlPr>
                                    <a:rPr kumimoji="1" lang="en-NZ" altLang="ja-JP" sz="2200" b="1" i="1" u="none" strike="noStrike" kern="1200" cap="none" spc="0" normalizeH="0" baseline="0" noProof="0">
                                      <a:ln>
                                        <a:noFill/>
                                      </a:ln>
                                      <a:solidFill>
                                        <a:srgbClr val="C00000"/>
                                      </a:solidFill>
                                      <a:effectLst/>
                                      <a:uLnTx/>
                                      <a:uFillTx/>
                                      <a:latin typeface="Cambria Math" panose="02040503050406030204" pitchFamily="18" charset="0"/>
                                      <a:cs typeface="+mn-cs"/>
                                    </a:rPr>
                                  </m:ctrlPr>
                                </m:accPr>
                                <m:e>
                                  <m:r>
                                    <a:rPr kumimoji="1" lang="en-NZ" altLang="ja-JP" sz="2200" b="1" i="1" u="none" strike="noStrike" kern="1200" cap="none" spc="0" normalizeH="0" baseline="0" noProof="0">
                                      <a:ln>
                                        <a:noFill/>
                                      </a:ln>
                                      <a:solidFill>
                                        <a:srgbClr val="C00000"/>
                                      </a:solidFill>
                                      <a:effectLst/>
                                      <a:uLnTx/>
                                      <a:uFillTx/>
                                      <a:latin typeface="Cambria Math" panose="02040503050406030204" pitchFamily="18" charset="0"/>
                                      <a:cs typeface="+mn-cs"/>
                                    </a:rPr>
                                    <m:t>𝒀</m:t>
                                  </m:r>
                                </m:e>
                              </m:acc>
                            </m:e>
                            <m:sub>
                              <m:r>
                                <a:rPr kumimoji="1" lang="en-NZ" altLang="ja-JP" sz="2200" b="1" i="1" u="none" strike="noStrike" kern="1200" cap="none" spc="0" normalizeH="0" baseline="0" noProof="0">
                                  <a:ln>
                                    <a:noFill/>
                                  </a:ln>
                                  <a:solidFill>
                                    <a:srgbClr val="C00000"/>
                                  </a:solidFill>
                                  <a:effectLst/>
                                  <a:uLnTx/>
                                  <a:uFillTx/>
                                  <a:latin typeface="Cambria Math" panose="02040503050406030204" pitchFamily="18" charset="0"/>
                                  <a:ea typeface="Cambria Math" panose="02040503050406030204" pitchFamily="18" charset="0"/>
                                  <a:cs typeface="+mn-cs"/>
                                </a:rPr>
                                <m:t>∙∙∙</m:t>
                              </m:r>
                            </m:sub>
                          </m:sSub>
                          <m:r>
                            <a:rPr kumimoji="1" lang="en-NZ" altLang="ja-JP" sz="2200" b="1" i="1" u="none" strike="noStrike" kern="1200" cap="none" spc="0" normalizeH="0" baseline="0" noProof="0" smtClean="0">
                              <a:ln>
                                <a:noFill/>
                              </a:ln>
                              <a:solidFill>
                                <a:srgbClr val="C00000"/>
                              </a:solidFill>
                              <a:effectLst/>
                              <a:uLnTx/>
                              <a:uFillTx/>
                              <a:latin typeface="Cambria Math" panose="02040503050406030204" pitchFamily="18" charset="0"/>
                              <a:ea typeface="Cambria Math" panose="02040503050406030204" pitchFamily="18" charset="0"/>
                              <a:cs typeface="+mn-cs"/>
                            </a:rPr>
                            <m:t> </m:t>
                          </m:r>
                        </m:e>
                      </m:d>
                      <m:r>
                        <a:rPr kumimoji="1" lang="en-NZ" altLang="ja-JP" sz="2200" b="1" i="1" u="none" strike="noStrike" kern="1200" cap="none" spc="0" normalizeH="0" baseline="0" noProof="0" smtClean="0">
                          <a:ln>
                            <a:noFill/>
                          </a:ln>
                          <a:solidFill>
                            <a:srgbClr val="C00000"/>
                          </a:solidFill>
                          <a:effectLst/>
                          <a:uLnTx/>
                          <a:uFillTx/>
                          <a:latin typeface="Cambria Math" panose="02040503050406030204" pitchFamily="18" charset="0"/>
                          <a:ea typeface="Cambria Math" panose="02040503050406030204" pitchFamily="18" charset="0"/>
                          <a:cs typeface="+mn-cs"/>
                        </a:rPr>
                        <m:t> + </m:t>
                      </m:r>
                      <m:d>
                        <m:dPr>
                          <m:ctrlPr>
                            <a:rPr kumimoji="1" lang="en-NZ" altLang="ja-JP" sz="2200" b="1" i="1" u="none" strike="noStrike" kern="1200" cap="none" spc="0" normalizeH="0" baseline="0" noProof="0">
                              <a:ln>
                                <a:noFill/>
                              </a:ln>
                              <a:solidFill>
                                <a:srgbClr val="C00000"/>
                              </a:solidFill>
                              <a:effectLst/>
                              <a:uLnTx/>
                              <a:uFillTx/>
                              <a:latin typeface="Cambria Math" panose="02040503050406030204" pitchFamily="18" charset="0"/>
                              <a:cs typeface="+mn-cs"/>
                            </a:rPr>
                          </m:ctrlPr>
                        </m:dPr>
                        <m:e>
                          <m:sSub>
                            <m:sSubPr>
                              <m:ctrlPr>
                                <a:rPr kumimoji="1" lang="en-NZ" altLang="ja-JP" sz="2200" b="1" i="1" u="none" strike="noStrike" kern="1200" cap="none" spc="0" normalizeH="0" baseline="0" noProof="0">
                                  <a:ln>
                                    <a:noFill/>
                                  </a:ln>
                                  <a:solidFill>
                                    <a:srgbClr val="C00000"/>
                                  </a:solidFill>
                                  <a:effectLst/>
                                  <a:uLnTx/>
                                  <a:uFillTx/>
                                  <a:latin typeface="Cambria Math" panose="02040503050406030204" pitchFamily="18" charset="0"/>
                                  <a:cs typeface="+mn-cs"/>
                                </a:rPr>
                              </m:ctrlPr>
                            </m:sSubPr>
                            <m:e>
                              <m:r>
                                <a:rPr kumimoji="1" lang="en-NZ" altLang="ja-JP" sz="2200" b="1" i="1" u="none" strike="noStrike" kern="1200" cap="none" spc="0" normalizeH="0" baseline="0" noProof="0">
                                  <a:ln>
                                    <a:noFill/>
                                  </a:ln>
                                  <a:solidFill>
                                    <a:srgbClr val="C00000"/>
                                  </a:solidFill>
                                  <a:effectLst/>
                                  <a:uLnTx/>
                                  <a:uFillTx/>
                                  <a:latin typeface="Cambria Math" panose="02040503050406030204" pitchFamily="18" charset="0"/>
                                  <a:cs typeface="+mn-cs"/>
                                </a:rPr>
                                <m:t> </m:t>
                              </m:r>
                              <m:acc>
                                <m:accPr>
                                  <m:chr m:val="̅"/>
                                  <m:ctrlPr>
                                    <a:rPr kumimoji="1" lang="en-NZ" altLang="ja-JP" sz="2200" b="1" i="1" u="none" strike="noStrike" kern="1200" cap="none" spc="0" normalizeH="0" baseline="0" noProof="0">
                                      <a:ln>
                                        <a:noFill/>
                                      </a:ln>
                                      <a:solidFill>
                                        <a:srgbClr val="C00000"/>
                                      </a:solidFill>
                                      <a:effectLst/>
                                      <a:uLnTx/>
                                      <a:uFillTx/>
                                      <a:latin typeface="Cambria Math" panose="02040503050406030204" pitchFamily="18" charset="0"/>
                                      <a:cs typeface="+mn-cs"/>
                                    </a:rPr>
                                  </m:ctrlPr>
                                </m:accPr>
                                <m:e>
                                  <m:r>
                                    <a:rPr kumimoji="1" lang="en-NZ" altLang="ja-JP" sz="2200" b="1" i="1" u="none" strike="noStrike" kern="1200" cap="none" spc="0" normalizeH="0" baseline="0" noProof="0">
                                      <a:ln>
                                        <a:noFill/>
                                      </a:ln>
                                      <a:solidFill>
                                        <a:srgbClr val="C00000"/>
                                      </a:solidFill>
                                      <a:effectLst/>
                                      <a:uLnTx/>
                                      <a:uFillTx/>
                                      <a:latin typeface="Cambria Math" panose="02040503050406030204" pitchFamily="18" charset="0"/>
                                      <a:cs typeface="+mn-cs"/>
                                    </a:rPr>
                                    <m:t>𝒀</m:t>
                                  </m:r>
                                </m:e>
                              </m:acc>
                            </m:e>
                            <m:sub>
                              <m:r>
                                <a:rPr kumimoji="1" lang="en-NZ" altLang="ja-JP" sz="22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𝒊</m:t>
                              </m:r>
                              <m:r>
                                <a:rPr kumimoji="1" lang="en-NZ" altLang="ja-JP" sz="2200" b="1" i="1" u="none" strike="noStrike" kern="1200" cap="none" spc="0" normalizeH="0" baseline="0" noProof="0" smtClean="0">
                                  <a:ln>
                                    <a:noFill/>
                                  </a:ln>
                                  <a:solidFill>
                                    <a:srgbClr val="C00000"/>
                                  </a:solidFill>
                                  <a:effectLst/>
                                  <a:uLnTx/>
                                  <a:uFillTx/>
                                  <a:latin typeface="Cambria Math" panose="02040503050406030204" pitchFamily="18" charset="0"/>
                                  <a:ea typeface="Cambria Math" panose="02040503050406030204" pitchFamily="18" charset="0"/>
                                  <a:cs typeface="+mn-cs"/>
                                </a:rPr>
                                <m:t>𝒋</m:t>
                              </m:r>
                              <m:r>
                                <a:rPr kumimoji="1" lang="en-NZ" altLang="ja-JP" sz="2200" b="1" i="1" u="none" strike="noStrike" kern="1200" cap="none" spc="0" normalizeH="0" baseline="0" noProof="0">
                                  <a:ln>
                                    <a:noFill/>
                                  </a:ln>
                                  <a:solidFill>
                                    <a:srgbClr val="C00000"/>
                                  </a:solidFill>
                                  <a:effectLst/>
                                  <a:uLnTx/>
                                  <a:uFillTx/>
                                  <a:latin typeface="Cambria Math" panose="02040503050406030204" pitchFamily="18" charset="0"/>
                                  <a:ea typeface="Cambria Math" panose="02040503050406030204" pitchFamily="18" charset="0"/>
                                  <a:cs typeface="+mn-cs"/>
                                </a:rPr>
                                <m:t>∙</m:t>
                              </m:r>
                            </m:sub>
                          </m:sSub>
                          <m:r>
                            <a:rPr kumimoji="1" lang="en-NZ" altLang="ja-JP" sz="2200" b="1" i="1" u="none" strike="noStrike" kern="1200" cap="none" spc="0" normalizeH="0" baseline="0" noProof="0">
                              <a:ln>
                                <a:noFill/>
                              </a:ln>
                              <a:solidFill>
                                <a:srgbClr val="C00000"/>
                              </a:solidFill>
                              <a:effectLst/>
                              <a:uLnTx/>
                              <a:uFillTx/>
                              <a:latin typeface="Cambria Math" panose="02040503050406030204" pitchFamily="18" charset="0"/>
                              <a:ea typeface="Cambria Math" panose="02040503050406030204" pitchFamily="18" charset="0"/>
                              <a:cs typeface="+mn-cs"/>
                            </a:rPr>
                            <m:t>  − </m:t>
                          </m:r>
                          <m:sSub>
                            <m:sSubPr>
                              <m:ctrlPr>
                                <a:rPr kumimoji="1" lang="en-NZ" altLang="ja-JP" sz="2200" b="1" i="1" u="none" strike="noStrike" kern="1200" cap="none" spc="0" normalizeH="0" baseline="0" noProof="0">
                                  <a:ln>
                                    <a:noFill/>
                                  </a:ln>
                                  <a:solidFill>
                                    <a:srgbClr val="C00000"/>
                                  </a:solidFill>
                                  <a:effectLst/>
                                  <a:uLnTx/>
                                  <a:uFillTx/>
                                  <a:latin typeface="Cambria Math" panose="02040503050406030204" pitchFamily="18" charset="0"/>
                                  <a:cs typeface="+mn-cs"/>
                                </a:rPr>
                              </m:ctrlPr>
                            </m:sSubPr>
                            <m:e>
                              <m:acc>
                                <m:accPr>
                                  <m:chr m:val="̅"/>
                                  <m:ctrlPr>
                                    <a:rPr kumimoji="1" lang="en-NZ" altLang="ja-JP" sz="2200" b="1" i="1" u="none" strike="noStrike" kern="1200" cap="none" spc="0" normalizeH="0" baseline="0" noProof="0">
                                      <a:ln>
                                        <a:noFill/>
                                      </a:ln>
                                      <a:solidFill>
                                        <a:srgbClr val="C00000"/>
                                      </a:solidFill>
                                      <a:effectLst/>
                                      <a:uLnTx/>
                                      <a:uFillTx/>
                                      <a:latin typeface="Cambria Math" panose="02040503050406030204" pitchFamily="18" charset="0"/>
                                      <a:cs typeface="+mn-cs"/>
                                    </a:rPr>
                                  </m:ctrlPr>
                                </m:accPr>
                                <m:e>
                                  <m:r>
                                    <a:rPr kumimoji="1" lang="en-NZ" altLang="ja-JP" sz="2200" b="1" i="1" u="none" strike="noStrike" kern="1200" cap="none" spc="0" normalizeH="0" baseline="0" noProof="0">
                                      <a:ln>
                                        <a:noFill/>
                                      </a:ln>
                                      <a:solidFill>
                                        <a:srgbClr val="C00000"/>
                                      </a:solidFill>
                                      <a:effectLst/>
                                      <a:uLnTx/>
                                      <a:uFillTx/>
                                      <a:latin typeface="Cambria Math" panose="02040503050406030204" pitchFamily="18" charset="0"/>
                                      <a:cs typeface="+mn-cs"/>
                                    </a:rPr>
                                    <m:t>𝒀</m:t>
                                  </m:r>
                                </m:e>
                              </m:acc>
                            </m:e>
                            <m:sub>
                              <m:r>
                                <a:rPr kumimoji="1" lang="en-NZ" altLang="ja-JP" sz="22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𝒊</m:t>
                              </m:r>
                              <m:r>
                                <a:rPr kumimoji="1" lang="en-NZ" altLang="ja-JP" sz="2200" b="1" i="1" u="none" strike="noStrike" kern="1200" cap="none" spc="0" normalizeH="0" baseline="0" noProof="0">
                                  <a:ln>
                                    <a:noFill/>
                                  </a:ln>
                                  <a:solidFill>
                                    <a:srgbClr val="C00000"/>
                                  </a:solidFill>
                                  <a:effectLst/>
                                  <a:uLnTx/>
                                  <a:uFillTx/>
                                  <a:latin typeface="Cambria Math" panose="02040503050406030204" pitchFamily="18" charset="0"/>
                                  <a:ea typeface="Cambria Math" panose="02040503050406030204" pitchFamily="18" charset="0"/>
                                  <a:cs typeface="+mn-cs"/>
                                </a:rPr>
                                <m:t>∙∙</m:t>
                              </m:r>
                            </m:sub>
                          </m:sSub>
                          <m:r>
                            <a:rPr kumimoji="1" lang="en-NZ" altLang="ja-JP" sz="2200" b="1" i="1" u="none" strike="noStrike" kern="1200" cap="none" spc="0" normalizeH="0" baseline="0" noProof="0">
                              <a:ln>
                                <a:noFill/>
                              </a:ln>
                              <a:solidFill>
                                <a:srgbClr val="C00000"/>
                              </a:solidFill>
                              <a:effectLst/>
                              <a:uLnTx/>
                              <a:uFillTx/>
                              <a:latin typeface="Cambria Math" panose="02040503050406030204" pitchFamily="18" charset="0"/>
                              <a:ea typeface="Cambria Math" panose="02040503050406030204" pitchFamily="18" charset="0"/>
                              <a:cs typeface="+mn-cs"/>
                            </a:rPr>
                            <m:t> </m:t>
                          </m:r>
                        </m:e>
                      </m:d>
                      <m:r>
                        <a:rPr kumimoji="1" lang="en-NZ" altLang="ja-JP" sz="2200" b="1" i="1" u="none" strike="noStrike" kern="1200" cap="none" spc="0" normalizeH="0" baseline="0" noProof="0" smtClean="0">
                          <a:ln>
                            <a:noFill/>
                          </a:ln>
                          <a:solidFill>
                            <a:srgbClr val="C00000"/>
                          </a:solidFill>
                          <a:effectLst/>
                          <a:uLnTx/>
                          <a:uFillTx/>
                          <a:latin typeface="Cambria Math" panose="02040503050406030204" pitchFamily="18" charset="0"/>
                          <a:ea typeface="Cambria Math" panose="02040503050406030204" pitchFamily="18" charset="0"/>
                          <a:cs typeface="+mn-cs"/>
                        </a:rPr>
                        <m:t>  +  </m:t>
                      </m:r>
                      <m:d>
                        <m:dPr>
                          <m:ctrlPr>
                            <a:rPr kumimoji="1" lang="en-NZ" altLang="ja-JP" sz="2200" b="1" i="1" u="none" strike="noStrike" kern="1200" cap="none" spc="0" normalizeH="0" baseline="0" noProof="0">
                              <a:ln>
                                <a:noFill/>
                              </a:ln>
                              <a:solidFill>
                                <a:srgbClr val="C00000"/>
                              </a:solidFill>
                              <a:effectLst/>
                              <a:uLnTx/>
                              <a:uFillTx/>
                              <a:latin typeface="Cambria Math" panose="02040503050406030204" pitchFamily="18" charset="0"/>
                              <a:cs typeface="+mn-cs"/>
                            </a:rPr>
                          </m:ctrlPr>
                        </m:dPr>
                        <m:e>
                          <m:sSub>
                            <m:sSubPr>
                              <m:ctrlPr>
                                <a:rPr kumimoji="1" lang="en-NZ" altLang="ja-JP" sz="2200" b="1" i="1" u="none" strike="noStrike" kern="1200" cap="none" spc="0" normalizeH="0" baseline="0" noProof="0">
                                  <a:ln>
                                    <a:noFill/>
                                  </a:ln>
                                  <a:solidFill>
                                    <a:srgbClr val="C00000"/>
                                  </a:solidFill>
                                  <a:effectLst/>
                                  <a:uLnTx/>
                                  <a:uFillTx/>
                                  <a:latin typeface="Cambria Math" panose="02040503050406030204" pitchFamily="18" charset="0"/>
                                  <a:cs typeface="+mn-cs"/>
                                </a:rPr>
                              </m:ctrlPr>
                            </m:sSubPr>
                            <m:e>
                              <m:r>
                                <a:rPr kumimoji="1" lang="en-NZ" altLang="ja-JP" sz="2200" b="1" i="1" u="none" strike="noStrike" kern="1200" cap="none" spc="0" normalizeH="0" baseline="0" noProof="0">
                                  <a:ln>
                                    <a:noFill/>
                                  </a:ln>
                                  <a:solidFill>
                                    <a:srgbClr val="C00000"/>
                                  </a:solidFill>
                                  <a:effectLst/>
                                  <a:uLnTx/>
                                  <a:uFillTx/>
                                  <a:latin typeface="Cambria Math" panose="02040503050406030204" pitchFamily="18" charset="0"/>
                                  <a:cs typeface="+mn-cs"/>
                                </a:rPr>
                                <m:t>𝒀</m:t>
                              </m:r>
                            </m:e>
                            <m:sub>
                              <m:r>
                                <a:rPr kumimoji="1" lang="en-NZ" altLang="ja-JP" sz="2200" b="1" i="1" u="none" strike="noStrike" kern="1200" cap="none" spc="0" normalizeH="0" baseline="0" noProof="0">
                                  <a:ln>
                                    <a:noFill/>
                                  </a:ln>
                                  <a:solidFill>
                                    <a:srgbClr val="C00000"/>
                                  </a:solidFill>
                                  <a:effectLst/>
                                  <a:uLnTx/>
                                  <a:uFillTx/>
                                  <a:latin typeface="Cambria Math" panose="02040503050406030204" pitchFamily="18" charset="0"/>
                                  <a:cs typeface="+mn-cs"/>
                                </a:rPr>
                                <m:t>𝒊𝒋𝒌</m:t>
                              </m:r>
                            </m:sub>
                          </m:sSub>
                          <m:r>
                            <a:rPr kumimoji="1" lang="en-NZ" altLang="ja-JP" sz="2200" b="1" i="1" u="none" strike="noStrike" kern="1200" cap="none" spc="0" normalizeH="0" baseline="0" noProof="0" smtClean="0">
                              <a:ln>
                                <a:noFill/>
                              </a:ln>
                              <a:solidFill>
                                <a:srgbClr val="C00000"/>
                              </a:solidFill>
                              <a:effectLst/>
                              <a:uLnTx/>
                              <a:uFillTx/>
                              <a:latin typeface="Cambria Math" panose="02040503050406030204" pitchFamily="18" charset="0"/>
                              <a:cs typeface="+mn-cs"/>
                            </a:rPr>
                            <m:t> −</m:t>
                          </m:r>
                          <m:sSub>
                            <m:sSubPr>
                              <m:ctrlPr>
                                <a:rPr kumimoji="1" lang="en-NZ" altLang="ja-JP" sz="2200" b="1" i="1" u="none" strike="noStrike" kern="1200" cap="none" spc="0" normalizeH="0" baseline="0" noProof="0">
                                  <a:ln>
                                    <a:noFill/>
                                  </a:ln>
                                  <a:solidFill>
                                    <a:srgbClr val="C00000"/>
                                  </a:solidFill>
                                  <a:effectLst/>
                                  <a:uLnTx/>
                                  <a:uFillTx/>
                                  <a:latin typeface="Cambria Math" panose="02040503050406030204" pitchFamily="18" charset="0"/>
                                  <a:cs typeface="+mn-cs"/>
                                </a:rPr>
                              </m:ctrlPr>
                            </m:sSubPr>
                            <m:e>
                              <m:r>
                                <a:rPr kumimoji="1" lang="en-NZ" altLang="ja-JP" sz="2200" b="1" i="1" u="none" strike="noStrike" kern="1200" cap="none" spc="0" normalizeH="0" baseline="0" noProof="0" smtClean="0">
                                  <a:ln>
                                    <a:noFill/>
                                  </a:ln>
                                  <a:solidFill>
                                    <a:srgbClr val="C00000"/>
                                  </a:solidFill>
                                  <a:effectLst/>
                                  <a:uLnTx/>
                                  <a:uFillTx/>
                                  <a:latin typeface="Cambria Math" panose="02040503050406030204" pitchFamily="18" charset="0"/>
                                  <a:cs typeface="+mn-cs"/>
                                </a:rPr>
                                <m:t> </m:t>
                              </m:r>
                              <m:acc>
                                <m:accPr>
                                  <m:chr m:val="̅"/>
                                  <m:ctrlPr>
                                    <a:rPr kumimoji="1" lang="en-NZ" altLang="ja-JP" sz="2200" b="1" i="1" u="none" strike="noStrike" kern="1200" cap="none" spc="0" normalizeH="0" baseline="0" noProof="0">
                                      <a:ln>
                                        <a:noFill/>
                                      </a:ln>
                                      <a:solidFill>
                                        <a:srgbClr val="C00000"/>
                                      </a:solidFill>
                                      <a:effectLst/>
                                      <a:uLnTx/>
                                      <a:uFillTx/>
                                      <a:latin typeface="Cambria Math" panose="02040503050406030204" pitchFamily="18" charset="0"/>
                                      <a:cs typeface="+mn-cs"/>
                                    </a:rPr>
                                  </m:ctrlPr>
                                </m:accPr>
                                <m:e>
                                  <m:r>
                                    <a:rPr kumimoji="1" lang="en-NZ" altLang="ja-JP" sz="2200" b="1" i="1" u="none" strike="noStrike" kern="1200" cap="none" spc="0" normalizeH="0" baseline="0" noProof="0">
                                      <a:ln>
                                        <a:noFill/>
                                      </a:ln>
                                      <a:solidFill>
                                        <a:srgbClr val="C00000"/>
                                      </a:solidFill>
                                      <a:effectLst/>
                                      <a:uLnTx/>
                                      <a:uFillTx/>
                                      <a:latin typeface="Cambria Math" panose="02040503050406030204" pitchFamily="18" charset="0"/>
                                      <a:cs typeface="+mn-cs"/>
                                    </a:rPr>
                                    <m:t>𝒀</m:t>
                                  </m:r>
                                </m:e>
                              </m:acc>
                            </m:e>
                            <m:sub>
                              <m:r>
                                <a:rPr kumimoji="1" lang="en-NZ" altLang="ja-JP" sz="22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𝒊𝒋</m:t>
                              </m:r>
                              <m:r>
                                <a:rPr kumimoji="1" lang="en-NZ" altLang="ja-JP" sz="2200" b="1" i="1" u="none" strike="noStrike" kern="1200" cap="none" spc="0" normalizeH="0" baseline="0" noProof="0">
                                  <a:ln>
                                    <a:noFill/>
                                  </a:ln>
                                  <a:solidFill>
                                    <a:srgbClr val="C00000"/>
                                  </a:solidFill>
                                  <a:effectLst/>
                                  <a:uLnTx/>
                                  <a:uFillTx/>
                                  <a:latin typeface="Cambria Math" panose="02040503050406030204" pitchFamily="18" charset="0"/>
                                  <a:ea typeface="Cambria Math" panose="02040503050406030204" pitchFamily="18" charset="0"/>
                                  <a:cs typeface="+mn-cs"/>
                                </a:rPr>
                                <m:t>∙</m:t>
                              </m:r>
                            </m:sub>
                          </m:sSub>
                          <m:r>
                            <a:rPr kumimoji="1" lang="en-NZ" altLang="ja-JP" sz="2200" b="1" i="1" u="none" strike="noStrike" kern="1200" cap="none" spc="0" normalizeH="0" baseline="0" noProof="0">
                              <a:ln>
                                <a:noFill/>
                              </a:ln>
                              <a:solidFill>
                                <a:srgbClr val="C00000"/>
                              </a:solidFill>
                              <a:effectLst/>
                              <a:uLnTx/>
                              <a:uFillTx/>
                              <a:latin typeface="Cambria Math" panose="02040503050406030204" pitchFamily="18" charset="0"/>
                              <a:ea typeface="Cambria Math" panose="02040503050406030204" pitchFamily="18" charset="0"/>
                              <a:cs typeface="+mn-cs"/>
                            </a:rPr>
                            <m:t> </m:t>
                          </m:r>
                        </m:e>
                      </m:d>
                    </m:oMath>
                  </m:oMathPara>
                </a14:m>
                <a:endParaRPr kumimoji="1" lang="en-NZ" altLang="ja-JP" sz="22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p:txBody>
          </p:sp>
        </mc:Choice>
        <mc:Fallback xmlns="">
          <p:sp>
            <p:nvSpPr>
              <p:cNvPr id="21" name="Text Placeholder 5">
                <a:extLst>
                  <a:ext uri="{FF2B5EF4-FFF2-40B4-BE49-F238E27FC236}">
                    <a16:creationId xmlns:a16="http://schemas.microsoft.com/office/drawing/2014/main" id="{DBA0427A-F068-434B-84BF-17437B3BF697}"/>
                  </a:ext>
                </a:extLst>
              </p:cNvPr>
              <p:cNvSpPr txBox="1">
                <a:spLocks noRot="1" noChangeAspect="1" noMove="1" noResize="1" noEditPoints="1" noAdjustHandles="1" noChangeArrowheads="1" noChangeShapeType="1" noTextEdit="1"/>
              </p:cNvSpPr>
              <p:nvPr/>
            </p:nvSpPr>
            <p:spPr>
              <a:xfrm>
                <a:off x="251223" y="1035263"/>
                <a:ext cx="11232109" cy="970968"/>
              </a:xfrm>
              <a:prstGeom prst="rect">
                <a:avLst/>
              </a:prstGeom>
              <a:blipFill>
                <a:blip r:embed="rId2"/>
                <a:stretch>
                  <a:fillRect l="-705" t="-4403"/>
                </a:stretch>
              </a:blipFill>
            </p:spPr>
            <p:txBody>
              <a:bodyPr/>
              <a:lstStyle/>
              <a:p>
                <a:r>
                  <a:rPr lang="en-NZ">
                    <a:noFill/>
                  </a:rPr>
                  <a:t> </a:t>
                </a:r>
              </a:p>
            </p:txBody>
          </p:sp>
        </mc:Fallback>
      </mc:AlternateContent>
      <p:sp>
        <p:nvSpPr>
          <p:cNvPr id="13" name="Title 6">
            <a:extLst>
              <a:ext uri="{FF2B5EF4-FFF2-40B4-BE49-F238E27FC236}">
                <a16:creationId xmlns:a16="http://schemas.microsoft.com/office/drawing/2014/main" id="{539E1FA8-24B4-FFD9-7C26-8B31D6C98125}"/>
              </a:ext>
            </a:extLst>
          </p:cNvPr>
          <p:cNvSpPr txBox="1">
            <a:spLocks/>
          </p:cNvSpPr>
          <p:nvPr/>
        </p:nvSpPr>
        <p:spPr>
          <a:xfrm>
            <a:off x="251224" y="237833"/>
            <a:ext cx="8660764" cy="607201"/>
          </a:xfrm>
          <a:prstGeom prst="rect">
            <a:avLst/>
          </a:prstGeom>
        </p:spPr>
        <p:txBody>
          <a:bodyPr anchor="t">
            <a:normAutofit/>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pPr marL="0" marR="0" lvl="0" indent="0" algn="l" defTabSz="914324" rtl="0" eaLnBrk="1" fontAlgn="auto" latinLnBrk="0" hangingPunct="1">
              <a:lnSpc>
                <a:spcPct val="90000"/>
              </a:lnSpc>
              <a:spcBef>
                <a:spcPct val="0"/>
              </a:spcBef>
              <a:spcAft>
                <a:spcPts val="0"/>
              </a:spcAft>
              <a:buClrTx/>
              <a:buSzTx/>
              <a:buFontTx/>
              <a:buNone/>
              <a:tabLst/>
              <a:defRPr/>
            </a:pPr>
            <a:r>
              <a:rPr lang="en-US" altLang="ja-JP" b="1" u="sng" dirty="0">
                <a:solidFill>
                  <a:prstClr val="black"/>
                </a:solidFill>
                <a:latin typeface="Calibri" panose="020F0502020204030204"/>
                <a:ea typeface="游ゴシック Light" panose="020B0300000000000000" pitchFamily="34" charset="-128"/>
              </a:rPr>
              <a:t>5.2</a:t>
            </a:r>
            <a:r>
              <a:rPr kumimoji="1" lang="en-US" altLang="ja-JP"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rPr>
              <a:t>b – Breakdown of Sums of Squares:</a:t>
            </a:r>
            <a:endParaRPr kumimoji="1" lang="ja-JP" altLang="en-US"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endParaRPr>
          </a:p>
        </p:txBody>
      </p:sp>
      <p:sp>
        <p:nvSpPr>
          <p:cNvPr id="7" name="Text Placeholder 5">
            <a:extLst>
              <a:ext uri="{FF2B5EF4-FFF2-40B4-BE49-F238E27FC236}">
                <a16:creationId xmlns:a16="http://schemas.microsoft.com/office/drawing/2014/main" id="{2ED68E23-FE65-5965-AA30-068C47E733C0}"/>
              </a:ext>
            </a:extLst>
          </p:cNvPr>
          <p:cNvSpPr txBox="1">
            <a:spLocks/>
          </p:cNvSpPr>
          <p:nvPr/>
        </p:nvSpPr>
        <p:spPr>
          <a:xfrm>
            <a:off x="251223" y="2006231"/>
            <a:ext cx="11232109" cy="504957"/>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2200" b="1" i="1" dirty="0">
                <a:solidFill>
                  <a:schemeClr val="tx1"/>
                </a:solidFill>
              </a:rPr>
              <a:t>Proof:</a:t>
            </a:r>
            <a:r>
              <a:rPr lang="en-NZ" altLang="ja-JP" sz="2200" i="1" dirty="0">
                <a:solidFill>
                  <a:schemeClr val="tx1"/>
                </a:solidFill>
              </a:rPr>
              <a:t>  </a:t>
            </a:r>
            <a:r>
              <a:rPr lang="en-NZ" altLang="ja-JP" sz="2200" dirty="0">
                <a:solidFill>
                  <a:schemeClr val="tx1"/>
                </a:solidFill>
              </a:rPr>
              <a:t>Simply write out the right hand side and collect like terms. </a:t>
            </a:r>
            <a:r>
              <a:rPr lang="en-NZ" altLang="ja-JP" sz="1200" dirty="0">
                <a:solidFill>
                  <a:schemeClr val="tx1"/>
                </a:solidFill>
              </a:rPr>
              <a:t>□</a:t>
            </a:r>
            <a:endParaRPr lang="en-NZ" altLang="ja-JP" sz="2200" dirty="0">
              <a:solidFill>
                <a:schemeClr val="tx1"/>
              </a:solidFill>
            </a:endParaRPr>
          </a:p>
        </p:txBody>
      </p:sp>
      <p:sp>
        <p:nvSpPr>
          <p:cNvPr id="9" name="Text Placeholder 5">
            <a:extLst>
              <a:ext uri="{FF2B5EF4-FFF2-40B4-BE49-F238E27FC236}">
                <a16:creationId xmlns:a16="http://schemas.microsoft.com/office/drawing/2014/main" id="{9FFBB42A-B093-F4DD-2250-7289674BBF32}"/>
              </a:ext>
            </a:extLst>
          </p:cNvPr>
          <p:cNvSpPr txBox="1">
            <a:spLocks/>
          </p:cNvSpPr>
          <p:nvPr/>
        </p:nvSpPr>
        <p:spPr>
          <a:xfrm>
            <a:off x="251223" y="2724720"/>
            <a:ext cx="11232109" cy="504957"/>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22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The model for a mixed</a:t>
            </a:r>
            <a:r>
              <a:rPr kumimoji="1" lang="en-NZ" altLang="ja-JP" sz="2200" b="0" i="0" u="none" strike="noStrike" kern="1200" cap="none" spc="0" normalizeH="0" noProof="0" dirty="0">
                <a:ln>
                  <a:noFill/>
                </a:ln>
                <a:solidFill>
                  <a:prstClr val="black"/>
                </a:solidFill>
                <a:effectLst/>
                <a:uLnTx/>
                <a:uFillTx/>
                <a:latin typeface="Calibri" panose="020F0502020204030204"/>
                <a:ea typeface="游ゴシック" panose="020B0400000000000000" pitchFamily="34" charset="-128"/>
                <a:cs typeface="+mn-cs"/>
              </a:rPr>
              <a:t> effects two stage nested design is given by:</a:t>
            </a:r>
            <a:endParaRPr kumimoji="1" lang="en-NZ" altLang="ja-JP" sz="22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p:txBody>
      </p:sp>
      <mc:AlternateContent xmlns:mc="http://schemas.openxmlformats.org/markup-compatibility/2006" xmlns:a14="http://schemas.microsoft.com/office/drawing/2010/main">
        <mc:Choice Requires="a14">
          <p:sp>
            <p:nvSpPr>
              <p:cNvPr id="12" name="Text Placeholder 5">
                <a:extLst>
                  <a:ext uri="{FF2B5EF4-FFF2-40B4-BE49-F238E27FC236}">
                    <a16:creationId xmlns:a16="http://schemas.microsoft.com/office/drawing/2014/main" id="{67B93BDF-08A7-0976-5D26-4BB5A23476EF}"/>
                  </a:ext>
                </a:extLst>
              </p:cNvPr>
              <p:cNvSpPr txBox="1">
                <a:spLocks/>
              </p:cNvSpPr>
              <p:nvPr/>
            </p:nvSpPr>
            <p:spPr>
              <a:xfrm>
                <a:off x="3135958" y="3191523"/>
                <a:ext cx="5462638" cy="47495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14:m>
                  <m:oMathPara xmlns:m="http://schemas.openxmlformats.org/officeDocument/2006/math">
                    <m:oMathParaPr>
                      <m:jc m:val="centerGroup"/>
                    </m:oMathParaPr>
                    <m:oMath xmlns:m="http://schemas.openxmlformats.org/officeDocument/2006/math">
                      <m:sSub>
                        <m:sSubPr>
                          <m:ctrlP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𝒀</m:t>
                          </m:r>
                        </m:e>
                        <m:sub>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𝒊𝒋𝒌</m:t>
                          </m:r>
                        </m:sub>
                      </m:sSub>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cs typeface="+mn-cs"/>
                        </a:rPr>
                        <m:t>   =     </m:t>
                      </m:r>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𝝁</m:t>
                      </m:r>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cs typeface="+mn-cs"/>
                        </a:rPr>
                        <m:t>  +   </m:t>
                      </m:r>
                      <m:sSub>
                        <m:sSubPr>
                          <m:ctrlP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𝜶</m:t>
                          </m:r>
                        </m:e>
                        <m:sub>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𝒊</m:t>
                          </m:r>
                        </m:sub>
                      </m:sSub>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cs typeface="+mn-cs"/>
                        </a:rPr>
                        <m:t>  +   </m:t>
                      </m:r>
                      <m:sSub>
                        <m:sSubPr>
                          <m:ctrlP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𝑩</m:t>
                          </m:r>
                        </m:e>
                        <m:sub>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𝒋</m:t>
                          </m:r>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𝒊</m:t>
                          </m:r>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sub>
                      </m:sSub>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cs typeface="+mn-cs"/>
                        </a:rPr>
                        <m:t>  +   </m:t>
                      </m:r>
                      <m:sSub>
                        <m:sSubPr>
                          <m:ctrlP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𝝐</m:t>
                          </m:r>
                        </m:e>
                        <m:sub>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𝒌</m:t>
                          </m:r>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𝒊𝒋</m:t>
                          </m:r>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sub>
                      </m:sSub>
                    </m:oMath>
                  </m:oMathPara>
                </a14:m>
                <a:endParaRPr kumimoji="1" lang="en-NZ" altLang="ja-JP" sz="18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8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p:txBody>
          </p:sp>
        </mc:Choice>
        <mc:Fallback xmlns="">
          <p:sp>
            <p:nvSpPr>
              <p:cNvPr id="12" name="Text Placeholder 5">
                <a:extLst>
                  <a:ext uri="{FF2B5EF4-FFF2-40B4-BE49-F238E27FC236}">
                    <a16:creationId xmlns:a16="http://schemas.microsoft.com/office/drawing/2014/main" id="{67B93BDF-08A7-0976-5D26-4BB5A23476EF}"/>
                  </a:ext>
                </a:extLst>
              </p:cNvPr>
              <p:cNvSpPr txBox="1">
                <a:spLocks noRot="1" noChangeAspect="1" noMove="1" noResize="1" noEditPoints="1" noAdjustHandles="1" noChangeArrowheads="1" noChangeShapeType="1" noTextEdit="1"/>
              </p:cNvSpPr>
              <p:nvPr/>
            </p:nvSpPr>
            <p:spPr>
              <a:xfrm>
                <a:off x="3135958" y="3191523"/>
                <a:ext cx="5462638" cy="474953"/>
              </a:xfrm>
              <a:prstGeom prst="rect">
                <a:avLst/>
              </a:prstGeom>
              <a:blipFill>
                <a:blip r:embed="rId3"/>
                <a:stretch>
                  <a:fillRect/>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14" name="Text Placeholder 5">
                <a:extLst>
                  <a:ext uri="{FF2B5EF4-FFF2-40B4-BE49-F238E27FC236}">
                    <a16:creationId xmlns:a16="http://schemas.microsoft.com/office/drawing/2014/main" id="{98BF5E7A-E8A8-F925-28C0-747D17137EAA}"/>
                  </a:ext>
                </a:extLst>
              </p:cNvPr>
              <p:cNvSpPr txBox="1">
                <a:spLocks/>
              </p:cNvSpPr>
              <p:nvPr/>
            </p:nvSpPr>
            <p:spPr>
              <a:xfrm>
                <a:off x="3026776" y="3750201"/>
                <a:ext cx="5462638" cy="47495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14:m>
                  <m:oMathPara xmlns:m="http://schemas.openxmlformats.org/officeDocument/2006/math">
                    <m:oMathParaPr>
                      <m:jc m:val="centerGroup"/>
                    </m:oMathParaPr>
                    <m:oMath xmlns:m="http://schemas.openxmlformats.org/officeDocument/2006/math">
                      <m:sSub>
                        <m:sSubPr>
                          <m:ctrlP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𝒀</m:t>
                          </m:r>
                        </m:e>
                        <m:sub>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𝒊𝒋𝒌</m:t>
                          </m:r>
                        </m:sub>
                      </m:sSub>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cs typeface="+mn-cs"/>
                        </a:rPr>
                        <m:t>  </m:t>
                      </m:r>
                      <m:r>
                        <a:rPr kumimoji="1" lang="en-NZ" altLang="ja-JP" sz="1800" b="1" i="1" u="none" strike="noStrike" kern="1200" cap="none" spc="0" normalizeH="0" baseline="0" noProof="0">
                          <a:ln>
                            <a:noFill/>
                          </a:ln>
                          <a:solidFill>
                            <a:prstClr val="black"/>
                          </a:solidFill>
                          <a:effectLst/>
                          <a:uLnTx/>
                          <a:uFillTx/>
                          <a:latin typeface="Cambria Math" panose="02040503050406030204" pitchFamily="18" charset="0"/>
                          <a:cs typeface="+mn-cs"/>
                        </a:rPr>
                        <m:t>−</m:t>
                      </m:r>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cs typeface="+mn-cs"/>
                        </a:rPr>
                        <m:t>  </m:t>
                      </m:r>
                      <m:r>
                        <a:rPr kumimoji="1" lang="en-NZ" altLang="ja-JP" sz="1800" b="1" i="1" u="none" strike="noStrike" kern="1200" cap="none" spc="0" normalizeH="0" baseline="0" noProof="0">
                          <a:ln>
                            <a:noFill/>
                          </a:ln>
                          <a:solidFill>
                            <a:prstClr val="black"/>
                          </a:solidFill>
                          <a:effectLst/>
                          <a:uLnTx/>
                          <a:uFillTx/>
                          <a:latin typeface="Cambria Math" panose="02040503050406030204" pitchFamily="18" charset="0"/>
                          <a:cs typeface="+mn-cs"/>
                        </a:rPr>
                        <m:t>𝝁</m:t>
                      </m:r>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cs typeface="+mn-cs"/>
                        </a:rPr>
                        <m:t>  =   </m:t>
                      </m:r>
                      <m:sSub>
                        <m:sSubPr>
                          <m:ctrlP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𝜶</m:t>
                          </m:r>
                        </m:e>
                        <m:sub>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𝒊</m:t>
                          </m:r>
                        </m:sub>
                      </m:sSub>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cs typeface="+mn-cs"/>
                        </a:rPr>
                        <m:t>  +   </m:t>
                      </m:r>
                      <m:sSub>
                        <m:sSubPr>
                          <m:ctrlP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𝑩</m:t>
                          </m:r>
                        </m:e>
                        <m:sub>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𝒋</m:t>
                          </m:r>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𝒊</m:t>
                          </m:r>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sub>
                      </m:sSub>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cs typeface="+mn-cs"/>
                        </a:rPr>
                        <m:t>  +   </m:t>
                      </m:r>
                      <m:sSub>
                        <m:sSubPr>
                          <m:ctrlP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𝝐</m:t>
                          </m:r>
                        </m:e>
                        <m:sub>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𝒌</m:t>
                          </m:r>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𝒊𝒋</m:t>
                          </m:r>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sub>
                      </m:sSub>
                    </m:oMath>
                  </m:oMathPara>
                </a14:m>
                <a:endParaRPr kumimoji="1" lang="en-NZ" altLang="ja-JP" sz="18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8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p:txBody>
          </p:sp>
        </mc:Choice>
        <mc:Fallback xmlns="">
          <p:sp>
            <p:nvSpPr>
              <p:cNvPr id="14" name="Text Placeholder 5">
                <a:extLst>
                  <a:ext uri="{FF2B5EF4-FFF2-40B4-BE49-F238E27FC236}">
                    <a16:creationId xmlns:a16="http://schemas.microsoft.com/office/drawing/2014/main" id="{98BF5E7A-E8A8-F925-28C0-747D17137EAA}"/>
                  </a:ext>
                </a:extLst>
              </p:cNvPr>
              <p:cNvSpPr txBox="1">
                <a:spLocks noRot="1" noChangeAspect="1" noMove="1" noResize="1" noEditPoints="1" noAdjustHandles="1" noChangeArrowheads="1" noChangeShapeType="1" noTextEdit="1"/>
              </p:cNvSpPr>
              <p:nvPr/>
            </p:nvSpPr>
            <p:spPr>
              <a:xfrm>
                <a:off x="3026776" y="3750201"/>
                <a:ext cx="5462638" cy="474953"/>
              </a:xfrm>
              <a:prstGeom prst="rect">
                <a:avLst/>
              </a:prstGeom>
              <a:blipFill>
                <a:blip r:embed="rId4"/>
                <a:stretch>
                  <a:fillRect/>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16" name="Text Placeholder 5">
                <a:extLst>
                  <a:ext uri="{FF2B5EF4-FFF2-40B4-BE49-F238E27FC236}">
                    <a16:creationId xmlns:a16="http://schemas.microsoft.com/office/drawing/2014/main" id="{7DA2C5CA-98B6-61FF-E94B-E94535C7379E}"/>
                  </a:ext>
                </a:extLst>
              </p:cNvPr>
              <p:cNvSpPr txBox="1">
                <a:spLocks/>
              </p:cNvSpPr>
              <p:nvPr/>
            </p:nvSpPr>
            <p:spPr>
              <a:xfrm>
                <a:off x="479945" y="5021460"/>
                <a:ext cx="11232109" cy="592925"/>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14:m>
                  <m:oMathPara xmlns:m="http://schemas.openxmlformats.org/officeDocument/2006/math">
                    <m:oMathParaPr>
                      <m:jc m:val="centerGroup"/>
                    </m:oMathParaPr>
                    <m:oMath xmlns:m="http://schemas.openxmlformats.org/officeDocument/2006/math">
                      <m:sSub>
                        <m:sSubPr>
                          <m:ctrlPr>
                            <a:rPr kumimoji="1" lang="en-NZ" altLang="ja-JP" sz="2200" b="1" i="1" u="none" strike="noStrike" kern="1200" cap="none" spc="0" normalizeH="0" baseline="0" noProof="0" smtClean="0">
                              <a:ln>
                                <a:noFill/>
                              </a:ln>
                              <a:solidFill>
                                <a:srgbClr val="C00000"/>
                              </a:solidFill>
                              <a:effectLst/>
                              <a:uLnTx/>
                              <a:uFillTx/>
                              <a:latin typeface="Cambria Math" panose="02040503050406030204" pitchFamily="18" charset="0"/>
                              <a:cs typeface="+mn-cs"/>
                            </a:rPr>
                          </m:ctrlPr>
                        </m:sSubPr>
                        <m:e>
                          <m:r>
                            <a:rPr kumimoji="1" lang="en-NZ" altLang="ja-JP" sz="22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𝒀</m:t>
                          </m:r>
                        </m:e>
                        <m:sub>
                          <m:r>
                            <a:rPr kumimoji="1" lang="en-NZ" altLang="ja-JP" sz="22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𝒊𝒋𝒌</m:t>
                          </m:r>
                        </m:sub>
                      </m:sSub>
                      <m:r>
                        <a:rPr kumimoji="1" lang="en-NZ" altLang="ja-JP" sz="2200" b="1" i="1" u="none" strike="noStrike" kern="1200" cap="none" spc="0" normalizeH="0" baseline="0" noProof="0" smtClean="0">
                          <a:ln>
                            <a:noFill/>
                          </a:ln>
                          <a:solidFill>
                            <a:srgbClr val="C00000"/>
                          </a:solidFill>
                          <a:effectLst/>
                          <a:uLnTx/>
                          <a:uFillTx/>
                          <a:latin typeface="Cambria Math" panose="02040503050406030204" pitchFamily="18" charset="0"/>
                          <a:cs typeface="+mn-cs"/>
                        </a:rPr>
                        <m:t>  −  </m:t>
                      </m:r>
                      <m:sSub>
                        <m:sSubPr>
                          <m:ctrlPr>
                            <a:rPr kumimoji="1" lang="en-NZ" altLang="ja-JP" sz="2200" b="1" i="1" u="none" strike="noStrike" kern="1200" cap="none" spc="0" normalizeH="0" baseline="0" noProof="0" smtClean="0">
                              <a:ln>
                                <a:noFill/>
                              </a:ln>
                              <a:solidFill>
                                <a:srgbClr val="C00000"/>
                              </a:solidFill>
                              <a:effectLst/>
                              <a:uLnTx/>
                              <a:uFillTx/>
                              <a:latin typeface="Cambria Math" panose="02040503050406030204" pitchFamily="18" charset="0"/>
                              <a:cs typeface="+mn-cs"/>
                            </a:rPr>
                          </m:ctrlPr>
                        </m:sSubPr>
                        <m:e>
                          <m:acc>
                            <m:accPr>
                              <m:chr m:val="̅"/>
                              <m:ctrlPr>
                                <a:rPr kumimoji="1" lang="en-NZ" altLang="ja-JP" sz="2200" b="1" i="1" u="none" strike="noStrike" kern="1200" cap="none" spc="0" normalizeH="0" baseline="0" noProof="0" smtClean="0">
                                  <a:ln>
                                    <a:noFill/>
                                  </a:ln>
                                  <a:solidFill>
                                    <a:srgbClr val="C00000"/>
                                  </a:solidFill>
                                  <a:effectLst/>
                                  <a:uLnTx/>
                                  <a:uFillTx/>
                                  <a:latin typeface="Cambria Math" panose="02040503050406030204" pitchFamily="18" charset="0"/>
                                  <a:cs typeface="+mn-cs"/>
                                </a:rPr>
                              </m:ctrlPr>
                            </m:accPr>
                            <m:e>
                              <m:r>
                                <a:rPr kumimoji="1" lang="en-NZ" altLang="ja-JP" sz="22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𝒀</m:t>
                              </m:r>
                            </m:e>
                          </m:acc>
                        </m:e>
                        <m:sub>
                          <m:r>
                            <a:rPr kumimoji="1" lang="en-NZ" altLang="ja-JP" sz="2200" b="1" i="1" u="none" strike="noStrike" kern="1200" cap="none" spc="0" normalizeH="0" baseline="0" noProof="0" smtClean="0">
                              <a:ln>
                                <a:noFill/>
                              </a:ln>
                              <a:solidFill>
                                <a:srgbClr val="C00000"/>
                              </a:solidFill>
                              <a:effectLst/>
                              <a:uLnTx/>
                              <a:uFillTx/>
                              <a:latin typeface="Cambria Math" panose="02040503050406030204" pitchFamily="18" charset="0"/>
                              <a:ea typeface="Cambria Math" panose="02040503050406030204" pitchFamily="18" charset="0"/>
                              <a:cs typeface="+mn-cs"/>
                            </a:rPr>
                            <m:t>∙∙∙</m:t>
                          </m:r>
                        </m:sub>
                      </m:sSub>
                      <m:r>
                        <a:rPr kumimoji="1" lang="en-NZ" altLang="ja-JP" sz="2200" b="1" i="1" u="none" strike="noStrike" kern="1200" cap="none" spc="0" normalizeH="0" baseline="0" noProof="0" smtClean="0">
                          <a:ln>
                            <a:noFill/>
                          </a:ln>
                          <a:solidFill>
                            <a:srgbClr val="C00000"/>
                          </a:solidFill>
                          <a:effectLst/>
                          <a:uLnTx/>
                          <a:uFillTx/>
                          <a:latin typeface="Cambria Math" panose="02040503050406030204" pitchFamily="18" charset="0"/>
                          <a:cs typeface="+mn-cs"/>
                        </a:rPr>
                        <m:t>  =   </m:t>
                      </m:r>
                      <m:d>
                        <m:dPr>
                          <m:ctrlPr>
                            <a:rPr kumimoji="1" lang="en-NZ" altLang="ja-JP" sz="2200" b="1" i="1" u="none" strike="noStrike" kern="1200" cap="none" spc="0" normalizeH="0" baseline="0" noProof="0" smtClean="0">
                              <a:ln>
                                <a:noFill/>
                              </a:ln>
                              <a:solidFill>
                                <a:srgbClr val="C00000"/>
                              </a:solidFill>
                              <a:effectLst/>
                              <a:uLnTx/>
                              <a:uFillTx/>
                              <a:latin typeface="Cambria Math" panose="02040503050406030204" pitchFamily="18" charset="0"/>
                              <a:cs typeface="+mn-cs"/>
                            </a:rPr>
                          </m:ctrlPr>
                        </m:dPr>
                        <m:e>
                          <m:sSub>
                            <m:sSubPr>
                              <m:ctrlPr>
                                <a:rPr kumimoji="1" lang="en-NZ" altLang="ja-JP" sz="2200" b="1" i="1" u="none" strike="noStrike" kern="1200" cap="none" spc="0" normalizeH="0" baseline="0" noProof="0">
                                  <a:ln>
                                    <a:noFill/>
                                  </a:ln>
                                  <a:solidFill>
                                    <a:srgbClr val="C00000"/>
                                  </a:solidFill>
                                  <a:effectLst/>
                                  <a:uLnTx/>
                                  <a:uFillTx/>
                                  <a:latin typeface="Cambria Math" panose="02040503050406030204" pitchFamily="18" charset="0"/>
                                  <a:cs typeface="+mn-cs"/>
                                </a:rPr>
                              </m:ctrlPr>
                            </m:sSubPr>
                            <m:e>
                              <m:r>
                                <a:rPr kumimoji="1" lang="en-NZ" altLang="ja-JP" sz="2200" b="1" i="1" u="none" strike="noStrike" kern="1200" cap="none" spc="0" normalizeH="0" baseline="0" noProof="0" smtClean="0">
                                  <a:ln>
                                    <a:noFill/>
                                  </a:ln>
                                  <a:solidFill>
                                    <a:srgbClr val="C00000"/>
                                  </a:solidFill>
                                  <a:effectLst/>
                                  <a:uLnTx/>
                                  <a:uFillTx/>
                                  <a:latin typeface="Cambria Math" panose="02040503050406030204" pitchFamily="18" charset="0"/>
                                  <a:cs typeface="+mn-cs"/>
                                </a:rPr>
                                <m:t> </m:t>
                              </m:r>
                              <m:acc>
                                <m:accPr>
                                  <m:chr m:val="̅"/>
                                  <m:ctrlPr>
                                    <a:rPr kumimoji="1" lang="en-NZ" altLang="ja-JP" sz="2200" b="1" i="1" u="none" strike="noStrike" kern="1200" cap="none" spc="0" normalizeH="0" baseline="0" noProof="0" smtClean="0">
                                      <a:ln>
                                        <a:noFill/>
                                      </a:ln>
                                      <a:solidFill>
                                        <a:srgbClr val="C00000"/>
                                      </a:solidFill>
                                      <a:effectLst/>
                                      <a:uLnTx/>
                                      <a:uFillTx/>
                                      <a:latin typeface="Cambria Math" panose="02040503050406030204" pitchFamily="18" charset="0"/>
                                      <a:cs typeface="+mn-cs"/>
                                    </a:rPr>
                                  </m:ctrlPr>
                                </m:accPr>
                                <m:e>
                                  <m:r>
                                    <a:rPr kumimoji="1" lang="en-NZ" altLang="ja-JP" sz="2200" b="1" i="1" u="none" strike="noStrike" kern="1200" cap="none" spc="0" normalizeH="0" baseline="0" noProof="0">
                                      <a:ln>
                                        <a:noFill/>
                                      </a:ln>
                                      <a:solidFill>
                                        <a:srgbClr val="C00000"/>
                                      </a:solidFill>
                                      <a:effectLst/>
                                      <a:uLnTx/>
                                      <a:uFillTx/>
                                      <a:latin typeface="Cambria Math" panose="02040503050406030204" pitchFamily="18" charset="0"/>
                                      <a:cs typeface="+mn-cs"/>
                                    </a:rPr>
                                    <m:t>𝒀</m:t>
                                  </m:r>
                                </m:e>
                              </m:acc>
                            </m:e>
                            <m:sub>
                              <m:r>
                                <a:rPr kumimoji="1" lang="en-NZ" altLang="ja-JP" sz="22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𝒊</m:t>
                              </m:r>
                              <m:r>
                                <a:rPr kumimoji="1" lang="en-NZ" altLang="ja-JP" sz="2200" b="1" i="1" u="none" strike="noStrike" kern="1200" cap="none" spc="0" normalizeH="0" baseline="0" noProof="0">
                                  <a:ln>
                                    <a:noFill/>
                                  </a:ln>
                                  <a:solidFill>
                                    <a:srgbClr val="C00000"/>
                                  </a:solidFill>
                                  <a:effectLst/>
                                  <a:uLnTx/>
                                  <a:uFillTx/>
                                  <a:latin typeface="Cambria Math" panose="02040503050406030204" pitchFamily="18" charset="0"/>
                                  <a:ea typeface="Cambria Math" panose="02040503050406030204" pitchFamily="18" charset="0"/>
                                  <a:cs typeface="+mn-cs"/>
                                </a:rPr>
                                <m:t>∙∙</m:t>
                              </m:r>
                            </m:sub>
                          </m:sSub>
                          <m:r>
                            <a:rPr kumimoji="1" lang="en-NZ" altLang="ja-JP" sz="2200" b="1" i="1" u="none" strike="noStrike" kern="1200" cap="none" spc="0" normalizeH="0" baseline="0" noProof="0" smtClean="0">
                              <a:ln>
                                <a:noFill/>
                              </a:ln>
                              <a:solidFill>
                                <a:srgbClr val="C00000"/>
                              </a:solidFill>
                              <a:effectLst/>
                              <a:uLnTx/>
                              <a:uFillTx/>
                              <a:latin typeface="Cambria Math" panose="02040503050406030204" pitchFamily="18" charset="0"/>
                              <a:ea typeface="Cambria Math" panose="02040503050406030204" pitchFamily="18" charset="0"/>
                              <a:cs typeface="+mn-cs"/>
                            </a:rPr>
                            <m:t>  − </m:t>
                          </m:r>
                          <m:sSub>
                            <m:sSubPr>
                              <m:ctrlPr>
                                <a:rPr kumimoji="1" lang="en-NZ" altLang="ja-JP" sz="2200" b="1" i="1" u="none" strike="noStrike" kern="1200" cap="none" spc="0" normalizeH="0" baseline="0" noProof="0">
                                  <a:ln>
                                    <a:noFill/>
                                  </a:ln>
                                  <a:solidFill>
                                    <a:srgbClr val="C00000"/>
                                  </a:solidFill>
                                  <a:effectLst/>
                                  <a:uLnTx/>
                                  <a:uFillTx/>
                                  <a:latin typeface="Cambria Math" panose="02040503050406030204" pitchFamily="18" charset="0"/>
                                  <a:cs typeface="+mn-cs"/>
                                </a:rPr>
                              </m:ctrlPr>
                            </m:sSubPr>
                            <m:e>
                              <m:acc>
                                <m:accPr>
                                  <m:chr m:val="̅"/>
                                  <m:ctrlPr>
                                    <a:rPr kumimoji="1" lang="en-NZ" altLang="ja-JP" sz="2200" b="1" i="1" u="none" strike="noStrike" kern="1200" cap="none" spc="0" normalizeH="0" baseline="0" noProof="0">
                                      <a:ln>
                                        <a:noFill/>
                                      </a:ln>
                                      <a:solidFill>
                                        <a:srgbClr val="C00000"/>
                                      </a:solidFill>
                                      <a:effectLst/>
                                      <a:uLnTx/>
                                      <a:uFillTx/>
                                      <a:latin typeface="Cambria Math" panose="02040503050406030204" pitchFamily="18" charset="0"/>
                                      <a:cs typeface="+mn-cs"/>
                                    </a:rPr>
                                  </m:ctrlPr>
                                </m:accPr>
                                <m:e>
                                  <m:r>
                                    <a:rPr kumimoji="1" lang="en-NZ" altLang="ja-JP" sz="2200" b="1" i="1" u="none" strike="noStrike" kern="1200" cap="none" spc="0" normalizeH="0" baseline="0" noProof="0">
                                      <a:ln>
                                        <a:noFill/>
                                      </a:ln>
                                      <a:solidFill>
                                        <a:srgbClr val="C00000"/>
                                      </a:solidFill>
                                      <a:effectLst/>
                                      <a:uLnTx/>
                                      <a:uFillTx/>
                                      <a:latin typeface="Cambria Math" panose="02040503050406030204" pitchFamily="18" charset="0"/>
                                      <a:cs typeface="+mn-cs"/>
                                    </a:rPr>
                                    <m:t>𝒀</m:t>
                                  </m:r>
                                </m:e>
                              </m:acc>
                            </m:e>
                            <m:sub>
                              <m:r>
                                <a:rPr kumimoji="1" lang="en-NZ" altLang="ja-JP" sz="2200" b="1" i="1" u="none" strike="noStrike" kern="1200" cap="none" spc="0" normalizeH="0" baseline="0" noProof="0">
                                  <a:ln>
                                    <a:noFill/>
                                  </a:ln>
                                  <a:solidFill>
                                    <a:srgbClr val="C00000"/>
                                  </a:solidFill>
                                  <a:effectLst/>
                                  <a:uLnTx/>
                                  <a:uFillTx/>
                                  <a:latin typeface="Cambria Math" panose="02040503050406030204" pitchFamily="18" charset="0"/>
                                  <a:ea typeface="Cambria Math" panose="02040503050406030204" pitchFamily="18" charset="0"/>
                                  <a:cs typeface="+mn-cs"/>
                                </a:rPr>
                                <m:t>∙∙∙</m:t>
                              </m:r>
                            </m:sub>
                          </m:sSub>
                          <m:r>
                            <a:rPr kumimoji="1" lang="en-NZ" altLang="ja-JP" sz="2200" b="1" i="1" u="none" strike="noStrike" kern="1200" cap="none" spc="0" normalizeH="0" baseline="0" noProof="0" smtClean="0">
                              <a:ln>
                                <a:noFill/>
                              </a:ln>
                              <a:solidFill>
                                <a:srgbClr val="C00000"/>
                              </a:solidFill>
                              <a:effectLst/>
                              <a:uLnTx/>
                              <a:uFillTx/>
                              <a:latin typeface="Cambria Math" panose="02040503050406030204" pitchFamily="18" charset="0"/>
                              <a:ea typeface="Cambria Math" panose="02040503050406030204" pitchFamily="18" charset="0"/>
                              <a:cs typeface="+mn-cs"/>
                            </a:rPr>
                            <m:t> </m:t>
                          </m:r>
                        </m:e>
                      </m:d>
                      <m:r>
                        <a:rPr kumimoji="1" lang="en-NZ" altLang="ja-JP" sz="2200" b="1" i="1" u="none" strike="noStrike" kern="1200" cap="none" spc="0" normalizeH="0" baseline="0" noProof="0" smtClean="0">
                          <a:ln>
                            <a:noFill/>
                          </a:ln>
                          <a:solidFill>
                            <a:srgbClr val="C00000"/>
                          </a:solidFill>
                          <a:effectLst/>
                          <a:uLnTx/>
                          <a:uFillTx/>
                          <a:latin typeface="Cambria Math" panose="02040503050406030204" pitchFamily="18" charset="0"/>
                          <a:ea typeface="Cambria Math" panose="02040503050406030204" pitchFamily="18" charset="0"/>
                          <a:cs typeface="+mn-cs"/>
                        </a:rPr>
                        <m:t> + </m:t>
                      </m:r>
                      <m:d>
                        <m:dPr>
                          <m:ctrlPr>
                            <a:rPr kumimoji="1" lang="en-NZ" altLang="ja-JP" sz="2200" b="1" i="1" u="none" strike="noStrike" kern="1200" cap="none" spc="0" normalizeH="0" baseline="0" noProof="0">
                              <a:ln>
                                <a:noFill/>
                              </a:ln>
                              <a:solidFill>
                                <a:srgbClr val="C00000"/>
                              </a:solidFill>
                              <a:effectLst/>
                              <a:uLnTx/>
                              <a:uFillTx/>
                              <a:latin typeface="Cambria Math" panose="02040503050406030204" pitchFamily="18" charset="0"/>
                              <a:cs typeface="+mn-cs"/>
                            </a:rPr>
                          </m:ctrlPr>
                        </m:dPr>
                        <m:e>
                          <m:sSub>
                            <m:sSubPr>
                              <m:ctrlPr>
                                <a:rPr kumimoji="1" lang="en-NZ" altLang="ja-JP" sz="2200" b="1" i="1" u="none" strike="noStrike" kern="1200" cap="none" spc="0" normalizeH="0" baseline="0" noProof="0">
                                  <a:ln>
                                    <a:noFill/>
                                  </a:ln>
                                  <a:solidFill>
                                    <a:srgbClr val="C00000"/>
                                  </a:solidFill>
                                  <a:effectLst/>
                                  <a:uLnTx/>
                                  <a:uFillTx/>
                                  <a:latin typeface="Cambria Math" panose="02040503050406030204" pitchFamily="18" charset="0"/>
                                  <a:cs typeface="+mn-cs"/>
                                </a:rPr>
                              </m:ctrlPr>
                            </m:sSubPr>
                            <m:e>
                              <m:r>
                                <a:rPr kumimoji="1" lang="en-NZ" altLang="ja-JP" sz="2200" b="1" i="1" u="none" strike="noStrike" kern="1200" cap="none" spc="0" normalizeH="0" baseline="0" noProof="0">
                                  <a:ln>
                                    <a:noFill/>
                                  </a:ln>
                                  <a:solidFill>
                                    <a:srgbClr val="C00000"/>
                                  </a:solidFill>
                                  <a:effectLst/>
                                  <a:uLnTx/>
                                  <a:uFillTx/>
                                  <a:latin typeface="Cambria Math" panose="02040503050406030204" pitchFamily="18" charset="0"/>
                                  <a:cs typeface="+mn-cs"/>
                                </a:rPr>
                                <m:t> </m:t>
                              </m:r>
                              <m:acc>
                                <m:accPr>
                                  <m:chr m:val="̅"/>
                                  <m:ctrlPr>
                                    <a:rPr kumimoji="1" lang="en-NZ" altLang="ja-JP" sz="2200" b="1" i="1" u="none" strike="noStrike" kern="1200" cap="none" spc="0" normalizeH="0" baseline="0" noProof="0">
                                      <a:ln>
                                        <a:noFill/>
                                      </a:ln>
                                      <a:solidFill>
                                        <a:srgbClr val="C00000"/>
                                      </a:solidFill>
                                      <a:effectLst/>
                                      <a:uLnTx/>
                                      <a:uFillTx/>
                                      <a:latin typeface="Cambria Math" panose="02040503050406030204" pitchFamily="18" charset="0"/>
                                      <a:cs typeface="+mn-cs"/>
                                    </a:rPr>
                                  </m:ctrlPr>
                                </m:accPr>
                                <m:e>
                                  <m:r>
                                    <a:rPr kumimoji="1" lang="en-NZ" altLang="ja-JP" sz="2200" b="1" i="1" u="none" strike="noStrike" kern="1200" cap="none" spc="0" normalizeH="0" baseline="0" noProof="0">
                                      <a:ln>
                                        <a:noFill/>
                                      </a:ln>
                                      <a:solidFill>
                                        <a:srgbClr val="C00000"/>
                                      </a:solidFill>
                                      <a:effectLst/>
                                      <a:uLnTx/>
                                      <a:uFillTx/>
                                      <a:latin typeface="Cambria Math" panose="02040503050406030204" pitchFamily="18" charset="0"/>
                                      <a:cs typeface="+mn-cs"/>
                                    </a:rPr>
                                    <m:t>𝒀</m:t>
                                  </m:r>
                                </m:e>
                              </m:acc>
                            </m:e>
                            <m:sub>
                              <m:r>
                                <a:rPr kumimoji="1" lang="en-NZ" altLang="ja-JP" sz="22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𝒊</m:t>
                              </m:r>
                              <m:r>
                                <a:rPr kumimoji="1" lang="en-NZ" altLang="ja-JP" sz="2200" b="1" i="1" u="none" strike="noStrike" kern="1200" cap="none" spc="0" normalizeH="0" baseline="0" noProof="0" smtClean="0">
                                  <a:ln>
                                    <a:noFill/>
                                  </a:ln>
                                  <a:solidFill>
                                    <a:srgbClr val="C00000"/>
                                  </a:solidFill>
                                  <a:effectLst/>
                                  <a:uLnTx/>
                                  <a:uFillTx/>
                                  <a:latin typeface="Cambria Math" panose="02040503050406030204" pitchFamily="18" charset="0"/>
                                  <a:ea typeface="Cambria Math" panose="02040503050406030204" pitchFamily="18" charset="0"/>
                                  <a:cs typeface="+mn-cs"/>
                                </a:rPr>
                                <m:t>𝒋</m:t>
                              </m:r>
                              <m:r>
                                <a:rPr kumimoji="1" lang="en-NZ" altLang="ja-JP" sz="2200" b="1" i="1" u="none" strike="noStrike" kern="1200" cap="none" spc="0" normalizeH="0" baseline="0" noProof="0">
                                  <a:ln>
                                    <a:noFill/>
                                  </a:ln>
                                  <a:solidFill>
                                    <a:srgbClr val="C00000"/>
                                  </a:solidFill>
                                  <a:effectLst/>
                                  <a:uLnTx/>
                                  <a:uFillTx/>
                                  <a:latin typeface="Cambria Math" panose="02040503050406030204" pitchFamily="18" charset="0"/>
                                  <a:ea typeface="Cambria Math" panose="02040503050406030204" pitchFamily="18" charset="0"/>
                                  <a:cs typeface="+mn-cs"/>
                                </a:rPr>
                                <m:t>∙</m:t>
                              </m:r>
                            </m:sub>
                          </m:sSub>
                          <m:r>
                            <a:rPr kumimoji="1" lang="en-NZ" altLang="ja-JP" sz="2200" b="1" i="1" u="none" strike="noStrike" kern="1200" cap="none" spc="0" normalizeH="0" baseline="0" noProof="0">
                              <a:ln>
                                <a:noFill/>
                              </a:ln>
                              <a:solidFill>
                                <a:srgbClr val="C00000"/>
                              </a:solidFill>
                              <a:effectLst/>
                              <a:uLnTx/>
                              <a:uFillTx/>
                              <a:latin typeface="Cambria Math" panose="02040503050406030204" pitchFamily="18" charset="0"/>
                              <a:ea typeface="Cambria Math" panose="02040503050406030204" pitchFamily="18" charset="0"/>
                              <a:cs typeface="+mn-cs"/>
                            </a:rPr>
                            <m:t>  − </m:t>
                          </m:r>
                          <m:sSub>
                            <m:sSubPr>
                              <m:ctrlPr>
                                <a:rPr kumimoji="1" lang="en-NZ" altLang="ja-JP" sz="2200" b="1" i="1" u="none" strike="noStrike" kern="1200" cap="none" spc="0" normalizeH="0" baseline="0" noProof="0">
                                  <a:ln>
                                    <a:noFill/>
                                  </a:ln>
                                  <a:solidFill>
                                    <a:srgbClr val="C00000"/>
                                  </a:solidFill>
                                  <a:effectLst/>
                                  <a:uLnTx/>
                                  <a:uFillTx/>
                                  <a:latin typeface="Cambria Math" panose="02040503050406030204" pitchFamily="18" charset="0"/>
                                  <a:cs typeface="+mn-cs"/>
                                </a:rPr>
                              </m:ctrlPr>
                            </m:sSubPr>
                            <m:e>
                              <m:acc>
                                <m:accPr>
                                  <m:chr m:val="̅"/>
                                  <m:ctrlPr>
                                    <a:rPr kumimoji="1" lang="en-NZ" altLang="ja-JP" sz="2200" b="1" i="1" u="none" strike="noStrike" kern="1200" cap="none" spc="0" normalizeH="0" baseline="0" noProof="0">
                                      <a:ln>
                                        <a:noFill/>
                                      </a:ln>
                                      <a:solidFill>
                                        <a:srgbClr val="C00000"/>
                                      </a:solidFill>
                                      <a:effectLst/>
                                      <a:uLnTx/>
                                      <a:uFillTx/>
                                      <a:latin typeface="Cambria Math" panose="02040503050406030204" pitchFamily="18" charset="0"/>
                                      <a:cs typeface="+mn-cs"/>
                                    </a:rPr>
                                  </m:ctrlPr>
                                </m:accPr>
                                <m:e>
                                  <m:r>
                                    <a:rPr kumimoji="1" lang="en-NZ" altLang="ja-JP" sz="2200" b="1" i="1" u="none" strike="noStrike" kern="1200" cap="none" spc="0" normalizeH="0" baseline="0" noProof="0">
                                      <a:ln>
                                        <a:noFill/>
                                      </a:ln>
                                      <a:solidFill>
                                        <a:srgbClr val="C00000"/>
                                      </a:solidFill>
                                      <a:effectLst/>
                                      <a:uLnTx/>
                                      <a:uFillTx/>
                                      <a:latin typeface="Cambria Math" panose="02040503050406030204" pitchFamily="18" charset="0"/>
                                      <a:cs typeface="+mn-cs"/>
                                    </a:rPr>
                                    <m:t>𝒀</m:t>
                                  </m:r>
                                </m:e>
                              </m:acc>
                            </m:e>
                            <m:sub>
                              <m:r>
                                <a:rPr kumimoji="1" lang="en-NZ" altLang="ja-JP" sz="22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𝒊</m:t>
                              </m:r>
                              <m:r>
                                <a:rPr kumimoji="1" lang="en-NZ" altLang="ja-JP" sz="2200" b="1" i="1" u="none" strike="noStrike" kern="1200" cap="none" spc="0" normalizeH="0" baseline="0" noProof="0">
                                  <a:ln>
                                    <a:noFill/>
                                  </a:ln>
                                  <a:solidFill>
                                    <a:srgbClr val="C00000"/>
                                  </a:solidFill>
                                  <a:effectLst/>
                                  <a:uLnTx/>
                                  <a:uFillTx/>
                                  <a:latin typeface="Cambria Math" panose="02040503050406030204" pitchFamily="18" charset="0"/>
                                  <a:ea typeface="Cambria Math" panose="02040503050406030204" pitchFamily="18" charset="0"/>
                                  <a:cs typeface="+mn-cs"/>
                                </a:rPr>
                                <m:t>∙∙</m:t>
                              </m:r>
                            </m:sub>
                          </m:sSub>
                          <m:r>
                            <a:rPr kumimoji="1" lang="en-NZ" altLang="ja-JP" sz="2200" b="1" i="1" u="none" strike="noStrike" kern="1200" cap="none" spc="0" normalizeH="0" baseline="0" noProof="0">
                              <a:ln>
                                <a:noFill/>
                              </a:ln>
                              <a:solidFill>
                                <a:srgbClr val="C00000"/>
                              </a:solidFill>
                              <a:effectLst/>
                              <a:uLnTx/>
                              <a:uFillTx/>
                              <a:latin typeface="Cambria Math" panose="02040503050406030204" pitchFamily="18" charset="0"/>
                              <a:ea typeface="Cambria Math" panose="02040503050406030204" pitchFamily="18" charset="0"/>
                              <a:cs typeface="+mn-cs"/>
                            </a:rPr>
                            <m:t> </m:t>
                          </m:r>
                        </m:e>
                      </m:d>
                      <m:r>
                        <a:rPr kumimoji="1" lang="en-NZ" altLang="ja-JP" sz="2200" b="1" i="1" u="none" strike="noStrike" kern="1200" cap="none" spc="0" normalizeH="0" baseline="0" noProof="0" smtClean="0">
                          <a:ln>
                            <a:noFill/>
                          </a:ln>
                          <a:solidFill>
                            <a:srgbClr val="C00000"/>
                          </a:solidFill>
                          <a:effectLst/>
                          <a:uLnTx/>
                          <a:uFillTx/>
                          <a:latin typeface="Cambria Math" panose="02040503050406030204" pitchFamily="18" charset="0"/>
                          <a:ea typeface="Cambria Math" panose="02040503050406030204" pitchFamily="18" charset="0"/>
                          <a:cs typeface="+mn-cs"/>
                        </a:rPr>
                        <m:t>  +  </m:t>
                      </m:r>
                      <m:d>
                        <m:dPr>
                          <m:ctrlPr>
                            <a:rPr kumimoji="1" lang="en-NZ" altLang="ja-JP" sz="2200" b="1" i="1" u="none" strike="noStrike" kern="1200" cap="none" spc="0" normalizeH="0" baseline="0" noProof="0">
                              <a:ln>
                                <a:noFill/>
                              </a:ln>
                              <a:solidFill>
                                <a:srgbClr val="C00000"/>
                              </a:solidFill>
                              <a:effectLst/>
                              <a:uLnTx/>
                              <a:uFillTx/>
                              <a:latin typeface="Cambria Math" panose="02040503050406030204" pitchFamily="18" charset="0"/>
                              <a:cs typeface="+mn-cs"/>
                            </a:rPr>
                          </m:ctrlPr>
                        </m:dPr>
                        <m:e>
                          <m:sSub>
                            <m:sSubPr>
                              <m:ctrlPr>
                                <a:rPr kumimoji="1" lang="en-NZ" altLang="ja-JP" sz="2200" b="1" i="1" u="none" strike="noStrike" kern="1200" cap="none" spc="0" normalizeH="0" baseline="0" noProof="0">
                                  <a:ln>
                                    <a:noFill/>
                                  </a:ln>
                                  <a:solidFill>
                                    <a:srgbClr val="C00000"/>
                                  </a:solidFill>
                                  <a:effectLst/>
                                  <a:uLnTx/>
                                  <a:uFillTx/>
                                  <a:latin typeface="Cambria Math" panose="02040503050406030204" pitchFamily="18" charset="0"/>
                                  <a:cs typeface="+mn-cs"/>
                                </a:rPr>
                              </m:ctrlPr>
                            </m:sSubPr>
                            <m:e>
                              <m:r>
                                <a:rPr kumimoji="1" lang="en-NZ" altLang="ja-JP" sz="2200" b="1" i="1" u="none" strike="noStrike" kern="1200" cap="none" spc="0" normalizeH="0" baseline="0" noProof="0">
                                  <a:ln>
                                    <a:noFill/>
                                  </a:ln>
                                  <a:solidFill>
                                    <a:srgbClr val="C00000"/>
                                  </a:solidFill>
                                  <a:effectLst/>
                                  <a:uLnTx/>
                                  <a:uFillTx/>
                                  <a:latin typeface="Cambria Math" panose="02040503050406030204" pitchFamily="18" charset="0"/>
                                  <a:cs typeface="+mn-cs"/>
                                </a:rPr>
                                <m:t>𝒀</m:t>
                              </m:r>
                            </m:e>
                            <m:sub>
                              <m:r>
                                <a:rPr kumimoji="1" lang="en-NZ" altLang="ja-JP" sz="2200" b="1" i="1" u="none" strike="noStrike" kern="1200" cap="none" spc="0" normalizeH="0" baseline="0" noProof="0">
                                  <a:ln>
                                    <a:noFill/>
                                  </a:ln>
                                  <a:solidFill>
                                    <a:srgbClr val="C00000"/>
                                  </a:solidFill>
                                  <a:effectLst/>
                                  <a:uLnTx/>
                                  <a:uFillTx/>
                                  <a:latin typeface="Cambria Math" panose="02040503050406030204" pitchFamily="18" charset="0"/>
                                  <a:cs typeface="+mn-cs"/>
                                </a:rPr>
                                <m:t>𝒊𝒋𝒌</m:t>
                              </m:r>
                            </m:sub>
                          </m:sSub>
                          <m:r>
                            <a:rPr kumimoji="1" lang="en-NZ" altLang="ja-JP" sz="2200" b="1" i="1" u="none" strike="noStrike" kern="1200" cap="none" spc="0" normalizeH="0" baseline="0" noProof="0" smtClean="0">
                              <a:ln>
                                <a:noFill/>
                              </a:ln>
                              <a:solidFill>
                                <a:srgbClr val="C00000"/>
                              </a:solidFill>
                              <a:effectLst/>
                              <a:uLnTx/>
                              <a:uFillTx/>
                              <a:latin typeface="Cambria Math" panose="02040503050406030204" pitchFamily="18" charset="0"/>
                              <a:cs typeface="+mn-cs"/>
                            </a:rPr>
                            <m:t> −</m:t>
                          </m:r>
                          <m:sSub>
                            <m:sSubPr>
                              <m:ctrlPr>
                                <a:rPr kumimoji="1" lang="en-NZ" altLang="ja-JP" sz="2200" b="1" i="1" u="none" strike="noStrike" kern="1200" cap="none" spc="0" normalizeH="0" baseline="0" noProof="0">
                                  <a:ln>
                                    <a:noFill/>
                                  </a:ln>
                                  <a:solidFill>
                                    <a:srgbClr val="C00000"/>
                                  </a:solidFill>
                                  <a:effectLst/>
                                  <a:uLnTx/>
                                  <a:uFillTx/>
                                  <a:latin typeface="Cambria Math" panose="02040503050406030204" pitchFamily="18" charset="0"/>
                                  <a:cs typeface="+mn-cs"/>
                                </a:rPr>
                              </m:ctrlPr>
                            </m:sSubPr>
                            <m:e>
                              <m:r>
                                <a:rPr kumimoji="1" lang="en-NZ" altLang="ja-JP" sz="2200" b="1" i="1" u="none" strike="noStrike" kern="1200" cap="none" spc="0" normalizeH="0" baseline="0" noProof="0" smtClean="0">
                                  <a:ln>
                                    <a:noFill/>
                                  </a:ln>
                                  <a:solidFill>
                                    <a:srgbClr val="C00000"/>
                                  </a:solidFill>
                                  <a:effectLst/>
                                  <a:uLnTx/>
                                  <a:uFillTx/>
                                  <a:latin typeface="Cambria Math" panose="02040503050406030204" pitchFamily="18" charset="0"/>
                                  <a:cs typeface="+mn-cs"/>
                                </a:rPr>
                                <m:t> </m:t>
                              </m:r>
                              <m:acc>
                                <m:accPr>
                                  <m:chr m:val="̅"/>
                                  <m:ctrlPr>
                                    <a:rPr kumimoji="1" lang="en-NZ" altLang="ja-JP" sz="2200" b="1" i="1" u="none" strike="noStrike" kern="1200" cap="none" spc="0" normalizeH="0" baseline="0" noProof="0">
                                      <a:ln>
                                        <a:noFill/>
                                      </a:ln>
                                      <a:solidFill>
                                        <a:srgbClr val="C00000"/>
                                      </a:solidFill>
                                      <a:effectLst/>
                                      <a:uLnTx/>
                                      <a:uFillTx/>
                                      <a:latin typeface="Cambria Math" panose="02040503050406030204" pitchFamily="18" charset="0"/>
                                      <a:cs typeface="+mn-cs"/>
                                    </a:rPr>
                                  </m:ctrlPr>
                                </m:accPr>
                                <m:e>
                                  <m:r>
                                    <a:rPr kumimoji="1" lang="en-NZ" altLang="ja-JP" sz="2200" b="1" i="1" u="none" strike="noStrike" kern="1200" cap="none" spc="0" normalizeH="0" baseline="0" noProof="0">
                                      <a:ln>
                                        <a:noFill/>
                                      </a:ln>
                                      <a:solidFill>
                                        <a:srgbClr val="C00000"/>
                                      </a:solidFill>
                                      <a:effectLst/>
                                      <a:uLnTx/>
                                      <a:uFillTx/>
                                      <a:latin typeface="Cambria Math" panose="02040503050406030204" pitchFamily="18" charset="0"/>
                                      <a:cs typeface="+mn-cs"/>
                                    </a:rPr>
                                    <m:t>𝒀</m:t>
                                  </m:r>
                                </m:e>
                              </m:acc>
                            </m:e>
                            <m:sub>
                              <m:r>
                                <a:rPr kumimoji="1" lang="en-NZ" altLang="ja-JP" sz="22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𝒊𝒋</m:t>
                              </m:r>
                              <m:r>
                                <a:rPr kumimoji="1" lang="en-NZ" altLang="ja-JP" sz="2200" b="1" i="1" u="none" strike="noStrike" kern="1200" cap="none" spc="0" normalizeH="0" baseline="0" noProof="0">
                                  <a:ln>
                                    <a:noFill/>
                                  </a:ln>
                                  <a:solidFill>
                                    <a:srgbClr val="C00000"/>
                                  </a:solidFill>
                                  <a:effectLst/>
                                  <a:uLnTx/>
                                  <a:uFillTx/>
                                  <a:latin typeface="Cambria Math" panose="02040503050406030204" pitchFamily="18" charset="0"/>
                                  <a:ea typeface="Cambria Math" panose="02040503050406030204" pitchFamily="18" charset="0"/>
                                  <a:cs typeface="+mn-cs"/>
                                </a:rPr>
                                <m:t>∙</m:t>
                              </m:r>
                            </m:sub>
                          </m:sSub>
                          <m:r>
                            <a:rPr kumimoji="1" lang="en-NZ" altLang="ja-JP" sz="2200" b="1" i="1" u="none" strike="noStrike" kern="1200" cap="none" spc="0" normalizeH="0" baseline="0" noProof="0">
                              <a:ln>
                                <a:noFill/>
                              </a:ln>
                              <a:solidFill>
                                <a:srgbClr val="C00000"/>
                              </a:solidFill>
                              <a:effectLst/>
                              <a:uLnTx/>
                              <a:uFillTx/>
                              <a:latin typeface="Cambria Math" panose="02040503050406030204" pitchFamily="18" charset="0"/>
                              <a:ea typeface="Cambria Math" panose="02040503050406030204" pitchFamily="18" charset="0"/>
                              <a:cs typeface="+mn-cs"/>
                            </a:rPr>
                            <m:t> </m:t>
                          </m:r>
                        </m:e>
                      </m:d>
                    </m:oMath>
                  </m:oMathPara>
                </a14:m>
                <a:endParaRPr kumimoji="1" lang="en-NZ" altLang="ja-JP" sz="22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p:txBody>
          </p:sp>
        </mc:Choice>
        <mc:Fallback xmlns="">
          <p:sp>
            <p:nvSpPr>
              <p:cNvPr id="16" name="Text Placeholder 5">
                <a:extLst>
                  <a:ext uri="{FF2B5EF4-FFF2-40B4-BE49-F238E27FC236}">
                    <a16:creationId xmlns:a16="http://schemas.microsoft.com/office/drawing/2014/main" id="{7DA2C5CA-98B6-61FF-E94B-E94535C7379E}"/>
                  </a:ext>
                </a:extLst>
              </p:cNvPr>
              <p:cNvSpPr txBox="1">
                <a:spLocks noRot="1" noChangeAspect="1" noMove="1" noResize="1" noEditPoints="1" noAdjustHandles="1" noChangeArrowheads="1" noChangeShapeType="1" noTextEdit="1"/>
              </p:cNvSpPr>
              <p:nvPr/>
            </p:nvSpPr>
            <p:spPr>
              <a:xfrm>
                <a:off x="479945" y="5021460"/>
                <a:ext cx="11232109" cy="592925"/>
              </a:xfrm>
              <a:prstGeom prst="rect">
                <a:avLst/>
              </a:prstGeom>
              <a:blipFill>
                <a:blip r:embed="rId5"/>
                <a:stretch>
                  <a:fillRect/>
                </a:stretch>
              </a:blipFill>
            </p:spPr>
            <p:txBody>
              <a:bodyPr/>
              <a:lstStyle/>
              <a:p>
                <a:r>
                  <a:rPr lang="en-NZ">
                    <a:noFill/>
                  </a:rPr>
                  <a:t> </a:t>
                </a:r>
              </a:p>
            </p:txBody>
          </p:sp>
        </mc:Fallback>
      </mc:AlternateContent>
      <p:cxnSp>
        <p:nvCxnSpPr>
          <p:cNvPr id="3" name="Straight Arrow Connector 2">
            <a:extLst>
              <a:ext uri="{FF2B5EF4-FFF2-40B4-BE49-F238E27FC236}">
                <a16:creationId xmlns:a16="http://schemas.microsoft.com/office/drawing/2014/main" id="{42637178-D5FD-B482-3870-EE3CF79436CC}"/>
              </a:ext>
            </a:extLst>
          </p:cNvPr>
          <p:cNvCxnSpPr>
            <a:cxnSpLocks/>
            <a:stCxn id="17" idx="1"/>
          </p:cNvCxnSpPr>
          <p:nvPr/>
        </p:nvCxnSpPr>
        <p:spPr>
          <a:xfrm flipH="1">
            <a:off x="3026776" y="4472692"/>
            <a:ext cx="1298743" cy="57637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7" name="Left Brace 16">
            <a:extLst>
              <a:ext uri="{FF2B5EF4-FFF2-40B4-BE49-F238E27FC236}">
                <a16:creationId xmlns:a16="http://schemas.microsoft.com/office/drawing/2014/main" id="{049081EE-D310-4BE3-4893-88DAB593A94B}"/>
              </a:ext>
            </a:extLst>
          </p:cNvPr>
          <p:cNvSpPr/>
          <p:nvPr/>
        </p:nvSpPr>
        <p:spPr>
          <a:xfrm rot="16200000">
            <a:off x="4155798" y="3767836"/>
            <a:ext cx="339442" cy="1070270"/>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NZ"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Left Brace 17">
            <a:extLst>
              <a:ext uri="{FF2B5EF4-FFF2-40B4-BE49-F238E27FC236}">
                <a16:creationId xmlns:a16="http://schemas.microsoft.com/office/drawing/2014/main" id="{F24E640C-24D5-7BCB-4A1F-8954B2C998D7}"/>
              </a:ext>
            </a:extLst>
          </p:cNvPr>
          <p:cNvSpPr/>
          <p:nvPr/>
        </p:nvSpPr>
        <p:spPr>
          <a:xfrm rot="16200000">
            <a:off x="5361670" y="4193650"/>
            <a:ext cx="339442" cy="328237"/>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NZ"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Left Brace 18">
            <a:extLst>
              <a:ext uri="{FF2B5EF4-FFF2-40B4-BE49-F238E27FC236}">
                <a16:creationId xmlns:a16="http://schemas.microsoft.com/office/drawing/2014/main" id="{F9B0E2D0-496E-3594-573D-4653AB83BB31}"/>
              </a:ext>
            </a:extLst>
          </p:cNvPr>
          <p:cNvSpPr/>
          <p:nvPr/>
        </p:nvSpPr>
        <p:spPr>
          <a:xfrm rot="16200000">
            <a:off x="6208335" y="4152401"/>
            <a:ext cx="339442" cy="355532"/>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NZ"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Left Brace 19">
            <a:extLst>
              <a:ext uri="{FF2B5EF4-FFF2-40B4-BE49-F238E27FC236}">
                <a16:creationId xmlns:a16="http://schemas.microsoft.com/office/drawing/2014/main" id="{1CF3CDE1-6960-C2D9-D556-DB01B5F9F78B}"/>
              </a:ext>
            </a:extLst>
          </p:cNvPr>
          <p:cNvSpPr/>
          <p:nvPr/>
        </p:nvSpPr>
        <p:spPr>
          <a:xfrm rot="16200000">
            <a:off x="7122634" y="4148070"/>
            <a:ext cx="339442" cy="355532"/>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NZ"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cxnSp>
        <p:nvCxnSpPr>
          <p:cNvPr id="22" name="Straight Arrow Connector 21">
            <a:extLst>
              <a:ext uri="{FF2B5EF4-FFF2-40B4-BE49-F238E27FC236}">
                <a16:creationId xmlns:a16="http://schemas.microsoft.com/office/drawing/2014/main" id="{25B024D7-B326-7D1A-4E7B-C67FE1277E09}"/>
              </a:ext>
            </a:extLst>
          </p:cNvPr>
          <p:cNvCxnSpPr>
            <a:cxnSpLocks/>
            <a:stCxn id="18" idx="1"/>
          </p:cNvCxnSpPr>
          <p:nvPr/>
        </p:nvCxnSpPr>
        <p:spPr>
          <a:xfrm flipH="1">
            <a:off x="4451136" y="4527490"/>
            <a:ext cx="1080256" cy="52157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0B033E45-969A-E91B-6213-611A96E6EE4B}"/>
              </a:ext>
            </a:extLst>
          </p:cNvPr>
          <p:cNvCxnSpPr>
            <a:cxnSpLocks/>
            <a:stCxn id="19" idx="1"/>
          </p:cNvCxnSpPr>
          <p:nvPr/>
        </p:nvCxnSpPr>
        <p:spPr>
          <a:xfrm>
            <a:off x="6378056" y="4499888"/>
            <a:ext cx="0" cy="52157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E3960FF7-4DEC-1B15-71F1-5D171ADECF57}"/>
              </a:ext>
            </a:extLst>
          </p:cNvPr>
          <p:cNvCxnSpPr>
            <a:cxnSpLocks/>
            <a:stCxn id="20" idx="1"/>
          </p:cNvCxnSpPr>
          <p:nvPr/>
        </p:nvCxnSpPr>
        <p:spPr>
          <a:xfrm>
            <a:off x="7292355" y="4495557"/>
            <a:ext cx="1619633" cy="50583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0" name="Text Placeholder 5">
            <a:extLst>
              <a:ext uri="{FF2B5EF4-FFF2-40B4-BE49-F238E27FC236}">
                <a16:creationId xmlns:a16="http://schemas.microsoft.com/office/drawing/2014/main" id="{7D1690FC-9985-C2F7-180C-036254ABC299}"/>
              </a:ext>
            </a:extLst>
          </p:cNvPr>
          <p:cNvSpPr txBox="1">
            <a:spLocks/>
          </p:cNvSpPr>
          <p:nvPr/>
        </p:nvSpPr>
        <p:spPr>
          <a:xfrm>
            <a:off x="2742045" y="4600307"/>
            <a:ext cx="717768" cy="293538"/>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600" b="0" i="0" u="none" strike="noStrike" kern="1200" cap="none" spc="0" normalizeH="0" baseline="0" noProof="0" dirty="0" err="1">
                <a:ln>
                  <a:noFill/>
                </a:ln>
                <a:solidFill>
                  <a:srgbClr val="002060"/>
                </a:solidFill>
                <a:effectLst/>
                <a:uLnTx/>
                <a:uFillTx/>
                <a:latin typeface="Calibri" panose="020F0502020204030204"/>
                <a:ea typeface="游ゴシック" panose="020B0400000000000000" pitchFamily="34" charset="-128"/>
                <a:cs typeface="+mn-cs"/>
              </a:rPr>
              <a:t>est</a:t>
            </a:r>
            <a:endParaRPr kumimoji="1" lang="en-NZ" altLang="ja-JP" sz="1600" b="0" i="0" u="none" strike="noStrike" kern="1200" cap="none" spc="0" normalizeH="0" baseline="0" noProof="0" dirty="0">
              <a:ln>
                <a:noFill/>
              </a:ln>
              <a:solidFill>
                <a:srgbClr val="002060"/>
              </a:solidFill>
              <a:effectLst/>
              <a:uLnTx/>
              <a:uFillTx/>
              <a:latin typeface="Calibri" panose="020F0502020204030204"/>
              <a:ea typeface="游ゴシック" panose="020B0400000000000000" pitchFamily="34" charset="-128"/>
              <a:cs typeface="+mn-cs"/>
            </a:endParaRPr>
          </a:p>
        </p:txBody>
      </p:sp>
      <p:sp>
        <p:nvSpPr>
          <p:cNvPr id="31" name="Text Placeholder 5">
            <a:extLst>
              <a:ext uri="{FF2B5EF4-FFF2-40B4-BE49-F238E27FC236}">
                <a16:creationId xmlns:a16="http://schemas.microsoft.com/office/drawing/2014/main" id="{CC87848C-007B-1D13-CD9F-2CAEE6A039A6}"/>
              </a:ext>
            </a:extLst>
          </p:cNvPr>
          <p:cNvSpPr txBox="1">
            <a:spLocks/>
          </p:cNvSpPr>
          <p:nvPr/>
        </p:nvSpPr>
        <p:spPr>
          <a:xfrm>
            <a:off x="4454415" y="4564867"/>
            <a:ext cx="717768" cy="293538"/>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600" b="0" i="0" u="none" strike="noStrike" kern="1200" cap="none" spc="0" normalizeH="0" baseline="0" noProof="0" dirty="0" err="1">
                <a:ln>
                  <a:noFill/>
                </a:ln>
                <a:solidFill>
                  <a:srgbClr val="002060"/>
                </a:solidFill>
                <a:effectLst/>
                <a:uLnTx/>
                <a:uFillTx/>
                <a:latin typeface="Calibri" panose="020F0502020204030204"/>
                <a:ea typeface="游ゴシック" panose="020B0400000000000000" pitchFamily="34" charset="-128"/>
                <a:cs typeface="+mn-cs"/>
              </a:rPr>
              <a:t>est</a:t>
            </a:r>
            <a:endParaRPr kumimoji="1" lang="en-NZ" altLang="ja-JP" sz="1600" b="0" i="0" u="none" strike="noStrike" kern="1200" cap="none" spc="0" normalizeH="0" baseline="0" noProof="0" dirty="0">
              <a:ln>
                <a:noFill/>
              </a:ln>
              <a:solidFill>
                <a:srgbClr val="002060"/>
              </a:solidFill>
              <a:effectLst/>
              <a:uLnTx/>
              <a:uFillTx/>
              <a:latin typeface="Calibri" panose="020F0502020204030204"/>
              <a:ea typeface="游ゴシック" panose="020B0400000000000000" pitchFamily="34" charset="-128"/>
              <a:cs typeface="+mn-cs"/>
            </a:endParaRPr>
          </a:p>
        </p:txBody>
      </p:sp>
      <p:sp>
        <p:nvSpPr>
          <p:cNvPr id="32" name="Text Placeholder 5">
            <a:extLst>
              <a:ext uri="{FF2B5EF4-FFF2-40B4-BE49-F238E27FC236}">
                <a16:creationId xmlns:a16="http://schemas.microsoft.com/office/drawing/2014/main" id="{B46D1958-1844-AB9D-A1DA-3A0726ED67C7}"/>
              </a:ext>
            </a:extLst>
          </p:cNvPr>
          <p:cNvSpPr txBox="1">
            <a:spLocks/>
          </p:cNvSpPr>
          <p:nvPr/>
        </p:nvSpPr>
        <p:spPr>
          <a:xfrm>
            <a:off x="5744857" y="4553802"/>
            <a:ext cx="717768" cy="293538"/>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600" b="0" i="0" u="none" strike="noStrike" kern="1200" cap="none" spc="0" normalizeH="0" baseline="0" noProof="0" dirty="0" err="1">
                <a:ln>
                  <a:noFill/>
                </a:ln>
                <a:solidFill>
                  <a:srgbClr val="002060"/>
                </a:solidFill>
                <a:effectLst/>
                <a:uLnTx/>
                <a:uFillTx/>
                <a:latin typeface="Calibri" panose="020F0502020204030204"/>
                <a:ea typeface="游ゴシック" panose="020B0400000000000000" pitchFamily="34" charset="-128"/>
                <a:cs typeface="+mn-cs"/>
              </a:rPr>
              <a:t>est</a:t>
            </a:r>
            <a:endParaRPr kumimoji="1" lang="en-NZ" altLang="ja-JP" sz="1600" b="0" i="0" u="none" strike="noStrike" kern="1200" cap="none" spc="0" normalizeH="0" baseline="0" noProof="0" dirty="0">
              <a:ln>
                <a:noFill/>
              </a:ln>
              <a:solidFill>
                <a:srgbClr val="002060"/>
              </a:solidFill>
              <a:effectLst/>
              <a:uLnTx/>
              <a:uFillTx/>
              <a:latin typeface="Calibri" panose="020F0502020204030204"/>
              <a:ea typeface="游ゴシック" panose="020B0400000000000000" pitchFamily="34" charset="-128"/>
              <a:cs typeface="+mn-cs"/>
            </a:endParaRPr>
          </a:p>
        </p:txBody>
      </p:sp>
      <p:sp>
        <p:nvSpPr>
          <p:cNvPr id="33" name="Text Placeholder 5">
            <a:extLst>
              <a:ext uri="{FF2B5EF4-FFF2-40B4-BE49-F238E27FC236}">
                <a16:creationId xmlns:a16="http://schemas.microsoft.com/office/drawing/2014/main" id="{DC067C50-932E-B760-58EB-BD753CA5B978}"/>
              </a:ext>
            </a:extLst>
          </p:cNvPr>
          <p:cNvSpPr txBox="1">
            <a:spLocks/>
          </p:cNvSpPr>
          <p:nvPr/>
        </p:nvSpPr>
        <p:spPr>
          <a:xfrm>
            <a:off x="7292355" y="4553802"/>
            <a:ext cx="717768" cy="293538"/>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600" b="0" i="0" u="none" strike="noStrike" kern="1200" cap="none" spc="0" normalizeH="0" baseline="0" noProof="0" dirty="0" err="1">
                <a:ln>
                  <a:noFill/>
                </a:ln>
                <a:solidFill>
                  <a:srgbClr val="002060"/>
                </a:solidFill>
                <a:effectLst/>
                <a:uLnTx/>
                <a:uFillTx/>
                <a:latin typeface="Calibri" panose="020F0502020204030204"/>
                <a:ea typeface="游ゴシック" panose="020B0400000000000000" pitchFamily="34" charset="-128"/>
                <a:cs typeface="+mn-cs"/>
              </a:rPr>
              <a:t>est</a:t>
            </a:r>
            <a:endParaRPr kumimoji="1" lang="en-NZ" altLang="ja-JP" sz="1600" b="0" i="0" u="none" strike="noStrike" kern="1200" cap="none" spc="0" normalizeH="0" baseline="0" noProof="0" dirty="0">
              <a:ln>
                <a:noFill/>
              </a:ln>
              <a:solidFill>
                <a:srgbClr val="002060"/>
              </a:solidFill>
              <a:effectLst/>
              <a:uLnTx/>
              <a:uFillTx/>
              <a:latin typeface="Calibri" panose="020F0502020204030204"/>
              <a:ea typeface="游ゴシック" panose="020B0400000000000000" pitchFamily="34" charset="-128"/>
              <a:cs typeface="+mn-cs"/>
            </a:endParaRPr>
          </a:p>
        </p:txBody>
      </p:sp>
      <mc:AlternateContent xmlns:mc="http://schemas.openxmlformats.org/markup-compatibility/2006" xmlns:a14="http://schemas.microsoft.com/office/drawing/2010/main">
        <mc:Choice Requires="a14">
          <p:sp>
            <p:nvSpPr>
              <p:cNvPr id="34" name="Text Placeholder 5">
                <a:extLst>
                  <a:ext uri="{FF2B5EF4-FFF2-40B4-BE49-F238E27FC236}">
                    <a16:creationId xmlns:a16="http://schemas.microsoft.com/office/drawing/2014/main" id="{F5189795-CC45-52DD-AE78-524476C550DB}"/>
                  </a:ext>
                </a:extLst>
              </p:cNvPr>
              <p:cNvSpPr txBox="1">
                <a:spLocks/>
              </p:cNvSpPr>
              <p:nvPr/>
            </p:nvSpPr>
            <p:spPr>
              <a:xfrm>
                <a:off x="251224" y="5941330"/>
                <a:ext cx="6863366" cy="592925"/>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In particular, </a:t>
                </a:r>
                <a:r>
                  <a:rPr kumimoji="1" lang="en-NZ" altLang="ja-JP" sz="18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a:t>
                </a:r>
                <a14:m>
                  <m:oMath xmlns:m="http://schemas.openxmlformats.org/officeDocument/2006/math">
                    <m:d>
                      <m:dPr>
                        <m:ctrlP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dPr>
                      <m:e>
                        <m:sSub>
                          <m:sSubPr>
                            <m:ctrlPr>
                              <a:rPr kumimoji="1" lang="en-NZ" altLang="ja-JP" sz="1800" b="1"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1" lang="en-NZ" altLang="ja-JP" sz="1800" b="1" i="1" u="none" strike="noStrike" kern="1200" cap="none" spc="0" normalizeH="0" baseline="0" noProof="0">
                                <a:ln>
                                  <a:noFill/>
                                </a:ln>
                                <a:solidFill>
                                  <a:prstClr val="black"/>
                                </a:solidFill>
                                <a:effectLst/>
                                <a:uLnTx/>
                                <a:uFillTx/>
                                <a:latin typeface="Cambria Math" panose="02040503050406030204" pitchFamily="18" charset="0"/>
                                <a:cs typeface="+mn-cs"/>
                              </a:rPr>
                              <m:t>𝒀</m:t>
                            </m:r>
                          </m:e>
                          <m:sub>
                            <m:r>
                              <a:rPr kumimoji="1" lang="en-NZ" altLang="ja-JP" sz="1800" b="1" i="1" u="none" strike="noStrike" kern="1200" cap="none" spc="0" normalizeH="0" baseline="0" noProof="0">
                                <a:ln>
                                  <a:noFill/>
                                </a:ln>
                                <a:solidFill>
                                  <a:prstClr val="black"/>
                                </a:solidFill>
                                <a:effectLst/>
                                <a:uLnTx/>
                                <a:uFillTx/>
                                <a:latin typeface="Cambria Math" panose="02040503050406030204" pitchFamily="18" charset="0"/>
                                <a:cs typeface="+mn-cs"/>
                              </a:rPr>
                              <m:t>𝒊𝒋𝒌</m:t>
                            </m:r>
                          </m:sub>
                        </m:sSub>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cs typeface="+mn-cs"/>
                          </a:rPr>
                          <m:t> −</m:t>
                        </m:r>
                        <m:sSub>
                          <m:sSubPr>
                            <m:ctrlP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cs typeface="+mn-cs"/>
                              </a:rPr>
                              <m:t> </m:t>
                            </m:r>
                            <m:acc>
                              <m:accPr>
                                <m:chr m:val="̅"/>
                                <m:ctrlPr>
                                  <a:rPr kumimoji="1" lang="en-NZ" altLang="ja-JP" sz="1800" b="1" i="1" u="none" strike="noStrike" kern="1200" cap="none" spc="0" normalizeH="0" baseline="0" noProof="0">
                                    <a:ln>
                                      <a:noFill/>
                                    </a:ln>
                                    <a:solidFill>
                                      <a:prstClr val="black"/>
                                    </a:solidFill>
                                    <a:effectLst/>
                                    <a:uLnTx/>
                                    <a:uFillTx/>
                                    <a:latin typeface="Cambria Math" panose="02040503050406030204" pitchFamily="18" charset="0"/>
                                    <a:cs typeface="+mn-cs"/>
                                  </a:rPr>
                                </m:ctrlPr>
                              </m:accPr>
                              <m:e>
                                <m:r>
                                  <a:rPr kumimoji="1" lang="en-NZ" altLang="ja-JP" sz="1800" b="1" i="1" u="none" strike="noStrike" kern="1200" cap="none" spc="0" normalizeH="0" baseline="0" noProof="0">
                                    <a:ln>
                                      <a:noFill/>
                                    </a:ln>
                                    <a:solidFill>
                                      <a:prstClr val="black"/>
                                    </a:solidFill>
                                    <a:effectLst/>
                                    <a:uLnTx/>
                                    <a:uFillTx/>
                                    <a:latin typeface="Cambria Math" panose="02040503050406030204" pitchFamily="18" charset="0"/>
                                    <a:cs typeface="+mn-cs"/>
                                  </a:rPr>
                                  <m:t>𝒀</m:t>
                                </m:r>
                              </m:e>
                            </m:acc>
                          </m:e>
                          <m:sub>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𝒊𝒋</m:t>
                            </m:r>
                            <m:r>
                              <a:rPr kumimoji="1" lang="en-NZ" altLang="ja-JP" sz="1800" b="1"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m:t>
                            </m:r>
                          </m:sub>
                        </m:sSub>
                        <m:r>
                          <a:rPr kumimoji="1" lang="en-NZ" altLang="ja-JP" sz="1800" b="1"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 </m:t>
                        </m:r>
                      </m:e>
                    </m:d>
                  </m:oMath>
                </a14:m>
                <a:r>
                  <a:rPr kumimoji="1" lang="en-NZ"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is an estimate of </a:t>
                </a:r>
                <a14:m>
                  <m:oMath xmlns:m="http://schemas.openxmlformats.org/officeDocument/2006/math">
                    <m:sSub>
                      <m:sSubPr>
                        <m:ctrlPr>
                          <a:rPr kumimoji="1" lang="en-NZ" altLang="ja-JP" sz="1800" b="1"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1" lang="en-NZ" altLang="ja-JP" sz="1800" b="1" i="1" u="none" strike="noStrike" kern="1200" cap="none" spc="0" normalizeH="0" baseline="0" noProof="0">
                            <a:ln>
                              <a:noFill/>
                            </a:ln>
                            <a:solidFill>
                              <a:prstClr val="black"/>
                            </a:solidFill>
                            <a:effectLst/>
                            <a:uLnTx/>
                            <a:uFillTx/>
                            <a:latin typeface="Cambria Math" panose="02040503050406030204" pitchFamily="18" charset="0"/>
                            <a:cs typeface="+mn-cs"/>
                          </a:rPr>
                          <m:t>𝝐</m:t>
                        </m:r>
                      </m:e>
                      <m:sub>
                        <m:r>
                          <a:rPr kumimoji="1" lang="en-NZ" altLang="ja-JP" sz="1800" b="1" i="1" u="none" strike="noStrike" kern="1200" cap="none" spc="0" normalizeH="0" baseline="0" noProof="0">
                            <a:ln>
                              <a:noFill/>
                            </a:ln>
                            <a:solidFill>
                              <a:prstClr val="black"/>
                            </a:solidFill>
                            <a:effectLst/>
                            <a:uLnTx/>
                            <a:uFillTx/>
                            <a:latin typeface="Cambria Math" panose="02040503050406030204" pitchFamily="18" charset="0"/>
                            <a:cs typeface="+mn-cs"/>
                          </a:rPr>
                          <m:t>𝒌</m:t>
                        </m:r>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𝒊𝒋</m:t>
                        </m:r>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sub>
                    </m:sSub>
                  </m:oMath>
                </a14:m>
                <a:r>
                  <a:rPr kumimoji="1" lang="en-NZ"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a:t>
                </a:r>
              </a:p>
            </p:txBody>
          </p:sp>
        </mc:Choice>
        <mc:Fallback xmlns="">
          <p:sp>
            <p:nvSpPr>
              <p:cNvPr id="34" name="Text Placeholder 5">
                <a:extLst>
                  <a:ext uri="{FF2B5EF4-FFF2-40B4-BE49-F238E27FC236}">
                    <a16:creationId xmlns:a16="http://schemas.microsoft.com/office/drawing/2014/main" id="{F5189795-CC45-52DD-AE78-524476C550DB}"/>
                  </a:ext>
                </a:extLst>
              </p:cNvPr>
              <p:cNvSpPr txBox="1">
                <a:spLocks noRot="1" noChangeAspect="1" noMove="1" noResize="1" noEditPoints="1" noAdjustHandles="1" noChangeArrowheads="1" noChangeShapeType="1" noTextEdit="1"/>
              </p:cNvSpPr>
              <p:nvPr/>
            </p:nvSpPr>
            <p:spPr>
              <a:xfrm>
                <a:off x="251224" y="5941330"/>
                <a:ext cx="6863366" cy="592925"/>
              </a:xfrm>
              <a:prstGeom prst="rect">
                <a:avLst/>
              </a:prstGeom>
              <a:blipFill>
                <a:blip r:embed="rId6"/>
                <a:stretch>
                  <a:fillRect l="-710" t="-2062"/>
                </a:stretch>
              </a:blipFill>
            </p:spPr>
            <p:txBody>
              <a:bodyPr/>
              <a:lstStyle/>
              <a:p>
                <a:r>
                  <a:rPr lang="en-NZ">
                    <a:noFill/>
                  </a:rPr>
                  <a:t> </a:t>
                </a:r>
              </a:p>
            </p:txBody>
          </p:sp>
        </mc:Fallback>
      </mc:AlternateContent>
      <p:sp>
        <p:nvSpPr>
          <p:cNvPr id="26" name="Footer Placeholder 2">
            <a:extLst>
              <a:ext uri="{FF2B5EF4-FFF2-40B4-BE49-F238E27FC236}">
                <a16:creationId xmlns:a16="http://schemas.microsoft.com/office/drawing/2014/main" id="{B6630926-AC42-91FC-4E03-1DA967C4A5C9}"/>
              </a:ext>
            </a:extLst>
          </p:cNvPr>
          <p:cNvSpPr txBox="1">
            <a:spLocks/>
          </p:cNvSpPr>
          <p:nvPr/>
        </p:nvSpPr>
        <p:spPr>
          <a:xfrm>
            <a:off x="8775510" y="86139"/>
            <a:ext cx="3313855"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600" dirty="0">
                <a:solidFill>
                  <a:srgbClr val="DEDDDD"/>
                </a:solidFill>
                <a:latin typeface="Gidole"/>
                <a:ea typeface="游ゴシック" panose="020B0400000000000000" pitchFamily="34" charset="-128"/>
              </a:rPr>
              <a:t>5</a:t>
            </a:r>
            <a:r>
              <a:rPr kumimoji="1" lang="en-US" altLang="ja-JP"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rPr>
              <a:t>.2 – Two Stage Nested Design</a:t>
            </a:r>
            <a:endParaRPr kumimoji="1" lang="ja-JP" altLang="en-US"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endParaRPr>
          </a:p>
        </p:txBody>
      </p:sp>
    </p:spTree>
    <p:extLst>
      <p:ext uri="{BB962C8B-B14F-4D97-AF65-F5344CB8AC3E}">
        <p14:creationId xmlns:p14="http://schemas.microsoft.com/office/powerpoint/2010/main" val="21828149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7"/>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8"/>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2"/>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1"/>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9"/>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24"/>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32"/>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0"/>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3"/>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27"/>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2" grpId="0"/>
      <p:bldP spid="14" grpId="0"/>
      <p:bldP spid="16" grpId="0"/>
      <p:bldP spid="17" grpId="0" animBg="1"/>
      <p:bldP spid="18" grpId="0" animBg="1"/>
      <p:bldP spid="19" grpId="0" animBg="1"/>
      <p:bldP spid="20" grpId="0" animBg="1"/>
      <p:bldP spid="30" grpId="0"/>
      <p:bldP spid="31" grpId="0"/>
      <p:bldP spid="32" grpId="0"/>
      <p:bldP spid="33" grpId="0"/>
      <p:bldP spid="34"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Slide Number Placeholder 3">
            <a:extLst>
              <a:ext uri="{FF2B5EF4-FFF2-40B4-BE49-F238E27FC236}">
                <a16:creationId xmlns:a16="http://schemas.microsoft.com/office/drawing/2014/main" id="{B0C9041D-77F0-4656-90D4-0E84B7AC6B27}"/>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54AD89C-DF1E-4948-B597-5DD47B34A9CA}" type="slidenum">
              <a:rPr kumimoji="1" lang="ja-JP" altLang="en-US" sz="4000" b="0" i="0" u="none" strike="noStrike" kern="1200" cap="none" spc="0" normalizeH="0" baseline="0" noProof="0" smtClean="0">
                <a:ln>
                  <a:noFill/>
                </a:ln>
                <a:solidFill>
                  <a:srgbClr val="575454">
                    <a:lumMod val="20000"/>
                    <a:lumOff val="80000"/>
                  </a:srgbClr>
                </a:solidFill>
                <a:effectLst/>
                <a:uLnTx/>
                <a:uFillTx/>
                <a:latin typeface="Coo Hew"/>
                <a:ea typeface="游ゴシック" panose="020B0400000000000000"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1" lang="ja-JP" altLang="en-US" sz="4000" b="0" i="0" u="none" strike="noStrike" kern="1200" cap="none" spc="0" normalizeH="0" baseline="0" noProof="0" dirty="0">
              <a:ln>
                <a:noFill/>
              </a:ln>
              <a:solidFill>
                <a:srgbClr val="575454">
                  <a:lumMod val="20000"/>
                  <a:lumOff val="80000"/>
                </a:srgbClr>
              </a:solidFill>
              <a:effectLst/>
              <a:uLnTx/>
              <a:uFillTx/>
              <a:latin typeface="Coo Hew"/>
              <a:ea typeface="游ゴシック" panose="020B0400000000000000" pitchFamily="34" charset="-128"/>
              <a:cs typeface="+mn-cs"/>
            </a:endParaRPr>
          </a:p>
        </p:txBody>
      </p:sp>
      <p:sp>
        <p:nvSpPr>
          <p:cNvPr id="20" name="Text Placeholder 5">
            <a:extLst>
              <a:ext uri="{FF2B5EF4-FFF2-40B4-BE49-F238E27FC236}">
                <a16:creationId xmlns:a16="http://schemas.microsoft.com/office/drawing/2014/main" id="{645ADC35-9826-E030-B40E-92F636A9B524}"/>
              </a:ext>
            </a:extLst>
          </p:cNvPr>
          <p:cNvSpPr txBox="1">
            <a:spLocks/>
          </p:cNvSpPr>
          <p:nvPr/>
        </p:nvSpPr>
        <p:spPr>
          <a:xfrm>
            <a:off x="251223" y="1708857"/>
            <a:ext cx="11232109" cy="41823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If we square both sides of the above equation and sum over all observations we obtain*:</a:t>
            </a: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p:txBody>
      </p:sp>
      <mc:AlternateContent xmlns:mc="http://schemas.openxmlformats.org/markup-compatibility/2006" xmlns:a14="http://schemas.microsoft.com/office/drawing/2010/main">
        <mc:Choice Requires="a14">
          <p:sp>
            <p:nvSpPr>
              <p:cNvPr id="14" name="Text Placeholder 5">
                <a:extLst>
                  <a:ext uri="{FF2B5EF4-FFF2-40B4-BE49-F238E27FC236}">
                    <a16:creationId xmlns:a16="http://schemas.microsoft.com/office/drawing/2014/main" id="{385BFC57-A454-EE89-1FC6-139AB0F07351}"/>
                  </a:ext>
                </a:extLst>
              </p:cNvPr>
              <p:cNvSpPr txBox="1">
                <a:spLocks/>
              </p:cNvSpPr>
              <p:nvPr/>
            </p:nvSpPr>
            <p:spPr>
              <a:xfrm>
                <a:off x="600501" y="2226463"/>
                <a:ext cx="3493827" cy="1210498"/>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14:m>
                  <m:oMathPara xmlns:m="http://schemas.openxmlformats.org/officeDocument/2006/math">
                    <m:oMathParaPr>
                      <m:jc m:val="left"/>
                    </m:oMathParaPr>
                    <m:oMath xmlns:m="http://schemas.openxmlformats.org/officeDocument/2006/math">
                      <m:nary>
                        <m:naryPr>
                          <m:chr m:val="∑"/>
                          <m:ctrlPr>
                            <a:rPr kumimoji="1" lang="en-NZ" altLang="ja-JP" sz="2200" b="1"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naryPr>
                        <m:sub>
                          <m:r>
                            <m:rPr>
                              <m:brk m:alnAt="23"/>
                            </m:rPr>
                            <a:rPr kumimoji="1" lang="en-NZ" altLang="ja-JP" sz="22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𝒊</m:t>
                          </m:r>
                          <m:r>
                            <a:rPr kumimoji="1" lang="en-NZ" altLang="ja-JP" sz="2200" b="1"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r>
                            <a:rPr kumimoji="1" lang="en-NZ" altLang="ja-JP" sz="22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𝟏</m:t>
                          </m:r>
                        </m:sub>
                        <m:sup>
                          <m:r>
                            <a:rPr kumimoji="1" lang="en-NZ" altLang="ja-JP" sz="22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𝒂</m:t>
                          </m:r>
                        </m:sup>
                        <m:e>
                          <m:nary>
                            <m:naryPr>
                              <m:chr m:val="∑"/>
                              <m:ctrlPr>
                                <a:rPr kumimoji="1" lang="en-NZ" altLang="ja-JP" sz="2200" b="1"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naryPr>
                            <m:sub>
                              <m:r>
                                <m:rPr>
                                  <m:brk m:alnAt="23"/>
                                </m:rPr>
                                <a:rPr kumimoji="1" lang="en-NZ" altLang="ja-JP" sz="22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𝒋</m:t>
                              </m:r>
                              <m:r>
                                <a:rPr kumimoji="1" lang="en-NZ" altLang="ja-JP" sz="2200" b="1"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r>
                                <a:rPr kumimoji="1" lang="en-NZ" altLang="ja-JP" sz="22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𝟏</m:t>
                              </m:r>
                            </m:sub>
                            <m:sup>
                              <m:r>
                                <a:rPr kumimoji="1" lang="en-NZ" altLang="ja-JP" sz="22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𝒃</m:t>
                              </m:r>
                            </m:sup>
                            <m:e>
                              <m:nary>
                                <m:naryPr>
                                  <m:chr m:val="∑"/>
                                  <m:ctrlPr>
                                    <a:rPr kumimoji="1" lang="en-NZ" altLang="ja-JP" sz="2200" b="1"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naryPr>
                                <m:sub>
                                  <m:r>
                                    <m:rPr>
                                      <m:brk m:alnAt="23"/>
                                    </m:rPr>
                                    <a:rPr kumimoji="1" lang="en-NZ" altLang="ja-JP" sz="22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𝒌</m:t>
                                  </m:r>
                                  <m:r>
                                    <a:rPr kumimoji="1" lang="en-NZ" altLang="ja-JP" sz="2200" b="1"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r>
                                    <a:rPr kumimoji="1" lang="en-NZ" altLang="ja-JP" sz="22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𝟏</m:t>
                                  </m:r>
                                </m:sub>
                                <m:sup>
                                  <m:r>
                                    <a:rPr kumimoji="1" lang="en-NZ" altLang="ja-JP" sz="22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𝒏</m:t>
                                  </m:r>
                                </m:sup>
                                <m:e>
                                  <m:sSup>
                                    <m:sSupPr>
                                      <m:ctrlPr>
                                        <a:rPr kumimoji="1" lang="en-NZ" altLang="ja-JP" sz="2200" b="1"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pPr>
                                    <m:e>
                                      <m:d>
                                        <m:dPr>
                                          <m:ctrlPr>
                                            <a:rPr kumimoji="1" lang="en-NZ" altLang="ja-JP" sz="2200" b="1"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dPr>
                                        <m:e>
                                          <m:sSub>
                                            <m:sSubPr>
                                              <m:ctrlPr>
                                                <a:rPr kumimoji="1" lang="en-NZ" altLang="ja-JP" sz="2200" b="1"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1" lang="en-NZ" altLang="ja-JP" sz="2200" b="1" i="1" u="none" strike="noStrike" kern="1200" cap="none" spc="0" normalizeH="0" baseline="0" noProof="0">
                                                  <a:ln>
                                                    <a:noFill/>
                                                  </a:ln>
                                                  <a:solidFill>
                                                    <a:prstClr val="black"/>
                                                  </a:solidFill>
                                                  <a:effectLst/>
                                                  <a:uLnTx/>
                                                  <a:uFillTx/>
                                                  <a:latin typeface="Cambria Math" panose="02040503050406030204" pitchFamily="18" charset="0"/>
                                                  <a:cs typeface="+mn-cs"/>
                                                </a:rPr>
                                                <m:t>𝒀</m:t>
                                              </m:r>
                                            </m:e>
                                            <m:sub>
                                              <m:r>
                                                <a:rPr kumimoji="1" lang="en-NZ" altLang="ja-JP" sz="2200" b="1" i="1" u="none" strike="noStrike" kern="1200" cap="none" spc="0" normalizeH="0" baseline="0" noProof="0">
                                                  <a:ln>
                                                    <a:noFill/>
                                                  </a:ln>
                                                  <a:solidFill>
                                                    <a:prstClr val="black"/>
                                                  </a:solidFill>
                                                  <a:effectLst/>
                                                  <a:uLnTx/>
                                                  <a:uFillTx/>
                                                  <a:latin typeface="Cambria Math" panose="02040503050406030204" pitchFamily="18" charset="0"/>
                                                  <a:cs typeface="+mn-cs"/>
                                                </a:rPr>
                                                <m:t>𝒊𝒋𝒌</m:t>
                                              </m:r>
                                            </m:sub>
                                          </m:sSub>
                                          <m:r>
                                            <a:rPr kumimoji="1" lang="en-NZ" altLang="ja-JP" sz="2200" b="1" i="1" u="none" strike="noStrike" kern="1200" cap="none" spc="0" normalizeH="0" baseline="0" noProof="0">
                                              <a:ln>
                                                <a:noFill/>
                                              </a:ln>
                                              <a:solidFill>
                                                <a:prstClr val="black"/>
                                              </a:solidFill>
                                              <a:effectLst/>
                                              <a:uLnTx/>
                                              <a:uFillTx/>
                                              <a:latin typeface="Cambria Math" panose="02040503050406030204" pitchFamily="18" charset="0"/>
                                              <a:cs typeface="+mn-cs"/>
                                            </a:rPr>
                                            <m:t>  −  </m:t>
                                          </m:r>
                                          <m:sSub>
                                            <m:sSubPr>
                                              <m:ctrlPr>
                                                <a:rPr kumimoji="1" lang="en-NZ" altLang="ja-JP" sz="2200" b="1"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acc>
                                                <m:accPr>
                                                  <m:chr m:val="̅"/>
                                                  <m:ctrlPr>
                                                    <a:rPr kumimoji="1" lang="en-NZ" altLang="ja-JP" sz="2200" b="1" i="1" u="none" strike="noStrike" kern="1200" cap="none" spc="0" normalizeH="0" baseline="0" noProof="0">
                                                      <a:ln>
                                                        <a:noFill/>
                                                      </a:ln>
                                                      <a:solidFill>
                                                        <a:prstClr val="black"/>
                                                      </a:solidFill>
                                                      <a:effectLst/>
                                                      <a:uLnTx/>
                                                      <a:uFillTx/>
                                                      <a:latin typeface="Cambria Math" panose="02040503050406030204" pitchFamily="18" charset="0"/>
                                                      <a:cs typeface="+mn-cs"/>
                                                    </a:rPr>
                                                  </m:ctrlPr>
                                                </m:accPr>
                                                <m:e>
                                                  <m:r>
                                                    <a:rPr kumimoji="1" lang="en-NZ" altLang="ja-JP" sz="2200" b="1" i="1" u="none" strike="noStrike" kern="1200" cap="none" spc="0" normalizeH="0" baseline="0" noProof="0">
                                                      <a:ln>
                                                        <a:noFill/>
                                                      </a:ln>
                                                      <a:solidFill>
                                                        <a:prstClr val="black"/>
                                                      </a:solidFill>
                                                      <a:effectLst/>
                                                      <a:uLnTx/>
                                                      <a:uFillTx/>
                                                      <a:latin typeface="Cambria Math" panose="02040503050406030204" pitchFamily="18" charset="0"/>
                                                      <a:cs typeface="+mn-cs"/>
                                                    </a:rPr>
                                                    <m:t>𝒀</m:t>
                                                  </m:r>
                                                </m:e>
                                              </m:acc>
                                            </m:e>
                                            <m:sub>
                                              <m:r>
                                                <a:rPr kumimoji="1" lang="en-NZ" altLang="ja-JP" sz="2200" b="1"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m:t>
                                              </m:r>
                                            </m:sub>
                                          </m:sSub>
                                        </m:e>
                                      </m:d>
                                    </m:e>
                                    <m:sup>
                                      <m:r>
                                        <a:rPr kumimoji="1" lang="en-NZ" altLang="ja-JP" sz="22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𝟐</m:t>
                                      </m:r>
                                    </m:sup>
                                  </m:sSup>
                                </m:e>
                              </m:nary>
                            </m:e>
                          </m:nary>
                        </m:e>
                      </m:nary>
                    </m:oMath>
                  </m:oMathPara>
                </a14:m>
                <a:endParaRPr kumimoji="1" lang="en-NZ" altLang="ja-JP" sz="22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p:txBody>
          </p:sp>
        </mc:Choice>
        <mc:Fallback xmlns="">
          <p:sp>
            <p:nvSpPr>
              <p:cNvPr id="14" name="Text Placeholder 5">
                <a:extLst>
                  <a:ext uri="{FF2B5EF4-FFF2-40B4-BE49-F238E27FC236}">
                    <a16:creationId xmlns:a16="http://schemas.microsoft.com/office/drawing/2014/main" id="{385BFC57-A454-EE89-1FC6-139AB0F07351}"/>
                  </a:ext>
                </a:extLst>
              </p:cNvPr>
              <p:cNvSpPr txBox="1">
                <a:spLocks noRot="1" noChangeAspect="1" noMove="1" noResize="1" noEditPoints="1" noAdjustHandles="1" noChangeArrowheads="1" noChangeShapeType="1" noTextEdit="1"/>
              </p:cNvSpPr>
              <p:nvPr/>
            </p:nvSpPr>
            <p:spPr>
              <a:xfrm>
                <a:off x="600501" y="2226463"/>
                <a:ext cx="3493827" cy="1210498"/>
              </a:xfrm>
              <a:prstGeom prst="rect">
                <a:avLst/>
              </a:prstGeom>
              <a:blipFill>
                <a:blip r:embed="rId2"/>
                <a:stretch>
                  <a:fillRect/>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15" name="Text Placeholder 5">
                <a:extLst>
                  <a:ext uri="{FF2B5EF4-FFF2-40B4-BE49-F238E27FC236}">
                    <a16:creationId xmlns:a16="http://schemas.microsoft.com/office/drawing/2014/main" id="{7457E12E-1DDE-B35E-B071-A30E08325B10}"/>
                  </a:ext>
                </a:extLst>
              </p:cNvPr>
              <p:cNvSpPr txBox="1">
                <a:spLocks/>
              </p:cNvSpPr>
              <p:nvPr/>
            </p:nvSpPr>
            <p:spPr>
              <a:xfrm>
                <a:off x="2444432" y="3137264"/>
                <a:ext cx="3624272" cy="1090498"/>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14:m>
                  <m:oMathPara xmlns:m="http://schemas.openxmlformats.org/officeDocument/2006/math">
                    <m:oMathParaPr>
                      <m:jc m:val="left"/>
                    </m:oMathParaPr>
                    <m:oMath xmlns:m="http://schemas.openxmlformats.org/officeDocument/2006/math">
                      <m:r>
                        <a:rPr kumimoji="1" lang="en-NZ" altLang="ja-JP" sz="2200" b="1" i="1" u="none" strike="noStrike" kern="1200" cap="none" spc="0" normalizeH="0" baseline="0" noProof="0" smtClean="0">
                          <a:ln>
                            <a:noFill/>
                          </a:ln>
                          <a:solidFill>
                            <a:prstClr val="black"/>
                          </a:solidFill>
                          <a:effectLst/>
                          <a:uLnTx/>
                          <a:uFillTx/>
                          <a:latin typeface="Cambria Math" panose="02040503050406030204" pitchFamily="18" charset="0"/>
                          <a:cs typeface="+mn-cs"/>
                        </a:rPr>
                        <m:t>=   </m:t>
                      </m:r>
                      <m:r>
                        <a:rPr kumimoji="1" lang="en-NZ" altLang="ja-JP" sz="22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𝒃𝒏</m:t>
                      </m:r>
                      <m:r>
                        <a:rPr kumimoji="1" lang="en-NZ" altLang="ja-JP" sz="2200" b="1" i="1" u="none" strike="noStrike" kern="1200" cap="none" spc="0" normalizeH="0" baseline="0" noProof="0" smtClean="0">
                          <a:ln>
                            <a:noFill/>
                          </a:ln>
                          <a:solidFill>
                            <a:prstClr val="black"/>
                          </a:solidFill>
                          <a:effectLst/>
                          <a:uLnTx/>
                          <a:uFillTx/>
                          <a:latin typeface="Cambria Math" panose="02040503050406030204" pitchFamily="18" charset="0"/>
                          <a:cs typeface="+mn-cs"/>
                        </a:rPr>
                        <m:t> </m:t>
                      </m:r>
                      <m:nary>
                        <m:naryPr>
                          <m:chr m:val="∑"/>
                          <m:ctrlPr>
                            <a:rPr kumimoji="1" lang="en-NZ" altLang="ja-JP" sz="2200" b="1"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naryPr>
                        <m:sub>
                          <m:r>
                            <m:rPr>
                              <m:brk m:alnAt="23"/>
                            </m:rPr>
                            <a:rPr kumimoji="1" lang="en-NZ" altLang="ja-JP" sz="22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𝒊</m:t>
                          </m:r>
                          <m:r>
                            <a:rPr kumimoji="1" lang="en-NZ" altLang="ja-JP" sz="2200" b="1"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r>
                            <a:rPr kumimoji="1" lang="en-NZ" altLang="ja-JP" sz="22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𝟏</m:t>
                          </m:r>
                        </m:sub>
                        <m:sup>
                          <m:r>
                            <a:rPr kumimoji="1" lang="en-NZ" altLang="ja-JP" sz="22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𝒂</m:t>
                          </m:r>
                        </m:sup>
                        <m:e>
                          <m:sSup>
                            <m:sSupPr>
                              <m:ctrlPr>
                                <a:rPr kumimoji="1" lang="en-NZ" altLang="ja-JP" sz="2200" b="1"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ctrlPr>
                            </m:sSupPr>
                            <m:e>
                              <m:d>
                                <m:dPr>
                                  <m:ctrlPr>
                                    <a:rPr kumimoji="1" lang="en-NZ" altLang="ja-JP" sz="2200" b="1" i="1" u="none" strike="noStrike" kern="1200" cap="none" spc="0" normalizeH="0" baseline="0" noProof="0">
                                      <a:ln>
                                        <a:noFill/>
                                      </a:ln>
                                      <a:solidFill>
                                        <a:prstClr val="black"/>
                                      </a:solidFill>
                                      <a:effectLst/>
                                      <a:uLnTx/>
                                      <a:uFillTx/>
                                      <a:latin typeface="Cambria Math" panose="02040503050406030204" pitchFamily="18" charset="0"/>
                                      <a:cs typeface="+mn-cs"/>
                                    </a:rPr>
                                  </m:ctrlPr>
                                </m:dPr>
                                <m:e>
                                  <m:sSub>
                                    <m:sSubPr>
                                      <m:ctrlPr>
                                        <a:rPr kumimoji="1" lang="en-NZ" altLang="ja-JP" sz="2200" b="1"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1" lang="en-NZ" altLang="ja-JP" sz="2200" b="1" i="1" u="none" strike="noStrike" kern="1200" cap="none" spc="0" normalizeH="0" baseline="0" noProof="0">
                                          <a:ln>
                                            <a:noFill/>
                                          </a:ln>
                                          <a:solidFill>
                                            <a:prstClr val="black"/>
                                          </a:solidFill>
                                          <a:effectLst/>
                                          <a:uLnTx/>
                                          <a:uFillTx/>
                                          <a:latin typeface="Cambria Math" panose="02040503050406030204" pitchFamily="18" charset="0"/>
                                          <a:cs typeface="+mn-cs"/>
                                        </a:rPr>
                                        <m:t> </m:t>
                                      </m:r>
                                      <m:acc>
                                        <m:accPr>
                                          <m:chr m:val="̅"/>
                                          <m:ctrlPr>
                                            <a:rPr kumimoji="1" lang="en-NZ" altLang="ja-JP" sz="2200" b="1" i="1" u="none" strike="noStrike" kern="1200" cap="none" spc="0" normalizeH="0" baseline="0" noProof="0">
                                              <a:ln>
                                                <a:noFill/>
                                              </a:ln>
                                              <a:solidFill>
                                                <a:prstClr val="black"/>
                                              </a:solidFill>
                                              <a:effectLst/>
                                              <a:uLnTx/>
                                              <a:uFillTx/>
                                              <a:latin typeface="Cambria Math" panose="02040503050406030204" pitchFamily="18" charset="0"/>
                                              <a:cs typeface="+mn-cs"/>
                                            </a:rPr>
                                          </m:ctrlPr>
                                        </m:accPr>
                                        <m:e>
                                          <m:r>
                                            <a:rPr kumimoji="1" lang="en-NZ" altLang="ja-JP" sz="2200" b="1" i="1" u="none" strike="noStrike" kern="1200" cap="none" spc="0" normalizeH="0" baseline="0" noProof="0">
                                              <a:ln>
                                                <a:noFill/>
                                              </a:ln>
                                              <a:solidFill>
                                                <a:prstClr val="black"/>
                                              </a:solidFill>
                                              <a:effectLst/>
                                              <a:uLnTx/>
                                              <a:uFillTx/>
                                              <a:latin typeface="Cambria Math" panose="02040503050406030204" pitchFamily="18" charset="0"/>
                                              <a:cs typeface="+mn-cs"/>
                                            </a:rPr>
                                            <m:t>𝒀</m:t>
                                          </m:r>
                                        </m:e>
                                      </m:acc>
                                    </m:e>
                                    <m:sub>
                                      <m:r>
                                        <a:rPr kumimoji="1" lang="en-NZ" altLang="ja-JP" sz="2200" b="1" i="1" u="none" strike="noStrike" kern="1200" cap="none" spc="0" normalizeH="0" baseline="0" noProof="0">
                                          <a:ln>
                                            <a:noFill/>
                                          </a:ln>
                                          <a:solidFill>
                                            <a:prstClr val="black"/>
                                          </a:solidFill>
                                          <a:effectLst/>
                                          <a:uLnTx/>
                                          <a:uFillTx/>
                                          <a:latin typeface="Cambria Math" panose="02040503050406030204" pitchFamily="18" charset="0"/>
                                          <a:cs typeface="+mn-cs"/>
                                        </a:rPr>
                                        <m:t>𝒊</m:t>
                                      </m:r>
                                      <m:r>
                                        <a:rPr kumimoji="1" lang="en-NZ" altLang="ja-JP" sz="2200" b="1"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m:t>
                                      </m:r>
                                    </m:sub>
                                  </m:sSub>
                                  <m:r>
                                    <a:rPr kumimoji="1" lang="en-NZ" altLang="ja-JP" sz="2200" b="1"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  − </m:t>
                                  </m:r>
                                  <m:sSub>
                                    <m:sSubPr>
                                      <m:ctrlPr>
                                        <a:rPr kumimoji="1" lang="en-NZ" altLang="ja-JP" sz="2200" b="1"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acc>
                                        <m:accPr>
                                          <m:chr m:val="̅"/>
                                          <m:ctrlPr>
                                            <a:rPr kumimoji="1" lang="en-NZ" altLang="ja-JP" sz="2200" b="1" i="1" u="none" strike="noStrike" kern="1200" cap="none" spc="0" normalizeH="0" baseline="0" noProof="0">
                                              <a:ln>
                                                <a:noFill/>
                                              </a:ln>
                                              <a:solidFill>
                                                <a:prstClr val="black"/>
                                              </a:solidFill>
                                              <a:effectLst/>
                                              <a:uLnTx/>
                                              <a:uFillTx/>
                                              <a:latin typeface="Cambria Math" panose="02040503050406030204" pitchFamily="18" charset="0"/>
                                              <a:cs typeface="+mn-cs"/>
                                            </a:rPr>
                                          </m:ctrlPr>
                                        </m:accPr>
                                        <m:e>
                                          <m:r>
                                            <a:rPr kumimoji="1" lang="en-NZ" altLang="ja-JP" sz="2200" b="1" i="1" u="none" strike="noStrike" kern="1200" cap="none" spc="0" normalizeH="0" baseline="0" noProof="0">
                                              <a:ln>
                                                <a:noFill/>
                                              </a:ln>
                                              <a:solidFill>
                                                <a:prstClr val="black"/>
                                              </a:solidFill>
                                              <a:effectLst/>
                                              <a:uLnTx/>
                                              <a:uFillTx/>
                                              <a:latin typeface="Cambria Math" panose="02040503050406030204" pitchFamily="18" charset="0"/>
                                              <a:cs typeface="+mn-cs"/>
                                            </a:rPr>
                                            <m:t>𝒀</m:t>
                                          </m:r>
                                        </m:e>
                                      </m:acc>
                                    </m:e>
                                    <m:sub>
                                      <m:r>
                                        <a:rPr kumimoji="1" lang="en-NZ" altLang="ja-JP" sz="2200" b="1"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m:t>
                                      </m:r>
                                    </m:sub>
                                  </m:sSub>
                                  <m:r>
                                    <a:rPr kumimoji="1" lang="en-NZ" altLang="ja-JP" sz="2200" b="1"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 </m:t>
                                  </m:r>
                                </m:e>
                              </m:d>
                            </m:e>
                            <m:sup>
                              <m:r>
                                <a:rPr kumimoji="1" lang="en-NZ" altLang="ja-JP" sz="2200" b="1"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𝟐</m:t>
                              </m:r>
                            </m:sup>
                          </m:sSup>
                        </m:e>
                      </m:nary>
                    </m:oMath>
                  </m:oMathPara>
                </a14:m>
                <a:endParaRPr kumimoji="1" lang="en-NZ" altLang="ja-JP" sz="22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p:txBody>
          </p:sp>
        </mc:Choice>
        <mc:Fallback xmlns="">
          <p:sp>
            <p:nvSpPr>
              <p:cNvPr id="15" name="Text Placeholder 5">
                <a:extLst>
                  <a:ext uri="{FF2B5EF4-FFF2-40B4-BE49-F238E27FC236}">
                    <a16:creationId xmlns:a16="http://schemas.microsoft.com/office/drawing/2014/main" id="{7457E12E-1DDE-B35E-B071-A30E08325B10}"/>
                  </a:ext>
                </a:extLst>
              </p:cNvPr>
              <p:cNvSpPr txBox="1">
                <a:spLocks noRot="1" noChangeAspect="1" noMove="1" noResize="1" noEditPoints="1" noAdjustHandles="1" noChangeArrowheads="1" noChangeShapeType="1" noTextEdit="1"/>
              </p:cNvSpPr>
              <p:nvPr/>
            </p:nvSpPr>
            <p:spPr>
              <a:xfrm>
                <a:off x="2444432" y="3137264"/>
                <a:ext cx="3624272" cy="1090498"/>
              </a:xfrm>
              <a:prstGeom prst="rect">
                <a:avLst/>
              </a:prstGeom>
              <a:blipFill>
                <a:blip r:embed="rId3"/>
                <a:stretch>
                  <a:fillRect/>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16" name="Text Placeholder 5">
                <a:extLst>
                  <a:ext uri="{FF2B5EF4-FFF2-40B4-BE49-F238E27FC236}">
                    <a16:creationId xmlns:a16="http://schemas.microsoft.com/office/drawing/2014/main" id="{9193D673-4FF4-D3A3-0497-F34A236BD247}"/>
                  </a:ext>
                </a:extLst>
              </p:cNvPr>
              <p:cNvSpPr txBox="1">
                <a:spLocks/>
              </p:cNvSpPr>
              <p:nvPr/>
            </p:nvSpPr>
            <p:spPr>
              <a:xfrm>
                <a:off x="2444432" y="4174712"/>
                <a:ext cx="3624272" cy="1090498"/>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gn="just">
                  <a:lnSpc>
                    <a:spcPct val="100000"/>
                  </a:lnSpc>
                </a:pPr>
                <a14:m>
                  <m:oMathPara xmlns:m="http://schemas.openxmlformats.org/officeDocument/2006/math">
                    <m:oMathParaPr>
                      <m:jc m:val="left"/>
                    </m:oMathParaPr>
                    <m:oMath xmlns:m="http://schemas.openxmlformats.org/officeDocument/2006/math">
                      <m:r>
                        <a:rPr kumimoji="1" lang="en-NZ" altLang="ja-JP" sz="2200" b="1" i="1" u="none" strike="noStrike" kern="1200" cap="none" spc="0" normalizeH="0" baseline="0" noProof="0" smtClean="0">
                          <a:ln>
                            <a:noFill/>
                          </a:ln>
                          <a:solidFill>
                            <a:prstClr val="black"/>
                          </a:solidFill>
                          <a:effectLst/>
                          <a:uLnTx/>
                          <a:uFillTx/>
                          <a:latin typeface="Cambria Math" panose="02040503050406030204" pitchFamily="18" charset="0"/>
                          <a:cs typeface="+mn-cs"/>
                        </a:rPr>
                        <m:t>+   </m:t>
                      </m:r>
                      <m:r>
                        <a:rPr kumimoji="1" lang="en-NZ" altLang="ja-JP" sz="22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𝒏</m:t>
                      </m:r>
                      <m:r>
                        <a:rPr kumimoji="1" lang="en-NZ" altLang="ja-JP" sz="2200" b="1" i="1" u="none" strike="noStrike" kern="1200" cap="none" spc="0" normalizeH="0" baseline="0" noProof="0" smtClean="0">
                          <a:ln>
                            <a:noFill/>
                          </a:ln>
                          <a:solidFill>
                            <a:prstClr val="black"/>
                          </a:solidFill>
                          <a:effectLst/>
                          <a:uLnTx/>
                          <a:uFillTx/>
                          <a:latin typeface="Cambria Math" panose="02040503050406030204" pitchFamily="18" charset="0"/>
                          <a:cs typeface="+mn-cs"/>
                        </a:rPr>
                        <m:t> </m:t>
                      </m:r>
                      <m:nary>
                        <m:naryPr>
                          <m:chr m:val="∑"/>
                          <m:ctrlPr>
                            <a:rPr kumimoji="1" lang="en-NZ" altLang="ja-JP" sz="2200" b="1"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naryPr>
                        <m:sub>
                          <m:r>
                            <m:rPr>
                              <m:brk m:alnAt="23"/>
                            </m:rPr>
                            <a:rPr kumimoji="1" lang="en-NZ" altLang="ja-JP" sz="22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𝒊</m:t>
                          </m:r>
                          <m:r>
                            <a:rPr kumimoji="1" lang="en-NZ" altLang="ja-JP" sz="2200" b="1"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r>
                            <a:rPr kumimoji="1" lang="en-NZ" altLang="ja-JP" sz="22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𝟏</m:t>
                          </m:r>
                        </m:sub>
                        <m:sup>
                          <m:r>
                            <a:rPr kumimoji="1" lang="en-NZ" altLang="ja-JP" sz="22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𝒂</m:t>
                          </m:r>
                        </m:sup>
                        <m:e>
                          <m:nary>
                            <m:naryPr>
                              <m:chr m:val="∑"/>
                              <m:ctrlPr>
                                <a:rPr lang="en-NZ" altLang="ja-JP" sz="2200" b="1" i="1">
                                  <a:solidFill>
                                    <a:prstClr val="black"/>
                                  </a:solidFill>
                                  <a:latin typeface="Cambria Math" panose="02040503050406030204" pitchFamily="18" charset="0"/>
                                </a:rPr>
                              </m:ctrlPr>
                            </m:naryPr>
                            <m:sub>
                              <m:r>
                                <m:rPr>
                                  <m:brk m:alnAt="23"/>
                                </m:rPr>
                                <a:rPr lang="en-NZ" altLang="ja-JP" sz="2200" b="1" i="1">
                                  <a:solidFill>
                                    <a:prstClr val="black"/>
                                  </a:solidFill>
                                  <a:latin typeface="Cambria Math" panose="02040503050406030204" pitchFamily="18" charset="0"/>
                                </a:rPr>
                                <m:t>𝒋</m:t>
                              </m:r>
                              <m:r>
                                <a:rPr lang="en-NZ" altLang="ja-JP" sz="2200" b="1" i="1">
                                  <a:solidFill>
                                    <a:prstClr val="black"/>
                                  </a:solidFill>
                                  <a:latin typeface="Cambria Math" panose="02040503050406030204" pitchFamily="18" charset="0"/>
                                </a:rPr>
                                <m:t>=</m:t>
                              </m:r>
                              <m:r>
                                <a:rPr lang="en-NZ" altLang="ja-JP" sz="2200" b="1" i="1">
                                  <a:solidFill>
                                    <a:prstClr val="black"/>
                                  </a:solidFill>
                                  <a:latin typeface="Cambria Math" panose="02040503050406030204" pitchFamily="18" charset="0"/>
                                </a:rPr>
                                <m:t>𝟏</m:t>
                              </m:r>
                            </m:sub>
                            <m:sup>
                              <m:r>
                                <a:rPr lang="en-NZ" altLang="ja-JP" sz="2200" b="1" i="1">
                                  <a:solidFill>
                                    <a:prstClr val="black"/>
                                  </a:solidFill>
                                  <a:latin typeface="Cambria Math" panose="02040503050406030204" pitchFamily="18" charset="0"/>
                                </a:rPr>
                                <m:t>𝒃</m:t>
                              </m:r>
                            </m:sup>
                            <m:e>
                              <m:sSup>
                                <m:sSupPr>
                                  <m:ctrlPr>
                                    <a:rPr lang="en-NZ" altLang="ja-JP" sz="2200" b="1" i="1">
                                      <a:solidFill>
                                        <a:prstClr val="black"/>
                                      </a:solidFill>
                                      <a:latin typeface="Cambria Math" panose="02040503050406030204" pitchFamily="18" charset="0"/>
                                      <a:ea typeface="Cambria Math" panose="02040503050406030204" pitchFamily="18" charset="0"/>
                                    </a:rPr>
                                  </m:ctrlPr>
                                </m:sSupPr>
                                <m:e>
                                  <m:d>
                                    <m:dPr>
                                      <m:ctrlPr>
                                        <a:rPr lang="en-NZ" altLang="ja-JP" sz="2200" b="1" i="1">
                                          <a:solidFill>
                                            <a:prstClr val="black"/>
                                          </a:solidFill>
                                          <a:latin typeface="Cambria Math" panose="02040503050406030204" pitchFamily="18" charset="0"/>
                                        </a:rPr>
                                      </m:ctrlPr>
                                    </m:dPr>
                                    <m:e>
                                      <m:sSub>
                                        <m:sSubPr>
                                          <m:ctrlPr>
                                            <a:rPr lang="en-NZ" altLang="ja-JP" sz="2200" b="1" i="1">
                                              <a:solidFill>
                                                <a:prstClr val="black"/>
                                              </a:solidFill>
                                              <a:latin typeface="Cambria Math" panose="02040503050406030204" pitchFamily="18" charset="0"/>
                                            </a:rPr>
                                          </m:ctrlPr>
                                        </m:sSubPr>
                                        <m:e>
                                          <m:r>
                                            <a:rPr lang="en-NZ" altLang="ja-JP" sz="2200" b="1" i="1">
                                              <a:solidFill>
                                                <a:prstClr val="black"/>
                                              </a:solidFill>
                                              <a:latin typeface="Cambria Math" panose="02040503050406030204" pitchFamily="18" charset="0"/>
                                            </a:rPr>
                                            <m:t> </m:t>
                                          </m:r>
                                          <m:acc>
                                            <m:accPr>
                                              <m:chr m:val="̅"/>
                                              <m:ctrlPr>
                                                <a:rPr lang="en-NZ" altLang="ja-JP" sz="2200" b="1" i="1">
                                                  <a:solidFill>
                                                    <a:prstClr val="black"/>
                                                  </a:solidFill>
                                                  <a:latin typeface="Cambria Math" panose="02040503050406030204" pitchFamily="18" charset="0"/>
                                                </a:rPr>
                                              </m:ctrlPr>
                                            </m:accPr>
                                            <m:e>
                                              <m:r>
                                                <a:rPr lang="en-NZ" altLang="ja-JP" sz="2200" b="1" i="1">
                                                  <a:solidFill>
                                                    <a:prstClr val="black"/>
                                                  </a:solidFill>
                                                  <a:latin typeface="Cambria Math" panose="02040503050406030204" pitchFamily="18" charset="0"/>
                                                </a:rPr>
                                                <m:t>𝒀</m:t>
                                              </m:r>
                                            </m:e>
                                          </m:acc>
                                        </m:e>
                                        <m:sub>
                                          <m:r>
                                            <a:rPr lang="en-NZ" altLang="ja-JP" sz="2200" b="1" i="1">
                                              <a:solidFill>
                                                <a:prstClr val="black"/>
                                              </a:solidFill>
                                              <a:latin typeface="Cambria Math" panose="02040503050406030204" pitchFamily="18" charset="0"/>
                                            </a:rPr>
                                            <m:t>𝒊</m:t>
                                          </m:r>
                                          <m:r>
                                            <a:rPr lang="en-NZ" altLang="ja-JP" sz="2200" b="1" i="1">
                                              <a:solidFill>
                                                <a:prstClr val="black"/>
                                              </a:solidFill>
                                              <a:latin typeface="Cambria Math" panose="02040503050406030204" pitchFamily="18" charset="0"/>
                                              <a:ea typeface="Cambria Math" panose="02040503050406030204" pitchFamily="18" charset="0"/>
                                            </a:rPr>
                                            <m:t>𝒋</m:t>
                                          </m:r>
                                          <m:r>
                                            <a:rPr lang="en-NZ" altLang="ja-JP" sz="2200" b="1" i="1">
                                              <a:solidFill>
                                                <a:prstClr val="black"/>
                                              </a:solidFill>
                                              <a:latin typeface="Cambria Math" panose="02040503050406030204" pitchFamily="18" charset="0"/>
                                              <a:ea typeface="Cambria Math" panose="02040503050406030204" pitchFamily="18" charset="0"/>
                                            </a:rPr>
                                            <m:t>∙</m:t>
                                          </m:r>
                                        </m:sub>
                                      </m:sSub>
                                      <m:r>
                                        <a:rPr lang="en-NZ" altLang="ja-JP" sz="2200" b="1" i="1">
                                          <a:solidFill>
                                            <a:prstClr val="black"/>
                                          </a:solidFill>
                                          <a:latin typeface="Cambria Math" panose="02040503050406030204" pitchFamily="18" charset="0"/>
                                          <a:ea typeface="Cambria Math" panose="02040503050406030204" pitchFamily="18" charset="0"/>
                                        </a:rPr>
                                        <m:t>  − </m:t>
                                      </m:r>
                                      <m:sSub>
                                        <m:sSubPr>
                                          <m:ctrlPr>
                                            <a:rPr lang="en-NZ" altLang="ja-JP" sz="2200" b="1" i="1">
                                              <a:solidFill>
                                                <a:prstClr val="black"/>
                                              </a:solidFill>
                                              <a:latin typeface="Cambria Math" panose="02040503050406030204" pitchFamily="18" charset="0"/>
                                            </a:rPr>
                                          </m:ctrlPr>
                                        </m:sSubPr>
                                        <m:e>
                                          <m:acc>
                                            <m:accPr>
                                              <m:chr m:val="̅"/>
                                              <m:ctrlPr>
                                                <a:rPr lang="en-NZ" altLang="ja-JP" sz="2200" b="1" i="1">
                                                  <a:solidFill>
                                                    <a:prstClr val="black"/>
                                                  </a:solidFill>
                                                  <a:latin typeface="Cambria Math" panose="02040503050406030204" pitchFamily="18" charset="0"/>
                                                </a:rPr>
                                              </m:ctrlPr>
                                            </m:accPr>
                                            <m:e>
                                              <m:r>
                                                <a:rPr lang="en-NZ" altLang="ja-JP" sz="2200" b="1" i="1">
                                                  <a:solidFill>
                                                    <a:prstClr val="black"/>
                                                  </a:solidFill>
                                                  <a:latin typeface="Cambria Math" panose="02040503050406030204" pitchFamily="18" charset="0"/>
                                                </a:rPr>
                                                <m:t>𝒀</m:t>
                                              </m:r>
                                            </m:e>
                                          </m:acc>
                                        </m:e>
                                        <m:sub>
                                          <m:r>
                                            <a:rPr lang="en-NZ" altLang="ja-JP" sz="2200" b="1" i="1">
                                              <a:solidFill>
                                                <a:prstClr val="black"/>
                                              </a:solidFill>
                                              <a:latin typeface="Cambria Math" panose="02040503050406030204" pitchFamily="18" charset="0"/>
                                            </a:rPr>
                                            <m:t>𝒊</m:t>
                                          </m:r>
                                          <m:r>
                                            <a:rPr lang="en-NZ" altLang="ja-JP" sz="2200" b="1" i="1">
                                              <a:solidFill>
                                                <a:prstClr val="black"/>
                                              </a:solidFill>
                                              <a:latin typeface="Cambria Math" panose="02040503050406030204" pitchFamily="18" charset="0"/>
                                              <a:ea typeface="Cambria Math" panose="02040503050406030204" pitchFamily="18" charset="0"/>
                                            </a:rPr>
                                            <m:t>∙∙</m:t>
                                          </m:r>
                                        </m:sub>
                                      </m:sSub>
                                      <m:r>
                                        <a:rPr lang="en-NZ" altLang="ja-JP" sz="2200" b="1" i="1">
                                          <a:solidFill>
                                            <a:prstClr val="black"/>
                                          </a:solidFill>
                                          <a:latin typeface="Cambria Math" panose="02040503050406030204" pitchFamily="18" charset="0"/>
                                          <a:ea typeface="Cambria Math" panose="02040503050406030204" pitchFamily="18" charset="0"/>
                                        </a:rPr>
                                        <m:t> </m:t>
                                      </m:r>
                                    </m:e>
                                  </m:d>
                                </m:e>
                                <m:sup>
                                  <m:r>
                                    <a:rPr lang="en-NZ" altLang="ja-JP" sz="2200" b="1" i="1">
                                      <a:solidFill>
                                        <a:prstClr val="black"/>
                                      </a:solidFill>
                                      <a:latin typeface="Cambria Math" panose="02040503050406030204" pitchFamily="18" charset="0"/>
                                      <a:ea typeface="Cambria Math" panose="02040503050406030204" pitchFamily="18" charset="0"/>
                                    </a:rPr>
                                    <m:t>𝟐</m:t>
                                  </m:r>
                                </m:sup>
                              </m:sSup>
                            </m:e>
                          </m:nary>
                        </m:e>
                      </m:nary>
                    </m:oMath>
                  </m:oMathPara>
                </a14:m>
                <a:endParaRPr kumimoji="1" lang="en-NZ" altLang="ja-JP" sz="22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p:txBody>
          </p:sp>
        </mc:Choice>
        <mc:Fallback xmlns="">
          <p:sp>
            <p:nvSpPr>
              <p:cNvPr id="16" name="Text Placeholder 5">
                <a:extLst>
                  <a:ext uri="{FF2B5EF4-FFF2-40B4-BE49-F238E27FC236}">
                    <a16:creationId xmlns:a16="http://schemas.microsoft.com/office/drawing/2014/main" id="{9193D673-4FF4-D3A3-0497-F34A236BD247}"/>
                  </a:ext>
                </a:extLst>
              </p:cNvPr>
              <p:cNvSpPr txBox="1">
                <a:spLocks noRot="1" noChangeAspect="1" noMove="1" noResize="1" noEditPoints="1" noAdjustHandles="1" noChangeArrowheads="1" noChangeShapeType="1" noTextEdit="1"/>
              </p:cNvSpPr>
              <p:nvPr/>
            </p:nvSpPr>
            <p:spPr>
              <a:xfrm>
                <a:off x="2444432" y="4174712"/>
                <a:ext cx="3624272" cy="1090498"/>
              </a:xfrm>
              <a:prstGeom prst="rect">
                <a:avLst/>
              </a:prstGeom>
              <a:blipFill>
                <a:blip r:embed="rId4"/>
                <a:stretch>
                  <a:fillRect/>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18" name="Text Placeholder 5">
                <a:extLst>
                  <a:ext uri="{FF2B5EF4-FFF2-40B4-BE49-F238E27FC236}">
                    <a16:creationId xmlns:a16="http://schemas.microsoft.com/office/drawing/2014/main" id="{B263A0D2-5DCE-9CB1-6BB8-E6914ECB5A45}"/>
                  </a:ext>
                </a:extLst>
              </p:cNvPr>
              <p:cNvSpPr txBox="1">
                <a:spLocks/>
              </p:cNvSpPr>
              <p:nvPr/>
            </p:nvSpPr>
            <p:spPr>
              <a:xfrm>
                <a:off x="2444432" y="5259723"/>
                <a:ext cx="5061836" cy="1210498"/>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14:m>
                  <m:oMathPara xmlns:m="http://schemas.openxmlformats.org/officeDocument/2006/math">
                    <m:oMathParaPr>
                      <m:jc m:val="left"/>
                    </m:oMathParaPr>
                    <m:oMath xmlns:m="http://schemas.openxmlformats.org/officeDocument/2006/math">
                      <m:r>
                        <a:rPr kumimoji="1" lang="en-NZ" altLang="ja-JP" sz="2200" b="1" i="1" u="none" strike="noStrike" kern="1200" cap="none" spc="0" normalizeH="0" baseline="0" noProof="0" smtClean="0">
                          <a:ln>
                            <a:noFill/>
                          </a:ln>
                          <a:solidFill>
                            <a:prstClr val="black"/>
                          </a:solidFill>
                          <a:effectLst/>
                          <a:uLnTx/>
                          <a:uFillTx/>
                          <a:latin typeface="Cambria Math" panose="02040503050406030204" pitchFamily="18" charset="0"/>
                          <a:cs typeface="+mn-cs"/>
                        </a:rPr>
                        <m:t>+  </m:t>
                      </m:r>
                      <m:nary>
                        <m:naryPr>
                          <m:chr m:val="∑"/>
                          <m:ctrlPr>
                            <a:rPr kumimoji="1" lang="en-NZ" altLang="ja-JP" sz="2200" b="1"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naryPr>
                        <m:sub>
                          <m:r>
                            <m:rPr>
                              <m:brk m:alnAt="23"/>
                            </m:rPr>
                            <a:rPr kumimoji="1" lang="en-NZ" altLang="ja-JP" sz="22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𝒊</m:t>
                          </m:r>
                          <m:r>
                            <a:rPr kumimoji="1" lang="en-NZ" altLang="ja-JP" sz="2200" b="1"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r>
                            <a:rPr kumimoji="1" lang="en-NZ" altLang="ja-JP" sz="22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𝟏</m:t>
                          </m:r>
                        </m:sub>
                        <m:sup>
                          <m:r>
                            <a:rPr kumimoji="1" lang="en-NZ" altLang="ja-JP" sz="22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𝒂</m:t>
                          </m:r>
                        </m:sup>
                        <m:e>
                          <m:nary>
                            <m:naryPr>
                              <m:chr m:val="∑"/>
                              <m:ctrlPr>
                                <a:rPr kumimoji="1" lang="en-NZ" altLang="ja-JP" sz="2200" b="1"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naryPr>
                            <m:sub>
                              <m:r>
                                <m:rPr>
                                  <m:brk m:alnAt="23"/>
                                </m:rPr>
                                <a:rPr kumimoji="1" lang="en-NZ" altLang="ja-JP" sz="22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𝒋</m:t>
                              </m:r>
                              <m:r>
                                <a:rPr kumimoji="1" lang="en-NZ" altLang="ja-JP" sz="2200" b="1"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r>
                                <a:rPr kumimoji="1" lang="en-NZ" altLang="ja-JP" sz="22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𝟏</m:t>
                              </m:r>
                            </m:sub>
                            <m:sup>
                              <m:r>
                                <a:rPr kumimoji="1" lang="en-NZ" altLang="ja-JP" sz="22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𝒃</m:t>
                              </m:r>
                            </m:sup>
                            <m:e>
                              <m:nary>
                                <m:naryPr>
                                  <m:chr m:val="∑"/>
                                  <m:ctrlPr>
                                    <a:rPr kumimoji="1" lang="en-NZ" altLang="ja-JP" sz="2200" b="1"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naryPr>
                                <m:sub>
                                  <m:r>
                                    <m:rPr>
                                      <m:brk m:alnAt="23"/>
                                    </m:rPr>
                                    <a:rPr kumimoji="1" lang="en-NZ" altLang="ja-JP" sz="22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𝒌</m:t>
                                  </m:r>
                                  <m:r>
                                    <a:rPr kumimoji="1" lang="en-NZ" altLang="ja-JP" sz="2200" b="1"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r>
                                    <a:rPr kumimoji="1" lang="en-NZ" altLang="ja-JP" sz="22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𝟏</m:t>
                                  </m:r>
                                </m:sub>
                                <m:sup>
                                  <m:r>
                                    <a:rPr kumimoji="1" lang="en-NZ" altLang="ja-JP" sz="22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𝒏</m:t>
                                  </m:r>
                                </m:sup>
                                <m:e>
                                  <m:sSup>
                                    <m:sSupPr>
                                      <m:ctrlPr>
                                        <a:rPr kumimoji="1" lang="en-NZ" altLang="ja-JP" sz="2200" b="1"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pPr>
                                    <m:e>
                                      <m:d>
                                        <m:dPr>
                                          <m:ctrlPr>
                                            <a:rPr kumimoji="1" lang="en-NZ" altLang="ja-JP" sz="2200" b="1" i="1" u="none" strike="noStrike" kern="1200" cap="none" spc="0" normalizeH="0" baseline="0" noProof="0">
                                              <a:ln>
                                                <a:noFill/>
                                              </a:ln>
                                              <a:solidFill>
                                                <a:prstClr val="black"/>
                                              </a:solidFill>
                                              <a:effectLst/>
                                              <a:uLnTx/>
                                              <a:uFillTx/>
                                              <a:latin typeface="Cambria Math" panose="02040503050406030204" pitchFamily="18" charset="0"/>
                                              <a:cs typeface="+mn-cs"/>
                                            </a:rPr>
                                          </m:ctrlPr>
                                        </m:dPr>
                                        <m:e>
                                          <m:sSub>
                                            <m:sSubPr>
                                              <m:ctrlPr>
                                                <a:rPr kumimoji="1" lang="en-NZ" altLang="ja-JP" sz="2200" b="1"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1" lang="en-NZ" altLang="ja-JP" sz="2200" b="1" i="1" u="none" strike="noStrike" kern="1200" cap="none" spc="0" normalizeH="0" baseline="0" noProof="0">
                                                  <a:ln>
                                                    <a:noFill/>
                                                  </a:ln>
                                                  <a:solidFill>
                                                    <a:prstClr val="black"/>
                                                  </a:solidFill>
                                                  <a:effectLst/>
                                                  <a:uLnTx/>
                                                  <a:uFillTx/>
                                                  <a:latin typeface="Cambria Math" panose="02040503050406030204" pitchFamily="18" charset="0"/>
                                                  <a:cs typeface="+mn-cs"/>
                                                </a:rPr>
                                                <m:t>𝒀</m:t>
                                              </m:r>
                                            </m:e>
                                            <m:sub>
                                              <m:r>
                                                <a:rPr kumimoji="1" lang="en-NZ" altLang="ja-JP" sz="2200" b="1" i="1" u="none" strike="noStrike" kern="1200" cap="none" spc="0" normalizeH="0" baseline="0" noProof="0">
                                                  <a:ln>
                                                    <a:noFill/>
                                                  </a:ln>
                                                  <a:solidFill>
                                                    <a:prstClr val="black"/>
                                                  </a:solidFill>
                                                  <a:effectLst/>
                                                  <a:uLnTx/>
                                                  <a:uFillTx/>
                                                  <a:latin typeface="Cambria Math" panose="02040503050406030204" pitchFamily="18" charset="0"/>
                                                  <a:cs typeface="+mn-cs"/>
                                                </a:rPr>
                                                <m:t>𝒊𝒋𝒌</m:t>
                                              </m:r>
                                            </m:sub>
                                          </m:sSub>
                                          <m:r>
                                            <a:rPr kumimoji="1" lang="en-NZ" altLang="ja-JP" sz="2200" b="1" i="1" u="none" strike="noStrike" kern="1200" cap="none" spc="0" normalizeH="0" baseline="0" noProof="0">
                                              <a:ln>
                                                <a:noFill/>
                                              </a:ln>
                                              <a:solidFill>
                                                <a:prstClr val="black"/>
                                              </a:solidFill>
                                              <a:effectLst/>
                                              <a:uLnTx/>
                                              <a:uFillTx/>
                                              <a:latin typeface="Cambria Math" panose="02040503050406030204" pitchFamily="18" charset="0"/>
                                              <a:cs typeface="+mn-cs"/>
                                            </a:rPr>
                                            <m:t> −</m:t>
                                          </m:r>
                                          <m:sSub>
                                            <m:sSubPr>
                                              <m:ctrlPr>
                                                <a:rPr kumimoji="1" lang="en-NZ" altLang="ja-JP" sz="2200" b="1"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1" lang="en-NZ" altLang="ja-JP" sz="2200" b="1" i="1" u="none" strike="noStrike" kern="1200" cap="none" spc="0" normalizeH="0" baseline="0" noProof="0">
                                                  <a:ln>
                                                    <a:noFill/>
                                                  </a:ln>
                                                  <a:solidFill>
                                                    <a:prstClr val="black"/>
                                                  </a:solidFill>
                                                  <a:effectLst/>
                                                  <a:uLnTx/>
                                                  <a:uFillTx/>
                                                  <a:latin typeface="Cambria Math" panose="02040503050406030204" pitchFamily="18" charset="0"/>
                                                  <a:cs typeface="+mn-cs"/>
                                                </a:rPr>
                                                <m:t> </m:t>
                                              </m:r>
                                              <m:acc>
                                                <m:accPr>
                                                  <m:chr m:val="̅"/>
                                                  <m:ctrlPr>
                                                    <a:rPr kumimoji="1" lang="en-NZ" altLang="ja-JP" sz="2200" b="1" i="1" u="none" strike="noStrike" kern="1200" cap="none" spc="0" normalizeH="0" baseline="0" noProof="0">
                                                      <a:ln>
                                                        <a:noFill/>
                                                      </a:ln>
                                                      <a:solidFill>
                                                        <a:prstClr val="black"/>
                                                      </a:solidFill>
                                                      <a:effectLst/>
                                                      <a:uLnTx/>
                                                      <a:uFillTx/>
                                                      <a:latin typeface="Cambria Math" panose="02040503050406030204" pitchFamily="18" charset="0"/>
                                                      <a:cs typeface="+mn-cs"/>
                                                    </a:rPr>
                                                  </m:ctrlPr>
                                                </m:accPr>
                                                <m:e>
                                                  <m:r>
                                                    <a:rPr kumimoji="1" lang="en-NZ" altLang="ja-JP" sz="2200" b="1" i="1" u="none" strike="noStrike" kern="1200" cap="none" spc="0" normalizeH="0" baseline="0" noProof="0">
                                                      <a:ln>
                                                        <a:noFill/>
                                                      </a:ln>
                                                      <a:solidFill>
                                                        <a:prstClr val="black"/>
                                                      </a:solidFill>
                                                      <a:effectLst/>
                                                      <a:uLnTx/>
                                                      <a:uFillTx/>
                                                      <a:latin typeface="Cambria Math" panose="02040503050406030204" pitchFamily="18" charset="0"/>
                                                      <a:cs typeface="+mn-cs"/>
                                                    </a:rPr>
                                                    <m:t>𝒀</m:t>
                                                  </m:r>
                                                </m:e>
                                              </m:acc>
                                            </m:e>
                                            <m:sub>
                                              <m:r>
                                                <a:rPr kumimoji="1" lang="en-NZ" altLang="ja-JP" sz="2200" b="1" i="1" u="none" strike="noStrike" kern="1200" cap="none" spc="0" normalizeH="0" baseline="0" noProof="0">
                                                  <a:ln>
                                                    <a:noFill/>
                                                  </a:ln>
                                                  <a:solidFill>
                                                    <a:prstClr val="black"/>
                                                  </a:solidFill>
                                                  <a:effectLst/>
                                                  <a:uLnTx/>
                                                  <a:uFillTx/>
                                                  <a:latin typeface="Cambria Math" panose="02040503050406030204" pitchFamily="18" charset="0"/>
                                                  <a:cs typeface="+mn-cs"/>
                                                </a:rPr>
                                                <m:t>𝒊</m:t>
                                              </m:r>
                                              <m:r>
                                                <a:rPr kumimoji="1" lang="en-NZ" altLang="ja-JP" sz="22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𝒋</m:t>
                                              </m:r>
                                              <m:r>
                                                <a:rPr kumimoji="1" lang="en-NZ" altLang="ja-JP" sz="2200" b="1"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m:t>
                                              </m:r>
                                            </m:sub>
                                          </m:sSub>
                                          <m:r>
                                            <a:rPr kumimoji="1" lang="en-NZ" altLang="ja-JP" sz="2200" b="1"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 </m:t>
                                          </m:r>
                                        </m:e>
                                      </m:d>
                                    </m:e>
                                    <m:sup>
                                      <m:r>
                                        <a:rPr kumimoji="1" lang="en-NZ" altLang="ja-JP" sz="22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𝟐</m:t>
                                      </m:r>
                                    </m:sup>
                                  </m:sSup>
                                </m:e>
                              </m:nary>
                            </m:e>
                          </m:nary>
                        </m:e>
                      </m:nary>
                    </m:oMath>
                  </m:oMathPara>
                </a14:m>
                <a:endParaRPr kumimoji="1" lang="en-NZ" altLang="ja-JP" sz="22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p:txBody>
          </p:sp>
        </mc:Choice>
        <mc:Fallback xmlns="">
          <p:sp>
            <p:nvSpPr>
              <p:cNvPr id="18" name="Text Placeholder 5">
                <a:extLst>
                  <a:ext uri="{FF2B5EF4-FFF2-40B4-BE49-F238E27FC236}">
                    <a16:creationId xmlns:a16="http://schemas.microsoft.com/office/drawing/2014/main" id="{B263A0D2-5DCE-9CB1-6BB8-E6914ECB5A45}"/>
                  </a:ext>
                </a:extLst>
              </p:cNvPr>
              <p:cNvSpPr txBox="1">
                <a:spLocks noRot="1" noChangeAspect="1" noMove="1" noResize="1" noEditPoints="1" noAdjustHandles="1" noChangeArrowheads="1" noChangeShapeType="1" noTextEdit="1"/>
              </p:cNvSpPr>
              <p:nvPr/>
            </p:nvSpPr>
            <p:spPr>
              <a:xfrm>
                <a:off x="2444432" y="5259723"/>
                <a:ext cx="5061836" cy="1210498"/>
              </a:xfrm>
              <a:prstGeom prst="rect">
                <a:avLst/>
              </a:prstGeom>
              <a:blipFill>
                <a:blip r:embed="rId5"/>
                <a:stretch>
                  <a:fillRect/>
                </a:stretch>
              </a:blipFill>
            </p:spPr>
            <p:txBody>
              <a:bodyPr/>
              <a:lstStyle/>
              <a:p>
                <a:r>
                  <a:rPr lang="en-NZ">
                    <a:noFill/>
                  </a:rPr>
                  <a:t> </a:t>
                </a:r>
              </a:p>
            </p:txBody>
          </p:sp>
        </mc:Fallback>
      </mc:AlternateContent>
      <p:sp>
        <p:nvSpPr>
          <p:cNvPr id="24" name="Text Placeholder 5">
            <a:extLst>
              <a:ext uri="{FF2B5EF4-FFF2-40B4-BE49-F238E27FC236}">
                <a16:creationId xmlns:a16="http://schemas.microsoft.com/office/drawing/2014/main" id="{2EAF4393-8043-3340-1D57-D9F83D38BB6A}"/>
              </a:ext>
            </a:extLst>
          </p:cNvPr>
          <p:cNvSpPr txBox="1">
            <a:spLocks/>
          </p:cNvSpPr>
          <p:nvPr/>
        </p:nvSpPr>
        <p:spPr>
          <a:xfrm>
            <a:off x="4165172" y="2644552"/>
            <a:ext cx="2549527" cy="418234"/>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l"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600" b="0" i="1" u="none" strike="noStrike" kern="1200" cap="none" spc="0" normalizeH="0" baseline="0" noProof="0" dirty="0">
                <a:ln>
                  <a:noFill/>
                </a:ln>
                <a:solidFill>
                  <a:srgbClr val="E7E6E6">
                    <a:lumMod val="50000"/>
                  </a:srgbClr>
                </a:solidFill>
                <a:effectLst/>
                <a:uLnTx/>
                <a:uFillTx/>
                <a:latin typeface="Calibri" panose="020F0502020204030204"/>
                <a:ea typeface="游ゴシック" panose="020B0400000000000000" pitchFamily="34" charset="-128"/>
                <a:cs typeface="+mn-cs"/>
              </a:rPr>
              <a:t>Total Sum of Squares (TSS)</a:t>
            </a:r>
          </a:p>
          <a:p>
            <a:pPr marL="0" marR="0" lvl="0" indent="0" algn="l"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600" b="0" i="1" u="none" strike="noStrike" kern="1200" cap="none" spc="0" normalizeH="0" baseline="0" noProof="0" dirty="0">
              <a:ln>
                <a:noFill/>
              </a:ln>
              <a:solidFill>
                <a:srgbClr val="E7E6E6">
                  <a:lumMod val="50000"/>
                </a:srgbClr>
              </a:solidFill>
              <a:effectLst/>
              <a:uLnTx/>
              <a:uFillTx/>
              <a:latin typeface="Calibri" panose="020F0502020204030204"/>
              <a:ea typeface="游ゴシック" panose="020B0400000000000000" pitchFamily="34" charset="-128"/>
              <a:cs typeface="+mn-cs"/>
            </a:endParaRPr>
          </a:p>
        </p:txBody>
      </p:sp>
      <p:sp>
        <p:nvSpPr>
          <p:cNvPr id="25" name="Text Placeholder 5">
            <a:extLst>
              <a:ext uri="{FF2B5EF4-FFF2-40B4-BE49-F238E27FC236}">
                <a16:creationId xmlns:a16="http://schemas.microsoft.com/office/drawing/2014/main" id="{9A44D84D-D45C-4873-B219-DECBB882EE26}"/>
              </a:ext>
            </a:extLst>
          </p:cNvPr>
          <p:cNvSpPr txBox="1">
            <a:spLocks/>
          </p:cNvSpPr>
          <p:nvPr/>
        </p:nvSpPr>
        <p:spPr>
          <a:xfrm>
            <a:off x="5867277" y="3455799"/>
            <a:ext cx="3880291" cy="418234"/>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l"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600" b="0" i="1" u="none" strike="noStrike" kern="1200" cap="none" spc="0" normalizeH="0" baseline="0" noProof="0" dirty="0">
                <a:ln>
                  <a:noFill/>
                </a:ln>
                <a:solidFill>
                  <a:srgbClr val="E7E6E6">
                    <a:lumMod val="50000"/>
                  </a:srgbClr>
                </a:solidFill>
                <a:effectLst/>
                <a:uLnTx/>
                <a:uFillTx/>
                <a:latin typeface="Calibri" panose="020F0502020204030204"/>
                <a:ea typeface="游ゴシック" panose="020B0400000000000000" pitchFamily="34" charset="-128"/>
                <a:cs typeface="+mn-cs"/>
              </a:rPr>
              <a:t>Sum of Squares for factor</a:t>
            </a:r>
            <a:r>
              <a:rPr kumimoji="1" lang="en-NZ" altLang="ja-JP" sz="1600" b="0" i="1" u="none" strike="noStrike" kern="1200" cap="none" spc="0" normalizeH="0" noProof="0" dirty="0">
                <a:ln>
                  <a:noFill/>
                </a:ln>
                <a:solidFill>
                  <a:srgbClr val="E7E6E6">
                    <a:lumMod val="50000"/>
                  </a:srgbClr>
                </a:solidFill>
                <a:effectLst/>
                <a:uLnTx/>
                <a:uFillTx/>
                <a:latin typeface="Calibri" panose="020F0502020204030204"/>
                <a:ea typeface="游ゴシック" panose="020B0400000000000000" pitchFamily="34" charset="-128"/>
                <a:cs typeface="+mn-cs"/>
              </a:rPr>
              <a:t> A  ( SS</a:t>
            </a:r>
            <a:r>
              <a:rPr kumimoji="1" lang="en-NZ" altLang="ja-JP" sz="1600" b="0" i="1" u="none" strike="noStrike" kern="1200" cap="none" spc="0" normalizeH="0" baseline="-25000" noProof="0" dirty="0">
                <a:ln>
                  <a:noFill/>
                </a:ln>
                <a:solidFill>
                  <a:srgbClr val="E7E6E6">
                    <a:lumMod val="50000"/>
                  </a:srgbClr>
                </a:solidFill>
                <a:effectLst/>
                <a:uLnTx/>
                <a:uFillTx/>
                <a:latin typeface="Calibri" panose="020F0502020204030204"/>
                <a:ea typeface="游ゴシック" panose="020B0400000000000000" pitchFamily="34" charset="-128"/>
                <a:cs typeface="+mn-cs"/>
              </a:rPr>
              <a:t>A </a:t>
            </a:r>
            <a:r>
              <a:rPr kumimoji="1" lang="en-NZ" altLang="ja-JP" sz="1600" b="0" i="1" u="none" strike="noStrike" kern="1200" cap="none" spc="0" normalizeH="0" noProof="0" dirty="0">
                <a:ln>
                  <a:noFill/>
                </a:ln>
                <a:solidFill>
                  <a:srgbClr val="E7E6E6">
                    <a:lumMod val="50000"/>
                  </a:srgbClr>
                </a:solidFill>
                <a:effectLst/>
                <a:uLnTx/>
                <a:uFillTx/>
                <a:latin typeface="Calibri" panose="020F0502020204030204"/>
                <a:ea typeface="游ゴシック" panose="020B0400000000000000" pitchFamily="34" charset="-128"/>
                <a:cs typeface="+mn-cs"/>
              </a:rPr>
              <a:t>)</a:t>
            </a:r>
            <a:endParaRPr kumimoji="1" lang="en-NZ" altLang="ja-JP" sz="1600" b="0" i="1" u="none" strike="noStrike" kern="1200" cap="none" spc="0" normalizeH="0" baseline="0" noProof="0" dirty="0">
              <a:ln>
                <a:noFill/>
              </a:ln>
              <a:solidFill>
                <a:srgbClr val="E7E6E6">
                  <a:lumMod val="50000"/>
                </a:srgbClr>
              </a:solidFill>
              <a:effectLst/>
              <a:uLnTx/>
              <a:uFillTx/>
              <a:latin typeface="Calibri" panose="020F0502020204030204"/>
              <a:ea typeface="游ゴシック" panose="020B0400000000000000" pitchFamily="34" charset="-128"/>
              <a:cs typeface="+mn-cs"/>
            </a:endParaRPr>
          </a:p>
          <a:p>
            <a:pPr marL="0" marR="0" lvl="0" indent="0" algn="l"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600" b="0" i="1" u="none" strike="noStrike" kern="1200" cap="none" spc="0" normalizeH="0" baseline="0" noProof="0" dirty="0">
              <a:ln>
                <a:noFill/>
              </a:ln>
              <a:solidFill>
                <a:srgbClr val="E7E6E6">
                  <a:lumMod val="50000"/>
                </a:srgbClr>
              </a:solidFill>
              <a:effectLst/>
              <a:uLnTx/>
              <a:uFillTx/>
              <a:latin typeface="Calibri" panose="020F0502020204030204"/>
              <a:ea typeface="游ゴシック" panose="020B0400000000000000" pitchFamily="34" charset="-128"/>
              <a:cs typeface="+mn-cs"/>
            </a:endParaRPr>
          </a:p>
        </p:txBody>
      </p:sp>
      <p:sp>
        <p:nvSpPr>
          <p:cNvPr id="26" name="Text Placeholder 5">
            <a:extLst>
              <a:ext uri="{FF2B5EF4-FFF2-40B4-BE49-F238E27FC236}">
                <a16:creationId xmlns:a16="http://schemas.microsoft.com/office/drawing/2014/main" id="{1239D5DF-98AE-CD9C-B930-A030929AEF90}"/>
              </a:ext>
            </a:extLst>
          </p:cNvPr>
          <p:cNvSpPr txBox="1">
            <a:spLocks/>
          </p:cNvSpPr>
          <p:nvPr/>
        </p:nvSpPr>
        <p:spPr>
          <a:xfrm>
            <a:off x="5867276" y="4547279"/>
            <a:ext cx="4353318" cy="418234"/>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l"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600" b="0" i="1" u="none" strike="noStrike" kern="1200" cap="none" spc="0" normalizeH="0" baseline="0" noProof="0" dirty="0">
                <a:ln>
                  <a:noFill/>
                </a:ln>
                <a:solidFill>
                  <a:srgbClr val="E7E6E6">
                    <a:lumMod val="50000"/>
                  </a:srgbClr>
                </a:solidFill>
                <a:effectLst/>
                <a:uLnTx/>
                <a:uFillTx/>
                <a:latin typeface="Calibri" panose="020F0502020204030204"/>
                <a:ea typeface="游ゴシック" panose="020B0400000000000000" pitchFamily="34" charset="-128"/>
                <a:cs typeface="+mn-cs"/>
              </a:rPr>
              <a:t>Sum of Squares for factor B nested in A  ( S</a:t>
            </a:r>
            <a:r>
              <a:rPr lang="en-NZ" altLang="ja-JP" sz="1600" i="1" noProof="0" dirty="0">
                <a:solidFill>
                  <a:srgbClr val="E7E6E6">
                    <a:lumMod val="50000"/>
                  </a:srgbClr>
                </a:solidFill>
                <a:latin typeface="Calibri" panose="020F0502020204030204"/>
                <a:ea typeface="游ゴシック" panose="020B0400000000000000" pitchFamily="34" charset="-128"/>
              </a:rPr>
              <a:t>S</a:t>
            </a:r>
            <a:r>
              <a:rPr lang="en-NZ" altLang="ja-JP" sz="1600" i="1" baseline="-25000" noProof="0" dirty="0">
                <a:solidFill>
                  <a:srgbClr val="E7E6E6">
                    <a:lumMod val="50000"/>
                  </a:srgbClr>
                </a:solidFill>
                <a:latin typeface="Calibri" panose="020F0502020204030204"/>
                <a:ea typeface="游ゴシック" panose="020B0400000000000000" pitchFamily="34" charset="-128"/>
              </a:rPr>
              <a:t>B(A) </a:t>
            </a:r>
            <a:r>
              <a:rPr lang="en-NZ" altLang="ja-JP" sz="1600" i="1" noProof="0" dirty="0">
                <a:solidFill>
                  <a:srgbClr val="E7E6E6">
                    <a:lumMod val="50000"/>
                  </a:srgbClr>
                </a:solidFill>
                <a:latin typeface="Calibri" panose="020F0502020204030204"/>
                <a:ea typeface="游ゴシック" panose="020B0400000000000000" pitchFamily="34" charset="-128"/>
              </a:rPr>
              <a:t>)</a:t>
            </a:r>
            <a:endParaRPr kumimoji="1" lang="en-NZ" altLang="ja-JP" sz="1600" b="0" i="1" u="none" strike="noStrike" kern="1200" cap="none" spc="0" normalizeH="0" baseline="0" noProof="0" dirty="0">
              <a:ln>
                <a:noFill/>
              </a:ln>
              <a:solidFill>
                <a:srgbClr val="E7E6E6">
                  <a:lumMod val="50000"/>
                </a:srgbClr>
              </a:solidFill>
              <a:effectLst/>
              <a:uLnTx/>
              <a:uFillTx/>
              <a:latin typeface="Calibri" panose="020F0502020204030204"/>
              <a:ea typeface="游ゴシック" panose="020B0400000000000000" pitchFamily="34" charset="-128"/>
              <a:cs typeface="+mn-cs"/>
            </a:endParaRPr>
          </a:p>
          <a:p>
            <a:pPr marL="0" marR="0" lvl="0" indent="0" algn="l"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600" b="0" i="1" u="none" strike="noStrike" kern="1200" cap="none" spc="0" normalizeH="0" baseline="0" noProof="0" dirty="0">
              <a:ln>
                <a:noFill/>
              </a:ln>
              <a:solidFill>
                <a:srgbClr val="E7E6E6">
                  <a:lumMod val="50000"/>
                </a:srgbClr>
              </a:solidFill>
              <a:effectLst/>
              <a:uLnTx/>
              <a:uFillTx/>
              <a:latin typeface="Calibri" panose="020F0502020204030204"/>
              <a:ea typeface="游ゴシック" panose="020B0400000000000000" pitchFamily="34" charset="-128"/>
              <a:cs typeface="+mn-cs"/>
            </a:endParaRPr>
          </a:p>
        </p:txBody>
      </p:sp>
      <p:sp>
        <p:nvSpPr>
          <p:cNvPr id="27" name="Text Placeholder 5">
            <a:extLst>
              <a:ext uri="{FF2B5EF4-FFF2-40B4-BE49-F238E27FC236}">
                <a16:creationId xmlns:a16="http://schemas.microsoft.com/office/drawing/2014/main" id="{2A663D17-ADBA-51C2-F988-0371A933B31B}"/>
              </a:ext>
            </a:extLst>
          </p:cNvPr>
          <p:cNvSpPr txBox="1">
            <a:spLocks/>
          </p:cNvSpPr>
          <p:nvPr/>
        </p:nvSpPr>
        <p:spPr>
          <a:xfrm>
            <a:off x="7603041" y="5670059"/>
            <a:ext cx="3880291" cy="426935"/>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l"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600" b="0" i="1" u="none" strike="noStrike" kern="1200" cap="none" spc="0" normalizeH="0" baseline="0" noProof="0" dirty="0">
                <a:ln>
                  <a:noFill/>
                </a:ln>
                <a:solidFill>
                  <a:srgbClr val="E7E6E6">
                    <a:lumMod val="50000"/>
                  </a:srgbClr>
                </a:solidFill>
                <a:effectLst/>
                <a:uLnTx/>
                <a:uFillTx/>
                <a:latin typeface="Calibri" panose="020F0502020204030204"/>
                <a:ea typeface="游ゴシック" panose="020B0400000000000000" pitchFamily="34" charset="-128"/>
                <a:cs typeface="+mn-cs"/>
              </a:rPr>
              <a:t>Sum of Squares for Errors (SSE)</a:t>
            </a:r>
          </a:p>
        </p:txBody>
      </p:sp>
      <p:sp>
        <p:nvSpPr>
          <p:cNvPr id="28" name="Text Placeholder 5">
            <a:extLst>
              <a:ext uri="{FF2B5EF4-FFF2-40B4-BE49-F238E27FC236}">
                <a16:creationId xmlns:a16="http://schemas.microsoft.com/office/drawing/2014/main" id="{835A186D-F7AC-FD9D-487A-947BED03E6FE}"/>
              </a:ext>
            </a:extLst>
          </p:cNvPr>
          <p:cNvSpPr txBox="1">
            <a:spLocks/>
          </p:cNvSpPr>
          <p:nvPr/>
        </p:nvSpPr>
        <p:spPr>
          <a:xfrm>
            <a:off x="251223" y="6501665"/>
            <a:ext cx="10585098" cy="33739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2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*The proof of this statement is not required for Stat 293 but is available as supplementary material on the intranet.</a:t>
            </a:r>
          </a:p>
        </p:txBody>
      </p:sp>
      <p:sp>
        <p:nvSpPr>
          <p:cNvPr id="29" name="Text Placeholder 5">
            <a:extLst>
              <a:ext uri="{FF2B5EF4-FFF2-40B4-BE49-F238E27FC236}">
                <a16:creationId xmlns:a16="http://schemas.microsoft.com/office/drawing/2014/main" id="{B0F87360-044F-AAF8-3CB6-75A106BB3B1A}"/>
              </a:ext>
            </a:extLst>
          </p:cNvPr>
          <p:cNvSpPr txBox="1">
            <a:spLocks/>
          </p:cNvSpPr>
          <p:nvPr/>
        </p:nvSpPr>
        <p:spPr>
          <a:xfrm>
            <a:off x="154205" y="4084879"/>
            <a:ext cx="2193209" cy="1292063"/>
          </a:xfrm>
          <a:prstGeom prst="rect">
            <a:avLst/>
          </a:prstGeom>
          <a:ln>
            <a:solidFill>
              <a:schemeClr val="bg2">
                <a:lumMod val="50000"/>
              </a:schemeClr>
            </a:solidFill>
          </a:ln>
        </p:spPr>
        <p:txBody>
          <a:bodyPr anchor="ct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600" b="1"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rPr>
              <a:t>TSS = SS</a:t>
            </a:r>
            <a:r>
              <a:rPr kumimoji="1" lang="en-NZ" altLang="ja-JP" sz="1600" b="1" i="1" u="none" strike="noStrike" kern="1200" cap="none" spc="0" normalizeH="0" baseline="-25000" noProof="0" dirty="0">
                <a:ln>
                  <a:noFill/>
                </a:ln>
                <a:solidFill>
                  <a:srgbClr val="C00000"/>
                </a:solidFill>
                <a:effectLst/>
                <a:uLnTx/>
                <a:uFillTx/>
                <a:latin typeface="Calibri" panose="020F0502020204030204"/>
                <a:ea typeface="游ゴシック" panose="020B0400000000000000" pitchFamily="34" charset="-128"/>
                <a:cs typeface="+mn-cs"/>
              </a:rPr>
              <a:t>A</a:t>
            </a:r>
            <a:r>
              <a:rPr kumimoji="1" lang="en-NZ" altLang="ja-JP" sz="1600" b="1"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rPr>
              <a:t> + SS</a:t>
            </a:r>
            <a:r>
              <a:rPr kumimoji="1" lang="en-NZ" altLang="ja-JP" sz="1600" b="1" i="1" u="none" strike="noStrike" kern="1200" cap="none" spc="0" normalizeH="0" baseline="-25000" noProof="0" dirty="0">
                <a:ln>
                  <a:noFill/>
                </a:ln>
                <a:solidFill>
                  <a:srgbClr val="C00000"/>
                </a:solidFill>
                <a:effectLst/>
                <a:uLnTx/>
                <a:uFillTx/>
                <a:latin typeface="Calibri" panose="020F0502020204030204"/>
                <a:ea typeface="游ゴシック" panose="020B0400000000000000" pitchFamily="34" charset="-128"/>
                <a:cs typeface="+mn-cs"/>
              </a:rPr>
              <a:t>B(A)</a:t>
            </a:r>
            <a:r>
              <a:rPr kumimoji="1" lang="en-NZ" altLang="ja-JP" sz="1600" b="1"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rPr>
              <a:t> + SSE</a:t>
            </a:r>
          </a:p>
        </p:txBody>
      </p:sp>
      <p:sp>
        <p:nvSpPr>
          <p:cNvPr id="17" name="Title 6">
            <a:extLst>
              <a:ext uri="{FF2B5EF4-FFF2-40B4-BE49-F238E27FC236}">
                <a16:creationId xmlns:a16="http://schemas.microsoft.com/office/drawing/2014/main" id="{F9AC280D-18B1-E2AA-DC35-A15247F1A80A}"/>
              </a:ext>
            </a:extLst>
          </p:cNvPr>
          <p:cNvSpPr txBox="1">
            <a:spLocks/>
          </p:cNvSpPr>
          <p:nvPr/>
        </p:nvSpPr>
        <p:spPr>
          <a:xfrm>
            <a:off x="251224" y="237833"/>
            <a:ext cx="8660764" cy="607201"/>
          </a:xfrm>
          <a:prstGeom prst="rect">
            <a:avLst/>
          </a:prstGeom>
        </p:spPr>
        <p:txBody>
          <a:bodyPr anchor="t">
            <a:normAutofit/>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pPr marL="0" marR="0" lvl="0" indent="0" algn="l" defTabSz="914324" rtl="0" eaLnBrk="1" fontAlgn="auto" latinLnBrk="0" hangingPunct="1">
              <a:lnSpc>
                <a:spcPct val="90000"/>
              </a:lnSpc>
              <a:spcBef>
                <a:spcPct val="0"/>
              </a:spcBef>
              <a:spcAft>
                <a:spcPts val="0"/>
              </a:spcAft>
              <a:buClrTx/>
              <a:buSzTx/>
              <a:buFontTx/>
              <a:buNone/>
              <a:tabLst/>
              <a:defRPr/>
            </a:pPr>
            <a:r>
              <a:rPr lang="en-US" altLang="ja-JP" b="1" u="sng" dirty="0">
                <a:solidFill>
                  <a:prstClr val="black"/>
                </a:solidFill>
                <a:latin typeface="Calibri" panose="020F0502020204030204"/>
                <a:ea typeface="游ゴシック Light" panose="020B0300000000000000" pitchFamily="34" charset="-128"/>
              </a:rPr>
              <a:t>5.2</a:t>
            </a:r>
            <a:r>
              <a:rPr kumimoji="1" lang="en-US" altLang="ja-JP"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rPr>
              <a:t>b – Breakdown of Sums of Squares:</a:t>
            </a:r>
            <a:endParaRPr kumimoji="1" lang="ja-JP" altLang="en-US"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endParaRPr>
          </a:p>
        </p:txBody>
      </p:sp>
      <mc:AlternateContent xmlns:mc="http://schemas.openxmlformats.org/markup-compatibility/2006" xmlns:a14="http://schemas.microsoft.com/office/drawing/2010/main">
        <mc:Choice Requires="a14">
          <p:sp>
            <p:nvSpPr>
              <p:cNvPr id="21" name="Text Placeholder 5">
                <a:extLst>
                  <a:ext uri="{FF2B5EF4-FFF2-40B4-BE49-F238E27FC236}">
                    <a16:creationId xmlns:a16="http://schemas.microsoft.com/office/drawing/2014/main" id="{31175F7B-BBF0-10DE-1496-6FAC04E3477E}"/>
                  </a:ext>
                </a:extLst>
              </p:cNvPr>
              <p:cNvSpPr txBox="1">
                <a:spLocks/>
              </p:cNvSpPr>
              <p:nvPr/>
            </p:nvSpPr>
            <p:spPr>
              <a:xfrm>
                <a:off x="251223" y="1035263"/>
                <a:ext cx="11232109" cy="497400"/>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14:m>
                  <m:oMathPara xmlns:m="http://schemas.openxmlformats.org/officeDocument/2006/math">
                    <m:oMathParaPr>
                      <m:jc m:val="centerGroup"/>
                    </m:oMathParaPr>
                    <m:oMath xmlns:m="http://schemas.openxmlformats.org/officeDocument/2006/math">
                      <m:sSub>
                        <m:sSubPr>
                          <m:ctrlPr>
                            <a:rPr kumimoji="1" lang="en-NZ" altLang="ja-JP" sz="2200" b="1" i="1" u="none" strike="noStrike" kern="1200" cap="none" spc="0" normalizeH="0" baseline="0" noProof="0" smtClean="0">
                              <a:ln>
                                <a:noFill/>
                              </a:ln>
                              <a:solidFill>
                                <a:srgbClr val="C00000"/>
                              </a:solidFill>
                              <a:effectLst/>
                              <a:uLnTx/>
                              <a:uFillTx/>
                              <a:latin typeface="Cambria Math" panose="02040503050406030204" pitchFamily="18" charset="0"/>
                              <a:cs typeface="+mn-cs"/>
                            </a:rPr>
                          </m:ctrlPr>
                        </m:sSubPr>
                        <m:e>
                          <m:r>
                            <a:rPr kumimoji="1" lang="en-NZ" altLang="ja-JP" sz="22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𝒀</m:t>
                          </m:r>
                        </m:e>
                        <m:sub>
                          <m:r>
                            <a:rPr kumimoji="1" lang="en-NZ" altLang="ja-JP" sz="22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𝒊𝒋𝒌</m:t>
                          </m:r>
                        </m:sub>
                      </m:sSub>
                      <m:r>
                        <a:rPr kumimoji="1" lang="en-NZ" altLang="ja-JP" sz="2200" b="1" i="1" u="none" strike="noStrike" kern="1200" cap="none" spc="0" normalizeH="0" baseline="0" noProof="0" smtClean="0">
                          <a:ln>
                            <a:noFill/>
                          </a:ln>
                          <a:solidFill>
                            <a:srgbClr val="C00000"/>
                          </a:solidFill>
                          <a:effectLst/>
                          <a:uLnTx/>
                          <a:uFillTx/>
                          <a:latin typeface="Cambria Math" panose="02040503050406030204" pitchFamily="18" charset="0"/>
                          <a:cs typeface="+mn-cs"/>
                        </a:rPr>
                        <m:t>  −  </m:t>
                      </m:r>
                      <m:sSub>
                        <m:sSubPr>
                          <m:ctrlPr>
                            <a:rPr kumimoji="1" lang="en-NZ" altLang="ja-JP" sz="2200" b="1" i="1" u="none" strike="noStrike" kern="1200" cap="none" spc="0" normalizeH="0" baseline="0" noProof="0" smtClean="0">
                              <a:ln>
                                <a:noFill/>
                              </a:ln>
                              <a:solidFill>
                                <a:srgbClr val="C00000"/>
                              </a:solidFill>
                              <a:effectLst/>
                              <a:uLnTx/>
                              <a:uFillTx/>
                              <a:latin typeface="Cambria Math" panose="02040503050406030204" pitchFamily="18" charset="0"/>
                              <a:cs typeface="+mn-cs"/>
                            </a:rPr>
                          </m:ctrlPr>
                        </m:sSubPr>
                        <m:e>
                          <m:acc>
                            <m:accPr>
                              <m:chr m:val="̅"/>
                              <m:ctrlPr>
                                <a:rPr kumimoji="1" lang="en-NZ" altLang="ja-JP" sz="2200" b="1" i="1" u="none" strike="noStrike" kern="1200" cap="none" spc="0" normalizeH="0" baseline="0" noProof="0" smtClean="0">
                                  <a:ln>
                                    <a:noFill/>
                                  </a:ln>
                                  <a:solidFill>
                                    <a:srgbClr val="C00000"/>
                                  </a:solidFill>
                                  <a:effectLst/>
                                  <a:uLnTx/>
                                  <a:uFillTx/>
                                  <a:latin typeface="Cambria Math" panose="02040503050406030204" pitchFamily="18" charset="0"/>
                                  <a:cs typeface="+mn-cs"/>
                                </a:rPr>
                              </m:ctrlPr>
                            </m:accPr>
                            <m:e>
                              <m:r>
                                <a:rPr kumimoji="1" lang="en-NZ" altLang="ja-JP" sz="22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𝒀</m:t>
                              </m:r>
                            </m:e>
                          </m:acc>
                        </m:e>
                        <m:sub>
                          <m:r>
                            <a:rPr kumimoji="1" lang="en-NZ" altLang="ja-JP" sz="2200" b="1" i="1" u="none" strike="noStrike" kern="1200" cap="none" spc="0" normalizeH="0" baseline="0" noProof="0" smtClean="0">
                              <a:ln>
                                <a:noFill/>
                              </a:ln>
                              <a:solidFill>
                                <a:srgbClr val="C00000"/>
                              </a:solidFill>
                              <a:effectLst/>
                              <a:uLnTx/>
                              <a:uFillTx/>
                              <a:latin typeface="Cambria Math" panose="02040503050406030204" pitchFamily="18" charset="0"/>
                              <a:ea typeface="Cambria Math" panose="02040503050406030204" pitchFamily="18" charset="0"/>
                              <a:cs typeface="+mn-cs"/>
                            </a:rPr>
                            <m:t>∙∙∙</m:t>
                          </m:r>
                        </m:sub>
                      </m:sSub>
                      <m:r>
                        <a:rPr kumimoji="1" lang="en-NZ" altLang="ja-JP" sz="2200" b="1" i="1" u="none" strike="noStrike" kern="1200" cap="none" spc="0" normalizeH="0" baseline="0" noProof="0" smtClean="0">
                          <a:ln>
                            <a:noFill/>
                          </a:ln>
                          <a:solidFill>
                            <a:srgbClr val="C00000"/>
                          </a:solidFill>
                          <a:effectLst/>
                          <a:uLnTx/>
                          <a:uFillTx/>
                          <a:latin typeface="Cambria Math" panose="02040503050406030204" pitchFamily="18" charset="0"/>
                          <a:cs typeface="+mn-cs"/>
                        </a:rPr>
                        <m:t>  =   </m:t>
                      </m:r>
                      <m:d>
                        <m:dPr>
                          <m:ctrlPr>
                            <a:rPr kumimoji="1" lang="en-NZ" altLang="ja-JP" sz="2200" b="1" i="1" u="none" strike="noStrike" kern="1200" cap="none" spc="0" normalizeH="0" baseline="0" noProof="0" smtClean="0">
                              <a:ln>
                                <a:noFill/>
                              </a:ln>
                              <a:solidFill>
                                <a:srgbClr val="C00000"/>
                              </a:solidFill>
                              <a:effectLst/>
                              <a:uLnTx/>
                              <a:uFillTx/>
                              <a:latin typeface="Cambria Math" panose="02040503050406030204" pitchFamily="18" charset="0"/>
                              <a:cs typeface="+mn-cs"/>
                            </a:rPr>
                          </m:ctrlPr>
                        </m:dPr>
                        <m:e>
                          <m:sSub>
                            <m:sSubPr>
                              <m:ctrlPr>
                                <a:rPr kumimoji="1" lang="en-NZ" altLang="ja-JP" sz="2200" b="1" i="1" u="none" strike="noStrike" kern="1200" cap="none" spc="0" normalizeH="0" baseline="0" noProof="0">
                                  <a:ln>
                                    <a:noFill/>
                                  </a:ln>
                                  <a:solidFill>
                                    <a:srgbClr val="C00000"/>
                                  </a:solidFill>
                                  <a:effectLst/>
                                  <a:uLnTx/>
                                  <a:uFillTx/>
                                  <a:latin typeface="Cambria Math" panose="02040503050406030204" pitchFamily="18" charset="0"/>
                                  <a:cs typeface="+mn-cs"/>
                                </a:rPr>
                              </m:ctrlPr>
                            </m:sSubPr>
                            <m:e>
                              <m:r>
                                <a:rPr kumimoji="1" lang="en-NZ" altLang="ja-JP" sz="2200" b="1" i="1" u="none" strike="noStrike" kern="1200" cap="none" spc="0" normalizeH="0" baseline="0" noProof="0" smtClean="0">
                                  <a:ln>
                                    <a:noFill/>
                                  </a:ln>
                                  <a:solidFill>
                                    <a:srgbClr val="C00000"/>
                                  </a:solidFill>
                                  <a:effectLst/>
                                  <a:uLnTx/>
                                  <a:uFillTx/>
                                  <a:latin typeface="Cambria Math" panose="02040503050406030204" pitchFamily="18" charset="0"/>
                                  <a:cs typeface="+mn-cs"/>
                                </a:rPr>
                                <m:t> </m:t>
                              </m:r>
                              <m:acc>
                                <m:accPr>
                                  <m:chr m:val="̅"/>
                                  <m:ctrlPr>
                                    <a:rPr kumimoji="1" lang="en-NZ" altLang="ja-JP" sz="2200" b="1" i="1" u="none" strike="noStrike" kern="1200" cap="none" spc="0" normalizeH="0" baseline="0" noProof="0" smtClean="0">
                                      <a:ln>
                                        <a:noFill/>
                                      </a:ln>
                                      <a:solidFill>
                                        <a:srgbClr val="C00000"/>
                                      </a:solidFill>
                                      <a:effectLst/>
                                      <a:uLnTx/>
                                      <a:uFillTx/>
                                      <a:latin typeface="Cambria Math" panose="02040503050406030204" pitchFamily="18" charset="0"/>
                                      <a:cs typeface="+mn-cs"/>
                                    </a:rPr>
                                  </m:ctrlPr>
                                </m:accPr>
                                <m:e>
                                  <m:r>
                                    <a:rPr kumimoji="1" lang="en-NZ" altLang="ja-JP" sz="2200" b="1" i="1" u="none" strike="noStrike" kern="1200" cap="none" spc="0" normalizeH="0" baseline="0" noProof="0">
                                      <a:ln>
                                        <a:noFill/>
                                      </a:ln>
                                      <a:solidFill>
                                        <a:srgbClr val="C00000"/>
                                      </a:solidFill>
                                      <a:effectLst/>
                                      <a:uLnTx/>
                                      <a:uFillTx/>
                                      <a:latin typeface="Cambria Math" panose="02040503050406030204" pitchFamily="18" charset="0"/>
                                      <a:cs typeface="+mn-cs"/>
                                    </a:rPr>
                                    <m:t>𝒀</m:t>
                                  </m:r>
                                </m:e>
                              </m:acc>
                            </m:e>
                            <m:sub>
                              <m:r>
                                <a:rPr kumimoji="1" lang="en-NZ" altLang="ja-JP" sz="22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𝒊</m:t>
                              </m:r>
                              <m:r>
                                <a:rPr kumimoji="1" lang="en-NZ" altLang="ja-JP" sz="2200" b="1" i="1" u="none" strike="noStrike" kern="1200" cap="none" spc="0" normalizeH="0" baseline="0" noProof="0">
                                  <a:ln>
                                    <a:noFill/>
                                  </a:ln>
                                  <a:solidFill>
                                    <a:srgbClr val="C00000"/>
                                  </a:solidFill>
                                  <a:effectLst/>
                                  <a:uLnTx/>
                                  <a:uFillTx/>
                                  <a:latin typeface="Cambria Math" panose="02040503050406030204" pitchFamily="18" charset="0"/>
                                  <a:ea typeface="Cambria Math" panose="02040503050406030204" pitchFamily="18" charset="0"/>
                                  <a:cs typeface="+mn-cs"/>
                                </a:rPr>
                                <m:t>∙∙</m:t>
                              </m:r>
                            </m:sub>
                          </m:sSub>
                          <m:r>
                            <a:rPr kumimoji="1" lang="en-NZ" altLang="ja-JP" sz="2200" b="1" i="1" u="none" strike="noStrike" kern="1200" cap="none" spc="0" normalizeH="0" baseline="0" noProof="0" smtClean="0">
                              <a:ln>
                                <a:noFill/>
                              </a:ln>
                              <a:solidFill>
                                <a:srgbClr val="C00000"/>
                              </a:solidFill>
                              <a:effectLst/>
                              <a:uLnTx/>
                              <a:uFillTx/>
                              <a:latin typeface="Cambria Math" panose="02040503050406030204" pitchFamily="18" charset="0"/>
                              <a:ea typeface="Cambria Math" panose="02040503050406030204" pitchFamily="18" charset="0"/>
                              <a:cs typeface="+mn-cs"/>
                            </a:rPr>
                            <m:t>  − </m:t>
                          </m:r>
                          <m:sSub>
                            <m:sSubPr>
                              <m:ctrlPr>
                                <a:rPr kumimoji="1" lang="en-NZ" altLang="ja-JP" sz="2200" b="1" i="1" u="none" strike="noStrike" kern="1200" cap="none" spc="0" normalizeH="0" baseline="0" noProof="0">
                                  <a:ln>
                                    <a:noFill/>
                                  </a:ln>
                                  <a:solidFill>
                                    <a:srgbClr val="C00000"/>
                                  </a:solidFill>
                                  <a:effectLst/>
                                  <a:uLnTx/>
                                  <a:uFillTx/>
                                  <a:latin typeface="Cambria Math" panose="02040503050406030204" pitchFamily="18" charset="0"/>
                                  <a:cs typeface="+mn-cs"/>
                                </a:rPr>
                              </m:ctrlPr>
                            </m:sSubPr>
                            <m:e>
                              <m:acc>
                                <m:accPr>
                                  <m:chr m:val="̅"/>
                                  <m:ctrlPr>
                                    <a:rPr kumimoji="1" lang="en-NZ" altLang="ja-JP" sz="2200" b="1" i="1" u="none" strike="noStrike" kern="1200" cap="none" spc="0" normalizeH="0" baseline="0" noProof="0">
                                      <a:ln>
                                        <a:noFill/>
                                      </a:ln>
                                      <a:solidFill>
                                        <a:srgbClr val="C00000"/>
                                      </a:solidFill>
                                      <a:effectLst/>
                                      <a:uLnTx/>
                                      <a:uFillTx/>
                                      <a:latin typeface="Cambria Math" panose="02040503050406030204" pitchFamily="18" charset="0"/>
                                      <a:cs typeface="+mn-cs"/>
                                    </a:rPr>
                                  </m:ctrlPr>
                                </m:accPr>
                                <m:e>
                                  <m:r>
                                    <a:rPr kumimoji="1" lang="en-NZ" altLang="ja-JP" sz="2200" b="1" i="1" u="none" strike="noStrike" kern="1200" cap="none" spc="0" normalizeH="0" baseline="0" noProof="0">
                                      <a:ln>
                                        <a:noFill/>
                                      </a:ln>
                                      <a:solidFill>
                                        <a:srgbClr val="C00000"/>
                                      </a:solidFill>
                                      <a:effectLst/>
                                      <a:uLnTx/>
                                      <a:uFillTx/>
                                      <a:latin typeface="Cambria Math" panose="02040503050406030204" pitchFamily="18" charset="0"/>
                                      <a:cs typeface="+mn-cs"/>
                                    </a:rPr>
                                    <m:t>𝒀</m:t>
                                  </m:r>
                                </m:e>
                              </m:acc>
                            </m:e>
                            <m:sub>
                              <m:r>
                                <a:rPr kumimoji="1" lang="en-NZ" altLang="ja-JP" sz="2200" b="1" i="1" u="none" strike="noStrike" kern="1200" cap="none" spc="0" normalizeH="0" baseline="0" noProof="0">
                                  <a:ln>
                                    <a:noFill/>
                                  </a:ln>
                                  <a:solidFill>
                                    <a:srgbClr val="C00000"/>
                                  </a:solidFill>
                                  <a:effectLst/>
                                  <a:uLnTx/>
                                  <a:uFillTx/>
                                  <a:latin typeface="Cambria Math" panose="02040503050406030204" pitchFamily="18" charset="0"/>
                                  <a:ea typeface="Cambria Math" panose="02040503050406030204" pitchFamily="18" charset="0"/>
                                  <a:cs typeface="+mn-cs"/>
                                </a:rPr>
                                <m:t>∙∙∙</m:t>
                              </m:r>
                            </m:sub>
                          </m:sSub>
                          <m:r>
                            <a:rPr kumimoji="1" lang="en-NZ" altLang="ja-JP" sz="2200" b="1" i="1" u="none" strike="noStrike" kern="1200" cap="none" spc="0" normalizeH="0" baseline="0" noProof="0" smtClean="0">
                              <a:ln>
                                <a:noFill/>
                              </a:ln>
                              <a:solidFill>
                                <a:srgbClr val="C00000"/>
                              </a:solidFill>
                              <a:effectLst/>
                              <a:uLnTx/>
                              <a:uFillTx/>
                              <a:latin typeface="Cambria Math" panose="02040503050406030204" pitchFamily="18" charset="0"/>
                              <a:ea typeface="Cambria Math" panose="02040503050406030204" pitchFamily="18" charset="0"/>
                              <a:cs typeface="+mn-cs"/>
                            </a:rPr>
                            <m:t> </m:t>
                          </m:r>
                        </m:e>
                      </m:d>
                      <m:r>
                        <a:rPr kumimoji="1" lang="en-NZ" altLang="ja-JP" sz="2200" b="1" i="1" u="none" strike="noStrike" kern="1200" cap="none" spc="0" normalizeH="0" baseline="0" noProof="0" smtClean="0">
                          <a:ln>
                            <a:noFill/>
                          </a:ln>
                          <a:solidFill>
                            <a:srgbClr val="C00000"/>
                          </a:solidFill>
                          <a:effectLst/>
                          <a:uLnTx/>
                          <a:uFillTx/>
                          <a:latin typeface="Cambria Math" panose="02040503050406030204" pitchFamily="18" charset="0"/>
                          <a:ea typeface="Cambria Math" panose="02040503050406030204" pitchFamily="18" charset="0"/>
                          <a:cs typeface="+mn-cs"/>
                        </a:rPr>
                        <m:t> + </m:t>
                      </m:r>
                      <m:d>
                        <m:dPr>
                          <m:ctrlPr>
                            <a:rPr kumimoji="1" lang="en-NZ" altLang="ja-JP" sz="2200" b="1" i="1" u="none" strike="noStrike" kern="1200" cap="none" spc="0" normalizeH="0" baseline="0" noProof="0">
                              <a:ln>
                                <a:noFill/>
                              </a:ln>
                              <a:solidFill>
                                <a:srgbClr val="C00000"/>
                              </a:solidFill>
                              <a:effectLst/>
                              <a:uLnTx/>
                              <a:uFillTx/>
                              <a:latin typeface="Cambria Math" panose="02040503050406030204" pitchFamily="18" charset="0"/>
                              <a:cs typeface="+mn-cs"/>
                            </a:rPr>
                          </m:ctrlPr>
                        </m:dPr>
                        <m:e>
                          <m:sSub>
                            <m:sSubPr>
                              <m:ctrlPr>
                                <a:rPr kumimoji="1" lang="en-NZ" altLang="ja-JP" sz="2200" b="1" i="1" u="none" strike="noStrike" kern="1200" cap="none" spc="0" normalizeH="0" baseline="0" noProof="0">
                                  <a:ln>
                                    <a:noFill/>
                                  </a:ln>
                                  <a:solidFill>
                                    <a:srgbClr val="C00000"/>
                                  </a:solidFill>
                                  <a:effectLst/>
                                  <a:uLnTx/>
                                  <a:uFillTx/>
                                  <a:latin typeface="Cambria Math" panose="02040503050406030204" pitchFamily="18" charset="0"/>
                                  <a:cs typeface="+mn-cs"/>
                                </a:rPr>
                              </m:ctrlPr>
                            </m:sSubPr>
                            <m:e>
                              <m:r>
                                <a:rPr kumimoji="1" lang="en-NZ" altLang="ja-JP" sz="2200" b="1" i="1" u="none" strike="noStrike" kern="1200" cap="none" spc="0" normalizeH="0" baseline="0" noProof="0">
                                  <a:ln>
                                    <a:noFill/>
                                  </a:ln>
                                  <a:solidFill>
                                    <a:srgbClr val="C00000"/>
                                  </a:solidFill>
                                  <a:effectLst/>
                                  <a:uLnTx/>
                                  <a:uFillTx/>
                                  <a:latin typeface="Cambria Math" panose="02040503050406030204" pitchFamily="18" charset="0"/>
                                  <a:cs typeface="+mn-cs"/>
                                </a:rPr>
                                <m:t> </m:t>
                              </m:r>
                              <m:acc>
                                <m:accPr>
                                  <m:chr m:val="̅"/>
                                  <m:ctrlPr>
                                    <a:rPr kumimoji="1" lang="en-NZ" altLang="ja-JP" sz="2200" b="1" i="1" u="none" strike="noStrike" kern="1200" cap="none" spc="0" normalizeH="0" baseline="0" noProof="0">
                                      <a:ln>
                                        <a:noFill/>
                                      </a:ln>
                                      <a:solidFill>
                                        <a:srgbClr val="C00000"/>
                                      </a:solidFill>
                                      <a:effectLst/>
                                      <a:uLnTx/>
                                      <a:uFillTx/>
                                      <a:latin typeface="Cambria Math" panose="02040503050406030204" pitchFamily="18" charset="0"/>
                                      <a:cs typeface="+mn-cs"/>
                                    </a:rPr>
                                  </m:ctrlPr>
                                </m:accPr>
                                <m:e>
                                  <m:r>
                                    <a:rPr kumimoji="1" lang="en-NZ" altLang="ja-JP" sz="2200" b="1" i="1" u="none" strike="noStrike" kern="1200" cap="none" spc="0" normalizeH="0" baseline="0" noProof="0">
                                      <a:ln>
                                        <a:noFill/>
                                      </a:ln>
                                      <a:solidFill>
                                        <a:srgbClr val="C00000"/>
                                      </a:solidFill>
                                      <a:effectLst/>
                                      <a:uLnTx/>
                                      <a:uFillTx/>
                                      <a:latin typeface="Cambria Math" panose="02040503050406030204" pitchFamily="18" charset="0"/>
                                      <a:cs typeface="+mn-cs"/>
                                    </a:rPr>
                                    <m:t>𝒀</m:t>
                                  </m:r>
                                </m:e>
                              </m:acc>
                            </m:e>
                            <m:sub>
                              <m:r>
                                <a:rPr kumimoji="1" lang="en-NZ" altLang="ja-JP" sz="22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𝒊</m:t>
                              </m:r>
                              <m:r>
                                <a:rPr kumimoji="1" lang="en-NZ" altLang="ja-JP" sz="2200" b="1" i="1" u="none" strike="noStrike" kern="1200" cap="none" spc="0" normalizeH="0" baseline="0" noProof="0" smtClean="0">
                                  <a:ln>
                                    <a:noFill/>
                                  </a:ln>
                                  <a:solidFill>
                                    <a:srgbClr val="C00000"/>
                                  </a:solidFill>
                                  <a:effectLst/>
                                  <a:uLnTx/>
                                  <a:uFillTx/>
                                  <a:latin typeface="Cambria Math" panose="02040503050406030204" pitchFamily="18" charset="0"/>
                                  <a:ea typeface="Cambria Math" panose="02040503050406030204" pitchFamily="18" charset="0"/>
                                  <a:cs typeface="+mn-cs"/>
                                </a:rPr>
                                <m:t>𝒋</m:t>
                              </m:r>
                              <m:r>
                                <a:rPr kumimoji="1" lang="en-NZ" altLang="ja-JP" sz="2200" b="1" i="1" u="none" strike="noStrike" kern="1200" cap="none" spc="0" normalizeH="0" baseline="0" noProof="0">
                                  <a:ln>
                                    <a:noFill/>
                                  </a:ln>
                                  <a:solidFill>
                                    <a:srgbClr val="C00000"/>
                                  </a:solidFill>
                                  <a:effectLst/>
                                  <a:uLnTx/>
                                  <a:uFillTx/>
                                  <a:latin typeface="Cambria Math" panose="02040503050406030204" pitchFamily="18" charset="0"/>
                                  <a:ea typeface="Cambria Math" panose="02040503050406030204" pitchFamily="18" charset="0"/>
                                  <a:cs typeface="+mn-cs"/>
                                </a:rPr>
                                <m:t>∙</m:t>
                              </m:r>
                            </m:sub>
                          </m:sSub>
                          <m:r>
                            <a:rPr kumimoji="1" lang="en-NZ" altLang="ja-JP" sz="2200" b="1" i="1" u="none" strike="noStrike" kern="1200" cap="none" spc="0" normalizeH="0" baseline="0" noProof="0">
                              <a:ln>
                                <a:noFill/>
                              </a:ln>
                              <a:solidFill>
                                <a:srgbClr val="C00000"/>
                              </a:solidFill>
                              <a:effectLst/>
                              <a:uLnTx/>
                              <a:uFillTx/>
                              <a:latin typeface="Cambria Math" panose="02040503050406030204" pitchFamily="18" charset="0"/>
                              <a:ea typeface="Cambria Math" panose="02040503050406030204" pitchFamily="18" charset="0"/>
                              <a:cs typeface="+mn-cs"/>
                            </a:rPr>
                            <m:t>  − </m:t>
                          </m:r>
                          <m:sSub>
                            <m:sSubPr>
                              <m:ctrlPr>
                                <a:rPr kumimoji="1" lang="en-NZ" altLang="ja-JP" sz="2200" b="1" i="1" u="none" strike="noStrike" kern="1200" cap="none" spc="0" normalizeH="0" baseline="0" noProof="0">
                                  <a:ln>
                                    <a:noFill/>
                                  </a:ln>
                                  <a:solidFill>
                                    <a:srgbClr val="C00000"/>
                                  </a:solidFill>
                                  <a:effectLst/>
                                  <a:uLnTx/>
                                  <a:uFillTx/>
                                  <a:latin typeface="Cambria Math" panose="02040503050406030204" pitchFamily="18" charset="0"/>
                                  <a:cs typeface="+mn-cs"/>
                                </a:rPr>
                              </m:ctrlPr>
                            </m:sSubPr>
                            <m:e>
                              <m:acc>
                                <m:accPr>
                                  <m:chr m:val="̅"/>
                                  <m:ctrlPr>
                                    <a:rPr kumimoji="1" lang="en-NZ" altLang="ja-JP" sz="2200" b="1" i="1" u="none" strike="noStrike" kern="1200" cap="none" spc="0" normalizeH="0" baseline="0" noProof="0">
                                      <a:ln>
                                        <a:noFill/>
                                      </a:ln>
                                      <a:solidFill>
                                        <a:srgbClr val="C00000"/>
                                      </a:solidFill>
                                      <a:effectLst/>
                                      <a:uLnTx/>
                                      <a:uFillTx/>
                                      <a:latin typeface="Cambria Math" panose="02040503050406030204" pitchFamily="18" charset="0"/>
                                      <a:cs typeface="+mn-cs"/>
                                    </a:rPr>
                                  </m:ctrlPr>
                                </m:accPr>
                                <m:e>
                                  <m:r>
                                    <a:rPr kumimoji="1" lang="en-NZ" altLang="ja-JP" sz="2200" b="1" i="1" u="none" strike="noStrike" kern="1200" cap="none" spc="0" normalizeH="0" baseline="0" noProof="0">
                                      <a:ln>
                                        <a:noFill/>
                                      </a:ln>
                                      <a:solidFill>
                                        <a:srgbClr val="C00000"/>
                                      </a:solidFill>
                                      <a:effectLst/>
                                      <a:uLnTx/>
                                      <a:uFillTx/>
                                      <a:latin typeface="Cambria Math" panose="02040503050406030204" pitchFamily="18" charset="0"/>
                                      <a:cs typeface="+mn-cs"/>
                                    </a:rPr>
                                    <m:t>𝒀</m:t>
                                  </m:r>
                                </m:e>
                              </m:acc>
                            </m:e>
                            <m:sub>
                              <m:r>
                                <a:rPr kumimoji="1" lang="en-NZ" altLang="ja-JP" sz="22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𝒊</m:t>
                              </m:r>
                              <m:r>
                                <a:rPr kumimoji="1" lang="en-NZ" altLang="ja-JP" sz="2200" b="1" i="1" u="none" strike="noStrike" kern="1200" cap="none" spc="0" normalizeH="0" baseline="0" noProof="0">
                                  <a:ln>
                                    <a:noFill/>
                                  </a:ln>
                                  <a:solidFill>
                                    <a:srgbClr val="C00000"/>
                                  </a:solidFill>
                                  <a:effectLst/>
                                  <a:uLnTx/>
                                  <a:uFillTx/>
                                  <a:latin typeface="Cambria Math" panose="02040503050406030204" pitchFamily="18" charset="0"/>
                                  <a:ea typeface="Cambria Math" panose="02040503050406030204" pitchFamily="18" charset="0"/>
                                  <a:cs typeface="+mn-cs"/>
                                </a:rPr>
                                <m:t>∙∙</m:t>
                              </m:r>
                            </m:sub>
                          </m:sSub>
                          <m:r>
                            <a:rPr kumimoji="1" lang="en-NZ" altLang="ja-JP" sz="2200" b="1" i="1" u="none" strike="noStrike" kern="1200" cap="none" spc="0" normalizeH="0" baseline="0" noProof="0">
                              <a:ln>
                                <a:noFill/>
                              </a:ln>
                              <a:solidFill>
                                <a:srgbClr val="C00000"/>
                              </a:solidFill>
                              <a:effectLst/>
                              <a:uLnTx/>
                              <a:uFillTx/>
                              <a:latin typeface="Cambria Math" panose="02040503050406030204" pitchFamily="18" charset="0"/>
                              <a:ea typeface="Cambria Math" panose="02040503050406030204" pitchFamily="18" charset="0"/>
                              <a:cs typeface="+mn-cs"/>
                            </a:rPr>
                            <m:t> </m:t>
                          </m:r>
                        </m:e>
                      </m:d>
                      <m:r>
                        <a:rPr kumimoji="1" lang="en-NZ" altLang="ja-JP" sz="2200" b="1" i="1" u="none" strike="noStrike" kern="1200" cap="none" spc="0" normalizeH="0" baseline="0" noProof="0" smtClean="0">
                          <a:ln>
                            <a:noFill/>
                          </a:ln>
                          <a:solidFill>
                            <a:srgbClr val="C00000"/>
                          </a:solidFill>
                          <a:effectLst/>
                          <a:uLnTx/>
                          <a:uFillTx/>
                          <a:latin typeface="Cambria Math" panose="02040503050406030204" pitchFamily="18" charset="0"/>
                          <a:ea typeface="Cambria Math" panose="02040503050406030204" pitchFamily="18" charset="0"/>
                          <a:cs typeface="+mn-cs"/>
                        </a:rPr>
                        <m:t>  +  </m:t>
                      </m:r>
                      <m:d>
                        <m:dPr>
                          <m:ctrlPr>
                            <a:rPr kumimoji="1" lang="en-NZ" altLang="ja-JP" sz="2200" b="1" i="1" u="none" strike="noStrike" kern="1200" cap="none" spc="0" normalizeH="0" baseline="0" noProof="0">
                              <a:ln>
                                <a:noFill/>
                              </a:ln>
                              <a:solidFill>
                                <a:srgbClr val="C00000"/>
                              </a:solidFill>
                              <a:effectLst/>
                              <a:uLnTx/>
                              <a:uFillTx/>
                              <a:latin typeface="Cambria Math" panose="02040503050406030204" pitchFamily="18" charset="0"/>
                              <a:cs typeface="+mn-cs"/>
                            </a:rPr>
                          </m:ctrlPr>
                        </m:dPr>
                        <m:e>
                          <m:sSub>
                            <m:sSubPr>
                              <m:ctrlPr>
                                <a:rPr kumimoji="1" lang="en-NZ" altLang="ja-JP" sz="2200" b="1" i="1" u="none" strike="noStrike" kern="1200" cap="none" spc="0" normalizeH="0" baseline="0" noProof="0">
                                  <a:ln>
                                    <a:noFill/>
                                  </a:ln>
                                  <a:solidFill>
                                    <a:srgbClr val="C00000"/>
                                  </a:solidFill>
                                  <a:effectLst/>
                                  <a:uLnTx/>
                                  <a:uFillTx/>
                                  <a:latin typeface="Cambria Math" panose="02040503050406030204" pitchFamily="18" charset="0"/>
                                  <a:cs typeface="+mn-cs"/>
                                </a:rPr>
                              </m:ctrlPr>
                            </m:sSubPr>
                            <m:e>
                              <m:r>
                                <a:rPr kumimoji="1" lang="en-NZ" altLang="ja-JP" sz="2200" b="1" i="1" u="none" strike="noStrike" kern="1200" cap="none" spc="0" normalizeH="0" baseline="0" noProof="0">
                                  <a:ln>
                                    <a:noFill/>
                                  </a:ln>
                                  <a:solidFill>
                                    <a:srgbClr val="C00000"/>
                                  </a:solidFill>
                                  <a:effectLst/>
                                  <a:uLnTx/>
                                  <a:uFillTx/>
                                  <a:latin typeface="Cambria Math" panose="02040503050406030204" pitchFamily="18" charset="0"/>
                                  <a:cs typeface="+mn-cs"/>
                                </a:rPr>
                                <m:t>𝒀</m:t>
                              </m:r>
                            </m:e>
                            <m:sub>
                              <m:r>
                                <a:rPr kumimoji="1" lang="en-NZ" altLang="ja-JP" sz="2200" b="1" i="1" u="none" strike="noStrike" kern="1200" cap="none" spc="0" normalizeH="0" baseline="0" noProof="0">
                                  <a:ln>
                                    <a:noFill/>
                                  </a:ln>
                                  <a:solidFill>
                                    <a:srgbClr val="C00000"/>
                                  </a:solidFill>
                                  <a:effectLst/>
                                  <a:uLnTx/>
                                  <a:uFillTx/>
                                  <a:latin typeface="Cambria Math" panose="02040503050406030204" pitchFamily="18" charset="0"/>
                                  <a:cs typeface="+mn-cs"/>
                                </a:rPr>
                                <m:t>𝒊𝒋𝒌</m:t>
                              </m:r>
                            </m:sub>
                          </m:sSub>
                          <m:r>
                            <a:rPr kumimoji="1" lang="en-NZ" altLang="ja-JP" sz="2200" b="1" i="1" u="none" strike="noStrike" kern="1200" cap="none" spc="0" normalizeH="0" baseline="0" noProof="0" smtClean="0">
                              <a:ln>
                                <a:noFill/>
                              </a:ln>
                              <a:solidFill>
                                <a:srgbClr val="C00000"/>
                              </a:solidFill>
                              <a:effectLst/>
                              <a:uLnTx/>
                              <a:uFillTx/>
                              <a:latin typeface="Cambria Math" panose="02040503050406030204" pitchFamily="18" charset="0"/>
                              <a:cs typeface="+mn-cs"/>
                            </a:rPr>
                            <m:t> −</m:t>
                          </m:r>
                          <m:sSub>
                            <m:sSubPr>
                              <m:ctrlPr>
                                <a:rPr kumimoji="1" lang="en-NZ" altLang="ja-JP" sz="2200" b="1" i="1" u="none" strike="noStrike" kern="1200" cap="none" spc="0" normalizeH="0" baseline="0" noProof="0">
                                  <a:ln>
                                    <a:noFill/>
                                  </a:ln>
                                  <a:solidFill>
                                    <a:srgbClr val="C00000"/>
                                  </a:solidFill>
                                  <a:effectLst/>
                                  <a:uLnTx/>
                                  <a:uFillTx/>
                                  <a:latin typeface="Cambria Math" panose="02040503050406030204" pitchFamily="18" charset="0"/>
                                  <a:cs typeface="+mn-cs"/>
                                </a:rPr>
                              </m:ctrlPr>
                            </m:sSubPr>
                            <m:e>
                              <m:r>
                                <a:rPr kumimoji="1" lang="en-NZ" altLang="ja-JP" sz="2200" b="1" i="1" u="none" strike="noStrike" kern="1200" cap="none" spc="0" normalizeH="0" baseline="0" noProof="0" smtClean="0">
                                  <a:ln>
                                    <a:noFill/>
                                  </a:ln>
                                  <a:solidFill>
                                    <a:srgbClr val="C00000"/>
                                  </a:solidFill>
                                  <a:effectLst/>
                                  <a:uLnTx/>
                                  <a:uFillTx/>
                                  <a:latin typeface="Cambria Math" panose="02040503050406030204" pitchFamily="18" charset="0"/>
                                  <a:cs typeface="+mn-cs"/>
                                </a:rPr>
                                <m:t> </m:t>
                              </m:r>
                              <m:acc>
                                <m:accPr>
                                  <m:chr m:val="̅"/>
                                  <m:ctrlPr>
                                    <a:rPr kumimoji="1" lang="en-NZ" altLang="ja-JP" sz="2200" b="1" i="1" u="none" strike="noStrike" kern="1200" cap="none" spc="0" normalizeH="0" baseline="0" noProof="0">
                                      <a:ln>
                                        <a:noFill/>
                                      </a:ln>
                                      <a:solidFill>
                                        <a:srgbClr val="C00000"/>
                                      </a:solidFill>
                                      <a:effectLst/>
                                      <a:uLnTx/>
                                      <a:uFillTx/>
                                      <a:latin typeface="Cambria Math" panose="02040503050406030204" pitchFamily="18" charset="0"/>
                                      <a:cs typeface="+mn-cs"/>
                                    </a:rPr>
                                  </m:ctrlPr>
                                </m:accPr>
                                <m:e>
                                  <m:r>
                                    <a:rPr kumimoji="1" lang="en-NZ" altLang="ja-JP" sz="2200" b="1" i="1" u="none" strike="noStrike" kern="1200" cap="none" spc="0" normalizeH="0" baseline="0" noProof="0">
                                      <a:ln>
                                        <a:noFill/>
                                      </a:ln>
                                      <a:solidFill>
                                        <a:srgbClr val="C00000"/>
                                      </a:solidFill>
                                      <a:effectLst/>
                                      <a:uLnTx/>
                                      <a:uFillTx/>
                                      <a:latin typeface="Cambria Math" panose="02040503050406030204" pitchFamily="18" charset="0"/>
                                      <a:cs typeface="+mn-cs"/>
                                    </a:rPr>
                                    <m:t>𝒀</m:t>
                                  </m:r>
                                </m:e>
                              </m:acc>
                            </m:e>
                            <m:sub>
                              <m:r>
                                <a:rPr kumimoji="1" lang="en-NZ" altLang="ja-JP" sz="22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𝒊𝒋</m:t>
                              </m:r>
                              <m:r>
                                <a:rPr kumimoji="1" lang="en-NZ" altLang="ja-JP" sz="2200" b="1" i="1" u="none" strike="noStrike" kern="1200" cap="none" spc="0" normalizeH="0" baseline="0" noProof="0">
                                  <a:ln>
                                    <a:noFill/>
                                  </a:ln>
                                  <a:solidFill>
                                    <a:srgbClr val="C00000"/>
                                  </a:solidFill>
                                  <a:effectLst/>
                                  <a:uLnTx/>
                                  <a:uFillTx/>
                                  <a:latin typeface="Cambria Math" panose="02040503050406030204" pitchFamily="18" charset="0"/>
                                  <a:ea typeface="Cambria Math" panose="02040503050406030204" pitchFamily="18" charset="0"/>
                                  <a:cs typeface="+mn-cs"/>
                                </a:rPr>
                                <m:t>∙</m:t>
                              </m:r>
                            </m:sub>
                          </m:sSub>
                          <m:r>
                            <a:rPr kumimoji="1" lang="en-NZ" altLang="ja-JP" sz="2200" b="1" i="1" u="none" strike="noStrike" kern="1200" cap="none" spc="0" normalizeH="0" baseline="0" noProof="0">
                              <a:ln>
                                <a:noFill/>
                              </a:ln>
                              <a:solidFill>
                                <a:srgbClr val="C00000"/>
                              </a:solidFill>
                              <a:effectLst/>
                              <a:uLnTx/>
                              <a:uFillTx/>
                              <a:latin typeface="Cambria Math" panose="02040503050406030204" pitchFamily="18" charset="0"/>
                              <a:ea typeface="Cambria Math" panose="02040503050406030204" pitchFamily="18" charset="0"/>
                              <a:cs typeface="+mn-cs"/>
                            </a:rPr>
                            <m:t> </m:t>
                          </m:r>
                        </m:e>
                      </m:d>
                    </m:oMath>
                  </m:oMathPara>
                </a14:m>
                <a:endParaRPr kumimoji="1" lang="en-NZ" altLang="ja-JP" sz="22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p:txBody>
          </p:sp>
        </mc:Choice>
        <mc:Fallback xmlns="">
          <p:sp>
            <p:nvSpPr>
              <p:cNvPr id="21" name="Text Placeholder 5">
                <a:extLst>
                  <a:ext uri="{FF2B5EF4-FFF2-40B4-BE49-F238E27FC236}">
                    <a16:creationId xmlns:a16="http://schemas.microsoft.com/office/drawing/2014/main" id="{31175F7B-BBF0-10DE-1496-6FAC04E3477E}"/>
                  </a:ext>
                </a:extLst>
              </p:cNvPr>
              <p:cNvSpPr txBox="1">
                <a:spLocks noRot="1" noChangeAspect="1" noMove="1" noResize="1" noEditPoints="1" noAdjustHandles="1" noChangeArrowheads="1" noChangeShapeType="1" noTextEdit="1"/>
              </p:cNvSpPr>
              <p:nvPr/>
            </p:nvSpPr>
            <p:spPr>
              <a:xfrm>
                <a:off x="251223" y="1035263"/>
                <a:ext cx="11232109" cy="497400"/>
              </a:xfrm>
              <a:prstGeom prst="rect">
                <a:avLst/>
              </a:prstGeom>
              <a:blipFill>
                <a:blip r:embed="rId6"/>
                <a:stretch>
                  <a:fillRect b="-7407"/>
                </a:stretch>
              </a:blipFill>
            </p:spPr>
            <p:txBody>
              <a:bodyPr/>
              <a:lstStyle/>
              <a:p>
                <a:r>
                  <a:rPr lang="en-NZ">
                    <a:noFill/>
                  </a:rPr>
                  <a:t> </a:t>
                </a:r>
              </a:p>
            </p:txBody>
          </p:sp>
        </mc:Fallback>
      </mc:AlternateContent>
      <p:sp>
        <p:nvSpPr>
          <p:cNvPr id="22" name="Footer Placeholder 2">
            <a:extLst>
              <a:ext uri="{FF2B5EF4-FFF2-40B4-BE49-F238E27FC236}">
                <a16:creationId xmlns:a16="http://schemas.microsoft.com/office/drawing/2014/main" id="{19DF3065-3538-F202-1605-E49CE57FED85}"/>
              </a:ext>
            </a:extLst>
          </p:cNvPr>
          <p:cNvSpPr txBox="1">
            <a:spLocks/>
          </p:cNvSpPr>
          <p:nvPr/>
        </p:nvSpPr>
        <p:spPr>
          <a:xfrm>
            <a:off x="8775510" y="86139"/>
            <a:ext cx="3313855"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600" dirty="0">
                <a:solidFill>
                  <a:srgbClr val="DEDDDD"/>
                </a:solidFill>
                <a:latin typeface="Gidole"/>
                <a:ea typeface="游ゴシック" panose="020B0400000000000000" pitchFamily="34" charset="-128"/>
              </a:rPr>
              <a:t>5</a:t>
            </a:r>
            <a:r>
              <a:rPr kumimoji="1" lang="en-US" altLang="ja-JP"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rPr>
              <a:t>.2 – Two Stage Nested Design</a:t>
            </a:r>
            <a:endParaRPr kumimoji="1" lang="ja-JP" altLang="en-US"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endParaRPr>
          </a:p>
        </p:txBody>
      </p:sp>
    </p:spTree>
    <p:extLst>
      <p:ext uri="{BB962C8B-B14F-4D97-AF65-F5344CB8AC3E}">
        <p14:creationId xmlns:p14="http://schemas.microsoft.com/office/powerpoint/2010/main" val="36178089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5"/>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6"/>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7"/>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5" grpId="0"/>
      <p:bldP spid="16" grpId="0"/>
      <p:bldP spid="18" grpId="0"/>
      <p:bldP spid="24" grpId="0"/>
      <p:bldP spid="25" grpId="0"/>
      <p:bldP spid="26" grpId="0"/>
      <p:bldP spid="27" grpId="0"/>
      <p:bldP spid="28" grpId="0"/>
      <p:bldP spid="29"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Slide Number Placeholder 3">
            <a:extLst>
              <a:ext uri="{FF2B5EF4-FFF2-40B4-BE49-F238E27FC236}">
                <a16:creationId xmlns:a16="http://schemas.microsoft.com/office/drawing/2014/main" id="{B0C9041D-77F0-4656-90D4-0E84B7AC6B27}"/>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54AD89C-DF1E-4948-B597-5DD47B34A9CA}" type="slidenum">
              <a:rPr kumimoji="1" lang="ja-JP" altLang="en-US" sz="4000" b="0" i="0" u="none" strike="noStrike" kern="1200" cap="none" spc="0" normalizeH="0" baseline="0" noProof="0" smtClean="0">
                <a:ln>
                  <a:noFill/>
                </a:ln>
                <a:solidFill>
                  <a:srgbClr val="575454">
                    <a:lumMod val="20000"/>
                    <a:lumOff val="80000"/>
                  </a:srgbClr>
                </a:solidFill>
                <a:effectLst/>
                <a:uLnTx/>
                <a:uFillTx/>
                <a:latin typeface="Coo Hew"/>
                <a:ea typeface="游ゴシック" panose="020B0400000000000000"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1" lang="ja-JP" altLang="en-US" sz="4000" b="0" i="0" u="none" strike="noStrike" kern="1200" cap="none" spc="0" normalizeH="0" baseline="0" noProof="0" dirty="0">
              <a:ln>
                <a:noFill/>
              </a:ln>
              <a:solidFill>
                <a:srgbClr val="575454">
                  <a:lumMod val="20000"/>
                  <a:lumOff val="80000"/>
                </a:srgbClr>
              </a:solidFill>
              <a:effectLst/>
              <a:uLnTx/>
              <a:uFillTx/>
              <a:latin typeface="Coo Hew"/>
              <a:ea typeface="游ゴシック" panose="020B0400000000000000" pitchFamily="34" charset="-128"/>
              <a:cs typeface="+mn-cs"/>
            </a:endParaRPr>
          </a:p>
        </p:txBody>
      </p:sp>
      <p:sp>
        <p:nvSpPr>
          <p:cNvPr id="11" name="Text Placeholder 5">
            <a:extLst>
              <a:ext uri="{FF2B5EF4-FFF2-40B4-BE49-F238E27FC236}">
                <a16:creationId xmlns:a16="http://schemas.microsoft.com/office/drawing/2014/main" id="{7E7A8B0B-25DA-1474-CB37-F42D497A1EF6}"/>
              </a:ext>
            </a:extLst>
          </p:cNvPr>
          <p:cNvSpPr txBox="1">
            <a:spLocks/>
          </p:cNvSpPr>
          <p:nvPr/>
        </p:nvSpPr>
        <p:spPr>
          <a:xfrm>
            <a:off x="251220" y="996728"/>
            <a:ext cx="11621464" cy="67534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The ANOVA table below shows all the relevant degrees of freedom, sums of squares, mean squares, expected mean squares and F-Statistics for a mixed effects two stage nested design  </a:t>
            </a: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p:txBody>
      </p:sp>
      <mc:AlternateContent xmlns:mc="http://schemas.openxmlformats.org/markup-compatibility/2006" xmlns:a14="http://schemas.microsoft.com/office/drawing/2010/main">
        <mc:Choice Requires="a14">
          <p:graphicFrame>
            <p:nvGraphicFramePr>
              <p:cNvPr id="12" name="Table 2">
                <a:extLst>
                  <a:ext uri="{FF2B5EF4-FFF2-40B4-BE49-F238E27FC236}">
                    <a16:creationId xmlns:a16="http://schemas.microsoft.com/office/drawing/2014/main" id="{AC09C63B-DEDA-11CA-1297-AF6E4CB7A985}"/>
                  </a:ext>
                </a:extLst>
              </p:cNvPr>
              <p:cNvGraphicFramePr>
                <a:graphicFrameLocks noGrp="1"/>
              </p:cNvGraphicFramePr>
              <p:nvPr>
                <p:extLst>
                  <p:ext uri="{D42A27DB-BD31-4B8C-83A1-F6EECF244321}">
                    <p14:modId xmlns:p14="http://schemas.microsoft.com/office/powerpoint/2010/main" val="2615685821"/>
                  </p:ext>
                </p:extLst>
              </p:nvPr>
            </p:nvGraphicFramePr>
            <p:xfrm>
              <a:off x="382137" y="1823765"/>
              <a:ext cx="11490547" cy="2123440"/>
            </p:xfrm>
            <a:graphic>
              <a:graphicData uri="http://schemas.openxmlformats.org/drawingml/2006/table">
                <a:tbl>
                  <a:tblPr firstRow="1" bandRow="1">
                    <a:tableStyleId>{5C22544A-7EE6-4342-B048-85BDC9FD1C3A}</a:tableStyleId>
                  </a:tblPr>
                  <a:tblGrid>
                    <a:gridCol w="1583141">
                      <a:extLst>
                        <a:ext uri="{9D8B030D-6E8A-4147-A177-3AD203B41FA5}">
                          <a16:colId xmlns:a16="http://schemas.microsoft.com/office/drawing/2014/main" val="4198110682"/>
                        </a:ext>
                      </a:extLst>
                    </a:gridCol>
                    <a:gridCol w="1037229">
                      <a:extLst>
                        <a:ext uri="{9D8B030D-6E8A-4147-A177-3AD203B41FA5}">
                          <a16:colId xmlns:a16="http://schemas.microsoft.com/office/drawing/2014/main" val="292302729"/>
                        </a:ext>
                      </a:extLst>
                    </a:gridCol>
                    <a:gridCol w="1419368">
                      <a:extLst>
                        <a:ext uri="{9D8B030D-6E8A-4147-A177-3AD203B41FA5}">
                          <a16:colId xmlns:a16="http://schemas.microsoft.com/office/drawing/2014/main" val="126256495"/>
                        </a:ext>
                      </a:extLst>
                    </a:gridCol>
                    <a:gridCol w="2729552">
                      <a:extLst>
                        <a:ext uri="{9D8B030D-6E8A-4147-A177-3AD203B41FA5}">
                          <a16:colId xmlns:a16="http://schemas.microsoft.com/office/drawing/2014/main" val="477450593"/>
                        </a:ext>
                      </a:extLst>
                    </a:gridCol>
                    <a:gridCol w="2788657">
                      <a:extLst>
                        <a:ext uri="{9D8B030D-6E8A-4147-A177-3AD203B41FA5}">
                          <a16:colId xmlns:a16="http://schemas.microsoft.com/office/drawing/2014/main" val="3785429377"/>
                        </a:ext>
                      </a:extLst>
                    </a:gridCol>
                    <a:gridCol w="1932600">
                      <a:extLst>
                        <a:ext uri="{9D8B030D-6E8A-4147-A177-3AD203B41FA5}">
                          <a16:colId xmlns:a16="http://schemas.microsoft.com/office/drawing/2014/main" val="1101540161"/>
                        </a:ext>
                      </a:extLst>
                    </a:gridCol>
                  </a:tblGrid>
                  <a:tr h="370840">
                    <a:tc>
                      <a:txBody>
                        <a:bodyPr/>
                        <a:lstStyle/>
                        <a:p>
                          <a:pPr algn="ctr"/>
                          <a:r>
                            <a:rPr lang="en-NZ" dirty="0"/>
                            <a:t>Source of Variation</a:t>
                          </a:r>
                        </a:p>
                      </a:txBody>
                      <a:tcPr anchor="ctr"/>
                    </a:tc>
                    <a:tc>
                      <a:txBody>
                        <a:bodyPr/>
                        <a:lstStyle/>
                        <a:p>
                          <a:pPr algn="ctr"/>
                          <a:r>
                            <a:rPr lang="en-NZ" dirty="0" err="1"/>
                            <a:t>df</a:t>
                          </a:r>
                          <a:endParaRPr lang="en-NZ" dirty="0"/>
                        </a:p>
                      </a:txBody>
                      <a:tcPr anchor="ctr"/>
                    </a:tc>
                    <a:tc>
                      <a:txBody>
                        <a:bodyPr/>
                        <a:lstStyle/>
                        <a:p>
                          <a:pPr algn="ctr"/>
                          <a:r>
                            <a:rPr lang="en-NZ" dirty="0"/>
                            <a:t>SS</a:t>
                          </a:r>
                        </a:p>
                      </a:txBody>
                      <a:tcPr anchor="ctr"/>
                    </a:tc>
                    <a:tc>
                      <a:txBody>
                        <a:bodyPr/>
                        <a:lstStyle/>
                        <a:p>
                          <a:pPr algn="ctr"/>
                          <a:r>
                            <a:rPr lang="en-NZ" dirty="0"/>
                            <a:t>Mean Square</a:t>
                          </a:r>
                        </a:p>
                      </a:txBody>
                      <a:tcPr anchor="ctr"/>
                    </a:tc>
                    <a:tc>
                      <a:txBody>
                        <a:bodyPr/>
                        <a:lstStyle/>
                        <a:p>
                          <a:pPr algn="ctr"/>
                          <a:r>
                            <a:rPr lang="en-NZ" dirty="0"/>
                            <a:t>E [ Mean Squares ]</a:t>
                          </a:r>
                        </a:p>
                      </a:txBody>
                      <a:tcPr anchor="ctr"/>
                    </a:tc>
                    <a:tc>
                      <a:txBody>
                        <a:bodyPr/>
                        <a:lstStyle/>
                        <a:p>
                          <a:pPr algn="ctr"/>
                          <a:r>
                            <a:rPr lang="en-NZ" dirty="0"/>
                            <a:t>F-Statistic</a:t>
                          </a:r>
                        </a:p>
                      </a:txBody>
                      <a:tcPr anchor="ctr"/>
                    </a:tc>
                    <a:extLst>
                      <a:ext uri="{0D108BD9-81ED-4DB2-BD59-A6C34878D82A}">
                        <a16:rowId xmlns:a16="http://schemas.microsoft.com/office/drawing/2014/main" val="3666350365"/>
                      </a:ext>
                    </a:extLst>
                  </a:tr>
                  <a:tr h="370840">
                    <a:tc>
                      <a:txBody>
                        <a:bodyPr/>
                        <a:lstStyle/>
                        <a:p>
                          <a:pPr algn="ctr"/>
                          <a:r>
                            <a:rPr lang="en-NZ" dirty="0"/>
                            <a:t>Total</a:t>
                          </a:r>
                        </a:p>
                      </a:txBody>
                      <a:tcPr anchor="ctr"/>
                    </a:tc>
                    <a:tc>
                      <a:txBody>
                        <a:bodyPr/>
                        <a:lstStyle/>
                        <a:p>
                          <a:pPr algn="ctr"/>
                          <a:r>
                            <a:rPr lang="en-NZ" dirty="0"/>
                            <a:t>abn-1</a:t>
                          </a:r>
                        </a:p>
                      </a:txBody>
                      <a:tcPr anchor="ctr"/>
                    </a:tc>
                    <a:tc>
                      <a:txBody>
                        <a:bodyPr/>
                        <a:lstStyle/>
                        <a:p>
                          <a:pPr algn="ctr"/>
                          <a:r>
                            <a:rPr lang="en-NZ" dirty="0"/>
                            <a:t>TSS</a:t>
                          </a:r>
                        </a:p>
                      </a:txBody>
                      <a:tcPr anchor="ctr"/>
                    </a:tc>
                    <a:tc>
                      <a:txBody>
                        <a:bodyPr/>
                        <a:lstStyle/>
                        <a:p>
                          <a:pPr algn="ctr"/>
                          <a:endParaRPr lang="en-NZ" dirty="0"/>
                        </a:p>
                      </a:txBody>
                      <a:tcPr anchor="ctr"/>
                    </a:tc>
                    <a:tc>
                      <a:txBody>
                        <a:bodyPr/>
                        <a:lstStyle/>
                        <a:p>
                          <a:pPr algn="ctr"/>
                          <a:endParaRPr lang="en-NZ" dirty="0"/>
                        </a:p>
                      </a:txBody>
                      <a:tcPr anchor="ctr"/>
                    </a:tc>
                    <a:tc>
                      <a:txBody>
                        <a:bodyPr/>
                        <a:lstStyle/>
                        <a:p>
                          <a:pPr algn="ctr"/>
                          <a:endParaRPr lang="en-NZ" dirty="0"/>
                        </a:p>
                      </a:txBody>
                      <a:tcPr anchor="ctr"/>
                    </a:tc>
                    <a:extLst>
                      <a:ext uri="{0D108BD9-81ED-4DB2-BD59-A6C34878D82A}">
                        <a16:rowId xmlns:a16="http://schemas.microsoft.com/office/drawing/2014/main" val="3341485952"/>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NZ" dirty="0"/>
                            <a:t>A</a:t>
                          </a:r>
                        </a:p>
                      </a:txBody>
                      <a:tcPr anchor="ctr"/>
                    </a:tc>
                    <a:tc>
                      <a:txBody>
                        <a:bodyPr/>
                        <a:lstStyle/>
                        <a:p>
                          <a:pPr algn="ctr"/>
                          <a:r>
                            <a:rPr lang="en-NZ" dirty="0"/>
                            <a:t>a-1</a:t>
                          </a:r>
                        </a:p>
                      </a:txBody>
                      <a:tcPr anchor="ctr"/>
                    </a:tc>
                    <a:tc>
                      <a:txBody>
                        <a:bodyPr/>
                        <a:lstStyle/>
                        <a:p>
                          <a:pPr algn="ctr"/>
                          <a:r>
                            <a:rPr lang="en-NZ" dirty="0"/>
                            <a:t>SS</a:t>
                          </a:r>
                          <a:r>
                            <a:rPr lang="en-NZ" baseline="-25000" dirty="0"/>
                            <a:t>A</a:t>
                          </a:r>
                          <a:endParaRPr lang="en-NZ" dirty="0"/>
                        </a:p>
                      </a:txBody>
                      <a:tcPr anchor="ctr"/>
                    </a:tc>
                    <a:tc>
                      <a:txBody>
                        <a:bodyPr/>
                        <a:lstStyle/>
                        <a:p>
                          <a:pPr algn="ctr"/>
                          <a:r>
                            <a:rPr lang="en-NZ" dirty="0"/>
                            <a:t>MS</a:t>
                          </a:r>
                          <a:r>
                            <a:rPr lang="en-NZ" baseline="-25000" dirty="0"/>
                            <a:t>A</a:t>
                          </a:r>
                          <a:r>
                            <a:rPr lang="en-NZ" dirty="0"/>
                            <a:t> = SS</a:t>
                          </a:r>
                          <a:r>
                            <a:rPr lang="en-NZ" baseline="-25000" dirty="0"/>
                            <a:t>A</a:t>
                          </a:r>
                          <a:r>
                            <a:rPr lang="en-NZ" dirty="0"/>
                            <a:t> / (a-1)</a:t>
                          </a:r>
                        </a:p>
                      </a:txBody>
                      <a:tcPr anchor="ctr"/>
                    </a:tc>
                    <a:tc>
                      <a:txBody>
                        <a:bodyPr/>
                        <a:lstStyle/>
                        <a:p>
                          <a:pPr algn="ctr"/>
                          <a14:m>
                            <m:oMathPara xmlns:m="http://schemas.openxmlformats.org/officeDocument/2006/math">
                              <m:oMathParaPr>
                                <m:jc m:val="centerGroup"/>
                              </m:oMathParaPr>
                              <m:oMath xmlns:m="http://schemas.openxmlformats.org/officeDocument/2006/math">
                                <m:sSup>
                                  <m:sSupPr>
                                    <m:ctrlPr>
                                      <a:rPr lang="en-NZ" b="0" i="1" smtClean="0">
                                        <a:latin typeface="Cambria Math" panose="02040503050406030204" pitchFamily="18" charset="0"/>
                                      </a:rPr>
                                    </m:ctrlPr>
                                  </m:sSupPr>
                                  <m:e>
                                    <m:r>
                                      <a:rPr lang="en-NZ" b="0" i="1" smtClean="0">
                                        <a:latin typeface="Cambria Math" panose="02040503050406030204" pitchFamily="18" charset="0"/>
                                      </a:rPr>
                                      <m:t>𝜎</m:t>
                                    </m:r>
                                  </m:e>
                                  <m:sup>
                                    <m:r>
                                      <a:rPr lang="en-NZ" b="0" i="1" smtClean="0">
                                        <a:latin typeface="Cambria Math" panose="02040503050406030204" pitchFamily="18" charset="0"/>
                                      </a:rPr>
                                      <m:t>2</m:t>
                                    </m:r>
                                  </m:sup>
                                </m:sSup>
                                <m:r>
                                  <a:rPr lang="en-NZ" b="0" i="1" smtClean="0">
                                    <a:latin typeface="Cambria Math" panose="02040503050406030204" pitchFamily="18" charset="0"/>
                                  </a:rPr>
                                  <m:t>+  </m:t>
                                </m:r>
                                <m:r>
                                  <a:rPr lang="en-NZ" b="0" i="1" smtClean="0">
                                    <a:latin typeface="Cambria Math" panose="02040503050406030204" pitchFamily="18" charset="0"/>
                                  </a:rPr>
                                  <m:t>𝑛</m:t>
                                </m:r>
                                <m:r>
                                  <a:rPr lang="en-NZ" b="0" i="1" smtClean="0">
                                    <a:latin typeface="Cambria Math" panose="02040503050406030204" pitchFamily="18" charset="0"/>
                                  </a:rPr>
                                  <m:t> </m:t>
                                </m:r>
                                <m:sSubSup>
                                  <m:sSubSupPr>
                                    <m:ctrlPr>
                                      <a:rPr lang="en-NZ" b="0" i="1" smtClean="0">
                                        <a:latin typeface="Cambria Math" panose="02040503050406030204" pitchFamily="18" charset="0"/>
                                      </a:rPr>
                                    </m:ctrlPr>
                                  </m:sSubSupPr>
                                  <m:e>
                                    <m:r>
                                      <a:rPr lang="en-NZ" b="0" i="1" smtClean="0">
                                        <a:latin typeface="Cambria Math" panose="02040503050406030204" pitchFamily="18" charset="0"/>
                                      </a:rPr>
                                      <m:t>𝜎</m:t>
                                    </m:r>
                                  </m:e>
                                  <m:sub>
                                    <m:r>
                                      <a:rPr lang="en-NZ" b="0" i="1" smtClean="0">
                                        <a:latin typeface="Cambria Math" panose="02040503050406030204" pitchFamily="18" charset="0"/>
                                      </a:rPr>
                                      <m:t>𝐵</m:t>
                                    </m:r>
                                  </m:sub>
                                  <m:sup>
                                    <m:r>
                                      <a:rPr lang="en-NZ" b="0" i="1" smtClean="0">
                                        <a:latin typeface="Cambria Math" panose="02040503050406030204" pitchFamily="18" charset="0"/>
                                      </a:rPr>
                                      <m:t>2</m:t>
                                    </m:r>
                                  </m:sup>
                                </m:sSubSup>
                                <m:r>
                                  <a:rPr lang="en-NZ" b="0" i="1" smtClean="0">
                                    <a:latin typeface="Cambria Math" panose="02040503050406030204" pitchFamily="18" charset="0"/>
                                  </a:rPr>
                                  <m:t> +  </m:t>
                                </m:r>
                                <m:r>
                                  <a:rPr lang="en-NZ" b="0" i="1" smtClean="0">
                                    <a:latin typeface="Cambria Math" panose="02040503050406030204" pitchFamily="18" charset="0"/>
                                  </a:rPr>
                                  <m:t>𝑏𝑛</m:t>
                                </m:r>
                                <m:r>
                                  <a:rPr lang="en-NZ" b="0" i="1" smtClean="0">
                                    <a:latin typeface="Cambria Math" panose="02040503050406030204" pitchFamily="18" charset="0"/>
                                  </a:rPr>
                                  <m:t> </m:t>
                                </m:r>
                                <m:r>
                                  <a:rPr lang="en-NZ" b="0" i="1" smtClean="0">
                                    <a:latin typeface="Cambria Math" panose="02040503050406030204" pitchFamily="18" charset="0"/>
                                  </a:rPr>
                                  <m:t>𝑣</m:t>
                                </m:r>
                                <m:d>
                                  <m:dPr>
                                    <m:ctrlPr>
                                      <a:rPr lang="en-NZ" b="0" i="1" smtClean="0">
                                        <a:latin typeface="Cambria Math" panose="02040503050406030204" pitchFamily="18" charset="0"/>
                                      </a:rPr>
                                    </m:ctrlPr>
                                  </m:dPr>
                                  <m:e>
                                    <m:r>
                                      <a:rPr lang="en-NZ" b="0" i="1" smtClean="0">
                                        <a:latin typeface="Cambria Math" panose="02040503050406030204" pitchFamily="18" charset="0"/>
                                      </a:rPr>
                                      <m:t>𝛼</m:t>
                                    </m:r>
                                  </m:e>
                                </m:d>
                              </m:oMath>
                            </m:oMathPara>
                          </a14:m>
                          <a:endParaRPr lang="en-NZ" dirty="0"/>
                        </a:p>
                      </a:txBody>
                      <a:tcPr anchor="ctr"/>
                    </a:tc>
                    <a:tc>
                      <a:txBody>
                        <a:bodyPr/>
                        <a:lstStyle/>
                        <a:p>
                          <a:pPr algn="ctr"/>
                          <a:r>
                            <a:rPr lang="en-NZ" dirty="0"/>
                            <a:t>MS</a:t>
                          </a:r>
                          <a:r>
                            <a:rPr lang="en-NZ" baseline="-25000" dirty="0"/>
                            <a:t>A</a:t>
                          </a:r>
                          <a:r>
                            <a:rPr lang="en-NZ" dirty="0"/>
                            <a:t> / MS</a:t>
                          </a:r>
                          <a:r>
                            <a:rPr lang="en-NZ" baseline="-25000" dirty="0"/>
                            <a:t>B(A)</a:t>
                          </a:r>
                          <a:endParaRPr lang="en-NZ" dirty="0"/>
                        </a:p>
                      </a:txBody>
                      <a:tcPr anchor="ctr"/>
                    </a:tc>
                    <a:extLst>
                      <a:ext uri="{0D108BD9-81ED-4DB2-BD59-A6C34878D82A}">
                        <a16:rowId xmlns:a16="http://schemas.microsoft.com/office/drawing/2014/main" val="443198030"/>
                      </a:ext>
                    </a:extLst>
                  </a:tr>
                  <a:tr h="370840">
                    <a:tc>
                      <a:txBody>
                        <a:bodyPr/>
                        <a:lstStyle/>
                        <a:p>
                          <a:pPr algn="ctr"/>
                          <a:r>
                            <a:rPr lang="en-NZ" dirty="0"/>
                            <a:t>B(A)</a:t>
                          </a:r>
                        </a:p>
                      </a:txBody>
                      <a:tcPr anchor="ctr"/>
                    </a:tc>
                    <a:tc>
                      <a:txBody>
                        <a:bodyPr/>
                        <a:lstStyle/>
                        <a:p>
                          <a:pPr algn="ctr"/>
                          <a:r>
                            <a:rPr lang="en-NZ" dirty="0"/>
                            <a:t>a(b-1)</a:t>
                          </a:r>
                        </a:p>
                      </a:txBody>
                      <a:tcPr anchor="ctr"/>
                    </a:tc>
                    <a:tc>
                      <a:txBody>
                        <a:bodyPr/>
                        <a:lstStyle/>
                        <a:p>
                          <a:pPr algn="ctr"/>
                          <a:r>
                            <a:rPr lang="en-NZ" dirty="0"/>
                            <a:t>SS</a:t>
                          </a:r>
                          <a:r>
                            <a:rPr lang="en-NZ" baseline="-25000" dirty="0"/>
                            <a:t>B(A)</a:t>
                          </a:r>
                          <a:endParaRPr lang="en-NZ" dirty="0"/>
                        </a:p>
                      </a:txBody>
                      <a:tcPr anchor="ctr"/>
                    </a:tc>
                    <a:tc>
                      <a:txBody>
                        <a:bodyPr/>
                        <a:lstStyle/>
                        <a:p>
                          <a:pPr algn="ctr"/>
                          <a:r>
                            <a:rPr lang="en-NZ" dirty="0"/>
                            <a:t>MS</a:t>
                          </a:r>
                          <a:r>
                            <a:rPr lang="en-NZ" baseline="-25000" dirty="0"/>
                            <a:t>B(A)</a:t>
                          </a:r>
                          <a:r>
                            <a:rPr lang="en-NZ" dirty="0"/>
                            <a:t> = SS</a:t>
                          </a:r>
                          <a:r>
                            <a:rPr lang="en-NZ" baseline="-25000" dirty="0"/>
                            <a:t>B(A)</a:t>
                          </a:r>
                          <a:r>
                            <a:rPr lang="en-NZ" dirty="0"/>
                            <a:t> / [ a(b-1) ]</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p>
                                  <m:sSupPr>
                                    <m:ctrlPr>
                                      <a:rPr lang="en-NZ" b="0" i="1" smtClean="0">
                                        <a:latin typeface="Cambria Math" panose="02040503050406030204" pitchFamily="18" charset="0"/>
                                      </a:rPr>
                                    </m:ctrlPr>
                                  </m:sSupPr>
                                  <m:e>
                                    <m:r>
                                      <a:rPr lang="en-NZ" b="0" i="1" smtClean="0">
                                        <a:latin typeface="Cambria Math" panose="02040503050406030204" pitchFamily="18" charset="0"/>
                                      </a:rPr>
                                      <m:t>𝜎</m:t>
                                    </m:r>
                                  </m:e>
                                  <m:sup>
                                    <m:r>
                                      <a:rPr lang="en-NZ" b="0" i="1" smtClean="0">
                                        <a:latin typeface="Cambria Math" panose="02040503050406030204" pitchFamily="18" charset="0"/>
                                      </a:rPr>
                                      <m:t>2</m:t>
                                    </m:r>
                                  </m:sup>
                                </m:sSup>
                                <m:r>
                                  <a:rPr lang="en-NZ" b="0" i="1" smtClean="0">
                                    <a:latin typeface="Cambria Math" panose="02040503050406030204" pitchFamily="18" charset="0"/>
                                  </a:rPr>
                                  <m:t>+  </m:t>
                                </m:r>
                                <m:r>
                                  <a:rPr lang="en-NZ" b="0" i="1" smtClean="0">
                                    <a:latin typeface="Cambria Math" panose="02040503050406030204" pitchFamily="18" charset="0"/>
                                  </a:rPr>
                                  <m:t>𝑛</m:t>
                                </m:r>
                                <m:r>
                                  <a:rPr lang="en-NZ" b="0" i="1" smtClean="0">
                                    <a:latin typeface="Cambria Math" panose="02040503050406030204" pitchFamily="18" charset="0"/>
                                  </a:rPr>
                                  <m:t> </m:t>
                                </m:r>
                                <m:sSubSup>
                                  <m:sSubSupPr>
                                    <m:ctrlPr>
                                      <a:rPr lang="en-NZ" b="0" i="1" smtClean="0">
                                        <a:latin typeface="Cambria Math" panose="02040503050406030204" pitchFamily="18" charset="0"/>
                                      </a:rPr>
                                    </m:ctrlPr>
                                  </m:sSubSupPr>
                                  <m:e>
                                    <m:r>
                                      <a:rPr lang="en-NZ" b="0" i="1" smtClean="0">
                                        <a:latin typeface="Cambria Math" panose="02040503050406030204" pitchFamily="18" charset="0"/>
                                      </a:rPr>
                                      <m:t>𝜎</m:t>
                                    </m:r>
                                  </m:e>
                                  <m:sub>
                                    <m:r>
                                      <a:rPr lang="en-NZ" b="0" i="1" smtClean="0">
                                        <a:latin typeface="Cambria Math" panose="02040503050406030204" pitchFamily="18" charset="0"/>
                                      </a:rPr>
                                      <m:t>𝐵</m:t>
                                    </m:r>
                                  </m:sub>
                                  <m:sup>
                                    <m:r>
                                      <a:rPr lang="en-NZ" b="0" i="1" smtClean="0">
                                        <a:latin typeface="Cambria Math" panose="02040503050406030204" pitchFamily="18" charset="0"/>
                                      </a:rPr>
                                      <m:t>2</m:t>
                                    </m:r>
                                  </m:sup>
                                </m:sSubSup>
                              </m:oMath>
                            </m:oMathPara>
                          </a14:m>
                          <a:endParaRPr lang="en-NZ" dirty="0"/>
                        </a:p>
                      </a:txBody>
                      <a:tcPr anchor="ctr"/>
                    </a:tc>
                    <a:tc>
                      <a:txBody>
                        <a:bodyPr/>
                        <a:lstStyle/>
                        <a:p>
                          <a:pPr algn="ctr"/>
                          <a:r>
                            <a:rPr lang="en-NZ" dirty="0"/>
                            <a:t>MS</a:t>
                          </a:r>
                          <a:r>
                            <a:rPr lang="en-NZ" baseline="-25000" dirty="0"/>
                            <a:t>B(A)</a:t>
                          </a:r>
                          <a:r>
                            <a:rPr lang="en-NZ" dirty="0"/>
                            <a:t> / MSE</a:t>
                          </a:r>
                        </a:p>
                      </a:txBody>
                      <a:tcPr anchor="ctr"/>
                    </a:tc>
                    <a:extLst>
                      <a:ext uri="{0D108BD9-81ED-4DB2-BD59-A6C34878D82A}">
                        <a16:rowId xmlns:a16="http://schemas.microsoft.com/office/drawing/2014/main" val="3427382577"/>
                      </a:ext>
                    </a:extLst>
                  </a:tr>
                  <a:tr h="370840">
                    <a:tc>
                      <a:txBody>
                        <a:bodyPr/>
                        <a:lstStyle/>
                        <a:p>
                          <a:pPr algn="ctr"/>
                          <a:r>
                            <a:rPr lang="en-NZ" dirty="0"/>
                            <a:t>Residual</a:t>
                          </a:r>
                        </a:p>
                      </a:txBody>
                      <a:tcPr anchor="ctr"/>
                    </a:tc>
                    <a:tc>
                      <a:txBody>
                        <a:bodyPr/>
                        <a:lstStyle/>
                        <a:p>
                          <a:pPr algn="ctr"/>
                          <a:r>
                            <a:rPr lang="en-NZ" dirty="0"/>
                            <a:t>ab(n-1)</a:t>
                          </a:r>
                        </a:p>
                      </a:txBody>
                      <a:tcPr anchor="ctr"/>
                    </a:tc>
                    <a:tc>
                      <a:txBody>
                        <a:bodyPr/>
                        <a:lstStyle/>
                        <a:p>
                          <a:pPr algn="ctr"/>
                          <a:r>
                            <a:rPr lang="en-NZ" dirty="0"/>
                            <a:t>SSE</a:t>
                          </a:r>
                        </a:p>
                      </a:txBody>
                      <a:tcPr anchor="ctr"/>
                    </a:tc>
                    <a:tc>
                      <a:txBody>
                        <a:bodyPr/>
                        <a:lstStyle/>
                        <a:p>
                          <a:pPr algn="ctr"/>
                          <a:r>
                            <a:rPr lang="en-NZ" dirty="0"/>
                            <a:t>MSE = SSE / [ ab(n-1) ]</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p>
                                  <m:sSupPr>
                                    <m:ctrlPr>
                                      <a:rPr lang="en-NZ" b="0" i="1" smtClean="0">
                                        <a:latin typeface="Cambria Math" panose="02040503050406030204" pitchFamily="18" charset="0"/>
                                      </a:rPr>
                                    </m:ctrlPr>
                                  </m:sSupPr>
                                  <m:e>
                                    <m:r>
                                      <a:rPr lang="en-NZ" b="0" i="1" smtClean="0">
                                        <a:latin typeface="Cambria Math" panose="02040503050406030204" pitchFamily="18" charset="0"/>
                                      </a:rPr>
                                      <m:t>𝜎</m:t>
                                    </m:r>
                                  </m:e>
                                  <m:sup>
                                    <m:r>
                                      <a:rPr lang="en-NZ" b="0" i="1" smtClean="0">
                                        <a:latin typeface="Cambria Math" panose="02040503050406030204" pitchFamily="18" charset="0"/>
                                      </a:rPr>
                                      <m:t>2</m:t>
                                    </m:r>
                                  </m:sup>
                                </m:sSup>
                              </m:oMath>
                            </m:oMathPara>
                          </a14:m>
                          <a:endParaRPr lang="en-NZ" dirty="0"/>
                        </a:p>
                      </a:txBody>
                      <a:tcPr anchor="ctr"/>
                    </a:tc>
                    <a:tc>
                      <a:txBody>
                        <a:bodyPr/>
                        <a:lstStyle/>
                        <a:p>
                          <a:pPr algn="ctr"/>
                          <a:endParaRPr lang="en-NZ" dirty="0"/>
                        </a:p>
                      </a:txBody>
                      <a:tcPr anchor="ctr"/>
                    </a:tc>
                    <a:extLst>
                      <a:ext uri="{0D108BD9-81ED-4DB2-BD59-A6C34878D82A}">
                        <a16:rowId xmlns:a16="http://schemas.microsoft.com/office/drawing/2014/main" val="3328376915"/>
                      </a:ext>
                    </a:extLst>
                  </a:tr>
                </a:tbl>
              </a:graphicData>
            </a:graphic>
          </p:graphicFrame>
        </mc:Choice>
        <mc:Fallback xmlns="">
          <p:graphicFrame>
            <p:nvGraphicFramePr>
              <p:cNvPr id="12" name="Table 2">
                <a:extLst>
                  <a:ext uri="{FF2B5EF4-FFF2-40B4-BE49-F238E27FC236}">
                    <a16:creationId xmlns:a16="http://schemas.microsoft.com/office/drawing/2014/main" id="{AC09C63B-DEDA-11CA-1297-AF6E4CB7A985}"/>
                  </a:ext>
                </a:extLst>
              </p:cNvPr>
              <p:cNvGraphicFramePr>
                <a:graphicFrameLocks noGrp="1"/>
              </p:cNvGraphicFramePr>
              <p:nvPr>
                <p:extLst>
                  <p:ext uri="{D42A27DB-BD31-4B8C-83A1-F6EECF244321}">
                    <p14:modId xmlns:p14="http://schemas.microsoft.com/office/powerpoint/2010/main" val="2615685821"/>
                  </p:ext>
                </p:extLst>
              </p:nvPr>
            </p:nvGraphicFramePr>
            <p:xfrm>
              <a:off x="382137" y="1823765"/>
              <a:ext cx="11490547" cy="2123440"/>
            </p:xfrm>
            <a:graphic>
              <a:graphicData uri="http://schemas.openxmlformats.org/drawingml/2006/table">
                <a:tbl>
                  <a:tblPr firstRow="1" bandRow="1">
                    <a:tableStyleId>{5C22544A-7EE6-4342-B048-85BDC9FD1C3A}</a:tableStyleId>
                  </a:tblPr>
                  <a:tblGrid>
                    <a:gridCol w="1583141">
                      <a:extLst>
                        <a:ext uri="{9D8B030D-6E8A-4147-A177-3AD203B41FA5}">
                          <a16:colId xmlns:a16="http://schemas.microsoft.com/office/drawing/2014/main" val="4198110682"/>
                        </a:ext>
                      </a:extLst>
                    </a:gridCol>
                    <a:gridCol w="1037229">
                      <a:extLst>
                        <a:ext uri="{9D8B030D-6E8A-4147-A177-3AD203B41FA5}">
                          <a16:colId xmlns:a16="http://schemas.microsoft.com/office/drawing/2014/main" val="292302729"/>
                        </a:ext>
                      </a:extLst>
                    </a:gridCol>
                    <a:gridCol w="1419368">
                      <a:extLst>
                        <a:ext uri="{9D8B030D-6E8A-4147-A177-3AD203B41FA5}">
                          <a16:colId xmlns:a16="http://schemas.microsoft.com/office/drawing/2014/main" val="126256495"/>
                        </a:ext>
                      </a:extLst>
                    </a:gridCol>
                    <a:gridCol w="2729552">
                      <a:extLst>
                        <a:ext uri="{9D8B030D-6E8A-4147-A177-3AD203B41FA5}">
                          <a16:colId xmlns:a16="http://schemas.microsoft.com/office/drawing/2014/main" val="477450593"/>
                        </a:ext>
                      </a:extLst>
                    </a:gridCol>
                    <a:gridCol w="2788657">
                      <a:extLst>
                        <a:ext uri="{9D8B030D-6E8A-4147-A177-3AD203B41FA5}">
                          <a16:colId xmlns:a16="http://schemas.microsoft.com/office/drawing/2014/main" val="3785429377"/>
                        </a:ext>
                      </a:extLst>
                    </a:gridCol>
                    <a:gridCol w="1932600">
                      <a:extLst>
                        <a:ext uri="{9D8B030D-6E8A-4147-A177-3AD203B41FA5}">
                          <a16:colId xmlns:a16="http://schemas.microsoft.com/office/drawing/2014/main" val="1101540161"/>
                        </a:ext>
                      </a:extLst>
                    </a:gridCol>
                  </a:tblGrid>
                  <a:tr h="640080">
                    <a:tc>
                      <a:txBody>
                        <a:bodyPr/>
                        <a:lstStyle/>
                        <a:p>
                          <a:pPr algn="ctr"/>
                          <a:r>
                            <a:rPr lang="en-NZ" dirty="0"/>
                            <a:t>Source of Variation</a:t>
                          </a:r>
                        </a:p>
                      </a:txBody>
                      <a:tcPr anchor="ctr"/>
                    </a:tc>
                    <a:tc>
                      <a:txBody>
                        <a:bodyPr/>
                        <a:lstStyle/>
                        <a:p>
                          <a:pPr algn="ctr"/>
                          <a:r>
                            <a:rPr lang="en-NZ" dirty="0" err="1"/>
                            <a:t>df</a:t>
                          </a:r>
                          <a:endParaRPr lang="en-NZ" dirty="0"/>
                        </a:p>
                      </a:txBody>
                      <a:tcPr anchor="ctr"/>
                    </a:tc>
                    <a:tc>
                      <a:txBody>
                        <a:bodyPr/>
                        <a:lstStyle/>
                        <a:p>
                          <a:pPr algn="ctr"/>
                          <a:r>
                            <a:rPr lang="en-NZ" dirty="0"/>
                            <a:t>SS</a:t>
                          </a:r>
                        </a:p>
                      </a:txBody>
                      <a:tcPr anchor="ctr"/>
                    </a:tc>
                    <a:tc>
                      <a:txBody>
                        <a:bodyPr/>
                        <a:lstStyle/>
                        <a:p>
                          <a:pPr algn="ctr"/>
                          <a:r>
                            <a:rPr lang="en-NZ" dirty="0"/>
                            <a:t>Mean Square</a:t>
                          </a:r>
                        </a:p>
                      </a:txBody>
                      <a:tcPr anchor="ctr"/>
                    </a:tc>
                    <a:tc>
                      <a:txBody>
                        <a:bodyPr/>
                        <a:lstStyle/>
                        <a:p>
                          <a:pPr algn="ctr"/>
                          <a:r>
                            <a:rPr lang="en-NZ" dirty="0"/>
                            <a:t>E [ Mean Squares ]</a:t>
                          </a:r>
                        </a:p>
                      </a:txBody>
                      <a:tcPr anchor="ctr"/>
                    </a:tc>
                    <a:tc>
                      <a:txBody>
                        <a:bodyPr/>
                        <a:lstStyle/>
                        <a:p>
                          <a:pPr algn="ctr"/>
                          <a:r>
                            <a:rPr lang="en-NZ" dirty="0"/>
                            <a:t>F-Statistic</a:t>
                          </a:r>
                        </a:p>
                      </a:txBody>
                      <a:tcPr anchor="ctr"/>
                    </a:tc>
                    <a:extLst>
                      <a:ext uri="{0D108BD9-81ED-4DB2-BD59-A6C34878D82A}">
                        <a16:rowId xmlns:a16="http://schemas.microsoft.com/office/drawing/2014/main" val="3666350365"/>
                      </a:ext>
                    </a:extLst>
                  </a:tr>
                  <a:tr h="370840">
                    <a:tc>
                      <a:txBody>
                        <a:bodyPr/>
                        <a:lstStyle/>
                        <a:p>
                          <a:pPr algn="ctr"/>
                          <a:r>
                            <a:rPr lang="en-NZ" dirty="0"/>
                            <a:t>Total</a:t>
                          </a:r>
                        </a:p>
                      </a:txBody>
                      <a:tcPr anchor="ctr"/>
                    </a:tc>
                    <a:tc>
                      <a:txBody>
                        <a:bodyPr/>
                        <a:lstStyle/>
                        <a:p>
                          <a:pPr algn="ctr"/>
                          <a:r>
                            <a:rPr lang="en-NZ" dirty="0"/>
                            <a:t>abn-1</a:t>
                          </a:r>
                        </a:p>
                      </a:txBody>
                      <a:tcPr anchor="ctr"/>
                    </a:tc>
                    <a:tc>
                      <a:txBody>
                        <a:bodyPr/>
                        <a:lstStyle/>
                        <a:p>
                          <a:pPr algn="ctr"/>
                          <a:r>
                            <a:rPr lang="en-NZ" dirty="0"/>
                            <a:t>TSS</a:t>
                          </a:r>
                        </a:p>
                      </a:txBody>
                      <a:tcPr anchor="ctr"/>
                    </a:tc>
                    <a:tc>
                      <a:txBody>
                        <a:bodyPr/>
                        <a:lstStyle/>
                        <a:p>
                          <a:pPr algn="ctr"/>
                          <a:endParaRPr lang="en-NZ" dirty="0"/>
                        </a:p>
                      </a:txBody>
                      <a:tcPr anchor="ctr"/>
                    </a:tc>
                    <a:tc>
                      <a:txBody>
                        <a:bodyPr/>
                        <a:lstStyle/>
                        <a:p>
                          <a:pPr algn="ctr"/>
                          <a:endParaRPr lang="en-NZ" dirty="0"/>
                        </a:p>
                      </a:txBody>
                      <a:tcPr anchor="ctr"/>
                    </a:tc>
                    <a:tc>
                      <a:txBody>
                        <a:bodyPr/>
                        <a:lstStyle/>
                        <a:p>
                          <a:pPr algn="ctr"/>
                          <a:endParaRPr lang="en-NZ" dirty="0"/>
                        </a:p>
                      </a:txBody>
                      <a:tcPr anchor="ctr"/>
                    </a:tc>
                    <a:extLst>
                      <a:ext uri="{0D108BD9-81ED-4DB2-BD59-A6C34878D82A}">
                        <a16:rowId xmlns:a16="http://schemas.microsoft.com/office/drawing/2014/main" val="3341485952"/>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NZ" dirty="0"/>
                            <a:t>A</a:t>
                          </a:r>
                        </a:p>
                      </a:txBody>
                      <a:tcPr anchor="ctr"/>
                    </a:tc>
                    <a:tc>
                      <a:txBody>
                        <a:bodyPr/>
                        <a:lstStyle/>
                        <a:p>
                          <a:pPr algn="ctr"/>
                          <a:r>
                            <a:rPr lang="en-NZ" dirty="0"/>
                            <a:t>a-1</a:t>
                          </a:r>
                        </a:p>
                      </a:txBody>
                      <a:tcPr anchor="ctr"/>
                    </a:tc>
                    <a:tc>
                      <a:txBody>
                        <a:bodyPr/>
                        <a:lstStyle/>
                        <a:p>
                          <a:pPr algn="ctr"/>
                          <a:r>
                            <a:rPr lang="en-NZ" dirty="0"/>
                            <a:t>SS</a:t>
                          </a:r>
                          <a:r>
                            <a:rPr lang="en-NZ" baseline="-25000" dirty="0"/>
                            <a:t>A</a:t>
                          </a:r>
                          <a:endParaRPr lang="en-NZ" dirty="0"/>
                        </a:p>
                      </a:txBody>
                      <a:tcPr anchor="ctr"/>
                    </a:tc>
                    <a:tc>
                      <a:txBody>
                        <a:bodyPr/>
                        <a:lstStyle/>
                        <a:p>
                          <a:pPr algn="ctr"/>
                          <a:r>
                            <a:rPr lang="en-NZ" dirty="0"/>
                            <a:t>MS</a:t>
                          </a:r>
                          <a:r>
                            <a:rPr lang="en-NZ" baseline="-25000" dirty="0"/>
                            <a:t>A</a:t>
                          </a:r>
                          <a:r>
                            <a:rPr lang="en-NZ" dirty="0"/>
                            <a:t> = SS</a:t>
                          </a:r>
                          <a:r>
                            <a:rPr lang="en-NZ" baseline="-25000" dirty="0"/>
                            <a:t>A</a:t>
                          </a:r>
                          <a:r>
                            <a:rPr lang="en-NZ" dirty="0"/>
                            <a:t> / (a-1)</a:t>
                          </a:r>
                        </a:p>
                      </a:txBody>
                      <a:tcPr anchor="ctr"/>
                    </a:tc>
                    <a:tc>
                      <a:txBody>
                        <a:bodyPr/>
                        <a:lstStyle/>
                        <a:p>
                          <a:endParaRPr lang="en-US"/>
                        </a:p>
                      </a:txBody>
                      <a:tcPr anchor="ctr">
                        <a:blipFill>
                          <a:blip r:embed="rId2"/>
                          <a:stretch>
                            <a:fillRect l="-242795" t="-280328" r="-70087" b="-224590"/>
                          </a:stretch>
                        </a:blipFill>
                      </a:tcPr>
                    </a:tc>
                    <a:tc>
                      <a:txBody>
                        <a:bodyPr/>
                        <a:lstStyle/>
                        <a:p>
                          <a:pPr algn="ctr"/>
                          <a:r>
                            <a:rPr lang="en-NZ" dirty="0"/>
                            <a:t>MS</a:t>
                          </a:r>
                          <a:r>
                            <a:rPr lang="en-NZ" baseline="-25000" dirty="0"/>
                            <a:t>A</a:t>
                          </a:r>
                          <a:r>
                            <a:rPr lang="en-NZ" dirty="0"/>
                            <a:t> / MS</a:t>
                          </a:r>
                          <a:r>
                            <a:rPr lang="en-NZ" baseline="-25000" dirty="0"/>
                            <a:t>B(A)</a:t>
                          </a:r>
                          <a:endParaRPr lang="en-NZ" dirty="0"/>
                        </a:p>
                      </a:txBody>
                      <a:tcPr anchor="ctr"/>
                    </a:tc>
                    <a:extLst>
                      <a:ext uri="{0D108BD9-81ED-4DB2-BD59-A6C34878D82A}">
                        <a16:rowId xmlns:a16="http://schemas.microsoft.com/office/drawing/2014/main" val="443198030"/>
                      </a:ext>
                    </a:extLst>
                  </a:tr>
                  <a:tr h="370840">
                    <a:tc>
                      <a:txBody>
                        <a:bodyPr/>
                        <a:lstStyle/>
                        <a:p>
                          <a:pPr algn="ctr"/>
                          <a:r>
                            <a:rPr lang="en-NZ" dirty="0"/>
                            <a:t>B(A)</a:t>
                          </a:r>
                        </a:p>
                      </a:txBody>
                      <a:tcPr anchor="ctr"/>
                    </a:tc>
                    <a:tc>
                      <a:txBody>
                        <a:bodyPr/>
                        <a:lstStyle/>
                        <a:p>
                          <a:pPr algn="ctr"/>
                          <a:r>
                            <a:rPr lang="en-NZ" dirty="0"/>
                            <a:t>a(b-1)</a:t>
                          </a:r>
                        </a:p>
                      </a:txBody>
                      <a:tcPr anchor="ctr"/>
                    </a:tc>
                    <a:tc>
                      <a:txBody>
                        <a:bodyPr/>
                        <a:lstStyle/>
                        <a:p>
                          <a:pPr algn="ctr"/>
                          <a:r>
                            <a:rPr lang="en-NZ" dirty="0"/>
                            <a:t>SS</a:t>
                          </a:r>
                          <a:r>
                            <a:rPr lang="en-NZ" baseline="-25000" dirty="0"/>
                            <a:t>B(A)</a:t>
                          </a:r>
                          <a:endParaRPr lang="en-NZ" dirty="0"/>
                        </a:p>
                      </a:txBody>
                      <a:tcPr anchor="ctr"/>
                    </a:tc>
                    <a:tc>
                      <a:txBody>
                        <a:bodyPr/>
                        <a:lstStyle/>
                        <a:p>
                          <a:pPr algn="ctr"/>
                          <a:r>
                            <a:rPr lang="en-NZ" dirty="0"/>
                            <a:t>MS</a:t>
                          </a:r>
                          <a:r>
                            <a:rPr lang="en-NZ" baseline="-25000" dirty="0"/>
                            <a:t>B(A)</a:t>
                          </a:r>
                          <a:r>
                            <a:rPr lang="en-NZ" dirty="0"/>
                            <a:t> = SS</a:t>
                          </a:r>
                          <a:r>
                            <a:rPr lang="en-NZ" baseline="-25000" dirty="0"/>
                            <a:t>B(A)</a:t>
                          </a:r>
                          <a:r>
                            <a:rPr lang="en-NZ" dirty="0"/>
                            <a:t> / [ a(b-1) ]</a:t>
                          </a:r>
                        </a:p>
                      </a:txBody>
                      <a:tcPr anchor="ctr"/>
                    </a:tc>
                    <a:tc>
                      <a:txBody>
                        <a:bodyPr/>
                        <a:lstStyle/>
                        <a:p>
                          <a:endParaRPr lang="en-US"/>
                        </a:p>
                      </a:txBody>
                      <a:tcPr anchor="ctr">
                        <a:blipFill>
                          <a:blip r:embed="rId2"/>
                          <a:stretch>
                            <a:fillRect l="-242795" t="-380328" r="-70087" b="-124590"/>
                          </a:stretch>
                        </a:blipFill>
                      </a:tcPr>
                    </a:tc>
                    <a:tc>
                      <a:txBody>
                        <a:bodyPr/>
                        <a:lstStyle/>
                        <a:p>
                          <a:pPr algn="ctr"/>
                          <a:r>
                            <a:rPr lang="en-NZ" dirty="0"/>
                            <a:t>MS</a:t>
                          </a:r>
                          <a:r>
                            <a:rPr lang="en-NZ" baseline="-25000" dirty="0"/>
                            <a:t>B(A)</a:t>
                          </a:r>
                          <a:r>
                            <a:rPr lang="en-NZ" dirty="0"/>
                            <a:t> / MSE</a:t>
                          </a:r>
                        </a:p>
                      </a:txBody>
                      <a:tcPr anchor="ctr"/>
                    </a:tc>
                    <a:extLst>
                      <a:ext uri="{0D108BD9-81ED-4DB2-BD59-A6C34878D82A}">
                        <a16:rowId xmlns:a16="http://schemas.microsoft.com/office/drawing/2014/main" val="3427382577"/>
                      </a:ext>
                    </a:extLst>
                  </a:tr>
                  <a:tr h="370840">
                    <a:tc>
                      <a:txBody>
                        <a:bodyPr/>
                        <a:lstStyle/>
                        <a:p>
                          <a:pPr algn="ctr"/>
                          <a:r>
                            <a:rPr lang="en-NZ" dirty="0"/>
                            <a:t>Residual</a:t>
                          </a:r>
                        </a:p>
                      </a:txBody>
                      <a:tcPr anchor="ctr"/>
                    </a:tc>
                    <a:tc>
                      <a:txBody>
                        <a:bodyPr/>
                        <a:lstStyle/>
                        <a:p>
                          <a:pPr algn="ctr"/>
                          <a:r>
                            <a:rPr lang="en-NZ" dirty="0"/>
                            <a:t>ab(n-1)</a:t>
                          </a:r>
                        </a:p>
                      </a:txBody>
                      <a:tcPr anchor="ctr"/>
                    </a:tc>
                    <a:tc>
                      <a:txBody>
                        <a:bodyPr/>
                        <a:lstStyle/>
                        <a:p>
                          <a:pPr algn="ctr"/>
                          <a:r>
                            <a:rPr lang="en-NZ" dirty="0"/>
                            <a:t>SSE</a:t>
                          </a:r>
                        </a:p>
                      </a:txBody>
                      <a:tcPr anchor="ctr"/>
                    </a:tc>
                    <a:tc>
                      <a:txBody>
                        <a:bodyPr/>
                        <a:lstStyle/>
                        <a:p>
                          <a:pPr algn="ctr"/>
                          <a:r>
                            <a:rPr lang="en-NZ" dirty="0"/>
                            <a:t>MSE = SSE / [ ab(n-1) ]</a:t>
                          </a:r>
                        </a:p>
                      </a:txBody>
                      <a:tcPr anchor="ctr"/>
                    </a:tc>
                    <a:tc>
                      <a:txBody>
                        <a:bodyPr/>
                        <a:lstStyle/>
                        <a:p>
                          <a:endParaRPr lang="en-US"/>
                        </a:p>
                      </a:txBody>
                      <a:tcPr anchor="ctr">
                        <a:blipFill>
                          <a:blip r:embed="rId2"/>
                          <a:stretch>
                            <a:fillRect l="-242795" t="-480328" r="-70087" b="-24590"/>
                          </a:stretch>
                        </a:blipFill>
                      </a:tcPr>
                    </a:tc>
                    <a:tc>
                      <a:txBody>
                        <a:bodyPr/>
                        <a:lstStyle/>
                        <a:p>
                          <a:pPr algn="ctr"/>
                          <a:endParaRPr lang="en-NZ" dirty="0"/>
                        </a:p>
                      </a:txBody>
                      <a:tcPr anchor="ctr"/>
                    </a:tc>
                    <a:extLst>
                      <a:ext uri="{0D108BD9-81ED-4DB2-BD59-A6C34878D82A}">
                        <a16:rowId xmlns:a16="http://schemas.microsoft.com/office/drawing/2014/main" val="3328376915"/>
                      </a:ext>
                    </a:extLst>
                  </a:tr>
                </a:tbl>
              </a:graphicData>
            </a:graphic>
          </p:graphicFrame>
        </mc:Fallback>
      </mc:AlternateContent>
      <p:sp>
        <p:nvSpPr>
          <p:cNvPr id="21" name="Title 6">
            <a:extLst>
              <a:ext uri="{FF2B5EF4-FFF2-40B4-BE49-F238E27FC236}">
                <a16:creationId xmlns:a16="http://schemas.microsoft.com/office/drawing/2014/main" id="{7C963C88-6E6E-2444-9663-776716CBAA9D}"/>
              </a:ext>
            </a:extLst>
          </p:cNvPr>
          <p:cNvSpPr txBox="1">
            <a:spLocks/>
          </p:cNvSpPr>
          <p:nvPr/>
        </p:nvSpPr>
        <p:spPr>
          <a:xfrm>
            <a:off x="251224" y="237833"/>
            <a:ext cx="9411391" cy="607201"/>
          </a:xfrm>
          <a:prstGeom prst="rect">
            <a:avLst/>
          </a:prstGeom>
        </p:spPr>
        <p:txBody>
          <a:bodyPr anchor="t">
            <a:normAutofit/>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pPr marL="0" marR="0" lvl="0" indent="0" algn="l" defTabSz="914324" rtl="0" eaLnBrk="1" fontAlgn="auto" latinLnBrk="0" hangingPunct="1">
              <a:lnSpc>
                <a:spcPct val="90000"/>
              </a:lnSpc>
              <a:spcBef>
                <a:spcPct val="0"/>
              </a:spcBef>
              <a:spcAft>
                <a:spcPts val="0"/>
              </a:spcAft>
              <a:buClrTx/>
              <a:buSzTx/>
              <a:buFontTx/>
              <a:buNone/>
              <a:tabLst/>
              <a:defRPr/>
            </a:pPr>
            <a:r>
              <a:rPr lang="en-US" altLang="ja-JP" b="1" u="sng" dirty="0">
                <a:solidFill>
                  <a:prstClr val="black"/>
                </a:solidFill>
                <a:latin typeface="Calibri" panose="020F0502020204030204"/>
                <a:ea typeface="游ゴシック Light" panose="020B0300000000000000" pitchFamily="34" charset="-128"/>
              </a:rPr>
              <a:t>5</a:t>
            </a:r>
            <a:r>
              <a:rPr kumimoji="1" lang="en-US" altLang="ja-JP"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rPr>
              <a:t>.2c – ANOVA Table for a 2-Stage Nested Design:</a:t>
            </a:r>
            <a:endParaRPr kumimoji="1" lang="ja-JP" altLang="en-US"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endParaRPr>
          </a:p>
        </p:txBody>
      </p:sp>
      <mc:AlternateContent xmlns:mc="http://schemas.openxmlformats.org/markup-compatibility/2006" xmlns:a14="http://schemas.microsoft.com/office/drawing/2010/main">
        <mc:Choice Requires="a14">
          <p:sp>
            <p:nvSpPr>
              <p:cNvPr id="23" name="Text Placeholder 5">
                <a:extLst>
                  <a:ext uri="{FF2B5EF4-FFF2-40B4-BE49-F238E27FC236}">
                    <a16:creationId xmlns:a16="http://schemas.microsoft.com/office/drawing/2014/main" id="{1ABFDB76-E490-CD10-5057-CF8EB3B2AB38}"/>
                  </a:ext>
                </a:extLst>
              </p:cNvPr>
              <p:cNvSpPr txBox="1">
                <a:spLocks/>
              </p:cNvSpPr>
              <p:nvPr/>
            </p:nvSpPr>
            <p:spPr>
              <a:xfrm>
                <a:off x="9008620" y="4098899"/>
                <a:ext cx="3080745" cy="67534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800" b="0" u="none" strike="noStrike" kern="1200" cap="none" spc="0" normalizeH="0" baseline="0" noProof="0" dirty="0">
                    <a:ln>
                      <a:noFill/>
                    </a:ln>
                    <a:solidFill>
                      <a:prstClr val="black"/>
                    </a:solidFill>
                    <a:effectLst/>
                    <a:uLnTx/>
                    <a:uFillTx/>
                    <a:ea typeface="游ゴシック" panose="020B0400000000000000" pitchFamily="34" charset="-128"/>
                    <a:cs typeface="+mn-cs"/>
                  </a:rPr>
                  <a:t>Where   </a:t>
                </a:r>
                <a14:m>
                  <m:oMath xmlns:m="http://schemas.openxmlformats.org/officeDocument/2006/math">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𝒗</m:t>
                    </m:r>
                    <m:d>
                      <m:dPr>
                        <m:ctrlP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ctrlPr>
                      </m:dPr>
                      <m:e>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𝜶</m:t>
                        </m:r>
                      </m:e>
                    </m:d>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 </m:t>
                    </m:r>
                    <m:nary>
                      <m:naryPr>
                        <m:chr m:val="∑"/>
                        <m:ctrlP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ctrlPr>
                      </m:naryPr>
                      <m:sub>
                        <m:r>
                          <m:rPr>
                            <m:brk m:alnAt="23"/>
                          </m:rP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𝒊</m:t>
                        </m:r>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m:t>
                        </m:r>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𝟏</m:t>
                        </m:r>
                      </m:sub>
                      <m:sup>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𝒂</m:t>
                        </m:r>
                      </m:sup>
                      <m:e>
                        <m:f>
                          <m:fPr>
                            <m:ctrlP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ctrlPr>
                          </m:fPr>
                          <m:num>
                            <m:sSubSup>
                              <m:sSubSupPr>
                                <m:ctrlP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ctrlPr>
                              </m:sSubSupPr>
                              <m:e>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𝜶</m:t>
                                </m:r>
                              </m:e>
                              <m:sub>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𝒊</m:t>
                                </m:r>
                              </m:sub>
                              <m:sup>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𝟐</m:t>
                                </m:r>
                              </m:sup>
                            </m:sSubSup>
                          </m:num>
                          <m:den>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𝒂</m:t>
                            </m:r>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m:t>
                            </m:r>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𝟏</m:t>
                            </m:r>
                          </m:den>
                        </m:f>
                      </m:e>
                    </m:nary>
                  </m:oMath>
                </a14:m>
                <a:endParaRPr kumimoji="1" lang="en-NZ" altLang="ja-JP" sz="18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p:txBody>
          </p:sp>
        </mc:Choice>
        <mc:Fallback xmlns="">
          <p:sp>
            <p:nvSpPr>
              <p:cNvPr id="23" name="Text Placeholder 5">
                <a:extLst>
                  <a:ext uri="{FF2B5EF4-FFF2-40B4-BE49-F238E27FC236}">
                    <a16:creationId xmlns:a16="http://schemas.microsoft.com/office/drawing/2014/main" id="{1ABFDB76-E490-CD10-5057-CF8EB3B2AB38}"/>
                  </a:ext>
                </a:extLst>
              </p:cNvPr>
              <p:cNvSpPr txBox="1">
                <a:spLocks noRot="1" noChangeAspect="1" noMove="1" noResize="1" noEditPoints="1" noAdjustHandles="1" noChangeArrowheads="1" noChangeShapeType="1" noTextEdit="1"/>
              </p:cNvSpPr>
              <p:nvPr/>
            </p:nvSpPr>
            <p:spPr>
              <a:xfrm>
                <a:off x="9008620" y="4098899"/>
                <a:ext cx="3080745" cy="675343"/>
              </a:xfrm>
              <a:prstGeom prst="rect">
                <a:avLst/>
              </a:prstGeom>
              <a:blipFill>
                <a:blip r:embed="rId3"/>
                <a:stretch>
                  <a:fillRect l="-1782"/>
                </a:stretch>
              </a:blipFill>
            </p:spPr>
            <p:txBody>
              <a:bodyPr/>
              <a:lstStyle/>
              <a:p>
                <a:r>
                  <a:rPr lang="en-NZ">
                    <a:noFill/>
                  </a:rPr>
                  <a:t> </a:t>
                </a:r>
              </a:p>
            </p:txBody>
          </p:sp>
        </mc:Fallback>
      </mc:AlternateContent>
      <p:sp>
        <p:nvSpPr>
          <p:cNvPr id="13" name="Footer Placeholder 2">
            <a:extLst>
              <a:ext uri="{FF2B5EF4-FFF2-40B4-BE49-F238E27FC236}">
                <a16:creationId xmlns:a16="http://schemas.microsoft.com/office/drawing/2014/main" id="{58C76A27-60C8-CDFF-245F-79F1D57ED023}"/>
              </a:ext>
            </a:extLst>
          </p:cNvPr>
          <p:cNvSpPr txBox="1">
            <a:spLocks/>
          </p:cNvSpPr>
          <p:nvPr/>
        </p:nvSpPr>
        <p:spPr>
          <a:xfrm>
            <a:off x="8775510" y="86139"/>
            <a:ext cx="3313855"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600" dirty="0">
                <a:solidFill>
                  <a:srgbClr val="DEDDDD"/>
                </a:solidFill>
                <a:latin typeface="Gidole"/>
                <a:ea typeface="游ゴシック" panose="020B0400000000000000" pitchFamily="34" charset="-128"/>
              </a:rPr>
              <a:t>5</a:t>
            </a:r>
            <a:r>
              <a:rPr kumimoji="1" lang="en-US" altLang="ja-JP"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rPr>
              <a:t>.2 – Two Stage Nested Design</a:t>
            </a:r>
            <a:endParaRPr kumimoji="1" lang="ja-JP" altLang="en-US"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endParaRPr>
          </a:p>
        </p:txBody>
      </p:sp>
      <p:sp>
        <p:nvSpPr>
          <p:cNvPr id="2" name="Oval 1">
            <a:extLst>
              <a:ext uri="{FF2B5EF4-FFF2-40B4-BE49-F238E27FC236}">
                <a16:creationId xmlns:a16="http://schemas.microsoft.com/office/drawing/2014/main" id="{96C355A0-7A83-D538-B33F-8F943E4FADF3}"/>
              </a:ext>
            </a:extLst>
          </p:cNvPr>
          <p:cNvSpPr/>
          <p:nvPr/>
        </p:nvSpPr>
        <p:spPr>
          <a:xfrm>
            <a:off x="10220594" y="2690484"/>
            <a:ext cx="1378424" cy="573206"/>
          </a:xfrm>
          <a:prstGeom prst="ellipse">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3" name="Text Placeholder 5">
            <a:extLst>
              <a:ext uri="{FF2B5EF4-FFF2-40B4-BE49-F238E27FC236}">
                <a16:creationId xmlns:a16="http://schemas.microsoft.com/office/drawing/2014/main" id="{78BCFA0F-FFE8-42BB-E3CF-9EB0C46AD60B}"/>
              </a:ext>
            </a:extLst>
          </p:cNvPr>
          <p:cNvSpPr txBox="1">
            <a:spLocks/>
          </p:cNvSpPr>
          <p:nvPr/>
        </p:nvSpPr>
        <p:spPr>
          <a:xfrm>
            <a:off x="600327" y="4500392"/>
            <a:ext cx="6265690" cy="413017"/>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1800" dirty="0">
                <a:solidFill>
                  <a:schemeClr val="tx1"/>
                </a:solidFill>
              </a:rPr>
              <a:t>We wish to test whether factor </a:t>
            </a:r>
            <a:r>
              <a:rPr lang="en-NZ" altLang="ja-JP" sz="1800" b="1" i="1" dirty="0">
                <a:solidFill>
                  <a:schemeClr val="tx1"/>
                </a:solidFill>
              </a:rPr>
              <a:t>A</a:t>
            </a:r>
            <a:r>
              <a:rPr lang="en-NZ" altLang="ja-JP" sz="1800" dirty="0">
                <a:solidFill>
                  <a:schemeClr val="tx1"/>
                </a:solidFill>
              </a:rPr>
              <a:t> has any effect on the response variable, i.e. we wish to test between the hypotheses:</a:t>
            </a:r>
          </a:p>
        </p:txBody>
      </p:sp>
      <mc:AlternateContent xmlns:mc="http://schemas.openxmlformats.org/markup-compatibility/2006" xmlns:a14="http://schemas.microsoft.com/office/drawing/2010/main">
        <mc:Choice Requires="a14">
          <p:sp>
            <p:nvSpPr>
              <p:cNvPr id="4" name="Text Placeholder 5">
                <a:extLst>
                  <a:ext uri="{FF2B5EF4-FFF2-40B4-BE49-F238E27FC236}">
                    <a16:creationId xmlns:a16="http://schemas.microsoft.com/office/drawing/2014/main" id="{799C4153-86A4-7340-374D-91679D4FE97F}"/>
                  </a:ext>
                </a:extLst>
              </p:cNvPr>
              <p:cNvSpPr txBox="1">
                <a:spLocks/>
              </p:cNvSpPr>
              <p:nvPr/>
            </p:nvSpPr>
            <p:spPr>
              <a:xfrm>
                <a:off x="1979433" y="5148099"/>
                <a:ext cx="3507477" cy="801442"/>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nSpc>
                    <a:spcPct val="100000"/>
                  </a:lnSpc>
                </a:pPr>
                <a14:m>
                  <m:oMath xmlns:m="http://schemas.openxmlformats.org/officeDocument/2006/math">
                    <m:sSub>
                      <m:sSubPr>
                        <m:ctrlPr>
                          <a:rPr lang="en-NZ" altLang="ja-JP" sz="1800" b="1" i="1" smtClean="0">
                            <a:solidFill>
                              <a:schemeClr val="tx1"/>
                            </a:solidFill>
                            <a:latin typeface="Cambria Math" panose="02040503050406030204" pitchFamily="18" charset="0"/>
                          </a:rPr>
                        </m:ctrlPr>
                      </m:sSubPr>
                      <m:e>
                        <m:r>
                          <a:rPr lang="en-NZ" altLang="ja-JP" sz="1800" b="1" i="1" smtClean="0">
                            <a:solidFill>
                              <a:schemeClr val="tx1"/>
                            </a:solidFill>
                            <a:latin typeface="Cambria Math" panose="02040503050406030204" pitchFamily="18" charset="0"/>
                          </a:rPr>
                          <m:t>𝑯</m:t>
                        </m:r>
                      </m:e>
                      <m:sub>
                        <m:r>
                          <a:rPr lang="en-NZ" altLang="ja-JP" sz="1800" b="1" i="1" smtClean="0">
                            <a:solidFill>
                              <a:schemeClr val="tx1"/>
                            </a:solidFill>
                            <a:latin typeface="Cambria Math" panose="02040503050406030204" pitchFamily="18" charset="0"/>
                          </a:rPr>
                          <m:t>𝟎</m:t>
                        </m:r>
                      </m:sub>
                    </m:sSub>
                    <m:r>
                      <a:rPr lang="en-NZ" altLang="ja-JP" sz="1800" b="1" i="1" smtClean="0">
                        <a:solidFill>
                          <a:schemeClr val="tx1"/>
                        </a:solidFill>
                        <a:latin typeface="Cambria Math" panose="02040503050406030204" pitchFamily="18" charset="0"/>
                      </a:rPr>
                      <m:t> :  </m:t>
                    </m:r>
                    <m:sSub>
                      <m:sSubPr>
                        <m:ctrlPr>
                          <a:rPr lang="en-NZ" altLang="ja-JP" sz="1800" b="1" i="1" smtClean="0">
                            <a:solidFill>
                              <a:schemeClr val="tx1"/>
                            </a:solidFill>
                            <a:latin typeface="Cambria Math" panose="02040503050406030204" pitchFamily="18" charset="0"/>
                          </a:rPr>
                        </m:ctrlPr>
                      </m:sSubPr>
                      <m:e>
                        <m:r>
                          <a:rPr lang="en-NZ" altLang="ja-JP" sz="1800" b="1" i="1" smtClean="0">
                            <a:solidFill>
                              <a:schemeClr val="tx1"/>
                            </a:solidFill>
                            <a:latin typeface="Cambria Math" panose="02040503050406030204" pitchFamily="18" charset="0"/>
                          </a:rPr>
                          <m:t>𝜶</m:t>
                        </m:r>
                      </m:e>
                      <m:sub>
                        <m:r>
                          <a:rPr lang="en-NZ" altLang="ja-JP" sz="1800" b="1" i="1" smtClean="0">
                            <a:solidFill>
                              <a:schemeClr val="tx1"/>
                            </a:solidFill>
                            <a:latin typeface="Cambria Math" panose="02040503050406030204" pitchFamily="18" charset="0"/>
                          </a:rPr>
                          <m:t>𝒊</m:t>
                        </m:r>
                      </m:sub>
                    </m:sSub>
                    <m:r>
                      <a:rPr lang="en-NZ" altLang="ja-JP" sz="1800" b="1" i="1" smtClean="0">
                        <a:solidFill>
                          <a:schemeClr val="tx1"/>
                        </a:solidFill>
                        <a:latin typeface="Cambria Math" panose="02040503050406030204" pitchFamily="18" charset="0"/>
                      </a:rPr>
                      <m:t>=</m:t>
                    </m:r>
                    <m:r>
                      <a:rPr lang="en-NZ" altLang="ja-JP" sz="1800" b="1" i="1" smtClean="0">
                        <a:solidFill>
                          <a:schemeClr val="tx1"/>
                        </a:solidFill>
                        <a:latin typeface="Cambria Math" panose="02040503050406030204" pitchFamily="18" charset="0"/>
                      </a:rPr>
                      <m:t>𝟎</m:t>
                    </m:r>
                  </m:oMath>
                </a14:m>
                <a:r>
                  <a:rPr lang="en-NZ" altLang="ja-JP" sz="1800" b="1" i="1" dirty="0">
                    <a:solidFill>
                      <a:schemeClr val="tx1"/>
                    </a:solidFill>
                    <a:latin typeface="Cambria Math" panose="02040503050406030204" pitchFamily="18" charset="0"/>
                  </a:rPr>
                  <a:t>  </a:t>
                </a:r>
                <a:r>
                  <a:rPr lang="en-NZ" altLang="ja-JP" sz="1800" dirty="0">
                    <a:solidFill>
                      <a:schemeClr val="tx1"/>
                    </a:solidFill>
                    <a:latin typeface="Cambria Math" panose="02040503050406030204" pitchFamily="18" charset="0"/>
                  </a:rPr>
                  <a:t>for all </a:t>
                </a:r>
                <a14:m>
                  <m:oMath xmlns:m="http://schemas.openxmlformats.org/officeDocument/2006/math">
                    <m:r>
                      <a:rPr lang="en-NZ" altLang="ja-JP" sz="1800" b="0" i="1" smtClean="0">
                        <a:solidFill>
                          <a:schemeClr val="tx1"/>
                        </a:solidFill>
                        <a:latin typeface="Cambria Math" panose="02040503050406030204" pitchFamily="18" charset="0"/>
                      </a:rPr>
                      <m:t>𝑖</m:t>
                    </m:r>
                    <m:r>
                      <a:rPr lang="en-NZ" altLang="ja-JP" sz="1800" b="0" i="1" smtClean="0">
                        <a:solidFill>
                          <a:schemeClr val="tx1"/>
                        </a:solidFill>
                        <a:latin typeface="Cambria Math" panose="02040503050406030204" pitchFamily="18" charset="0"/>
                      </a:rPr>
                      <m:t>=1, …, </m:t>
                    </m:r>
                    <m:r>
                      <a:rPr lang="en-NZ" altLang="ja-JP" sz="1800" b="0" i="1" smtClean="0">
                        <a:solidFill>
                          <a:schemeClr val="tx1"/>
                        </a:solidFill>
                        <a:latin typeface="Cambria Math" panose="02040503050406030204" pitchFamily="18" charset="0"/>
                      </a:rPr>
                      <m:t>𝑎</m:t>
                    </m:r>
                  </m:oMath>
                </a14:m>
                <a:r>
                  <a:rPr lang="en-NZ" altLang="ja-JP" sz="1800" dirty="0">
                    <a:solidFill>
                      <a:schemeClr val="tx1"/>
                    </a:solidFill>
                    <a:latin typeface="Cambria Math" panose="02040503050406030204" pitchFamily="18" charset="0"/>
                  </a:rPr>
                  <a:t> </a:t>
                </a:r>
                <a:br>
                  <a:rPr lang="en-NZ" altLang="ja-JP" sz="1800" b="1" i="1" dirty="0">
                    <a:solidFill>
                      <a:schemeClr val="tx1"/>
                    </a:solidFill>
                    <a:latin typeface="Cambria Math" panose="02040503050406030204" pitchFamily="18" charset="0"/>
                  </a:rPr>
                </a:br>
                <a14:m>
                  <m:oMath xmlns:m="http://schemas.openxmlformats.org/officeDocument/2006/math">
                    <m:sSub>
                      <m:sSubPr>
                        <m:ctrlPr>
                          <a:rPr lang="en-NZ" altLang="ja-JP" sz="1800" b="1" i="1">
                            <a:solidFill>
                              <a:schemeClr val="tx1"/>
                            </a:solidFill>
                            <a:latin typeface="Cambria Math" panose="02040503050406030204" pitchFamily="18" charset="0"/>
                          </a:rPr>
                        </m:ctrlPr>
                      </m:sSubPr>
                      <m:e>
                        <m:r>
                          <a:rPr lang="en-NZ" altLang="ja-JP" sz="1800" b="1" i="1">
                            <a:solidFill>
                              <a:schemeClr val="tx1"/>
                            </a:solidFill>
                            <a:latin typeface="Cambria Math" panose="02040503050406030204" pitchFamily="18" charset="0"/>
                          </a:rPr>
                          <m:t>𝑯</m:t>
                        </m:r>
                      </m:e>
                      <m:sub>
                        <m:r>
                          <a:rPr lang="en-NZ" altLang="ja-JP" sz="1800" b="1" i="1" smtClean="0">
                            <a:solidFill>
                              <a:schemeClr val="tx1"/>
                            </a:solidFill>
                            <a:latin typeface="Cambria Math" panose="02040503050406030204" pitchFamily="18" charset="0"/>
                          </a:rPr>
                          <m:t>𝟏</m:t>
                        </m:r>
                      </m:sub>
                    </m:sSub>
                    <m:r>
                      <a:rPr lang="en-NZ" altLang="ja-JP" sz="1800" b="1" i="1">
                        <a:solidFill>
                          <a:schemeClr val="tx1"/>
                        </a:solidFill>
                        <a:latin typeface="Cambria Math" panose="02040503050406030204" pitchFamily="18" charset="0"/>
                      </a:rPr>
                      <m:t> :  </m:t>
                    </m:r>
                    <m:sSub>
                      <m:sSubPr>
                        <m:ctrlPr>
                          <a:rPr lang="en-NZ" altLang="ja-JP" sz="1800" b="1" i="1" smtClean="0">
                            <a:solidFill>
                              <a:schemeClr val="tx1"/>
                            </a:solidFill>
                            <a:latin typeface="Cambria Math" panose="02040503050406030204" pitchFamily="18" charset="0"/>
                          </a:rPr>
                        </m:ctrlPr>
                      </m:sSubPr>
                      <m:e>
                        <m:r>
                          <a:rPr lang="en-NZ" altLang="ja-JP" sz="1800" b="1" i="1" smtClean="0">
                            <a:solidFill>
                              <a:schemeClr val="tx1"/>
                            </a:solidFill>
                            <a:latin typeface="Cambria Math" panose="02040503050406030204" pitchFamily="18" charset="0"/>
                          </a:rPr>
                          <m:t>𝜶</m:t>
                        </m:r>
                      </m:e>
                      <m:sub>
                        <m:r>
                          <a:rPr lang="en-NZ" altLang="ja-JP" sz="1800" b="1" i="1" smtClean="0">
                            <a:solidFill>
                              <a:schemeClr val="tx1"/>
                            </a:solidFill>
                            <a:latin typeface="Cambria Math" panose="02040503050406030204" pitchFamily="18" charset="0"/>
                          </a:rPr>
                          <m:t>𝒊</m:t>
                        </m:r>
                      </m:sub>
                    </m:sSub>
                    <m:r>
                      <a:rPr lang="en-NZ" altLang="ja-JP" sz="1800" b="1" i="1" smtClean="0">
                        <a:solidFill>
                          <a:schemeClr val="tx1"/>
                        </a:solidFill>
                        <a:latin typeface="Cambria Math" panose="02040503050406030204" pitchFamily="18" charset="0"/>
                      </a:rPr>
                      <m:t>≠</m:t>
                    </m:r>
                    <m:r>
                      <a:rPr lang="en-NZ" altLang="ja-JP" sz="1800" b="1" i="1" smtClean="0">
                        <a:solidFill>
                          <a:schemeClr val="tx1"/>
                        </a:solidFill>
                        <a:latin typeface="Cambria Math" panose="02040503050406030204" pitchFamily="18" charset="0"/>
                      </a:rPr>
                      <m:t>𝟎</m:t>
                    </m:r>
                  </m:oMath>
                </a14:m>
                <a:r>
                  <a:rPr lang="en-NZ" altLang="ja-JP" sz="1800" b="1" dirty="0">
                    <a:solidFill>
                      <a:schemeClr val="tx1"/>
                    </a:solidFill>
                  </a:rPr>
                  <a:t>  </a:t>
                </a:r>
                <a:r>
                  <a:rPr lang="en-NZ" altLang="ja-JP" sz="1800" dirty="0">
                    <a:solidFill>
                      <a:schemeClr val="tx1"/>
                    </a:solidFill>
                  </a:rPr>
                  <a:t>for some </a:t>
                </a:r>
                <a14:m>
                  <m:oMath xmlns:m="http://schemas.openxmlformats.org/officeDocument/2006/math">
                    <m:r>
                      <a:rPr lang="en-NZ" altLang="ja-JP" sz="1800" b="0" i="1" smtClean="0">
                        <a:solidFill>
                          <a:schemeClr val="tx1"/>
                        </a:solidFill>
                        <a:latin typeface="Cambria Math" panose="02040503050406030204" pitchFamily="18" charset="0"/>
                      </a:rPr>
                      <m:t>𝑖</m:t>
                    </m:r>
                  </m:oMath>
                </a14:m>
                <a:endParaRPr lang="en-NZ" altLang="ja-JP" sz="1800" dirty="0">
                  <a:solidFill>
                    <a:schemeClr val="tx1"/>
                  </a:solidFill>
                </a:endParaRPr>
              </a:p>
            </p:txBody>
          </p:sp>
        </mc:Choice>
        <mc:Fallback xmlns="">
          <p:sp>
            <p:nvSpPr>
              <p:cNvPr id="4" name="Text Placeholder 5">
                <a:extLst>
                  <a:ext uri="{FF2B5EF4-FFF2-40B4-BE49-F238E27FC236}">
                    <a16:creationId xmlns:a16="http://schemas.microsoft.com/office/drawing/2014/main" id="{799C4153-86A4-7340-374D-91679D4FE97F}"/>
                  </a:ext>
                </a:extLst>
              </p:cNvPr>
              <p:cNvSpPr txBox="1">
                <a:spLocks noRot="1" noChangeAspect="1" noMove="1" noResize="1" noEditPoints="1" noAdjustHandles="1" noChangeArrowheads="1" noChangeShapeType="1" noTextEdit="1"/>
              </p:cNvSpPr>
              <p:nvPr/>
            </p:nvSpPr>
            <p:spPr>
              <a:xfrm>
                <a:off x="1979433" y="5148099"/>
                <a:ext cx="3507477" cy="801442"/>
              </a:xfrm>
              <a:prstGeom prst="rect">
                <a:avLst/>
              </a:prstGeom>
              <a:blipFill>
                <a:blip r:embed="rId4"/>
                <a:stretch>
                  <a:fillRect t="-5344"/>
                </a:stretch>
              </a:blipFill>
            </p:spPr>
            <p:txBody>
              <a:bodyPr/>
              <a:lstStyle/>
              <a:p>
                <a:r>
                  <a:rPr lang="en-NZ">
                    <a:noFill/>
                  </a:rPr>
                  <a:t> </a:t>
                </a:r>
              </a:p>
            </p:txBody>
          </p:sp>
        </mc:Fallback>
      </mc:AlternateContent>
    </p:spTree>
    <p:extLst>
      <p:ext uri="{BB962C8B-B14F-4D97-AF65-F5344CB8AC3E}">
        <p14:creationId xmlns:p14="http://schemas.microsoft.com/office/powerpoint/2010/main" val="42917001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p:bldP spid="4" grpId="0"/>
    </p:bldLst>
  </p:timing>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0" name="Slide Number Placeholder 3">
            <a:extLst>
              <a:ext uri="{FF2B5EF4-FFF2-40B4-BE49-F238E27FC236}">
                <a16:creationId xmlns:a16="http://schemas.microsoft.com/office/drawing/2014/main" id="{B0C9041D-77F0-4656-90D4-0E84B7AC6B27}"/>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54AD89C-DF1E-4948-B597-5DD47B34A9CA}" type="slidenum">
              <a:rPr kumimoji="1" lang="ja-JP" altLang="en-US" sz="4000" b="0" i="0" u="none" strike="noStrike" kern="1200" cap="none" spc="0" normalizeH="0" baseline="0" noProof="0" smtClean="0">
                <a:ln>
                  <a:noFill/>
                </a:ln>
                <a:solidFill>
                  <a:srgbClr val="575454">
                    <a:lumMod val="20000"/>
                    <a:lumOff val="80000"/>
                  </a:srgbClr>
                </a:solidFill>
                <a:effectLst/>
                <a:uLnTx/>
                <a:uFillTx/>
                <a:latin typeface="Coo Hew"/>
                <a:ea typeface="游ゴシック" panose="020B0400000000000000"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1" lang="ja-JP" altLang="en-US" sz="4000" b="0" i="0" u="none" strike="noStrike" kern="1200" cap="none" spc="0" normalizeH="0" baseline="0" noProof="0" dirty="0">
              <a:ln>
                <a:noFill/>
              </a:ln>
              <a:solidFill>
                <a:srgbClr val="575454">
                  <a:lumMod val="20000"/>
                  <a:lumOff val="80000"/>
                </a:srgbClr>
              </a:solidFill>
              <a:effectLst/>
              <a:uLnTx/>
              <a:uFillTx/>
              <a:latin typeface="Coo Hew"/>
              <a:ea typeface="游ゴシック" panose="020B0400000000000000" pitchFamily="34" charset="-128"/>
              <a:cs typeface="+mn-cs"/>
            </a:endParaRPr>
          </a:p>
        </p:txBody>
      </p:sp>
      <p:sp>
        <p:nvSpPr>
          <p:cNvPr id="11" name="Text Placeholder 5">
            <a:extLst>
              <a:ext uri="{FF2B5EF4-FFF2-40B4-BE49-F238E27FC236}">
                <a16:creationId xmlns:a16="http://schemas.microsoft.com/office/drawing/2014/main" id="{7E7A8B0B-25DA-1474-CB37-F42D497A1EF6}"/>
              </a:ext>
            </a:extLst>
          </p:cNvPr>
          <p:cNvSpPr txBox="1">
            <a:spLocks/>
          </p:cNvSpPr>
          <p:nvPr/>
        </p:nvSpPr>
        <p:spPr>
          <a:xfrm>
            <a:off x="251220" y="996728"/>
            <a:ext cx="11621464" cy="67534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The ANOVA table below shows all the relevant degrees of freedom, sums of squares, mean squares, expected mean squares and F-Statistics for a mixed effects two stage nested design  </a:t>
            </a: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p:txBody>
      </p:sp>
      <mc:AlternateContent xmlns:mc="http://schemas.openxmlformats.org/markup-compatibility/2006" xmlns:a14="http://schemas.microsoft.com/office/drawing/2010/main">
        <mc:Choice Requires="a14">
          <p:graphicFrame>
            <p:nvGraphicFramePr>
              <p:cNvPr id="12" name="Table 2">
                <a:extLst>
                  <a:ext uri="{FF2B5EF4-FFF2-40B4-BE49-F238E27FC236}">
                    <a16:creationId xmlns:a16="http://schemas.microsoft.com/office/drawing/2014/main" id="{AC09C63B-DEDA-11CA-1297-AF6E4CB7A985}"/>
                  </a:ext>
                </a:extLst>
              </p:cNvPr>
              <p:cNvGraphicFramePr>
                <a:graphicFrameLocks noGrp="1"/>
              </p:cNvGraphicFramePr>
              <p:nvPr/>
            </p:nvGraphicFramePr>
            <p:xfrm>
              <a:off x="382137" y="1823765"/>
              <a:ext cx="11490547" cy="2123440"/>
            </p:xfrm>
            <a:graphic>
              <a:graphicData uri="http://schemas.openxmlformats.org/drawingml/2006/table">
                <a:tbl>
                  <a:tblPr firstRow="1" bandRow="1">
                    <a:tableStyleId>{5C22544A-7EE6-4342-B048-85BDC9FD1C3A}</a:tableStyleId>
                  </a:tblPr>
                  <a:tblGrid>
                    <a:gridCol w="1583141">
                      <a:extLst>
                        <a:ext uri="{9D8B030D-6E8A-4147-A177-3AD203B41FA5}">
                          <a16:colId xmlns:a16="http://schemas.microsoft.com/office/drawing/2014/main" val="4198110682"/>
                        </a:ext>
                      </a:extLst>
                    </a:gridCol>
                    <a:gridCol w="1037229">
                      <a:extLst>
                        <a:ext uri="{9D8B030D-6E8A-4147-A177-3AD203B41FA5}">
                          <a16:colId xmlns:a16="http://schemas.microsoft.com/office/drawing/2014/main" val="292302729"/>
                        </a:ext>
                      </a:extLst>
                    </a:gridCol>
                    <a:gridCol w="1419368">
                      <a:extLst>
                        <a:ext uri="{9D8B030D-6E8A-4147-A177-3AD203B41FA5}">
                          <a16:colId xmlns:a16="http://schemas.microsoft.com/office/drawing/2014/main" val="126256495"/>
                        </a:ext>
                      </a:extLst>
                    </a:gridCol>
                    <a:gridCol w="2729552">
                      <a:extLst>
                        <a:ext uri="{9D8B030D-6E8A-4147-A177-3AD203B41FA5}">
                          <a16:colId xmlns:a16="http://schemas.microsoft.com/office/drawing/2014/main" val="477450593"/>
                        </a:ext>
                      </a:extLst>
                    </a:gridCol>
                    <a:gridCol w="2788657">
                      <a:extLst>
                        <a:ext uri="{9D8B030D-6E8A-4147-A177-3AD203B41FA5}">
                          <a16:colId xmlns:a16="http://schemas.microsoft.com/office/drawing/2014/main" val="3785429377"/>
                        </a:ext>
                      </a:extLst>
                    </a:gridCol>
                    <a:gridCol w="1932600">
                      <a:extLst>
                        <a:ext uri="{9D8B030D-6E8A-4147-A177-3AD203B41FA5}">
                          <a16:colId xmlns:a16="http://schemas.microsoft.com/office/drawing/2014/main" val="1101540161"/>
                        </a:ext>
                      </a:extLst>
                    </a:gridCol>
                  </a:tblGrid>
                  <a:tr h="370840">
                    <a:tc>
                      <a:txBody>
                        <a:bodyPr/>
                        <a:lstStyle/>
                        <a:p>
                          <a:pPr algn="ctr"/>
                          <a:r>
                            <a:rPr lang="en-NZ" dirty="0"/>
                            <a:t>Source of Variation</a:t>
                          </a:r>
                        </a:p>
                      </a:txBody>
                      <a:tcPr anchor="ctr"/>
                    </a:tc>
                    <a:tc>
                      <a:txBody>
                        <a:bodyPr/>
                        <a:lstStyle/>
                        <a:p>
                          <a:pPr algn="ctr"/>
                          <a:r>
                            <a:rPr lang="en-NZ" dirty="0" err="1"/>
                            <a:t>df</a:t>
                          </a:r>
                          <a:endParaRPr lang="en-NZ" dirty="0"/>
                        </a:p>
                      </a:txBody>
                      <a:tcPr anchor="ctr"/>
                    </a:tc>
                    <a:tc>
                      <a:txBody>
                        <a:bodyPr/>
                        <a:lstStyle/>
                        <a:p>
                          <a:pPr algn="ctr"/>
                          <a:r>
                            <a:rPr lang="en-NZ" dirty="0"/>
                            <a:t>SS</a:t>
                          </a:r>
                        </a:p>
                      </a:txBody>
                      <a:tcPr anchor="ctr"/>
                    </a:tc>
                    <a:tc>
                      <a:txBody>
                        <a:bodyPr/>
                        <a:lstStyle/>
                        <a:p>
                          <a:pPr algn="ctr"/>
                          <a:r>
                            <a:rPr lang="en-NZ" dirty="0"/>
                            <a:t>Mean Square</a:t>
                          </a:r>
                        </a:p>
                      </a:txBody>
                      <a:tcPr anchor="ctr"/>
                    </a:tc>
                    <a:tc>
                      <a:txBody>
                        <a:bodyPr/>
                        <a:lstStyle/>
                        <a:p>
                          <a:pPr algn="ctr"/>
                          <a:r>
                            <a:rPr lang="en-NZ" dirty="0"/>
                            <a:t>E [ Mean Squares ]</a:t>
                          </a:r>
                        </a:p>
                      </a:txBody>
                      <a:tcPr anchor="ctr"/>
                    </a:tc>
                    <a:tc>
                      <a:txBody>
                        <a:bodyPr/>
                        <a:lstStyle/>
                        <a:p>
                          <a:pPr algn="ctr"/>
                          <a:r>
                            <a:rPr lang="en-NZ" dirty="0"/>
                            <a:t>F-Statistic</a:t>
                          </a:r>
                        </a:p>
                      </a:txBody>
                      <a:tcPr anchor="ctr"/>
                    </a:tc>
                    <a:extLst>
                      <a:ext uri="{0D108BD9-81ED-4DB2-BD59-A6C34878D82A}">
                        <a16:rowId xmlns:a16="http://schemas.microsoft.com/office/drawing/2014/main" val="3666350365"/>
                      </a:ext>
                    </a:extLst>
                  </a:tr>
                  <a:tr h="370840">
                    <a:tc>
                      <a:txBody>
                        <a:bodyPr/>
                        <a:lstStyle/>
                        <a:p>
                          <a:pPr algn="ctr"/>
                          <a:r>
                            <a:rPr lang="en-NZ" dirty="0"/>
                            <a:t>Total</a:t>
                          </a:r>
                        </a:p>
                      </a:txBody>
                      <a:tcPr anchor="ctr"/>
                    </a:tc>
                    <a:tc>
                      <a:txBody>
                        <a:bodyPr/>
                        <a:lstStyle/>
                        <a:p>
                          <a:pPr algn="ctr"/>
                          <a:r>
                            <a:rPr lang="en-NZ" dirty="0"/>
                            <a:t>abn-1</a:t>
                          </a:r>
                        </a:p>
                      </a:txBody>
                      <a:tcPr anchor="ctr"/>
                    </a:tc>
                    <a:tc>
                      <a:txBody>
                        <a:bodyPr/>
                        <a:lstStyle/>
                        <a:p>
                          <a:pPr algn="ctr"/>
                          <a:r>
                            <a:rPr lang="en-NZ" dirty="0"/>
                            <a:t>TSS</a:t>
                          </a:r>
                        </a:p>
                      </a:txBody>
                      <a:tcPr anchor="ctr"/>
                    </a:tc>
                    <a:tc>
                      <a:txBody>
                        <a:bodyPr/>
                        <a:lstStyle/>
                        <a:p>
                          <a:pPr algn="ctr"/>
                          <a:endParaRPr lang="en-NZ" dirty="0"/>
                        </a:p>
                      </a:txBody>
                      <a:tcPr anchor="ctr"/>
                    </a:tc>
                    <a:tc>
                      <a:txBody>
                        <a:bodyPr/>
                        <a:lstStyle/>
                        <a:p>
                          <a:pPr algn="ctr"/>
                          <a:endParaRPr lang="en-NZ" dirty="0"/>
                        </a:p>
                      </a:txBody>
                      <a:tcPr anchor="ctr"/>
                    </a:tc>
                    <a:tc>
                      <a:txBody>
                        <a:bodyPr/>
                        <a:lstStyle/>
                        <a:p>
                          <a:pPr algn="ctr"/>
                          <a:endParaRPr lang="en-NZ" dirty="0"/>
                        </a:p>
                      </a:txBody>
                      <a:tcPr anchor="ctr"/>
                    </a:tc>
                    <a:extLst>
                      <a:ext uri="{0D108BD9-81ED-4DB2-BD59-A6C34878D82A}">
                        <a16:rowId xmlns:a16="http://schemas.microsoft.com/office/drawing/2014/main" val="3341485952"/>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NZ" dirty="0"/>
                            <a:t>A</a:t>
                          </a:r>
                        </a:p>
                      </a:txBody>
                      <a:tcPr anchor="ctr"/>
                    </a:tc>
                    <a:tc>
                      <a:txBody>
                        <a:bodyPr/>
                        <a:lstStyle/>
                        <a:p>
                          <a:pPr algn="ctr"/>
                          <a:r>
                            <a:rPr lang="en-NZ" dirty="0"/>
                            <a:t>a-1</a:t>
                          </a:r>
                        </a:p>
                      </a:txBody>
                      <a:tcPr anchor="ctr"/>
                    </a:tc>
                    <a:tc>
                      <a:txBody>
                        <a:bodyPr/>
                        <a:lstStyle/>
                        <a:p>
                          <a:pPr algn="ctr"/>
                          <a:r>
                            <a:rPr lang="en-NZ" dirty="0"/>
                            <a:t>SS</a:t>
                          </a:r>
                          <a:r>
                            <a:rPr lang="en-NZ" baseline="-25000" dirty="0"/>
                            <a:t>A</a:t>
                          </a:r>
                          <a:endParaRPr lang="en-NZ" dirty="0"/>
                        </a:p>
                      </a:txBody>
                      <a:tcPr anchor="ctr"/>
                    </a:tc>
                    <a:tc>
                      <a:txBody>
                        <a:bodyPr/>
                        <a:lstStyle/>
                        <a:p>
                          <a:pPr algn="ctr"/>
                          <a:r>
                            <a:rPr lang="en-NZ" dirty="0"/>
                            <a:t>MS</a:t>
                          </a:r>
                          <a:r>
                            <a:rPr lang="en-NZ" baseline="-25000" dirty="0"/>
                            <a:t>A</a:t>
                          </a:r>
                          <a:r>
                            <a:rPr lang="en-NZ" dirty="0"/>
                            <a:t> = SS</a:t>
                          </a:r>
                          <a:r>
                            <a:rPr lang="en-NZ" baseline="-25000" dirty="0"/>
                            <a:t>A</a:t>
                          </a:r>
                          <a:r>
                            <a:rPr lang="en-NZ" dirty="0"/>
                            <a:t> / (a-1)</a:t>
                          </a:r>
                        </a:p>
                      </a:txBody>
                      <a:tcPr anchor="ctr"/>
                    </a:tc>
                    <a:tc>
                      <a:txBody>
                        <a:bodyPr/>
                        <a:lstStyle/>
                        <a:p>
                          <a:pPr algn="ctr"/>
                          <a14:m>
                            <m:oMathPara xmlns:m="http://schemas.openxmlformats.org/officeDocument/2006/math">
                              <m:oMathParaPr>
                                <m:jc m:val="centerGroup"/>
                              </m:oMathParaPr>
                              <m:oMath xmlns:m="http://schemas.openxmlformats.org/officeDocument/2006/math">
                                <m:sSup>
                                  <m:sSupPr>
                                    <m:ctrlPr>
                                      <a:rPr lang="en-NZ" b="0" i="1" smtClean="0">
                                        <a:latin typeface="Cambria Math" panose="02040503050406030204" pitchFamily="18" charset="0"/>
                                      </a:rPr>
                                    </m:ctrlPr>
                                  </m:sSupPr>
                                  <m:e>
                                    <m:r>
                                      <a:rPr lang="en-NZ" b="0" i="1" smtClean="0">
                                        <a:latin typeface="Cambria Math" panose="02040503050406030204" pitchFamily="18" charset="0"/>
                                      </a:rPr>
                                      <m:t>𝜎</m:t>
                                    </m:r>
                                  </m:e>
                                  <m:sup>
                                    <m:r>
                                      <a:rPr lang="en-NZ" b="0" i="1" smtClean="0">
                                        <a:latin typeface="Cambria Math" panose="02040503050406030204" pitchFamily="18" charset="0"/>
                                      </a:rPr>
                                      <m:t>2</m:t>
                                    </m:r>
                                  </m:sup>
                                </m:sSup>
                                <m:r>
                                  <a:rPr lang="en-NZ" b="0" i="1" smtClean="0">
                                    <a:latin typeface="Cambria Math" panose="02040503050406030204" pitchFamily="18" charset="0"/>
                                  </a:rPr>
                                  <m:t>+  </m:t>
                                </m:r>
                                <m:r>
                                  <a:rPr lang="en-NZ" b="0" i="1" smtClean="0">
                                    <a:latin typeface="Cambria Math" panose="02040503050406030204" pitchFamily="18" charset="0"/>
                                  </a:rPr>
                                  <m:t>𝑛</m:t>
                                </m:r>
                                <m:r>
                                  <a:rPr lang="en-NZ" b="0" i="1" smtClean="0">
                                    <a:latin typeface="Cambria Math" panose="02040503050406030204" pitchFamily="18" charset="0"/>
                                  </a:rPr>
                                  <m:t> </m:t>
                                </m:r>
                                <m:sSubSup>
                                  <m:sSubSupPr>
                                    <m:ctrlPr>
                                      <a:rPr lang="en-NZ" b="0" i="1" smtClean="0">
                                        <a:latin typeface="Cambria Math" panose="02040503050406030204" pitchFamily="18" charset="0"/>
                                      </a:rPr>
                                    </m:ctrlPr>
                                  </m:sSubSupPr>
                                  <m:e>
                                    <m:r>
                                      <a:rPr lang="en-NZ" b="0" i="1" smtClean="0">
                                        <a:latin typeface="Cambria Math" panose="02040503050406030204" pitchFamily="18" charset="0"/>
                                      </a:rPr>
                                      <m:t>𝜎</m:t>
                                    </m:r>
                                  </m:e>
                                  <m:sub>
                                    <m:r>
                                      <a:rPr lang="en-NZ" b="0" i="1" smtClean="0">
                                        <a:latin typeface="Cambria Math" panose="02040503050406030204" pitchFamily="18" charset="0"/>
                                      </a:rPr>
                                      <m:t>𝐵</m:t>
                                    </m:r>
                                  </m:sub>
                                  <m:sup>
                                    <m:r>
                                      <a:rPr lang="en-NZ" b="0" i="1" smtClean="0">
                                        <a:latin typeface="Cambria Math" panose="02040503050406030204" pitchFamily="18" charset="0"/>
                                      </a:rPr>
                                      <m:t>2</m:t>
                                    </m:r>
                                  </m:sup>
                                </m:sSubSup>
                                <m:r>
                                  <a:rPr lang="en-NZ" b="0" i="1" smtClean="0">
                                    <a:latin typeface="Cambria Math" panose="02040503050406030204" pitchFamily="18" charset="0"/>
                                  </a:rPr>
                                  <m:t> +  </m:t>
                                </m:r>
                                <m:r>
                                  <a:rPr lang="en-NZ" b="0" i="1" smtClean="0">
                                    <a:latin typeface="Cambria Math" panose="02040503050406030204" pitchFamily="18" charset="0"/>
                                  </a:rPr>
                                  <m:t>𝑏𝑛</m:t>
                                </m:r>
                                <m:r>
                                  <a:rPr lang="en-NZ" b="0" i="1" smtClean="0">
                                    <a:latin typeface="Cambria Math" panose="02040503050406030204" pitchFamily="18" charset="0"/>
                                  </a:rPr>
                                  <m:t> </m:t>
                                </m:r>
                                <m:r>
                                  <a:rPr lang="en-NZ" b="0" i="1" smtClean="0">
                                    <a:latin typeface="Cambria Math" panose="02040503050406030204" pitchFamily="18" charset="0"/>
                                  </a:rPr>
                                  <m:t>𝑣</m:t>
                                </m:r>
                                <m:d>
                                  <m:dPr>
                                    <m:ctrlPr>
                                      <a:rPr lang="en-NZ" b="0" i="1" smtClean="0">
                                        <a:latin typeface="Cambria Math" panose="02040503050406030204" pitchFamily="18" charset="0"/>
                                      </a:rPr>
                                    </m:ctrlPr>
                                  </m:dPr>
                                  <m:e>
                                    <m:r>
                                      <a:rPr lang="en-NZ" b="0" i="1" smtClean="0">
                                        <a:latin typeface="Cambria Math" panose="02040503050406030204" pitchFamily="18" charset="0"/>
                                      </a:rPr>
                                      <m:t>𝛼</m:t>
                                    </m:r>
                                  </m:e>
                                </m:d>
                              </m:oMath>
                            </m:oMathPara>
                          </a14:m>
                          <a:endParaRPr lang="en-NZ" dirty="0"/>
                        </a:p>
                      </a:txBody>
                      <a:tcPr anchor="ctr"/>
                    </a:tc>
                    <a:tc>
                      <a:txBody>
                        <a:bodyPr/>
                        <a:lstStyle/>
                        <a:p>
                          <a:pPr algn="ctr"/>
                          <a:r>
                            <a:rPr lang="en-NZ" dirty="0"/>
                            <a:t>MS</a:t>
                          </a:r>
                          <a:r>
                            <a:rPr lang="en-NZ" baseline="-25000" dirty="0"/>
                            <a:t>A</a:t>
                          </a:r>
                          <a:r>
                            <a:rPr lang="en-NZ" dirty="0"/>
                            <a:t> / MS</a:t>
                          </a:r>
                          <a:r>
                            <a:rPr lang="en-NZ" baseline="-25000" dirty="0"/>
                            <a:t>B(A)</a:t>
                          </a:r>
                          <a:endParaRPr lang="en-NZ" dirty="0"/>
                        </a:p>
                      </a:txBody>
                      <a:tcPr anchor="ctr"/>
                    </a:tc>
                    <a:extLst>
                      <a:ext uri="{0D108BD9-81ED-4DB2-BD59-A6C34878D82A}">
                        <a16:rowId xmlns:a16="http://schemas.microsoft.com/office/drawing/2014/main" val="443198030"/>
                      </a:ext>
                    </a:extLst>
                  </a:tr>
                  <a:tr h="370840">
                    <a:tc>
                      <a:txBody>
                        <a:bodyPr/>
                        <a:lstStyle/>
                        <a:p>
                          <a:pPr algn="ctr"/>
                          <a:r>
                            <a:rPr lang="en-NZ" dirty="0"/>
                            <a:t>B(A)</a:t>
                          </a:r>
                        </a:p>
                      </a:txBody>
                      <a:tcPr anchor="ctr"/>
                    </a:tc>
                    <a:tc>
                      <a:txBody>
                        <a:bodyPr/>
                        <a:lstStyle/>
                        <a:p>
                          <a:pPr algn="ctr"/>
                          <a:r>
                            <a:rPr lang="en-NZ" dirty="0"/>
                            <a:t>a(b-1)</a:t>
                          </a:r>
                        </a:p>
                      </a:txBody>
                      <a:tcPr anchor="ctr"/>
                    </a:tc>
                    <a:tc>
                      <a:txBody>
                        <a:bodyPr/>
                        <a:lstStyle/>
                        <a:p>
                          <a:pPr algn="ctr"/>
                          <a:r>
                            <a:rPr lang="en-NZ" dirty="0"/>
                            <a:t>SS</a:t>
                          </a:r>
                          <a:r>
                            <a:rPr lang="en-NZ" baseline="-25000" dirty="0"/>
                            <a:t>B(A)</a:t>
                          </a:r>
                          <a:endParaRPr lang="en-NZ" dirty="0"/>
                        </a:p>
                      </a:txBody>
                      <a:tcPr anchor="ctr"/>
                    </a:tc>
                    <a:tc>
                      <a:txBody>
                        <a:bodyPr/>
                        <a:lstStyle/>
                        <a:p>
                          <a:pPr algn="ctr"/>
                          <a:r>
                            <a:rPr lang="en-NZ" dirty="0"/>
                            <a:t>MS</a:t>
                          </a:r>
                          <a:r>
                            <a:rPr lang="en-NZ" baseline="-25000" dirty="0"/>
                            <a:t>B(A)</a:t>
                          </a:r>
                          <a:r>
                            <a:rPr lang="en-NZ" dirty="0"/>
                            <a:t> = SS</a:t>
                          </a:r>
                          <a:r>
                            <a:rPr lang="en-NZ" baseline="-25000" dirty="0"/>
                            <a:t>B(A)</a:t>
                          </a:r>
                          <a:r>
                            <a:rPr lang="en-NZ" dirty="0"/>
                            <a:t> / [ a(b-1) ]</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p>
                                  <m:sSupPr>
                                    <m:ctrlPr>
                                      <a:rPr lang="en-NZ" b="0" i="1" smtClean="0">
                                        <a:latin typeface="Cambria Math" panose="02040503050406030204" pitchFamily="18" charset="0"/>
                                      </a:rPr>
                                    </m:ctrlPr>
                                  </m:sSupPr>
                                  <m:e>
                                    <m:r>
                                      <a:rPr lang="en-NZ" b="0" i="1" smtClean="0">
                                        <a:latin typeface="Cambria Math" panose="02040503050406030204" pitchFamily="18" charset="0"/>
                                      </a:rPr>
                                      <m:t>𝜎</m:t>
                                    </m:r>
                                  </m:e>
                                  <m:sup>
                                    <m:r>
                                      <a:rPr lang="en-NZ" b="0" i="1" smtClean="0">
                                        <a:latin typeface="Cambria Math" panose="02040503050406030204" pitchFamily="18" charset="0"/>
                                      </a:rPr>
                                      <m:t>2</m:t>
                                    </m:r>
                                  </m:sup>
                                </m:sSup>
                                <m:r>
                                  <a:rPr lang="en-NZ" b="0" i="1" smtClean="0">
                                    <a:latin typeface="Cambria Math" panose="02040503050406030204" pitchFamily="18" charset="0"/>
                                  </a:rPr>
                                  <m:t>+  </m:t>
                                </m:r>
                                <m:r>
                                  <a:rPr lang="en-NZ" b="0" i="1" smtClean="0">
                                    <a:latin typeface="Cambria Math" panose="02040503050406030204" pitchFamily="18" charset="0"/>
                                  </a:rPr>
                                  <m:t>𝑛</m:t>
                                </m:r>
                                <m:r>
                                  <a:rPr lang="en-NZ" b="0" i="1" smtClean="0">
                                    <a:latin typeface="Cambria Math" panose="02040503050406030204" pitchFamily="18" charset="0"/>
                                  </a:rPr>
                                  <m:t> </m:t>
                                </m:r>
                                <m:sSubSup>
                                  <m:sSubSupPr>
                                    <m:ctrlPr>
                                      <a:rPr lang="en-NZ" b="0" i="1" smtClean="0">
                                        <a:latin typeface="Cambria Math" panose="02040503050406030204" pitchFamily="18" charset="0"/>
                                      </a:rPr>
                                    </m:ctrlPr>
                                  </m:sSubSupPr>
                                  <m:e>
                                    <m:r>
                                      <a:rPr lang="en-NZ" b="0" i="1" smtClean="0">
                                        <a:latin typeface="Cambria Math" panose="02040503050406030204" pitchFamily="18" charset="0"/>
                                      </a:rPr>
                                      <m:t>𝜎</m:t>
                                    </m:r>
                                  </m:e>
                                  <m:sub>
                                    <m:r>
                                      <a:rPr lang="en-NZ" b="0" i="1" smtClean="0">
                                        <a:latin typeface="Cambria Math" panose="02040503050406030204" pitchFamily="18" charset="0"/>
                                      </a:rPr>
                                      <m:t>𝐵</m:t>
                                    </m:r>
                                  </m:sub>
                                  <m:sup>
                                    <m:r>
                                      <a:rPr lang="en-NZ" b="0" i="1" smtClean="0">
                                        <a:latin typeface="Cambria Math" panose="02040503050406030204" pitchFamily="18" charset="0"/>
                                      </a:rPr>
                                      <m:t>2</m:t>
                                    </m:r>
                                  </m:sup>
                                </m:sSubSup>
                              </m:oMath>
                            </m:oMathPara>
                          </a14:m>
                          <a:endParaRPr lang="en-NZ" dirty="0"/>
                        </a:p>
                      </a:txBody>
                      <a:tcPr anchor="ctr"/>
                    </a:tc>
                    <a:tc>
                      <a:txBody>
                        <a:bodyPr/>
                        <a:lstStyle/>
                        <a:p>
                          <a:pPr algn="ctr"/>
                          <a:r>
                            <a:rPr lang="en-NZ" dirty="0"/>
                            <a:t>MS</a:t>
                          </a:r>
                          <a:r>
                            <a:rPr lang="en-NZ" baseline="-25000" dirty="0"/>
                            <a:t>B(A)</a:t>
                          </a:r>
                          <a:r>
                            <a:rPr lang="en-NZ" dirty="0"/>
                            <a:t> / MSE</a:t>
                          </a:r>
                        </a:p>
                      </a:txBody>
                      <a:tcPr anchor="ctr"/>
                    </a:tc>
                    <a:extLst>
                      <a:ext uri="{0D108BD9-81ED-4DB2-BD59-A6C34878D82A}">
                        <a16:rowId xmlns:a16="http://schemas.microsoft.com/office/drawing/2014/main" val="3427382577"/>
                      </a:ext>
                    </a:extLst>
                  </a:tr>
                  <a:tr h="370840">
                    <a:tc>
                      <a:txBody>
                        <a:bodyPr/>
                        <a:lstStyle/>
                        <a:p>
                          <a:pPr algn="ctr"/>
                          <a:r>
                            <a:rPr lang="en-NZ" dirty="0"/>
                            <a:t>Residual</a:t>
                          </a:r>
                        </a:p>
                      </a:txBody>
                      <a:tcPr anchor="ctr"/>
                    </a:tc>
                    <a:tc>
                      <a:txBody>
                        <a:bodyPr/>
                        <a:lstStyle/>
                        <a:p>
                          <a:pPr algn="ctr"/>
                          <a:r>
                            <a:rPr lang="en-NZ" dirty="0"/>
                            <a:t>ab(n-1)</a:t>
                          </a:r>
                        </a:p>
                      </a:txBody>
                      <a:tcPr anchor="ctr"/>
                    </a:tc>
                    <a:tc>
                      <a:txBody>
                        <a:bodyPr/>
                        <a:lstStyle/>
                        <a:p>
                          <a:pPr algn="ctr"/>
                          <a:r>
                            <a:rPr lang="en-NZ" dirty="0"/>
                            <a:t>SSE</a:t>
                          </a:r>
                        </a:p>
                      </a:txBody>
                      <a:tcPr anchor="ctr"/>
                    </a:tc>
                    <a:tc>
                      <a:txBody>
                        <a:bodyPr/>
                        <a:lstStyle/>
                        <a:p>
                          <a:pPr algn="ctr"/>
                          <a:r>
                            <a:rPr lang="en-NZ" dirty="0"/>
                            <a:t>MSE = SSE / [ ab(n-1) ]</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p>
                                  <m:sSupPr>
                                    <m:ctrlPr>
                                      <a:rPr lang="en-NZ" b="0" i="1" smtClean="0">
                                        <a:latin typeface="Cambria Math" panose="02040503050406030204" pitchFamily="18" charset="0"/>
                                      </a:rPr>
                                    </m:ctrlPr>
                                  </m:sSupPr>
                                  <m:e>
                                    <m:r>
                                      <a:rPr lang="en-NZ" b="0" i="1" smtClean="0">
                                        <a:latin typeface="Cambria Math" panose="02040503050406030204" pitchFamily="18" charset="0"/>
                                      </a:rPr>
                                      <m:t>𝜎</m:t>
                                    </m:r>
                                  </m:e>
                                  <m:sup>
                                    <m:r>
                                      <a:rPr lang="en-NZ" b="0" i="1" smtClean="0">
                                        <a:latin typeface="Cambria Math" panose="02040503050406030204" pitchFamily="18" charset="0"/>
                                      </a:rPr>
                                      <m:t>2</m:t>
                                    </m:r>
                                  </m:sup>
                                </m:sSup>
                              </m:oMath>
                            </m:oMathPara>
                          </a14:m>
                          <a:endParaRPr lang="en-NZ" dirty="0"/>
                        </a:p>
                      </a:txBody>
                      <a:tcPr anchor="ctr"/>
                    </a:tc>
                    <a:tc>
                      <a:txBody>
                        <a:bodyPr/>
                        <a:lstStyle/>
                        <a:p>
                          <a:pPr algn="ctr"/>
                          <a:endParaRPr lang="en-NZ" dirty="0"/>
                        </a:p>
                      </a:txBody>
                      <a:tcPr anchor="ctr"/>
                    </a:tc>
                    <a:extLst>
                      <a:ext uri="{0D108BD9-81ED-4DB2-BD59-A6C34878D82A}">
                        <a16:rowId xmlns:a16="http://schemas.microsoft.com/office/drawing/2014/main" val="3328376915"/>
                      </a:ext>
                    </a:extLst>
                  </a:tr>
                </a:tbl>
              </a:graphicData>
            </a:graphic>
          </p:graphicFrame>
        </mc:Choice>
        <mc:Fallback xmlns="">
          <p:graphicFrame>
            <p:nvGraphicFramePr>
              <p:cNvPr id="12" name="Table 2">
                <a:extLst>
                  <a:ext uri="{FF2B5EF4-FFF2-40B4-BE49-F238E27FC236}">
                    <a16:creationId xmlns:a16="http://schemas.microsoft.com/office/drawing/2014/main" id="{AC09C63B-DEDA-11CA-1297-AF6E4CB7A985}"/>
                  </a:ext>
                </a:extLst>
              </p:cNvPr>
              <p:cNvGraphicFramePr>
                <a:graphicFrameLocks noGrp="1"/>
              </p:cNvGraphicFramePr>
              <p:nvPr/>
            </p:nvGraphicFramePr>
            <p:xfrm>
              <a:off x="382137" y="1823765"/>
              <a:ext cx="11490547" cy="2123440"/>
            </p:xfrm>
            <a:graphic>
              <a:graphicData uri="http://schemas.openxmlformats.org/drawingml/2006/table">
                <a:tbl>
                  <a:tblPr firstRow="1" bandRow="1">
                    <a:tableStyleId>{5C22544A-7EE6-4342-B048-85BDC9FD1C3A}</a:tableStyleId>
                  </a:tblPr>
                  <a:tblGrid>
                    <a:gridCol w="1583141">
                      <a:extLst>
                        <a:ext uri="{9D8B030D-6E8A-4147-A177-3AD203B41FA5}">
                          <a16:colId xmlns:a16="http://schemas.microsoft.com/office/drawing/2014/main" val="4198110682"/>
                        </a:ext>
                      </a:extLst>
                    </a:gridCol>
                    <a:gridCol w="1037229">
                      <a:extLst>
                        <a:ext uri="{9D8B030D-6E8A-4147-A177-3AD203B41FA5}">
                          <a16:colId xmlns:a16="http://schemas.microsoft.com/office/drawing/2014/main" val="292302729"/>
                        </a:ext>
                      </a:extLst>
                    </a:gridCol>
                    <a:gridCol w="1419368">
                      <a:extLst>
                        <a:ext uri="{9D8B030D-6E8A-4147-A177-3AD203B41FA5}">
                          <a16:colId xmlns:a16="http://schemas.microsoft.com/office/drawing/2014/main" val="126256495"/>
                        </a:ext>
                      </a:extLst>
                    </a:gridCol>
                    <a:gridCol w="2729552">
                      <a:extLst>
                        <a:ext uri="{9D8B030D-6E8A-4147-A177-3AD203B41FA5}">
                          <a16:colId xmlns:a16="http://schemas.microsoft.com/office/drawing/2014/main" val="477450593"/>
                        </a:ext>
                      </a:extLst>
                    </a:gridCol>
                    <a:gridCol w="2788657">
                      <a:extLst>
                        <a:ext uri="{9D8B030D-6E8A-4147-A177-3AD203B41FA5}">
                          <a16:colId xmlns:a16="http://schemas.microsoft.com/office/drawing/2014/main" val="3785429377"/>
                        </a:ext>
                      </a:extLst>
                    </a:gridCol>
                    <a:gridCol w="1932600">
                      <a:extLst>
                        <a:ext uri="{9D8B030D-6E8A-4147-A177-3AD203B41FA5}">
                          <a16:colId xmlns:a16="http://schemas.microsoft.com/office/drawing/2014/main" val="1101540161"/>
                        </a:ext>
                      </a:extLst>
                    </a:gridCol>
                  </a:tblGrid>
                  <a:tr h="640080">
                    <a:tc>
                      <a:txBody>
                        <a:bodyPr/>
                        <a:lstStyle/>
                        <a:p>
                          <a:pPr algn="ctr"/>
                          <a:r>
                            <a:rPr lang="en-NZ" dirty="0"/>
                            <a:t>Source of Variation</a:t>
                          </a:r>
                        </a:p>
                      </a:txBody>
                      <a:tcPr anchor="ctr"/>
                    </a:tc>
                    <a:tc>
                      <a:txBody>
                        <a:bodyPr/>
                        <a:lstStyle/>
                        <a:p>
                          <a:pPr algn="ctr"/>
                          <a:r>
                            <a:rPr lang="en-NZ" dirty="0" err="1"/>
                            <a:t>df</a:t>
                          </a:r>
                          <a:endParaRPr lang="en-NZ" dirty="0"/>
                        </a:p>
                      </a:txBody>
                      <a:tcPr anchor="ctr"/>
                    </a:tc>
                    <a:tc>
                      <a:txBody>
                        <a:bodyPr/>
                        <a:lstStyle/>
                        <a:p>
                          <a:pPr algn="ctr"/>
                          <a:r>
                            <a:rPr lang="en-NZ" dirty="0"/>
                            <a:t>SS</a:t>
                          </a:r>
                        </a:p>
                      </a:txBody>
                      <a:tcPr anchor="ctr"/>
                    </a:tc>
                    <a:tc>
                      <a:txBody>
                        <a:bodyPr/>
                        <a:lstStyle/>
                        <a:p>
                          <a:pPr algn="ctr"/>
                          <a:r>
                            <a:rPr lang="en-NZ" dirty="0"/>
                            <a:t>Mean Square</a:t>
                          </a:r>
                        </a:p>
                      </a:txBody>
                      <a:tcPr anchor="ctr"/>
                    </a:tc>
                    <a:tc>
                      <a:txBody>
                        <a:bodyPr/>
                        <a:lstStyle/>
                        <a:p>
                          <a:pPr algn="ctr"/>
                          <a:r>
                            <a:rPr lang="en-NZ" dirty="0"/>
                            <a:t>E [ Mean Squares ]</a:t>
                          </a:r>
                        </a:p>
                      </a:txBody>
                      <a:tcPr anchor="ctr"/>
                    </a:tc>
                    <a:tc>
                      <a:txBody>
                        <a:bodyPr/>
                        <a:lstStyle/>
                        <a:p>
                          <a:pPr algn="ctr"/>
                          <a:r>
                            <a:rPr lang="en-NZ" dirty="0"/>
                            <a:t>F-Statistic</a:t>
                          </a:r>
                        </a:p>
                      </a:txBody>
                      <a:tcPr anchor="ctr"/>
                    </a:tc>
                    <a:extLst>
                      <a:ext uri="{0D108BD9-81ED-4DB2-BD59-A6C34878D82A}">
                        <a16:rowId xmlns:a16="http://schemas.microsoft.com/office/drawing/2014/main" val="3666350365"/>
                      </a:ext>
                    </a:extLst>
                  </a:tr>
                  <a:tr h="370840">
                    <a:tc>
                      <a:txBody>
                        <a:bodyPr/>
                        <a:lstStyle/>
                        <a:p>
                          <a:pPr algn="ctr"/>
                          <a:r>
                            <a:rPr lang="en-NZ" dirty="0"/>
                            <a:t>Total</a:t>
                          </a:r>
                        </a:p>
                      </a:txBody>
                      <a:tcPr anchor="ctr"/>
                    </a:tc>
                    <a:tc>
                      <a:txBody>
                        <a:bodyPr/>
                        <a:lstStyle/>
                        <a:p>
                          <a:pPr algn="ctr"/>
                          <a:r>
                            <a:rPr lang="en-NZ" dirty="0"/>
                            <a:t>abn-1</a:t>
                          </a:r>
                        </a:p>
                      </a:txBody>
                      <a:tcPr anchor="ctr"/>
                    </a:tc>
                    <a:tc>
                      <a:txBody>
                        <a:bodyPr/>
                        <a:lstStyle/>
                        <a:p>
                          <a:pPr algn="ctr"/>
                          <a:r>
                            <a:rPr lang="en-NZ" dirty="0"/>
                            <a:t>TSS</a:t>
                          </a:r>
                        </a:p>
                      </a:txBody>
                      <a:tcPr anchor="ctr"/>
                    </a:tc>
                    <a:tc>
                      <a:txBody>
                        <a:bodyPr/>
                        <a:lstStyle/>
                        <a:p>
                          <a:pPr algn="ctr"/>
                          <a:endParaRPr lang="en-NZ" dirty="0"/>
                        </a:p>
                      </a:txBody>
                      <a:tcPr anchor="ctr"/>
                    </a:tc>
                    <a:tc>
                      <a:txBody>
                        <a:bodyPr/>
                        <a:lstStyle/>
                        <a:p>
                          <a:pPr algn="ctr"/>
                          <a:endParaRPr lang="en-NZ" dirty="0"/>
                        </a:p>
                      </a:txBody>
                      <a:tcPr anchor="ctr"/>
                    </a:tc>
                    <a:tc>
                      <a:txBody>
                        <a:bodyPr/>
                        <a:lstStyle/>
                        <a:p>
                          <a:pPr algn="ctr"/>
                          <a:endParaRPr lang="en-NZ" dirty="0"/>
                        </a:p>
                      </a:txBody>
                      <a:tcPr anchor="ctr"/>
                    </a:tc>
                    <a:extLst>
                      <a:ext uri="{0D108BD9-81ED-4DB2-BD59-A6C34878D82A}">
                        <a16:rowId xmlns:a16="http://schemas.microsoft.com/office/drawing/2014/main" val="3341485952"/>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NZ" dirty="0"/>
                            <a:t>A</a:t>
                          </a:r>
                        </a:p>
                      </a:txBody>
                      <a:tcPr anchor="ctr"/>
                    </a:tc>
                    <a:tc>
                      <a:txBody>
                        <a:bodyPr/>
                        <a:lstStyle/>
                        <a:p>
                          <a:pPr algn="ctr"/>
                          <a:r>
                            <a:rPr lang="en-NZ" dirty="0"/>
                            <a:t>a-1</a:t>
                          </a:r>
                        </a:p>
                      </a:txBody>
                      <a:tcPr anchor="ctr"/>
                    </a:tc>
                    <a:tc>
                      <a:txBody>
                        <a:bodyPr/>
                        <a:lstStyle/>
                        <a:p>
                          <a:pPr algn="ctr"/>
                          <a:r>
                            <a:rPr lang="en-NZ" dirty="0"/>
                            <a:t>SS</a:t>
                          </a:r>
                          <a:r>
                            <a:rPr lang="en-NZ" baseline="-25000" dirty="0"/>
                            <a:t>A</a:t>
                          </a:r>
                          <a:endParaRPr lang="en-NZ" dirty="0"/>
                        </a:p>
                      </a:txBody>
                      <a:tcPr anchor="ctr"/>
                    </a:tc>
                    <a:tc>
                      <a:txBody>
                        <a:bodyPr/>
                        <a:lstStyle/>
                        <a:p>
                          <a:pPr algn="ctr"/>
                          <a:r>
                            <a:rPr lang="en-NZ" dirty="0"/>
                            <a:t>MS</a:t>
                          </a:r>
                          <a:r>
                            <a:rPr lang="en-NZ" baseline="-25000" dirty="0"/>
                            <a:t>A</a:t>
                          </a:r>
                          <a:r>
                            <a:rPr lang="en-NZ" dirty="0"/>
                            <a:t> = SS</a:t>
                          </a:r>
                          <a:r>
                            <a:rPr lang="en-NZ" baseline="-25000" dirty="0"/>
                            <a:t>A</a:t>
                          </a:r>
                          <a:r>
                            <a:rPr lang="en-NZ" dirty="0"/>
                            <a:t> / (a-1)</a:t>
                          </a:r>
                        </a:p>
                      </a:txBody>
                      <a:tcPr anchor="ctr"/>
                    </a:tc>
                    <a:tc>
                      <a:txBody>
                        <a:bodyPr/>
                        <a:lstStyle/>
                        <a:p>
                          <a:endParaRPr lang="en-US"/>
                        </a:p>
                      </a:txBody>
                      <a:tcPr anchor="ctr">
                        <a:blipFill>
                          <a:blip r:embed="rId2"/>
                          <a:stretch>
                            <a:fillRect l="-242795" t="-280328" r="-70087" b="-224590"/>
                          </a:stretch>
                        </a:blipFill>
                      </a:tcPr>
                    </a:tc>
                    <a:tc>
                      <a:txBody>
                        <a:bodyPr/>
                        <a:lstStyle/>
                        <a:p>
                          <a:pPr algn="ctr"/>
                          <a:r>
                            <a:rPr lang="en-NZ" dirty="0"/>
                            <a:t>MS</a:t>
                          </a:r>
                          <a:r>
                            <a:rPr lang="en-NZ" baseline="-25000" dirty="0"/>
                            <a:t>A</a:t>
                          </a:r>
                          <a:r>
                            <a:rPr lang="en-NZ" dirty="0"/>
                            <a:t> / MS</a:t>
                          </a:r>
                          <a:r>
                            <a:rPr lang="en-NZ" baseline="-25000" dirty="0"/>
                            <a:t>B(A)</a:t>
                          </a:r>
                          <a:endParaRPr lang="en-NZ" dirty="0"/>
                        </a:p>
                      </a:txBody>
                      <a:tcPr anchor="ctr"/>
                    </a:tc>
                    <a:extLst>
                      <a:ext uri="{0D108BD9-81ED-4DB2-BD59-A6C34878D82A}">
                        <a16:rowId xmlns:a16="http://schemas.microsoft.com/office/drawing/2014/main" val="443198030"/>
                      </a:ext>
                    </a:extLst>
                  </a:tr>
                  <a:tr h="370840">
                    <a:tc>
                      <a:txBody>
                        <a:bodyPr/>
                        <a:lstStyle/>
                        <a:p>
                          <a:pPr algn="ctr"/>
                          <a:r>
                            <a:rPr lang="en-NZ" dirty="0"/>
                            <a:t>B(A)</a:t>
                          </a:r>
                        </a:p>
                      </a:txBody>
                      <a:tcPr anchor="ctr"/>
                    </a:tc>
                    <a:tc>
                      <a:txBody>
                        <a:bodyPr/>
                        <a:lstStyle/>
                        <a:p>
                          <a:pPr algn="ctr"/>
                          <a:r>
                            <a:rPr lang="en-NZ" dirty="0"/>
                            <a:t>a(b-1)</a:t>
                          </a:r>
                        </a:p>
                      </a:txBody>
                      <a:tcPr anchor="ctr"/>
                    </a:tc>
                    <a:tc>
                      <a:txBody>
                        <a:bodyPr/>
                        <a:lstStyle/>
                        <a:p>
                          <a:pPr algn="ctr"/>
                          <a:r>
                            <a:rPr lang="en-NZ" dirty="0"/>
                            <a:t>SS</a:t>
                          </a:r>
                          <a:r>
                            <a:rPr lang="en-NZ" baseline="-25000" dirty="0"/>
                            <a:t>B(A)</a:t>
                          </a:r>
                          <a:endParaRPr lang="en-NZ" dirty="0"/>
                        </a:p>
                      </a:txBody>
                      <a:tcPr anchor="ctr"/>
                    </a:tc>
                    <a:tc>
                      <a:txBody>
                        <a:bodyPr/>
                        <a:lstStyle/>
                        <a:p>
                          <a:pPr algn="ctr"/>
                          <a:r>
                            <a:rPr lang="en-NZ" dirty="0"/>
                            <a:t>MS</a:t>
                          </a:r>
                          <a:r>
                            <a:rPr lang="en-NZ" baseline="-25000" dirty="0"/>
                            <a:t>B(A)</a:t>
                          </a:r>
                          <a:r>
                            <a:rPr lang="en-NZ" dirty="0"/>
                            <a:t> = SS</a:t>
                          </a:r>
                          <a:r>
                            <a:rPr lang="en-NZ" baseline="-25000" dirty="0"/>
                            <a:t>B(A)</a:t>
                          </a:r>
                          <a:r>
                            <a:rPr lang="en-NZ" dirty="0"/>
                            <a:t> / [ a(b-1) ]</a:t>
                          </a:r>
                        </a:p>
                      </a:txBody>
                      <a:tcPr anchor="ctr"/>
                    </a:tc>
                    <a:tc>
                      <a:txBody>
                        <a:bodyPr/>
                        <a:lstStyle/>
                        <a:p>
                          <a:endParaRPr lang="en-US"/>
                        </a:p>
                      </a:txBody>
                      <a:tcPr anchor="ctr">
                        <a:blipFill>
                          <a:blip r:embed="rId2"/>
                          <a:stretch>
                            <a:fillRect l="-242795" t="-380328" r="-70087" b="-124590"/>
                          </a:stretch>
                        </a:blipFill>
                      </a:tcPr>
                    </a:tc>
                    <a:tc>
                      <a:txBody>
                        <a:bodyPr/>
                        <a:lstStyle/>
                        <a:p>
                          <a:pPr algn="ctr"/>
                          <a:r>
                            <a:rPr lang="en-NZ" dirty="0"/>
                            <a:t>MS</a:t>
                          </a:r>
                          <a:r>
                            <a:rPr lang="en-NZ" baseline="-25000" dirty="0"/>
                            <a:t>B(A)</a:t>
                          </a:r>
                          <a:r>
                            <a:rPr lang="en-NZ" dirty="0"/>
                            <a:t> / MSE</a:t>
                          </a:r>
                        </a:p>
                      </a:txBody>
                      <a:tcPr anchor="ctr"/>
                    </a:tc>
                    <a:extLst>
                      <a:ext uri="{0D108BD9-81ED-4DB2-BD59-A6C34878D82A}">
                        <a16:rowId xmlns:a16="http://schemas.microsoft.com/office/drawing/2014/main" val="3427382577"/>
                      </a:ext>
                    </a:extLst>
                  </a:tr>
                  <a:tr h="370840">
                    <a:tc>
                      <a:txBody>
                        <a:bodyPr/>
                        <a:lstStyle/>
                        <a:p>
                          <a:pPr algn="ctr"/>
                          <a:r>
                            <a:rPr lang="en-NZ" dirty="0"/>
                            <a:t>Residual</a:t>
                          </a:r>
                        </a:p>
                      </a:txBody>
                      <a:tcPr anchor="ctr"/>
                    </a:tc>
                    <a:tc>
                      <a:txBody>
                        <a:bodyPr/>
                        <a:lstStyle/>
                        <a:p>
                          <a:pPr algn="ctr"/>
                          <a:r>
                            <a:rPr lang="en-NZ" dirty="0"/>
                            <a:t>ab(n-1)</a:t>
                          </a:r>
                        </a:p>
                      </a:txBody>
                      <a:tcPr anchor="ctr"/>
                    </a:tc>
                    <a:tc>
                      <a:txBody>
                        <a:bodyPr/>
                        <a:lstStyle/>
                        <a:p>
                          <a:pPr algn="ctr"/>
                          <a:r>
                            <a:rPr lang="en-NZ" dirty="0"/>
                            <a:t>SSE</a:t>
                          </a:r>
                        </a:p>
                      </a:txBody>
                      <a:tcPr anchor="ctr"/>
                    </a:tc>
                    <a:tc>
                      <a:txBody>
                        <a:bodyPr/>
                        <a:lstStyle/>
                        <a:p>
                          <a:pPr algn="ctr"/>
                          <a:r>
                            <a:rPr lang="en-NZ" dirty="0"/>
                            <a:t>MSE = SSE / [ ab(n-1) ]</a:t>
                          </a:r>
                        </a:p>
                      </a:txBody>
                      <a:tcPr anchor="ctr"/>
                    </a:tc>
                    <a:tc>
                      <a:txBody>
                        <a:bodyPr/>
                        <a:lstStyle/>
                        <a:p>
                          <a:endParaRPr lang="en-US"/>
                        </a:p>
                      </a:txBody>
                      <a:tcPr anchor="ctr">
                        <a:blipFill>
                          <a:blip r:embed="rId2"/>
                          <a:stretch>
                            <a:fillRect l="-242795" t="-480328" r="-70087" b="-24590"/>
                          </a:stretch>
                        </a:blipFill>
                      </a:tcPr>
                    </a:tc>
                    <a:tc>
                      <a:txBody>
                        <a:bodyPr/>
                        <a:lstStyle/>
                        <a:p>
                          <a:pPr algn="ctr"/>
                          <a:endParaRPr lang="en-NZ" dirty="0"/>
                        </a:p>
                      </a:txBody>
                      <a:tcPr anchor="ctr"/>
                    </a:tc>
                    <a:extLst>
                      <a:ext uri="{0D108BD9-81ED-4DB2-BD59-A6C34878D82A}">
                        <a16:rowId xmlns:a16="http://schemas.microsoft.com/office/drawing/2014/main" val="3328376915"/>
                      </a:ext>
                    </a:extLst>
                  </a:tr>
                </a:tbl>
              </a:graphicData>
            </a:graphic>
          </p:graphicFrame>
        </mc:Fallback>
      </mc:AlternateContent>
      <p:sp>
        <p:nvSpPr>
          <p:cNvPr id="21" name="Title 6">
            <a:extLst>
              <a:ext uri="{FF2B5EF4-FFF2-40B4-BE49-F238E27FC236}">
                <a16:creationId xmlns:a16="http://schemas.microsoft.com/office/drawing/2014/main" id="{7C963C88-6E6E-2444-9663-776716CBAA9D}"/>
              </a:ext>
            </a:extLst>
          </p:cNvPr>
          <p:cNvSpPr txBox="1">
            <a:spLocks/>
          </p:cNvSpPr>
          <p:nvPr/>
        </p:nvSpPr>
        <p:spPr>
          <a:xfrm>
            <a:off x="251224" y="237833"/>
            <a:ext cx="9411391" cy="607201"/>
          </a:xfrm>
          <a:prstGeom prst="rect">
            <a:avLst/>
          </a:prstGeom>
        </p:spPr>
        <p:txBody>
          <a:bodyPr anchor="t">
            <a:normAutofit/>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pPr marL="0" marR="0" lvl="0" indent="0" algn="l" defTabSz="914324" rtl="0" eaLnBrk="1" fontAlgn="auto" latinLnBrk="0" hangingPunct="1">
              <a:lnSpc>
                <a:spcPct val="90000"/>
              </a:lnSpc>
              <a:spcBef>
                <a:spcPct val="0"/>
              </a:spcBef>
              <a:spcAft>
                <a:spcPts val="0"/>
              </a:spcAft>
              <a:buClrTx/>
              <a:buSzTx/>
              <a:buFontTx/>
              <a:buNone/>
              <a:tabLst/>
              <a:defRPr/>
            </a:pPr>
            <a:r>
              <a:rPr lang="en-US" altLang="ja-JP" b="1" u="sng" dirty="0">
                <a:solidFill>
                  <a:prstClr val="black"/>
                </a:solidFill>
                <a:latin typeface="Calibri" panose="020F0502020204030204"/>
                <a:ea typeface="游ゴシック Light" panose="020B0300000000000000" pitchFamily="34" charset="-128"/>
              </a:rPr>
              <a:t>5</a:t>
            </a:r>
            <a:r>
              <a:rPr kumimoji="1" lang="en-US" altLang="ja-JP"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rPr>
              <a:t>.2c – ANOVA Table for a 2-Stage Nested Design:</a:t>
            </a:r>
            <a:endParaRPr kumimoji="1" lang="ja-JP" altLang="en-US"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endParaRPr>
          </a:p>
        </p:txBody>
      </p:sp>
      <mc:AlternateContent xmlns:mc="http://schemas.openxmlformats.org/markup-compatibility/2006" xmlns:a14="http://schemas.microsoft.com/office/drawing/2010/main">
        <mc:Choice Requires="a14">
          <p:sp>
            <p:nvSpPr>
              <p:cNvPr id="23" name="Text Placeholder 5">
                <a:extLst>
                  <a:ext uri="{FF2B5EF4-FFF2-40B4-BE49-F238E27FC236}">
                    <a16:creationId xmlns:a16="http://schemas.microsoft.com/office/drawing/2014/main" id="{1ABFDB76-E490-CD10-5057-CF8EB3B2AB38}"/>
                  </a:ext>
                </a:extLst>
              </p:cNvPr>
              <p:cNvSpPr txBox="1">
                <a:spLocks/>
              </p:cNvSpPr>
              <p:nvPr/>
            </p:nvSpPr>
            <p:spPr>
              <a:xfrm>
                <a:off x="9008620" y="4098899"/>
                <a:ext cx="3080745" cy="67534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800" b="0" u="none" strike="noStrike" kern="1200" cap="none" spc="0" normalizeH="0" baseline="0" noProof="0" dirty="0">
                    <a:ln>
                      <a:noFill/>
                    </a:ln>
                    <a:solidFill>
                      <a:prstClr val="black"/>
                    </a:solidFill>
                    <a:effectLst/>
                    <a:uLnTx/>
                    <a:uFillTx/>
                    <a:ea typeface="游ゴシック" panose="020B0400000000000000" pitchFamily="34" charset="-128"/>
                    <a:cs typeface="+mn-cs"/>
                  </a:rPr>
                  <a:t>Where   </a:t>
                </a:r>
                <a14:m>
                  <m:oMath xmlns:m="http://schemas.openxmlformats.org/officeDocument/2006/math">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𝒗</m:t>
                    </m:r>
                    <m:d>
                      <m:dPr>
                        <m:ctrlP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ctrlPr>
                      </m:dPr>
                      <m:e>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𝜶</m:t>
                        </m:r>
                      </m:e>
                    </m:d>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 </m:t>
                    </m:r>
                    <m:nary>
                      <m:naryPr>
                        <m:chr m:val="∑"/>
                        <m:ctrlP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ctrlPr>
                      </m:naryPr>
                      <m:sub>
                        <m:r>
                          <m:rPr>
                            <m:brk m:alnAt="23"/>
                          </m:rP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𝒊</m:t>
                        </m:r>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m:t>
                        </m:r>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𝟏</m:t>
                        </m:r>
                      </m:sub>
                      <m:sup>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𝒂</m:t>
                        </m:r>
                      </m:sup>
                      <m:e>
                        <m:f>
                          <m:fPr>
                            <m:ctrlP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ctrlPr>
                          </m:fPr>
                          <m:num>
                            <m:sSubSup>
                              <m:sSubSupPr>
                                <m:ctrlP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ctrlPr>
                              </m:sSubSupPr>
                              <m:e>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𝜶</m:t>
                                </m:r>
                              </m:e>
                              <m:sub>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𝒊</m:t>
                                </m:r>
                              </m:sub>
                              <m:sup>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𝟐</m:t>
                                </m:r>
                              </m:sup>
                            </m:sSubSup>
                          </m:num>
                          <m:den>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𝒂</m:t>
                            </m:r>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m:t>
                            </m:r>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𝟏</m:t>
                            </m:r>
                          </m:den>
                        </m:f>
                      </m:e>
                    </m:nary>
                  </m:oMath>
                </a14:m>
                <a:endParaRPr kumimoji="1" lang="en-NZ" altLang="ja-JP" sz="18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p:txBody>
          </p:sp>
        </mc:Choice>
        <mc:Fallback xmlns="">
          <p:sp>
            <p:nvSpPr>
              <p:cNvPr id="23" name="Text Placeholder 5">
                <a:extLst>
                  <a:ext uri="{FF2B5EF4-FFF2-40B4-BE49-F238E27FC236}">
                    <a16:creationId xmlns:a16="http://schemas.microsoft.com/office/drawing/2014/main" id="{1ABFDB76-E490-CD10-5057-CF8EB3B2AB38}"/>
                  </a:ext>
                </a:extLst>
              </p:cNvPr>
              <p:cNvSpPr txBox="1">
                <a:spLocks noRot="1" noChangeAspect="1" noMove="1" noResize="1" noEditPoints="1" noAdjustHandles="1" noChangeArrowheads="1" noChangeShapeType="1" noTextEdit="1"/>
              </p:cNvSpPr>
              <p:nvPr/>
            </p:nvSpPr>
            <p:spPr>
              <a:xfrm>
                <a:off x="9008620" y="4098899"/>
                <a:ext cx="3080745" cy="675343"/>
              </a:xfrm>
              <a:prstGeom prst="rect">
                <a:avLst/>
              </a:prstGeom>
              <a:blipFill>
                <a:blip r:embed="rId3"/>
                <a:stretch>
                  <a:fillRect l="-1782"/>
                </a:stretch>
              </a:blipFill>
            </p:spPr>
            <p:txBody>
              <a:bodyPr/>
              <a:lstStyle/>
              <a:p>
                <a:r>
                  <a:rPr lang="en-NZ">
                    <a:noFill/>
                  </a:rPr>
                  <a:t> </a:t>
                </a:r>
              </a:p>
            </p:txBody>
          </p:sp>
        </mc:Fallback>
      </mc:AlternateContent>
      <p:sp>
        <p:nvSpPr>
          <p:cNvPr id="24" name="Text Placeholder 5">
            <a:extLst>
              <a:ext uri="{FF2B5EF4-FFF2-40B4-BE49-F238E27FC236}">
                <a16:creationId xmlns:a16="http://schemas.microsoft.com/office/drawing/2014/main" id="{C5B81473-A70F-7002-6BCE-784BE92C764A}"/>
              </a:ext>
            </a:extLst>
          </p:cNvPr>
          <p:cNvSpPr txBox="1">
            <a:spLocks/>
          </p:cNvSpPr>
          <p:nvPr/>
        </p:nvSpPr>
        <p:spPr>
          <a:xfrm>
            <a:off x="406763" y="4428988"/>
            <a:ext cx="1162730" cy="416941"/>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800" b="1" u="sng"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Notes:</a:t>
            </a: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p:txBody>
      </p:sp>
      <mc:AlternateContent xmlns:mc="http://schemas.openxmlformats.org/markup-compatibility/2006" xmlns:a14="http://schemas.microsoft.com/office/drawing/2010/main">
        <mc:Choice Requires="a14">
          <p:sp>
            <p:nvSpPr>
              <p:cNvPr id="25" name="Text Placeholder 5">
                <a:extLst>
                  <a:ext uri="{FF2B5EF4-FFF2-40B4-BE49-F238E27FC236}">
                    <a16:creationId xmlns:a16="http://schemas.microsoft.com/office/drawing/2014/main" id="{D962D801-0F0E-A92A-73D0-43C02ED3E552}"/>
                  </a:ext>
                </a:extLst>
              </p:cNvPr>
              <p:cNvSpPr txBox="1">
                <a:spLocks/>
              </p:cNvSpPr>
              <p:nvPr/>
            </p:nvSpPr>
            <p:spPr>
              <a:xfrm>
                <a:off x="406763" y="4860682"/>
                <a:ext cx="11621464" cy="39534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342900" marR="0" lvl="0" indent="-342900" algn="just" defTabSz="914324" rtl="0" eaLnBrk="1" fontAlgn="auto" latinLnBrk="0" hangingPunct="1">
                  <a:lnSpc>
                    <a:spcPct val="100000"/>
                  </a:lnSpc>
                  <a:spcBef>
                    <a:spcPts val="0"/>
                  </a:spcBef>
                  <a:spcAft>
                    <a:spcPts val="0"/>
                  </a:spcAft>
                  <a:buClrTx/>
                  <a:buSzTx/>
                  <a:buFont typeface="+mj-lt"/>
                  <a:buAutoNum type="arabicPeriod"/>
                  <a:tabLst/>
                  <a:defRPr/>
                </a:pPr>
                <a:r>
                  <a:rPr kumimoji="1" lang="en-NZ" altLang="ja-JP" sz="14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The error mean square (</a:t>
                </a:r>
                <a:r>
                  <a:rPr kumimoji="1" lang="en-NZ" altLang="ja-JP" sz="14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MSE = s</a:t>
                </a:r>
                <a:r>
                  <a:rPr kumimoji="1" lang="en-NZ" altLang="ja-JP" sz="1400" b="1" i="1" u="none" strike="noStrike" kern="1200" cap="none" spc="0" normalizeH="0" baseline="30000" noProof="0" dirty="0">
                    <a:ln>
                      <a:noFill/>
                    </a:ln>
                    <a:solidFill>
                      <a:prstClr val="black"/>
                    </a:solidFill>
                    <a:effectLst/>
                    <a:uLnTx/>
                    <a:uFillTx/>
                    <a:latin typeface="Calibri" panose="020F0502020204030204"/>
                    <a:ea typeface="游ゴシック" panose="020B0400000000000000" pitchFamily="34" charset="-128"/>
                    <a:cs typeface="+mn-cs"/>
                  </a:rPr>
                  <a:t>2</a:t>
                </a:r>
                <a:r>
                  <a:rPr kumimoji="1" lang="en-NZ" altLang="ja-JP" sz="1400" b="0" i="0" u="none" strike="noStrike" kern="1200" cap="none" spc="0" normalizeH="0" noProof="0" dirty="0">
                    <a:ln>
                      <a:noFill/>
                    </a:ln>
                    <a:solidFill>
                      <a:prstClr val="black"/>
                    </a:solidFill>
                    <a:effectLst/>
                    <a:uLnTx/>
                    <a:uFillTx/>
                    <a:latin typeface="Calibri" panose="020F0502020204030204"/>
                    <a:ea typeface="游ゴシック" panose="020B0400000000000000" pitchFamily="34" charset="-128"/>
                    <a:cs typeface="+mn-cs"/>
                  </a:rPr>
                  <a:t>)</a:t>
                </a:r>
                <a:r>
                  <a:rPr kumimoji="1" lang="en-NZ" altLang="ja-JP" sz="14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is used to estimate </a:t>
                </a:r>
                <a14:m>
                  <m:oMath xmlns:m="http://schemas.openxmlformats.org/officeDocument/2006/math">
                    <m:sSup>
                      <m:sSupPr>
                        <m:ctrlPr>
                          <a:rPr kumimoji="1" lang="en-NZ" altLang="ja-JP" sz="14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ctrlPr>
                      </m:sSupPr>
                      <m:e>
                        <m:r>
                          <a:rPr kumimoji="1" lang="en-NZ" altLang="ja-JP" sz="14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𝝈</m:t>
                        </m:r>
                      </m:e>
                      <m:sup>
                        <m:r>
                          <a:rPr kumimoji="1" lang="en-NZ" altLang="ja-JP" sz="14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𝟐</m:t>
                        </m:r>
                      </m:sup>
                    </m:sSup>
                  </m:oMath>
                </a14:m>
                <a:r>
                  <a:rPr kumimoji="1" lang="en-NZ" altLang="ja-JP" sz="14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This mean square measures the variability from observation to observation.</a:t>
                </a:r>
              </a:p>
            </p:txBody>
          </p:sp>
        </mc:Choice>
        <mc:Fallback xmlns="">
          <p:sp>
            <p:nvSpPr>
              <p:cNvPr id="25" name="Text Placeholder 5">
                <a:extLst>
                  <a:ext uri="{FF2B5EF4-FFF2-40B4-BE49-F238E27FC236}">
                    <a16:creationId xmlns:a16="http://schemas.microsoft.com/office/drawing/2014/main" id="{D962D801-0F0E-A92A-73D0-43C02ED3E552}"/>
                  </a:ext>
                </a:extLst>
              </p:cNvPr>
              <p:cNvSpPr txBox="1">
                <a:spLocks noRot="1" noChangeAspect="1" noMove="1" noResize="1" noEditPoints="1" noAdjustHandles="1" noChangeArrowheads="1" noChangeShapeType="1" noTextEdit="1"/>
              </p:cNvSpPr>
              <p:nvPr/>
            </p:nvSpPr>
            <p:spPr>
              <a:xfrm>
                <a:off x="406763" y="4860682"/>
                <a:ext cx="11621464" cy="395343"/>
              </a:xfrm>
              <a:prstGeom prst="rect">
                <a:avLst/>
              </a:prstGeom>
              <a:blipFill>
                <a:blip r:embed="rId4"/>
                <a:stretch>
                  <a:fillRect l="-210" t="-3077"/>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26" name="Text Placeholder 5">
                <a:extLst>
                  <a:ext uri="{FF2B5EF4-FFF2-40B4-BE49-F238E27FC236}">
                    <a16:creationId xmlns:a16="http://schemas.microsoft.com/office/drawing/2014/main" id="{D930A542-7D67-323C-BF9B-154A902B9810}"/>
                  </a:ext>
                </a:extLst>
              </p:cNvPr>
              <p:cNvSpPr txBox="1">
                <a:spLocks/>
              </p:cNvSpPr>
              <p:nvPr/>
            </p:nvSpPr>
            <p:spPr>
              <a:xfrm>
                <a:off x="382137" y="5293163"/>
                <a:ext cx="11621464" cy="657794"/>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342900" lvl="0" indent="-342900" algn="just">
                  <a:lnSpc>
                    <a:spcPct val="100000"/>
                  </a:lnSpc>
                  <a:buFont typeface="+mj-lt"/>
                  <a:buAutoNum type="arabicPeriod" startAt="2"/>
                  <a:defRPr/>
                </a:pPr>
                <a:r>
                  <a:rPr lang="en-NZ" altLang="ja-JP" sz="1400" dirty="0">
                    <a:solidFill>
                      <a:prstClr val="black"/>
                    </a:solidFill>
                  </a:rPr>
                  <a:t>The Factor </a:t>
                </a:r>
                <a:r>
                  <a:rPr lang="en-NZ" altLang="ja-JP" sz="1400" b="1" i="1" dirty="0">
                    <a:solidFill>
                      <a:prstClr val="black"/>
                    </a:solidFill>
                  </a:rPr>
                  <a:t>B</a:t>
                </a:r>
                <a:r>
                  <a:rPr lang="en-NZ" altLang="ja-JP" sz="1400" dirty="0">
                    <a:solidFill>
                      <a:prstClr val="black"/>
                    </a:solidFill>
                  </a:rPr>
                  <a:t> mean square (</a:t>
                </a:r>
                <a:r>
                  <a:rPr lang="en-NZ" altLang="ja-JP" sz="1400" b="1" i="1" dirty="0">
                    <a:solidFill>
                      <a:prstClr val="black"/>
                    </a:solidFill>
                  </a:rPr>
                  <a:t>MS</a:t>
                </a:r>
                <a:r>
                  <a:rPr lang="en-NZ" altLang="ja-JP" sz="1400" b="1" i="1" baseline="-25000" dirty="0">
                    <a:solidFill>
                      <a:prstClr val="black"/>
                    </a:solidFill>
                  </a:rPr>
                  <a:t>B(A)</a:t>
                </a:r>
                <a:r>
                  <a:rPr lang="en-NZ" altLang="ja-JP" sz="1400" dirty="0">
                    <a:solidFill>
                      <a:prstClr val="black"/>
                    </a:solidFill>
                  </a:rPr>
                  <a:t>) reflects variation of two types: differences between observations </a:t>
                </a:r>
                <a14:m>
                  <m:oMath xmlns:m="http://schemas.openxmlformats.org/officeDocument/2006/math">
                    <m:sSup>
                      <m:sSupPr>
                        <m:ctrlPr>
                          <a:rPr kumimoji="1" lang="en-NZ" altLang="ja-JP" sz="14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ctrlPr>
                      </m:sSupPr>
                      <m:e>
                        <m:r>
                          <a:rPr kumimoji="1" lang="en-NZ" altLang="ja-JP" sz="14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𝝈</m:t>
                        </m:r>
                      </m:e>
                      <m:sup>
                        <m:r>
                          <a:rPr kumimoji="1" lang="en-NZ" altLang="ja-JP" sz="14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𝟐</m:t>
                        </m:r>
                      </m:sup>
                    </m:sSup>
                  </m:oMath>
                </a14:m>
                <a:r>
                  <a:rPr lang="en-NZ" altLang="ja-JP" sz="1400" dirty="0">
                    <a:solidFill>
                      <a:prstClr val="black"/>
                    </a:solidFill>
                  </a:rPr>
                  <a:t> and differences among Factor </a:t>
                </a:r>
                <a:r>
                  <a:rPr lang="en-NZ" altLang="ja-JP" sz="1400" b="1" i="1" dirty="0">
                    <a:solidFill>
                      <a:prstClr val="black"/>
                    </a:solidFill>
                  </a:rPr>
                  <a:t>B</a:t>
                </a:r>
                <a:r>
                  <a:rPr lang="en-NZ" altLang="ja-JP" sz="1400" dirty="0">
                    <a:solidFill>
                      <a:prstClr val="black"/>
                    </a:solidFill>
                  </a:rPr>
                  <a:t> levels </a:t>
                </a:r>
                <a14:m>
                  <m:oMath xmlns:m="http://schemas.openxmlformats.org/officeDocument/2006/math">
                    <m:sSubSup>
                      <m:sSubSupPr>
                        <m:ctrlPr>
                          <a:rPr lang="en-NZ" altLang="ja-JP" sz="1400" b="1" i="1" smtClean="0">
                            <a:solidFill>
                              <a:prstClr val="black"/>
                            </a:solidFill>
                            <a:latin typeface="Cambria Math" panose="02040503050406030204" pitchFamily="18" charset="0"/>
                          </a:rPr>
                        </m:ctrlPr>
                      </m:sSubSupPr>
                      <m:e>
                        <m:r>
                          <a:rPr lang="en-NZ" altLang="ja-JP" sz="1400" b="1" i="1" smtClean="0">
                            <a:solidFill>
                              <a:prstClr val="black"/>
                            </a:solidFill>
                            <a:latin typeface="Cambria Math" panose="02040503050406030204" pitchFamily="18" charset="0"/>
                          </a:rPr>
                          <m:t>𝒏</m:t>
                        </m:r>
                        <m:r>
                          <a:rPr lang="en-NZ" altLang="ja-JP" sz="1400" b="1" i="1">
                            <a:solidFill>
                              <a:prstClr val="black"/>
                            </a:solidFill>
                            <a:latin typeface="Cambria Math" panose="02040503050406030204" pitchFamily="18" charset="0"/>
                          </a:rPr>
                          <m:t>𝝈</m:t>
                        </m:r>
                      </m:e>
                      <m:sub>
                        <m:r>
                          <a:rPr lang="en-NZ" altLang="ja-JP" sz="1400" b="1" i="1" smtClean="0">
                            <a:solidFill>
                              <a:prstClr val="black"/>
                            </a:solidFill>
                            <a:latin typeface="Cambria Math" panose="02040503050406030204" pitchFamily="18" charset="0"/>
                          </a:rPr>
                          <m:t>𝑩</m:t>
                        </m:r>
                      </m:sub>
                      <m:sup>
                        <m:r>
                          <a:rPr lang="en-NZ" altLang="ja-JP" sz="1400" b="1" i="1">
                            <a:solidFill>
                              <a:prstClr val="black"/>
                            </a:solidFill>
                            <a:latin typeface="Cambria Math" panose="02040503050406030204" pitchFamily="18" charset="0"/>
                          </a:rPr>
                          <m:t>𝟐</m:t>
                        </m:r>
                      </m:sup>
                    </m:sSubSup>
                  </m:oMath>
                </a14:m>
                <a:r>
                  <a:rPr lang="en-NZ" altLang="ja-JP" sz="1400" dirty="0">
                    <a:solidFill>
                      <a:prstClr val="black"/>
                    </a:solidFill>
                  </a:rPr>
                  <a:t>. Note the </a:t>
                </a:r>
                <a14:m>
                  <m:oMath xmlns:m="http://schemas.openxmlformats.org/officeDocument/2006/math">
                    <m:sSup>
                      <m:sSupPr>
                        <m:ctrlPr>
                          <a:rPr lang="en-NZ" altLang="ja-JP" sz="1400" b="1" i="1">
                            <a:solidFill>
                              <a:prstClr val="black"/>
                            </a:solidFill>
                            <a:latin typeface="Cambria Math" panose="02040503050406030204" pitchFamily="18" charset="0"/>
                          </a:rPr>
                        </m:ctrlPr>
                      </m:sSupPr>
                      <m:e>
                        <m:r>
                          <a:rPr lang="en-NZ" altLang="ja-JP" sz="1400" b="1" i="1">
                            <a:solidFill>
                              <a:prstClr val="black"/>
                            </a:solidFill>
                            <a:latin typeface="Cambria Math" panose="02040503050406030204" pitchFamily="18" charset="0"/>
                          </a:rPr>
                          <m:t>𝝈</m:t>
                        </m:r>
                      </m:e>
                      <m:sup>
                        <m:r>
                          <a:rPr lang="en-NZ" altLang="ja-JP" sz="1400" b="1" i="1">
                            <a:solidFill>
                              <a:prstClr val="black"/>
                            </a:solidFill>
                            <a:latin typeface="Cambria Math" panose="02040503050406030204" pitchFamily="18" charset="0"/>
                          </a:rPr>
                          <m:t>𝟐</m:t>
                        </m:r>
                      </m:sup>
                    </m:sSup>
                  </m:oMath>
                </a14:m>
                <a:r>
                  <a:rPr lang="en-NZ" altLang="ja-JP" sz="1400" dirty="0">
                    <a:solidFill>
                      <a:prstClr val="black"/>
                    </a:solidFill>
                  </a:rPr>
                  <a:t> has coefficient 1 (every </a:t>
                </a:r>
                <a14:m>
                  <m:oMath xmlns:m="http://schemas.openxmlformats.org/officeDocument/2006/math">
                    <m:sSub>
                      <m:sSubPr>
                        <m:ctrlPr>
                          <a:rPr lang="en-NZ" altLang="ja-JP" sz="1400" b="1" i="1" smtClean="0">
                            <a:solidFill>
                              <a:prstClr val="black"/>
                            </a:solidFill>
                            <a:latin typeface="Cambria Math" panose="02040503050406030204" pitchFamily="18" charset="0"/>
                          </a:rPr>
                        </m:ctrlPr>
                      </m:sSubPr>
                      <m:e>
                        <m:r>
                          <a:rPr lang="en-NZ" altLang="ja-JP" sz="1400" b="1" i="1" smtClean="0">
                            <a:solidFill>
                              <a:prstClr val="black"/>
                            </a:solidFill>
                            <a:latin typeface="Cambria Math" panose="02040503050406030204" pitchFamily="18" charset="0"/>
                          </a:rPr>
                          <m:t>𝒀</m:t>
                        </m:r>
                      </m:e>
                      <m:sub>
                        <m:r>
                          <a:rPr lang="en-NZ" altLang="ja-JP" sz="1400" b="1" i="1" smtClean="0">
                            <a:solidFill>
                              <a:prstClr val="black"/>
                            </a:solidFill>
                            <a:latin typeface="Cambria Math" panose="02040503050406030204" pitchFamily="18" charset="0"/>
                          </a:rPr>
                          <m:t>𝒊𝒋𝒌</m:t>
                        </m:r>
                      </m:sub>
                    </m:sSub>
                  </m:oMath>
                </a14:m>
                <a:r>
                  <a:rPr lang="en-NZ" altLang="ja-JP" sz="1400" dirty="0">
                    <a:solidFill>
                      <a:prstClr val="black"/>
                    </a:solidFill>
                  </a:rPr>
                  <a:t> is based one observation) whilst </a:t>
                </a:r>
                <a14:m>
                  <m:oMath xmlns:m="http://schemas.openxmlformats.org/officeDocument/2006/math">
                    <m:sSubSup>
                      <m:sSubSupPr>
                        <m:ctrlPr>
                          <a:rPr lang="en-NZ" altLang="ja-JP" sz="1400" b="1" i="1" smtClean="0">
                            <a:solidFill>
                              <a:prstClr val="black"/>
                            </a:solidFill>
                            <a:latin typeface="Cambria Math" panose="02040503050406030204" pitchFamily="18" charset="0"/>
                          </a:rPr>
                        </m:ctrlPr>
                      </m:sSubSupPr>
                      <m:e>
                        <m:r>
                          <a:rPr lang="en-NZ" altLang="ja-JP" sz="1400" b="1" i="1">
                            <a:solidFill>
                              <a:prstClr val="black"/>
                            </a:solidFill>
                            <a:latin typeface="Cambria Math" panose="02040503050406030204" pitchFamily="18" charset="0"/>
                          </a:rPr>
                          <m:t>𝝈</m:t>
                        </m:r>
                      </m:e>
                      <m:sub>
                        <m:r>
                          <a:rPr lang="en-NZ" altLang="ja-JP" sz="1400" b="1" i="1" smtClean="0">
                            <a:solidFill>
                              <a:prstClr val="black"/>
                            </a:solidFill>
                            <a:latin typeface="Cambria Math" panose="02040503050406030204" pitchFamily="18" charset="0"/>
                          </a:rPr>
                          <m:t>𝑩</m:t>
                        </m:r>
                      </m:sub>
                      <m:sup>
                        <m:r>
                          <a:rPr lang="en-NZ" altLang="ja-JP" sz="1400" b="1" i="1">
                            <a:solidFill>
                              <a:prstClr val="black"/>
                            </a:solidFill>
                            <a:latin typeface="Cambria Math" panose="02040503050406030204" pitchFamily="18" charset="0"/>
                          </a:rPr>
                          <m:t>𝟐</m:t>
                        </m:r>
                      </m:sup>
                    </m:sSubSup>
                  </m:oMath>
                </a14:m>
                <a:r>
                  <a:rPr lang="en-NZ" altLang="ja-JP" sz="1400" dirty="0">
                    <a:solidFill>
                      <a:prstClr val="black"/>
                    </a:solidFill>
                  </a:rPr>
                  <a:t> has coefficient </a:t>
                </a:r>
                <a:r>
                  <a:rPr lang="en-NZ" altLang="ja-JP" sz="1400" b="1" i="1" dirty="0">
                    <a:solidFill>
                      <a:prstClr val="black"/>
                    </a:solidFill>
                  </a:rPr>
                  <a:t>n</a:t>
                </a:r>
                <a:r>
                  <a:rPr lang="en-NZ" altLang="ja-JP" sz="1400" dirty="0">
                    <a:solidFill>
                      <a:prstClr val="black"/>
                    </a:solidFill>
                  </a:rPr>
                  <a:t> (every </a:t>
                </a:r>
                <a14:m>
                  <m:oMath xmlns:m="http://schemas.openxmlformats.org/officeDocument/2006/math">
                    <m:sSub>
                      <m:sSubPr>
                        <m:ctrlPr>
                          <a:rPr lang="en-NZ" altLang="ja-JP" sz="1400" b="1" i="1">
                            <a:solidFill>
                              <a:prstClr val="black"/>
                            </a:solidFill>
                            <a:latin typeface="Cambria Math" panose="02040503050406030204" pitchFamily="18" charset="0"/>
                          </a:rPr>
                        </m:ctrlPr>
                      </m:sSubPr>
                      <m:e>
                        <m:acc>
                          <m:accPr>
                            <m:chr m:val="̅"/>
                            <m:ctrlPr>
                              <a:rPr lang="en-NZ" altLang="ja-JP" sz="1400" b="1" i="1">
                                <a:solidFill>
                                  <a:prstClr val="black"/>
                                </a:solidFill>
                                <a:latin typeface="Cambria Math" panose="02040503050406030204" pitchFamily="18" charset="0"/>
                              </a:rPr>
                            </m:ctrlPr>
                          </m:accPr>
                          <m:e>
                            <m:r>
                              <a:rPr lang="en-NZ" altLang="ja-JP" sz="1400" b="1" i="1">
                                <a:solidFill>
                                  <a:prstClr val="black"/>
                                </a:solidFill>
                                <a:latin typeface="Cambria Math" panose="02040503050406030204" pitchFamily="18" charset="0"/>
                              </a:rPr>
                              <m:t>𝒀</m:t>
                            </m:r>
                          </m:e>
                        </m:acc>
                      </m:e>
                      <m:sub>
                        <m:r>
                          <a:rPr lang="en-NZ" altLang="ja-JP" sz="1400" b="1" i="1">
                            <a:solidFill>
                              <a:prstClr val="black"/>
                            </a:solidFill>
                            <a:latin typeface="Cambria Math" panose="02040503050406030204" pitchFamily="18" charset="0"/>
                          </a:rPr>
                          <m:t>𝒊</m:t>
                        </m:r>
                        <m:r>
                          <a:rPr lang="en-NZ" altLang="ja-JP" sz="1400" b="1" i="1" smtClean="0">
                            <a:solidFill>
                              <a:prstClr val="black"/>
                            </a:solidFill>
                            <a:latin typeface="Cambria Math" panose="02040503050406030204" pitchFamily="18" charset="0"/>
                          </a:rPr>
                          <m:t>𝒋</m:t>
                        </m:r>
                        <m:r>
                          <a:rPr lang="en-NZ" altLang="ja-JP" sz="1400" b="1" i="1">
                            <a:solidFill>
                              <a:prstClr val="black"/>
                            </a:solidFill>
                            <a:latin typeface="Cambria Math" panose="02040503050406030204" pitchFamily="18" charset="0"/>
                          </a:rPr>
                          <m:t>.</m:t>
                        </m:r>
                      </m:sub>
                    </m:sSub>
                  </m:oMath>
                </a14:m>
                <a:r>
                  <a:rPr lang="en-NZ" altLang="ja-JP" sz="1400" dirty="0">
                    <a:solidFill>
                      <a:prstClr val="black"/>
                    </a:solidFill>
                  </a:rPr>
                  <a:t> is based on </a:t>
                </a:r>
                <a:r>
                  <a:rPr lang="en-NZ" altLang="ja-JP" sz="1400" b="1" i="1" dirty="0">
                    <a:solidFill>
                      <a:prstClr val="black"/>
                    </a:solidFill>
                  </a:rPr>
                  <a:t>n </a:t>
                </a:r>
                <a:r>
                  <a:rPr lang="en-NZ" altLang="ja-JP" sz="1400" dirty="0">
                    <a:solidFill>
                      <a:prstClr val="black"/>
                    </a:solidFill>
                  </a:rPr>
                  <a:t>observations). </a:t>
                </a:r>
                <a:endParaRPr kumimoji="1" lang="en-NZ" altLang="ja-JP" sz="14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endParaRPr>
              </a:p>
            </p:txBody>
          </p:sp>
        </mc:Choice>
        <mc:Fallback xmlns="">
          <p:sp>
            <p:nvSpPr>
              <p:cNvPr id="26" name="Text Placeholder 5">
                <a:extLst>
                  <a:ext uri="{FF2B5EF4-FFF2-40B4-BE49-F238E27FC236}">
                    <a16:creationId xmlns:a16="http://schemas.microsoft.com/office/drawing/2014/main" id="{D930A542-7D67-323C-BF9B-154A902B9810}"/>
                  </a:ext>
                </a:extLst>
              </p:cNvPr>
              <p:cNvSpPr txBox="1">
                <a:spLocks noRot="1" noChangeAspect="1" noMove="1" noResize="1" noEditPoints="1" noAdjustHandles="1" noChangeArrowheads="1" noChangeShapeType="1" noTextEdit="1"/>
              </p:cNvSpPr>
              <p:nvPr/>
            </p:nvSpPr>
            <p:spPr>
              <a:xfrm>
                <a:off x="382137" y="5293163"/>
                <a:ext cx="11621464" cy="657794"/>
              </a:xfrm>
              <a:prstGeom prst="rect">
                <a:avLst/>
              </a:prstGeom>
              <a:blipFill>
                <a:blip r:embed="rId5"/>
                <a:stretch>
                  <a:fillRect l="-210" r="-157"/>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27" name="Text Placeholder 5">
                <a:extLst>
                  <a:ext uri="{FF2B5EF4-FFF2-40B4-BE49-F238E27FC236}">
                    <a16:creationId xmlns:a16="http://schemas.microsoft.com/office/drawing/2014/main" id="{F98E8DB5-29CC-7C6E-82C5-A3C36371535B}"/>
                  </a:ext>
                </a:extLst>
              </p:cNvPr>
              <p:cNvSpPr txBox="1">
                <a:spLocks/>
              </p:cNvSpPr>
              <p:nvPr/>
            </p:nvSpPr>
            <p:spPr>
              <a:xfrm>
                <a:off x="382137" y="5979476"/>
                <a:ext cx="11621464" cy="78911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342900" lvl="0" indent="-342900" algn="just">
                  <a:lnSpc>
                    <a:spcPct val="100000"/>
                  </a:lnSpc>
                  <a:buFont typeface="+mj-lt"/>
                  <a:buAutoNum type="arabicPeriod" startAt="3"/>
                  <a:defRPr/>
                </a:pPr>
                <a:r>
                  <a:rPr lang="en-NZ" altLang="ja-JP" sz="1400" dirty="0">
                    <a:solidFill>
                      <a:prstClr val="black"/>
                    </a:solidFill>
                  </a:rPr>
                  <a:t>The Factor </a:t>
                </a:r>
                <a:r>
                  <a:rPr lang="en-NZ" altLang="ja-JP" sz="1400" b="1" dirty="0">
                    <a:solidFill>
                      <a:prstClr val="black"/>
                    </a:solidFill>
                  </a:rPr>
                  <a:t>A </a:t>
                </a:r>
                <a:r>
                  <a:rPr lang="en-NZ" altLang="ja-JP" sz="1400" dirty="0">
                    <a:solidFill>
                      <a:prstClr val="black"/>
                    </a:solidFill>
                  </a:rPr>
                  <a:t>mean square (</a:t>
                </a:r>
                <a:r>
                  <a:rPr lang="en-NZ" altLang="ja-JP" sz="1400" b="1" i="1" dirty="0">
                    <a:solidFill>
                      <a:prstClr val="black"/>
                    </a:solidFill>
                  </a:rPr>
                  <a:t>MS</a:t>
                </a:r>
                <a:r>
                  <a:rPr lang="en-NZ" altLang="ja-JP" sz="1400" b="1" i="1" baseline="-25000" dirty="0">
                    <a:solidFill>
                      <a:prstClr val="black"/>
                    </a:solidFill>
                  </a:rPr>
                  <a:t>A</a:t>
                </a:r>
                <a:r>
                  <a:rPr lang="en-NZ" altLang="ja-JP" sz="1400" dirty="0">
                    <a:solidFill>
                      <a:prstClr val="black"/>
                    </a:solidFill>
                  </a:rPr>
                  <a:t>) reflects variation of three types: variation among observations </a:t>
                </a:r>
                <a14:m>
                  <m:oMath xmlns:m="http://schemas.openxmlformats.org/officeDocument/2006/math">
                    <m:sSup>
                      <m:sSupPr>
                        <m:ctrlPr>
                          <a:rPr kumimoji="1" lang="en-NZ" altLang="ja-JP" sz="14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ctrlPr>
                      </m:sSupPr>
                      <m:e>
                        <m:r>
                          <a:rPr kumimoji="1" lang="en-NZ" altLang="ja-JP" sz="14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𝝈</m:t>
                        </m:r>
                      </m:e>
                      <m:sup>
                        <m:r>
                          <a:rPr kumimoji="1" lang="en-NZ" altLang="ja-JP" sz="14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𝟐</m:t>
                        </m:r>
                      </m:sup>
                    </m:sSup>
                  </m:oMath>
                </a14:m>
                <a:r>
                  <a:rPr lang="en-NZ" altLang="ja-JP" sz="1400" dirty="0">
                    <a:solidFill>
                      <a:prstClr val="black"/>
                    </a:solidFill>
                  </a:rPr>
                  <a:t>, variation among Factor </a:t>
                </a:r>
                <a:r>
                  <a:rPr lang="en-NZ" altLang="ja-JP" sz="1400" b="1" i="1" dirty="0">
                    <a:solidFill>
                      <a:prstClr val="black"/>
                    </a:solidFill>
                  </a:rPr>
                  <a:t>B</a:t>
                </a:r>
                <a:r>
                  <a:rPr lang="en-NZ" altLang="ja-JP" sz="1400" dirty="0">
                    <a:solidFill>
                      <a:prstClr val="black"/>
                    </a:solidFill>
                  </a:rPr>
                  <a:t> levels </a:t>
                </a:r>
                <a14:m>
                  <m:oMath xmlns:m="http://schemas.openxmlformats.org/officeDocument/2006/math">
                    <m:sSubSup>
                      <m:sSubSupPr>
                        <m:ctrlPr>
                          <a:rPr lang="en-NZ" altLang="ja-JP" sz="1400" b="1" i="1">
                            <a:solidFill>
                              <a:prstClr val="black"/>
                            </a:solidFill>
                            <a:latin typeface="Cambria Math" panose="02040503050406030204" pitchFamily="18" charset="0"/>
                          </a:rPr>
                        </m:ctrlPr>
                      </m:sSubSupPr>
                      <m:e>
                        <m:r>
                          <a:rPr lang="en-NZ" altLang="ja-JP" sz="1400" b="1" i="1">
                            <a:solidFill>
                              <a:prstClr val="black"/>
                            </a:solidFill>
                            <a:latin typeface="Cambria Math" panose="02040503050406030204" pitchFamily="18" charset="0"/>
                          </a:rPr>
                          <m:t>𝒏</m:t>
                        </m:r>
                        <m:r>
                          <a:rPr lang="en-NZ" altLang="ja-JP" sz="1400" b="1" i="1">
                            <a:solidFill>
                              <a:prstClr val="black"/>
                            </a:solidFill>
                            <a:latin typeface="Cambria Math" panose="02040503050406030204" pitchFamily="18" charset="0"/>
                          </a:rPr>
                          <m:t>𝝈</m:t>
                        </m:r>
                      </m:e>
                      <m:sub>
                        <m:r>
                          <a:rPr lang="en-NZ" altLang="ja-JP" sz="1400" b="1" i="1">
                            <a:solidFill>
                              <a:prstClr val="black"/>
                            </a:solidFill>
                            <a:latin typeface="Cambria Math" panose="02040503050406030204" pitchFamily="18" charset="0"/>
                          </a:rPr>
                          <m:t>𝑩</m:t>
                        </m:r>
                      </m:sub>
                      <m:sup>
                        <m:r>
                          <a:rPr lang="en-NZ" altLang="ja-JP" sz="1400" b="1" i="1">
                            <a:solidFill>
                              <a:prstClr val="black"/>
                            </a:solidFill>
                            <a:latin typeface="Cambria Math" panose="02040503050406030204" pitchFamily="18" charset="0"/>
                          </a:rPr>
                          <m:t>𝟐</m:t>
                        </m:r>
                      </m:sup>
                    </m:sSubSup>
                    <m:r>
                      <a:rPr lang="en-NZ" altLang="ja-JP" sz="1400" b="1" i="1">
                        <a:solidFill>
                          <a:prstClr val="black"/>
                        </a:solidFill>
                        <a:latin typeface="Cambria Math" panose="02040503050406030204" pitchFamily="18" charset="0"/>
                      </a:rPr>
                      <m:t> </m:t>
                    </m:r>
                  </m:oMath>
                </a14:m>
                <a:r>
                  <a:rPr lang="en-NZ" altLang="ja-JP" sz="1400" dirty="0">
                    <a:solidFill>
                      <a:prstClr val="black"/>
                    </a:solidFill>
                  </a:rPr>
                  <a:t>and variation among Factor </a:t>
                </a:r>
                <a:r>
                  <a:rPr lang="en-NZ" altLang="ja-JP" sz="1400" b="1" i="1" dirty="0">
                    <a:solidFill>
                      <a:prstClr val="black"/>
                    </a:solidFill>
                  </a:rPr>
                  <a:t>A</a:t>
                </a:r>
                <a:r>
                  <a:rPr lang="en-NZ" altLang="ja-JP" sz="1400" dirty="0">
                    <a:solidFill>
                      <a:prstClr val="black"/>
                    </a:solidFill>
                  </a:rPr>
                  <a:t> levels </a:t>
                </a:r>
                <a14:m>
                  <m:oMath xmlns:m="http://schemas.openxmlformats.org/officeDocument/2006/math">
                    <m:r>
                      <a:rPr lang="en-NZ" sz="1400" b="1" i="1" smtClean="0">
                        <a:solidFill>
                          <a:schemeClr val="tx1"/>
                        </a:solidFill>
                        <a:latin typeface="Cambria Math" panose="02040503050406030204" pitchFamily="18" charset="0"/>
                      </a:rPr>
                      <m:t>𝒃𝒏</m:t>
                    </m:r>
                    <m:r>
                      <a:rPr lang="en-NZ" sz="1400" b="1" i="1" smtClean="0">
                        <a:solidFill>
                          <a:schemeClr val="tx1"/>
                        </a:solidFill>
                        <a:latin typeface="Cambria Math" panose="02040503050406030204" pitchFamily="18" charset="0"/>
                      </a:rPr>
                      <m:t> </m:t>
                    </m:r>
                    <m:r>
                      <a:rPr lang="en-NZ" sz="1400" b="1" i="1" smtClean="0">
                        <a:solidFill>
                          <a:schemeClr val="tx1"/>
                        </a:solidFill>
                        <a:latin typeface="Cambria Math" panose="02040503050406030204" pitchFamily="18" charset="0"/>
                      </a:rPr>
                      <m:t>𝒗</m:t>
                    </m:r>
                    <m:d>
                      <m:dPr>
                        <m:ctrlPr>
                          <a:rPr lang="en-NZ" sz="1400" b="1" i="1">
                            <a:solidFill>
                              <a:schemeClr val="tx1"/>
                            </a:solidFill>
                            <a:latin typeface="Cambria Math" panose="02040503050406030204" pitchFamily="18" charset="0"/>
                          </a:rPr>
                        </m:ctrlPr>
                      </m:dPr>
                      <m:e>
                        <m:r>
                          <a:rPr lang="en-NZ" sz="1400" b="1" i="1">
                            <a:solidFill>
                              <a:schemeClr val="tx1"/>
                            </a:solidFill>
                            <a:latin typeface="Cambria Math" panose="02040503050406030204" pitchFamily="18" charset="0"/>
                          </a:rPr>
                          <m:t>𝜶</m:t>
                        </m:r>
                      </m:e>
                    </m:d>
                  </m:oMath>
                </a14:m>
                <a:r>
                  <a:rPr lang="en-NZ" altLang="ja-JP" sz="1400" dirty="0">
                    <a:solidFill>
                      <a:prstClr val="black"/>
                    </a:solidFill>
                  </a:rPr>
                  <a:t>. The coefficient of </a:t>
                </a:r>
                <a14:m>
                  <m:oMath xmlns:m="http://schemas.openxmlformats.org/officeDocument/2006/math">
                    <m:r>
                      <a:rPr lang="en-NZ" sz="1400" b="1" i="1">
                        <a:solidFill>
                          <a:schemeClr val="tx1"/>
                        </a:solidFill>
                        <a:latin typeface="Cambria Math" panose="02040503050406030204" pitchFamily="18" charset="0"/>
                      </a:rPr>
                      <m:t>𝒗</m:t>
                    </m:r>
                    <m:d>
                      <m:dPr>
                        <m:ctrlPr>
                          <a:rPr lang="en-NZ" sz="1400" b="1" i="1">
                            <a:solidFill>
                              <a:schemeClr val="tx1"/>
                            </a:solidFill>
                            <a:latin typeface="Cambria Math" panose="02040503050406030204" pitchFamily="18" charset="0"/>
                          </a:rPr>
                        </m:ctrlPr>
                      </m:dPr>
                      <m:e>
                        <m:r>
                          <a:rPr lang="en-NZ" sz="1400" b="1" i="1">
                            <a:solidFill>
                              <a:schemeClr val="tx1"/>
                            </a:solidFill>
                            <a:latin typeface="Cambria Math" panose="02040503050406030204" pitchFamily="18" charset="0"/>
                          </a:rPr>
                          <m:t>𝜶</m:t>
                        </m:r>
                      </m:e>
                    </m:d>
                    <m:r>
                      <a:rPr lang="en-NZ" sz="1400" b="1" i="1">
                        <a:solidFill>
                          <a:schemeClr val="tx1"/>
                        </a:solidFill>
                        <a:latin typeface="Cambria Math" panose="02040503050406030204" pitchFamily="18" charset="0"/>
                      </a:rPr>
                      <m:t> </m:t>
                    </m:r>
                  </m:oMath>
                </a14:m>
                <a:r>
                  <a:rPr lang="en-NZ" altLang="ja-JP" sz="1400" dirty="0">
                    <a:solidFill>
                      <a:prstClr val="black"/>
                    </a:solidFill>
                  </a:rPr>
                  <a:t>is </a:t>
                </a:r>
                <a:r>
                  <a:rPr lang="en-NZ" altLang="ja-JP" sz="1400" b="1" i="1" dirty="0">
                    <a:solidFill>
                      <a:prstClr val="black"/>
                    </a:solidFill>
                  </a:rPr>
                  <a:t>bn </a:t>
                </a:r>
                <a:r>
                  <a:rPr lang="en-NZ" altLang="ja-JP" sz="1400" dirty="0">
                    <a:solidFill>
                      <a:prstClr val="black"/>
                    </a:solidFill>
                  </a:rPr>
                  <a:t>since each </a:t>
                </a:r>
                <a14:m>
                  <m:oMath xmlns:m="http://schemas.openxmlformats.org/officeDocument/2006/math">
                    <m:sSub>
                      <m:sSubPr>
                        <m:ctrlPr>
                          <a:rPr lang="en-NZ" altLang="ja-JP" sz="1400" b="1" i="1" smtClean="0">
                            <a:solidFill>
                              <a:prstClr val="black"/>
                            </a:solidFill>
                            <a:latin typeface="Cambria Math" panose="02040503050406030204" pitchFamily="18" charset="0"/>
                          </a:rPr>
                        </m:ctrlPr>
                      </m:sSubPr>
                      <m:e>
                        <m:acc>
                          <m:accPr>
                            <m:chr m:val="̅"/>
                            <m:ctrlPr>
                              <a:rPr lang="en-NZ" altLang="ja-JP" sz="1400" b="1" i="1" smtClean="0">
                                <a:solidFill>
                                  <a:prstClr val="black"/>
                                </a:solidFill>
                                <a:latin typeface="Cambria Math" panose="02040503050406030204" pitchFamily="18" charset="0"/>
                              </a:rPr>
                            </m:ctrlPr>
                          </m:accPr>
                          <m:e>
                            <m:r>
                              <a:rPr lang="en-NZ" altLang="ja-JP" sz="1400" b="1" i="1" smtClean="0">
                                <a:solidFill>
                                  <a:prstClr val="black"/>
                                </a:solidFill>
                                <a:latin typeface="Cambria Math" panose="02040503050406030204" pitchFamily="18" charset="0"/>
                              </a:rPr>
                              <m:t>𝒀</m:t>
                            </m:r>
                          </m:e>
                        </m:acc>
                      </m:e>
                      <m:sub>
                        <m:r>
                          <a:rPr lang="en-NZ" altLang="ja-JP" sz="1400" b="1" i="1" smtClean="0">
                            <a:solidFill>
                              <a:prstClr val="black"/>
                            </a:solidFill>
                            <a:latin typeface="Cambria Math" panose="02040503050406030204" pitchFamily="18" charset="0"/>
                          </a:rPr>
                          <m:t>𝒊</m:t>
                        </m:r>
                        <m:r>
                          <a:rPr lang="en-NZ" altLang="ja-JP" sz="1400" b="1" i="1" smtClean="0">
                            <a:solidFill>
                              <a:prstClr val="black"/>
                            </a:solidFill>
                            <a:latin typeface="Cambria Math" panose="02040503050406030204" pitchFamily="18" charset="0"/>
                          </a:rPr>
                          <m:t>..</m:t>
                        </m:r>
                      </m:sub>
                    </m:sSub>
                  </m:oMath>
                </a14:m>
                <a:r>
                  <a:rPr lang="en-NZ" altLang="ja-JP" sz="1400" dirty="0">
                    <a:solidFill>
                      <a:prstClr val="black"/>
                    </a:solidFill>
                  </a:rPr>
                  <a:t> (and hence each </a:t>
                </a:r>
                <a14:m>
                  <m:oMath xmlns:m="http://schemas.openxmlformats.org/officeDocument/2006/math">
                    <m:acc>
                      <m:accPr>
                        <m:chr m:val="̂"/>
                        <m:ctrlPr>
                          <a:rPr lang="en-NZ" altLang="ja-JP" sz="1400" b="1" i="1" smtClean="0">
                            <a:solidFill>
                              <a:prstClr val="black"/>
                            </a:solidFill>
                            <a:latin typeface="Cambria Math" panose="02040503050406030204" pitchFamily="18" charset="0"/>
                          </a:rPr>
                        </m:ctrlPr>
                      </m:accPr>
                      <m:e>
                        <m:sSub>
                          <m:sSubPr>
                            <m:ctrlPr>
                              <a:rPr lang="en-NZ" altLang="ja-JP" sz="1400" b="1" i="1" smtClean="0">
                                <a:solidFill>
                                  <a:prstClr val="black"/>
                                </a:solidFill>
                                <a:latin typeface="Cambria Math" panose="02040503050406030204" pitchFamily="18" charset="0"/>
                              </a:rPr>
                            </m:ctrlPr>
                          </m:sSubPr>
                          <m:e>
                            <m:r>
                              <a:rPr lang="en-NZ" altLang="ja-JP" sz="1400" b="1" i="1" smtClean="0">
                                <a:solidFill>
                                  <a:prstClr val="black"/>
                                </a:solidFill>
                                <a:latin typeface="Cambria Math" panose="02040503050406030204" pitchFamily="18" charset="0"/>
                              </a:rPr>
                              <m:t>𝜶</m:t>
                            </m:r>
                          </m:e>
                          <m:sub>
                            <m:r>
                              <a:rPr lang="en-NZ" altLang="ja-JP" sz="1400" b="1" i="1" smtClean="0">
                                <a:solidFill>
                                  <a:prstClr val="black"/>
                                </a:solidFill>
                                <a:latin typeface="Cambria Math" panose="02040503050406030204" pitchFamily="18" charset="0"/>
                              </a:rPr>
                              <m:t>𝒊</m:t>
                            </m:r>
                          </m:sub>
                        </m:sSub>
                      </m:e>
                    </m:acc>
                  </m:oMath>
                </a14:m>
                <a:r>
                  <a:rPr lang="en-NZ" altLang="ja-JP" sz="1400" dirty="0">
                    <a:solidFill>
                      <a:prstClr val="black"/>
                    </a:solidFill>
                  </a:rPr>
                  <a:t>) is based on </a:t>
                </a:r>
                <a:r>
                  <a:rPr lang="en-NZ" altLang="ja-JP" sz="1400" b="1" i="1" dirty="0">
                    <a:solidFill>
                      <a:prstClr val="black"/>
                    </a:solidFill>
                  </a:rPr>
                  <a:t>bn </a:t>
                </a:r>
                <a:r>
                  <a:rPr lang="en-NZ" altLang="ja-JP" sz="1400" dirty="0">
                    <a:solidFill>
                      <a:prstClr val="black"/>
                    </a:solidFill>
                  </a:rPr>
                  <a:t>observations</a:t>
                </a:r>
                <a:endParaRPr kumimoji="1" lang="en-NZ" altLang="ja-JP" sz="14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endParaRPr>
              </a:p>
            </p:txBody>
          </p:sp>
        </mc:Choice>
        <mc:Fallback xmlns="">
          <p:sp>
            <p:nvSpPr>
              <p:cNvPr id="27" name="Text Placeholder 5">
                <a:extLst>
                  <a:ext uri="{FF2B5EF4-FFF2-40B4-BE49-F238E27FC236}">
                    <a16:creationId xmlns:a16="http://schemas.microsoft.com/office/drawing/2014/main" id="{F98E8DB5-29CC-7C6E-82C5-A3C36371535B}"/>
                  </a:ext>
                </a:extLst>
              </p:cNvPr>
              <p:cNvSpPr txBox="1">
                <a:spLocks noRot="1" noChangeAspect="1" noMove="1" noResize="1" noEditPoints="1" noAdjustHandles="1" noChangeArrowheads="1" noChangeShapeType="1" noTextEdit="1"/>
              </p:cNvSpPr>
              <p:nvPr/>
            </p:nvSpPr>
            <p:spPr>
              <a:xfrm>
                <a:off x="382137" y="5979476"/>
                <a:ext cx="11621464" cy="789113"/>
              </a:xfrm>
              <a:prstGeom prst="rect">
                <a:avLst/>
              </a:prstGeom>
              <a:blipFill>
                <a:blip r:embed="rId6"/>
                <a:stretch>
                  <a:fillRect l="-210" r="-157"/>
                </a:stretch>
              </a:blipFill>
            </p:spPr>
            <p:txBody>
              <a:bodyPr/>
              <a:lstStyle/>
              <a:p>
                <a:r>
                  <a:rPr lang="en-NZ">
                    <a:noFill/>
                  </a:rPr>
                  <a:t> </a:t>
                </a:r>
              </a:p>
            </p:txBody>
          </p:sp>
        </mc:Fallback>
      </mc:AlternateContent>
      <p:sp>
        <p:nvSpPr>
          <p:cNvPr id="13" name="Footer Placeholder 2">
            <a:extLst>
              <a:ext uri="{FF2B5EF4-FFF2-40B4-BE49-F238E27FC236}">
                <a16:creationId xmlns:a16="http://schemas.microsoft.com/office/drawing/2014/main" id="{58C76A27-60C8-CDFF-245F-79F1D57ED023}"/>
              </a:ext>
            </a:extLst>
          </p:cNvPr>
          <p:cNvSpPr txBox="1">
            <a:spLocks/>
          </p:cNvSpPr>
          <p:nvPr/>
        </p:nvSpPr>
        <p:spPr>
          <a:xfrm>
            <a:off x="8775510" y="86139"/>
            <a:ext cx="3313855"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600" dirty="0">
                <a:solidFill>
                  <a:srgbClr val="DEDDDD"/>
                </a:solidFill>
                <a:latin typeface="Gidole"/>
                <a:ea typeface="游ゴシック" panose="020B0400000000000000" pitchFamily="34" charset="-128"/>
              </a:rPr>
              <a:t>5</a:t>
            </a:r>
            <a:r>
              <a:rPr kumimoji="1" lang="en-US" altLang="ja-JP"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rPr>
              <a:t>.2 – Two Stage Nested Design</a:t>
            </a:r>
            <a:endParaRPr kumimoji="1" lang="ja-JP" altLang="en-US"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endParaRPr>
          </a:p>
        </p:txBody>
      </p:sp>
    </p:spTree>
    <p:extLst>
      <p:ext uri="{BB962C8B-B14F-4D97-AF65-F5344CB8AC3E}">
        <p14:creationId xmlns:p14="http://schemas.microsoft.com/office/powerpoint/2010/main" val="33459374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P spid="25" grpId="0"/>
      <p:bldP spid="26" grpId="0"/>
      <p:bldP spid="27"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F Distribution - MATLAB &amp; Simulink">
            <a:extLst>
              <a:ext uri="{FF2B5EF4-FFF2-40B4-BE49-F238E27FC236}">
                <a16:creationId xmlns:a16="http://schemas.microsoft.com/office/drawing/2014/main" id="{F4618079-0209-2A4F-3D52-988A85EF5BD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04507" y="5204772"/>
            <a:ext cx="3878825" cy="1653228"/>
          </a:xfrm>
          <a:prstGeom prst="rect">
            <a:avLst/>
          </a:prstGeom>
          <a:noFill/>
          <a:extLst>
            <a:ext uri="{909E8E84-426E-40DD-AFC4-6F175D3DCCD1}">
              <a14:hiddenFill xmlns:a14="http://schemas.microsoft.com/office/drawing/2010/main">
                <a:solidFill>
                  <a:srgbClr val="FFFFFF"/>
                </a:solidFill>
              </a14:hiddenFill>
            </a:ext>
          </a:extLst>
        </p:spPr>
      </p:pic>
      <p:sp>
        <p:nvSpPr>
          <p:cNvPr id="10" name="Slide Number Placeholder 3">
            <a:extLst>
              <a:ext uri="{FF2B5EF4-FFF2-40B4-BE49-F238E27FC236}">
                <a16:creationId xmlns:a16="http://schemas.microsoft.com/office/drawing/2014/main" id="{B0C9041D-77F0-4656-90D4-0E84B7AC6B27}"/>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54AD89C-DF1E-4948-B597-5DD47B34A9CA}" type="slidenum">
              <a:rPr kumimoji="1" lang="ja-JP" altLang="en-US" sz="4000" b="0" i="0" u="none" strike="noStrike" kern="1200" cap="none" spc="0" normalizeH="0" baseline="0" noProof="0" smtClean="0">
                <a:ln>
                  <a:noFill/>
                </a:ln>
                <a:solidFill>
                  <a:srgbClr val="575454">
                    <a:lumMod val="20000"/>
                    <a:lumOff val="80000"/>
                  </a:srgbClr>
                </a:solidFill>
                <a:effectLst/>
                <a:uLnTx/>
                <a:uFillTx/>
                <a:latin typeface="Coo Hew"/>
                <a:ea typeface="游ゴシック" panose="020B0400000000000000"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1" lang="ja-JP" altLang="en-US" sz="4000" b="0" i="0" u="none" strike="noStrike" kern="1200" cap="none" spc="0" normalizeH="0" baseline="0" noProof="0" dirty="0">
              <a:ln>
                <a:noFill/>
              </a:ln>
              <a:solidFill>
                <a:srgbClr val="575454">
                  <a:lumMod val="20000"/>
                  <a:lumOff val="80000"/>
                </a:srgbClr>
              </a:solidFill>
              <a:effectLst/>
              <a:uLnTx/>
              <a:uFillTx/>
              <a:latin typeface="Coo Hew"/>
              <a:ea typeface="游ゴシック" panose="020B0400000000000000" pitchFamily="34" charset="-128"/>
              <a:cs typeface="+mn-cs"/>
            </a:endParaRPr>
          </a:p>
        </p:txBody>
      </p:sp>
      <p:sp>
        <p:nvSpPr>
          <p:cNvPr id="21" name="Title 6">
            <a:extLst>
              <a:ext uri="{FF2B5EF4-FFF2-40B4-BE49-F238E27FC236}">
                <a16:creationId xmlns:a16="http://schemas.microsoft.com/office/drawing/2014/main" id="{7C963C88-6E6E-2444-9663-776716CBAA9D}"/>
              </a:ext>
            </a:extLst>
          </p:cNvPr>
          <p:cNvSpPr txBox="1">
            <a:spLocks/>
          </p:cNvSpPr>
          <p:nvPr/>
        </p:nvSpPr>
        <p:spPr>
          <a:xfrm>
            <a:off x="251224" y="237833"/>
            <a:ext cx="9411391" cy="607201"/>
          </a:xfrm>
          <a:prstGeom prst="rect">
            <a:avLst/>
          </a:prstGeom>
        </p:spPr>
        <p:txBody>
          <a:bodyPr anchor="t">
            <a:normAutofit fontScale="85000" lnSpcReduction="10000"/>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pPr marL="0" marR="0" lvl="0" indent="0" algn="l" defTabSz="914324" rtl="0" eaLnBrk="1" fontAlgn="auto" latinLnBrk="0" hangingPunct="1">
              <a:lnSpc>
                <a:spcPct val="90000"/>
              </a:lnSpc>
              <a:spcBef>
                <a:spcPct val="0"/>
              </a:spcBef>
              <a:spcAft>
                <a:spcPts val="0"/>
              </a:spcAft>
              <a:buClrTx/>
              <a:buSzTx/>
              <a:buFontTx/>
              <a:buNone/>
              <a:tabLst/>
              <a:defRPr/>
            </a:pPr>
            <a:r>
              <a:rPr lang="en-US" altLang="ja-JP" b="1" u="sng" dirty="0">
                <a:solidFill>
                  <a:prstClr val="black"/>
                </a:solidFill>
                <a:latin typeface="Calibri" panose="020F0502020204030204"/>
                <a:ea typeface="游ゴシック Light" panose="020B0300000000000000" pitchFamily="34" charset="-128"/>
              </a:rPr>
              <a:t>5</a:t>
            </a:r>
            <a:r>
              <a:rPr kumimoji="1" lang="en-US" altLang="ja-JP"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rPr>
              <a:t>.2d – Hypothesis Testing for a 2-Stage Nested Design:</a:t>
            </a:r>
            <a:endParaRPr kumimoji="1" lang="ja-JP" altLang="en-US"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endParaRPr>
          </a:p>
        </p:txBody>
      </p:sp>
      <p:sp>
        <p:nvSpPr>
          <p:cNvPr id="13" name="Text Placeholder 5">
            <a:extLst>
              <a:ext uri="{FF2B5EF4-FFF2-40B4-BE49-F238E27FC236}">
                <a16:creationId xmlns:a16="http://schemas.microsoft.com/office/drawing/2014/main" id="{BD9F11C6-38C8-A9BD-4E1F-AF5835DB28CE}"/>
              </a:ext>
            </a:extLst>
          </p:cNvPr>
          <p:cNvSpPr txBox="1">
            <a:spLocks/>
          </p:cNvSpPr>
          <p:nvPr/>
        </p:nvSpPr>
        <p:spPr>
          <a:xfrm>
            <a:off x="251224" y="845034"/>
            <a:ext cx="6367939" cy="668379"/>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1800" dirty="0">
                <a:solidFill>
                  <a:schemeClr val="tx1"/>
                </a:solidFill>
              </a:rPr>
              <a:t>We wish to test whether factor </a:t>
            </a:r>
            <a:r>
              <a:rPr lang="en-NZ" altLang="ja-JP" sz="1800" b="1" i="1" dirty="0">
                <a:solidFill>
                  <a:schemeClr val="tx1"/>
                </a:solidFill>
              </a:rPr>
              <a:t>A</a:t>
            </a:r>
            <a:r>
              <a:rPr lang="en-NZ" altLang="ja-JP" sz="1800" dirty="0">
                <a:solidFill>
                  <a:schemeClr val="tx1"/>
                </a:solidFill>
              </a:rPr>
              <a:t> has any effect on the response variable, i.e. we wish to test between the hypotheses:</a:t>
            </a:r>
          </a:p>
        </p:txBody>
      </p:sp>
      <mc:AlternateContent xmlns:mc="http://schemas.openxmlformats.org/markup-compatibility/2006" xmlns:a14="http://schemas.microsoft.com/office/drawing/2010/main">
        <mc:Choice Requires="a14">
          <p:sp>
            <p:nvSpPr>
              <p:cNvPr id="14" name="Text Placeholder 5">
                <a:extLst>
                  <a:ext uri="{FF2B5EF4-FFF2-40B4-BE49-F238E27FC236}">
                    <a16:creationId xmlns:a16="http://schemas.microsoft.com/office/drawing/2014/main" id="{5A1AFF55-57BD-398B-9EF6-580C1EC989EA}"/>
                  </a:ext>
                </a:extLst>
              </p:cNvPr>
              <p:cNvSpPr txBox="1">
                <a:spLocks/>
              </p:cNvSpPr>
              <p:nvPr/>
            </p:nvSpPr>
            <p:spPr>
              <a:xfrm>
                <a:off x="7172995" y="845034"/>
                <a:ext cx="3507477" cy="801442"/>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nSpc>
                    <a:spcPct val="100000"/>
                  </a:lnSpc>
                </a:pPr>
                <a14:m>
                  <m:oMath xmlns:m="http://schemas.openxmlformats.org/officeDocument/2006/math">
                    <m:sSub>
                      <m:sSubPr>
                        <m:ctrlPr>
                          <a:rPr lang="en-NZ" altLang="ja-JP" sz="2000" b="1" i="1" smtClean="0">
                            <a:solidFill>
                              <a:schemeClr val="tx1"/>
                            </a:solidFill>
                            <a:latin typeface="Cambria Math" panose="02040503050406030204" pitchFamily="18" charset="0"/>
                          </a:rPr>
                        </m:ctrlPr>
                      </m:sSubPr>
                      <m:e>
                        <m:r>
                          <a:rPr lang="en-NZ" altLang="ja-JP" sz="2000" b="1" i="1" smtClean="0">
                            <a:solidFill>
                              <a:schemeClr val="tx1"/>
                            </a:solidFill>
                            <a:latin typeface="Cambria Math" panose="02040503050406030204" pitchFamily="18" charset="0"/>
                          </a:rPr>
                          <m:t>𝑯</m:t>
                        </m:r>
                      </m:e>
                      <m:sub>
                        <m:r>
                          <a:rPr lang="en-NZ" altLang="ja-JP" sz="2000" b="1" i="1" smtClean="0">
                            <a:solidFill>
                              <a:schemeClr val="tx1"/>
                            </a:solidFill>
                            <a:latin typeface="Cambria Math" panose="02040503050406030204" pitchFamily="18" charset="0"/>
                          </a:rPr>
                          <m:t>𝟎</m:t>
                        </m:r>
                      </m:sub>
                    </m:sSub>
                    <m:r>
                      <a:rPr lang="en-NZ" altLang="ja-JP" sz="2000" b="1" i="1" smtClean="0">
                        <a:solidFill>
                          <a:schemeClr val="tx1"/>
                        </a:solidFill>
                        <a:latin typeface="Cambria Math" panose="02040503050406030204" pitchFamily="18" charset="0"/>
                      </a:rPr>
                      <m:t> :  </m:t>
                    </m:r>
                    <m:sSub>
                      <m:sSubPr>
                        <m:ctrlPr>
                          <a:rPr lang="en-NZ" altLang="ja-JP" sz="2000" b="1" i="1" smtClean="0">
                            <a:solidFill>
                              <a:schemeClr val="tx1"/>
                            </a:solidFill>
                            <a:latin typeface="Cambria Math" panose="02040503050406030204" pitchFamily="18" charset="0"/>
                          </a:rPr>
                        </m:ctrlPr>
                      </m:sSubPr>
                      <m:e>
                        <m:r>
                          <a:rPr lang="en-NZ" altLang="ja-JP" sz="2000" b="1" i="1" smtClean="0">
                            <a:solidFill>
                              <a:schemeClr val="tx1"/>
                            </a:solidFill>
                            <a:latin typeface="Cambria Math" panose="02040503050406030204" pitchFamily="18" charset="0"/>
                          </a:rPr>
                          <m:t>𝜶</m:t>
                        </m:r>
                      </m:e>
                      <m:sub>
                        <m:r>
                          <a:rPr lang="en-NZ" altLang="ja-JP" sz="2000" b="1" i="1" smtClean="0">
                            <a:solidFill>
                              <a:schemeClr val="tx1"/>
                            </a:solidFill>
                            <a:latin typeface="Cambria Math" panose="02040503050406030204" pitchFamily="18" charset="0"/>
                          </a:rPr>
                          <m:t>𝒊</m:t>
                        </m:r>
                      </m:sub>
                    </m:sSub>
                    <m:r>
                      <a:rPr lang="en-NZ" altLang="ja-JP" sz="2000" b="1" i="1" smtClean="0">
                        <a:solidFill>
                          <a:schemeClr val="tx1"/>
                        </a:solidFill>
                        <a:latin typeface="Cambria Math" panose="02040503050406030204" pitchFamily="18" charset="0"/>
                      </a:rPr>
                      <m:t>=</m:t>
                    </m:r>
                    <m:r>
                      <a:rPr lang="en-NZ" altLang="ja-JP" sz="2000" b="1" i="1" smtClean="0">
                        <a:solidFill>
                          <a:schemeClr val="tx1"/>
                        </a:solidFill>
                        <a:latin typeface="Cambria Math" panose="02040503050406030204" pitchFamily="18" charset="0"/>
                      </a:rPr>
                      <m:t>𝟎</m:t>
                    </m:r>
                  </m:oMath>
                </a14:m>
                <a:r>
                  <a:rPr lang="en-NZ" altLang="ja-JP" sz="2000" b="1" i="1" dirty="0">
                    <a:solidFill>
                      <a:schemeClr val="tx1"/>
                    </a:solidFill>
                    <a:latin typeface="Cambria Math" panose="02040503050406030204" pitchFamily="18" charset="0"/>
                  </a:rPr>
                  <a:t>  </a:t>
                </a:r>
                <a:r>
                  <a:rPr lang="en-NZ" altLang="ja-JP" sz="1600" dirty="0">
                    <a:solidFill>
                      <a:schemeClr val="tx1"/>
                    </a:solidFill>
                    <a:latin typeface="Cambria Math" panose="02040503050406030204" pitchFamily="18" charset="0"/>
                  </a:rPr>
                  <a:t>for all </a:t>
                </a:r>
                <a14:m>
                  <m:oMath xmlns:m="http://schemas.openxmlformats.org/officeDocument/2006/math">
                    <m:r>
                      <a:rPr lang="en-NZ" altLang="ja-JP" sz="1600" b="0" i="1" smtClean="0">
                        <a:solidFill>
                          <a:schemeClr val="tx1"/>
                        </a:solidFill>
                        <a:latin typeface="Cambria Math" panose="02040503050406030204" pitchFamily="18" charset="0"/>
                      </a:rPr>
                      <m:t>𝑖</m:t>
                    </m:r>
                    <m:r>
                      <a:rPr lang="en-NZ" altLang="ja-JP" sz="1600" b="0" i="1" smtClean="0">
                        <a:solidFill>
                          <a:schemeClr val="tx1"/>
                        </a:solidFill>
                        <a:latin typeface="Cambria Math" panose="02040503050406030204" pitchFamily="18" charset="0"/>
                      </a:rPr>
                      <m:t>=1, …, </m:t>
                    </m:r>
                    <m:r>
                      <a:rPr lang="en-NZ" altLang="ja-JP" sz="1600" b="0" i="1" smtClean="0">
                        <a:solidFill>
                          <a:schemeClr val="tx1"/>
                        </a:solidFill>
                        <a:latin typeface="Cambria Math" panose="02040503050406030204" pitchFamily="18" charset="0"/>
                      </a:rPr>
                      <m:t>𝑎</m:t>
                    </m:r>
                  </m:oMath>
                </a14:m>
                <a:r>
                  <a:rPr lang="en-NZ" altLang="ja-JP" sz="1600" dirty="0">
                    <a:solidFill>
                      <a:schemeClr val="tx1"/>
                    </a:solidFill>
                    <a:latin typeface="Cambria Math" panose="02040503050406030204" pitchFamily="18" charset="0"/>
                  </a:rPr>
                  <a:t> </a:t>
                </a:r>
                <a:br>
                  <a:rPr lang="en-NZ" altLang="ja-JP" sz="2000" b="1" i="1" dirty="0">
                    <a:solidFill>
                      <a:schemeClr val="tx1"/>
                    </a:solidFill>
                    <a:latin typeface="Cambria Math" panose="02040503050406030204" pitchFamily="18" charset="0"/>
                  </a:rPr>
                </a:br>
                <a14:m>
                  <m:oMath xmlns:m="http://schemas.openxmlformats.org/officeDocument/2006/math">
                    <m:sSub>
                      <m:sSubPr>
                        <m:ctrlPr>
                          <a:rPr lang="en-NZ" altLang="ja-JP" sz="2000" b="1" i="1">
                            <a:solidFill>
                              <a:schemeClr val="tx1"/>
                            </a:solidFill>
                            <a:latin typeface="Cambria Math" panose="02040503050406030204" pitchFamily="18" charset="0"/>
                          </a:rPr>
                        </m:ctrlPr>
                      </m:sSubPr>
                      <m:e>
                        <m:r>
                          <a:rPr lang="en-NZ" altLang="ja-JP" sz="2000" b="1" i="1">
                            <a:solidFill>
                              <a:schemeClr val="tx1"/>
                            </a:solidFill>
                            <a:latin typeface="Cambria Math" panose="02040503050406030204" pitchFamily="18" charset="0"/>
                          </a:rPr>
                          <m:t>𝑯</m:t>
                        </m:r>
                      </m:e>
                      <m:sub>
                        <m:r>
                          <a:rPr lang="en-NZ" altLang="ja-JP" sz="2000" b="1" i="1" smtClean="0">
                            <a:solidFill>
                              <a:schemeClr val="tx1"/>
                            </a:solidFill>
                            <a:latin typeface="Cambria Math" panose="02040503050406030204" pitchFamily="18" charset="0"/>
                          </a:rPr>
                          <m:t>𝟏</m:t>
                        </m:r>
                      </m:sub>
                    </m:sSub>
                    <m:r>
                      <a:rPr lang="en-NZ" altLang="ja-JP" sz="2000" b="1" i="1">
                        <a:solidFill>
                          <a:schemeClr val="tx1"/>
                        </a:solidFill>
                        <a:latin typeface="Cambria Math" panose="02040503050406030204" pitchFamily="18" charset="0"/>
                      </a:rPr>
                      <m:t> :  </m:t>
                    </m:r>
                    <m:sSub>
                      <m:sSubPr>
                        <m:ctrlPr>
                          <a:rPr lang="en-NZ" altLang="ja-JP" sz="2000" b="1" i="1" smtClean="0">
                            <a:solidFill>
                              <a:schemeClr val="tx1"/>
                            </a:solidFill>
                            <a:latin typeface="Cambria Math" panose="02040503050406030204" pitchFamily="18" charset="0"/>
                          </a:rPr>
                        </m:ctrlPr>
                      </m:sSubPr>
                      <m:e>
                        <m:r>
                          <a:rPr lang="en-NZ" altLang="ja-JP" sz="2000" b="1" i="1" smtClean="0">
                            <a:solidFill>
                              <a:schemeClr val="tx1"/>
                            </a:solidFill>
                            <a:latin typeface="Cambria Math" panose="02040503050406030204" pitchFamily="18" charset="0"/>
                          </a:rPr>
                          <m:t>𝜶</m:t>
                        </m:r>
                      </m:e>
                      <m:sub>
                        <m:r>
                          <a:rPr lang="en-NZ" altLang="ja-JP" sz="2000" b="1" i="1" smtClean="0">
                            <a:solidFill>
                              <a:schemeClr val="tx1"/>
                            </a:solidFill>
                            <a:latin typeface="Cambria Math" panose="02040503050406030204" pitchFamily="18" charset="0"/>
                          </a:rPr>
                          <m:t>𝒊</m:t>
                        </m:r>
                      </m:sub>
                    </m:sSub>
                    <m:r>
                      <a:rPr lang="en-NZ" altLang="ja-JP" sz="2000" b="1" i="1" smtClean="0">
                        <a:solidFill>
                          <a:schemeClr val="tx1"/>
                        </a:solidFill>
                        <a:latin typeface="Cambria Math" panose="02040503050406030204" pitchFamily="18" charset="0"/>
                      </a:rPr>
                      <m:t>≠</m:t>
                    </m:r>
                    <m:r>
                      <a:rPr lang="en-NZ" altLang="ja-JP" sz="2000" b="1" i="1" smtClean="0">
                        <a:solidFill>
                          <a:schemeClr val="tx1"/>
                        </a:solidFill>
                        <a:latin typeface="Cambria Math" panose="02040503050406030204" pitchFamily="18" charset="0"/>
                      </a:rPr>
                      <m:t>𝟎</m:t>
                    </m:r>
                  </m:oMath>
                </a14:m>
                <a:r>
                  <a:rPr lang="en-NZ" altLang="ja-JP" sz="2000" b="1" dirty="0">
                    <a:solidFill>
                      <a:schemeClr val="tx1"/>
                    </a:solidFill>
                  </a:rPr>
                  <a:t>  </a:t>
                </a:r>
                <a:r>
                  <a:rPr lang="en-NZ" altLang="ja-JP" sz="1600" dirty="0">
                    <a:solidFill>
                      <a:schemeClr val="tx1"/>
                    </a:solidFill>
                  </a:rPr>
                  <a:t>for some </a:t>
                </a:r>
                <a14:m>
                  <m:oMath xmlns:m="http://schemas.openxmlformats.org/officeDocument/2006/math">
                    <m:r>
                      <a:rPr lang="en-NZ" altLang="ja-JP" sz="1600" b="0" i="1" smtClean="0">
                        <a:solidFill>
                          <a:schemeClr val="tx1"/>
                        </a:solidFill>
                        <a:latin typeface="Cambria Math" panose="02040503050406030204" pitchFamily="18" charset="0"/>
                      </a:rPr>
                      <m:t>𝑖</m:t>
                    </m:r>
                  </m:oMath>
                </a14:m>
                <a:endParaRPr lang="en-NZ" altLang="ja-JP" sz="1600" dirty="0">
                  <a:solidFill>
                    <a:schemeClr val="tx1"/>
                  </a:solidFill>
                </a:endParaRPr>
              </a:p>
            </p:txBody>
          </p:sp>
        </mc:Choice>
        <mc:Fallback xmlns="">
          <p:sp>
            <p:nvSpPr>
              <p:cNvPr id="14" name="Text Placeholder 5">
                <a:extLst>
                  <a:ext uri="{FF2B5EF4-FFF2-40B4-BE49-F238E27FC236}">
                    <a16:creationId xmlns:a16="http://schemas.microsoft.com/office/drawing/2014/main" id="{5A1AFF55-57BD-398B-9EF6-580C1EC989EA}"/>
                  </a:ext>
                </a:extLst>
              </p:cNvPr>
              <p:cNvSpPr txBox="1">
                <a:spLocks noRot="1" noChangeAspect="1" noMove="1" noResize="1" noEditPoints="1" noAdjustHandles="1" noChangeArrowheads="1" noChangeShapeType="1" noTextEdit="1"/>
              </p:cNvSpPr>
              <p:nvPr/>
            </p:nvSpPr>
            <p:spPr>
              <a:xfrm>
                <a:off x="7172995" y="845034"/>
                <a:ext cx="3507477" cy="801442"/>
              </a:xfrm>
              <a:prstGeom prst="rect">
                <a:avLst/>
              </a:prstGeom>
              <a:blipFill>
                <a:blip r:embed="rId3"/>
                <a:stretch>
                  <a:fillRect/>
                </a:stretch>
              </a:blipFill>
            </p:spPr>
            <p:txBody>
              <a:bodyPr/>
              <a:lstStyle/>
              <a:p>
                <a:r>
                  <a:rPr lang="en-NZ">
                    <a:noFill/>
                  </a:rPr>
                  <a:t> </a:t>
                </a:r>
              </a:p>
            </p:txBody>
          </p:sp>
        </mc:Fallback>
      </mc:AlternateContent>
      <p:sp>
        <p:nvSpPr>
          <p:cNvPr id="15" name="Text Placeholder 5">
            <a:extLst>
              <a:ext uri="{FF2B5EF4-FFF2-40B4-BE49-F238E27FC236}">
                <a16:creationId xmlns:a16="http://schemas.microsoft.com/office/drawing/2014/main" id="{5B802D44-6F5C-0D30-70DA-33AF0E931355}"/>
              </a:ext>
            </a:extLst>
          </p:cNvPr>
          <p:cNvSpPr txBox="1">
            <a:spLocks/>
          </p:cNvSpPr>
          <p:nvPr/>
        </p:nvSpPr>
        <p:spPr>
          <a:xfrm>
            <a:off x="251224" y="1646476"/>
            <a:ext cx="4030492" cy="41823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1800" dirty="0">
                <a:solidFill>
                  <a:schemeClr val="tx1"/>
                </a:solidFill>
              </a:rPr>
              <a:t>The F-statistic for our hypothesis test is:    </a:t>
            </a:r>
          </a:p>
          <a:p>
            <a:pPr algn="just">
              <a:lnSpc>
                <a:spcPct val="100000"/>
              </a:lnSpc>
            </a:pPr>
            <a:endParaRPr lang="en-NZ" altLang="ja-JP" sz="1800" dirty="0">
              <a:solidFill>
                <a:schemeClr val="tx1"/>
              </a:solidFill>
            </a:endParaRPr>
          </a:p>
        </p:txBody>
      </p:sp>
      <mc:AlternateContent xmlns:mc="http://schemas.openxmlformats.org/markup-compatibility/2006" xmlns:a14="http://schemas.microsoft.com/office/drawing/2010/main">
        <mc:Choice Requires="a14">
          <p:sp>
            <p:nvSpPr>
              <p:cNvPr id="16" name="Text Placeholder 5">
                <a:extLst>
                  <a:ext uri="{FF2B5EF4-FFF2-40B4-BE49-F238E27FC236}">
                    <a16:creationId xmlns:a16="http://schemas.microsoft.com/office/drawing/2014/main" id="{376F4062-97CE-480D-5F16-9881DB18BF15}"/>
                  </a:ext>
                </a:extLst>
              </p:cNvPr>
              <p:cNvSpPr txBox="1">
                <a:spLocks/>
              </p:cNvSpPr>
              <p:nvPr/>
            </p:nvSpPr>
            <p:spPr>
              <a:xfrm>
                <a:off x="450795" y="1932427"/>
                <a:ext cx="11222321" cy="96007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14:m>
                  <m:oMathPara xmlns:m="http://schemas.openxmlformats.org/officeDocument/2006/math">
                    <m:oMathParaPr>
                      <m:jc m:val="centerGroup"/>
                    </m:oMathParaPr>
                    <m:oMath xmlns:m="http://schemas.openxmlformats.org/officeDocument/2006/math">
                      <m:r>
                        <a:rPr lang="en-NZ" altLang="ja-JP" sz="1800" b="1" i="1" smtClean="0">
                          <a:solidFill>
                            <a:srgbClr val="C00000"/>
                          </a:solidFill>
                          <a:latin typeface="Cambria Math" panose="02040503050406030204" pitchFamily="18" charset="0"/>
                        </a:rPr>
                        <m:t>𝑭</m:t>
                      </m:r>
                      <m:r>
                        <a:rPr lang="en-NZ" altLang="ja-JP" sz="1800" b="1" i="1" smtClean="0">
                          <a:solidFill>
                            <a:srgbClr val="C00000"/>
                          </a:solidFill>
                          <a:latin typeface="Cambria Math" panose="02040503050406030204" pitchFamily="18" charset="0"/>
                        </a:rPr>
                        <m:t> =  </m:t>
                      </m:r>
                      <m:f>
                        <m:fPr>
                          <m:ctrlPr>
                            <a:rPr lang="en-NZ" altLang="ja-JP" sz="1800" b="1" i="1" smtClean="0">
                              <a:solidFill>
                                <a:srgbClr val="C00000"/>
                              </a:solidFill>
                              <a:latin typeface="Cambria Math" panose="02040503050406030204" pitchFamily="18" charset="0"/>
                            </a:rPr>
                          </m:ctrlPr>
                        </m:fPr>
                        <m:num>
                          <m:r>
                            <a:rPr lang="en-NZ" altLang="ja-JP" sz="1800" b="1" i="1" smtClean="0">
                              <a:solidFill>
                                <a:srgbClr val="C00000"/>
                              </a:solidFill>
                              <a:latin typeface="Cambria Math" panose="02040503050406030204" pitchFamily="18" charset="0"/>
                            </a:rPr>
                            <m:t>𝑴</m:t>
                          </m:r>
                          <m:sSub>
                            <m:sSubPr>
                              <m:ctrlPr>
                                <a:rPr lang="en-NZ" altLang="ja-JP" sz="1800" b="1" i="1" smtClean="0">
                                  <a:solidFill>
                                    <a:srgbClr val="C00000"/>
                                  </a:solidFill>
                                  <a:latin typeface="Cambria Math" panose="02040503050406030204" pitchFamily="18" charset="0"/>
                                </a:rPr>
                              </m:ctrlPr>
                            </m:sSubPr>
                            <m:e>
                              <m:r>
                                <a:rPr lang="en-NZ" altLang="ja-JP" sz="1800" b="1" i="1" smtClean="0">
                                  <a:solidFill>
                                    <a:srgbClr val="C00000"/>
                                  </a:solidFill>
                                  <a:latin typeface="Cambria Math" panose="02040503050406030204" pitchFamily="18" charset="0"/>
                                </a:rPr>
                                <m:t>𝑺</m:t>
                              </m:r>
                            </m:e>
                            <m:sub>
                              <m:r>
                                <a:rPr lang="en-NZ" altLang="ja-JP" sz="1800" b="1" i="1" smtClean="0">
                                  <a:solidFill>
                                    <a:srgbClr val="C00000"/>
                                  </a:solidFill>
                                  <a:latin typeface="Cambria Math" panose="02040503050406030204" pitchFamily="18" charset="0"/>
                                </a:rPr>
                                <m:t>𝑨</m:t>
                              </m:r>
                            </m:sub>
                          </m:sSub>
                        </m:num>
                        <m:den>
                          <m:r>
                            <a:rPr lang="en-NZ" altLang="ja-JP" sz="1800" b="1" i="1" smtClean="0">
                              <a:solidFill>
                                <a:srgbClr val="C00000"/>
                              </a:solidFill>
                              <a:latin typeface="Cambria Math" panose="02040503050406030204" pitchFamily="18" charset="0"/>
                            </a:rPr>
                            <m:t>𝑴</m:t>
                          </m:r>
                          <m:sSub>
                            <m:sSubPr>
                              <m:ctrlPr>
                                <a:rPr lang="en-NZ" altLang="ja-JP" sz="1800" b="1" i="1" smtClean="0">
                                  <a:solidFill>
                                    <a:srgbClr val="C00000"/>
                                  </a:solidFill>
                                  <a:latin typeface="Cambria Math" panose="02040503050406030204" pitchFamily="18" charset="0"/>
                                </a:rPr>
                              </m:ctrlPr>
                            </m:sSubPr>
                            <m:e>
                              <m:r>
                                <a:rPr lang="en-NZ" altLang="ja-JP" sz="1800" b="1" i="1" smtClean="0">
                                  <a:solidFill>
                                    <a:srgbClr val="C00000"/>
                                  </a:solidFill>
                                  <a:latin typeface="Cambria Math" panose="02040503050406030204" pitchFamily="18" charset="0"/>
                                </a:rPr>
                                <m:t>𝑺</m:t>
                              </m:r>
                            </m:e>
                            <m:sub>
                              <m:r>
                                <a:rPr lang="en-NZ" altLang="ja-JP" sz="1800" b="1" i="1" smtClean="0">
                                  <a:solidFill>
                                    <a:srgbClr val="C00000"/>
                                  </a:solidFill>
                                  <a:latin typeface="Cambria Math" panose="02040503050406030204" pitchFamily="18" charset="0"/>
                                </a:rPr>
                                <m:t>𝑩</m:t>
                              </m:r>
                              <m:d>
                                <m:dPr>
                                  <m:ctrlPr>
                                    <a:rPr lang="en-NZ" altLang="ja-JP" sz="1800" b="1" i="1" smtClean="0">
                                      <a:solidFill>
                                        <a:srgbClr val="C00000"/>
                                      </a:solidFill>
                                      <a:latin typeface="Cambria Math" panose="02040503050406030204" pitchFamily="18" charset="0"/>
                                    </a:rPr>
                                  </m:ctrlPr>
                                </m:dPr>
                                <m:e>
                                  <m:r>
                                    <a:rPr lang="en-NZ" altLang="ja-JP" sz="1800" b="1" i="1" smtClean="0">
                                      <a:solidFill>
                                        <a:srgbClr val="C00000"/>
                                      </a:solidFill>
                                      <a:latin typeface="Cambria Math" panose="02040503050406030204" pitchFamily="18" charset="0"/>
                                    </a:rPr>
                                    <m:t>𝑨</m:t>
                                  </m:r>
                                </m:e>
                              </m:d>
                            </m:sub>
                          </m:sSub>
                        </m:den>
                      </m:f>
                      <m:r>
                        <a:rPr lang="en-NZ" altLang="ja-JP" sz="1800" b="1" i="1" smtClean="0">
                          <a:solidFill>
                            <a:srgbClr val="C00000"/>
                          </a:solidFill>
                          <a:latin typeface="Cambria Math" panose="02040503050406030204" pitchFamily="18" charset="0"/>
                        </a:rPr>
                        <m:t>  =   </m:t>
                      </m:r>
                      <m:f>
                        <m:fPr>
                          <m:ctrlPr>
                            <a:rPr lang="en-NZ" altLang="ja-JP" sz="1800" b="1" i="1" smtClean="0">
                              <a:solidFill>
                                <a:srgbClr val="C00000"/>
                              </a:solidFill>
                              <a:latin typeface="Cambria Math" panose="02040503050406030204" pitchFamily="18" charset="0"/>
                            </a:rPr>
                          </m:ctrlPr>
                        </m:fPr>
                        <m:num>
                          <m:f>
                            <m:fPr>
                              <m:type m:val="lin"/>
                              <m:ctrlPr>
                                <a:rPr lang="en-NZ" altLang="ja-JP" sz="1800" b="1" i="1" smtClean="0">
                                  <a:solidFill>
                                    <a:srgbClr val="C00000"/>
                                  </a:solidFill>
                                  <a:latin typeface="Cambria Math" panose="02040503050406030204" pitchFamily="18" charset="0"/>
                                </a:rPr>
                              </m:ctrlPr>
                            </m:fPr>
                            <m:num>
                              <m:r>
                                <a:rPr lang="en-NZ" altLang="ja-JP" sz="1800" b="1" i="1" smtClean="0">
                                  <a:solidFill>
                                    <a:srgbClr val="C00000"/>
                                  </a:solidFill>
                                  <a:latin typeface="Cambria Math" panose="02040503050406030204" pitchFamily="18" charset="0"/>
                                </a:rPr>
                                <m:t>𝑺</m:t>
                              </m:r>
                              <m:sSub>
                                <m:sSubPr>
                                  <m:ctrlPr>
                                    <a:rPr lang="en-NZ" altLang="ja-JP" sz="1800" b="1" i="1" smtClean="0">
                                      <a:solidFill>
                                        <a:srgbClr val="C00000"/>
                                      </a:solidFill>
                                      <a:latin typeface="Cambria Math" panose="02040503050406030204" pitchFamily="18" charset="0"/>
                                    </a:rPr>
                                  </m:ctrlPr>
                                </m:sSubPr>
                                <m:e>
                                  <m:r>
                                    <a:rPr lang="en-NZ" altLang="ja-JP" sz="1800" b="1" i="1" smtClean="0">
                                      <a:solidFill>
                                        <a:srgbClr val="C00000"/>
                                      </a:solidFill>
                                      <a:latin typeface="Cambria Math" panose="02040503050406030204" pitchFamily="18" charset="0"/>
                                    </a:rPr>
                                    <m:t>𝑺</m:t>
                                  </m:r>
                                </m:e>
                                <m:sub>
                                  <m:r>
                                    <a:rPr lang="en-NZ" altLang="ja-JP" sz="1800" b="1" i="1" smtClean="0">
                                      <a:solidFill>
                                        <a:srgbClr val="C00000"/>
                                      </a:solidFill>
                                      <a:latin typeface="Cambria Math" panose="02040503050406030204" pitchFamily="18" charset="0"/>
                                    </a:rPr>
                                    <m:t>𝑨</m:t>
                                  </m:r>
                                </m:sub>
                              </m:sSub>
                              <m:r>
                                <a:rPr lang="en-NZ" altLang="ja-JP" sz="1800" b="1" i="1" smtClean="0">
                                  <a:solidFill>
                                    <a:srgbClr val="C00000"/>
                                  </a:solidFill>
                                  <a:latin typeface="Cambria Math" panose="02040503050406030204" pitchFamily="18" charset="0"/>
                                </a:rPr>
                                <m:t> </m:t>
                              </m:r>
                            </m:num>
                            <m:den>
                              <m:r>
                                <a:rPr lang="en-NZ" altLang="ja-JP" sz="1800" b="1" i="1" smtClean="0">
                                  <a:solidFill>
                                    <a:srgbClr val="C00000"/>
                                  </a:solidFill>
                                  <a:latin typeface="Cambria Math" panose="02040503050406030204" pitchFamily="18" charset="0"/>
                                </a:rPr>
                                <m:t> (</m:t>
                              </m:r>
                              <m:r>
                                <a:rPr lang="en-NZ" altLang="ja-JP" sz="1800" b="1" i="1" smtClean="0">
                                  <a:solidFill>
                                    <a:srgbClr val="C00000"/>
                                  </a:solidFill>
                                  <a:latin typeface="Cambria Math" panose="02040503050406030204" pitchFamily="18" charset="0"/>
                                </a:rPr>
                                <m:t>𝒂</m:t>
                              </m:r>
                              <m:r>
                                <a:rPr lang="en-NZ" altLang="ja-JP" sz="1800" b="1" i="1" smtClean="0">
                                  <a:solidFill>
                                    <a:srgbClr val="C00000"/>
                                  </a:solidFill>
                                  <a:latin typeface="Cambria Math" panose="02040503050406030204" pitchFamily="18" charset="0"/>
                                </a:rPr>
                                <m:t>−</m:t>
                              </m:r>
                              <m:r>
                                <a:rPr lang="en-NZ" altLang="ja-JP" sz="1800" b="1" i="1" smtClean="0">
                                  <a:solidFill>
                                    <a:srgbClr val="C00000"/>
                                  </a:solidFill>
                                  <a:latin typeface="Cambria Math" panose="02040503050406030204" pitchFamily="18" charset="0"/>
                                </a:rPr>
                                <m:t>𝟏</m:t>
                              </m:r>
                              <m:r>
                                <a:rPr lang="en-NZ" altLang="ja-JP" sz="1800" b="1" i="1" smtClean="0">
                                  <a:solidFill>
                                    <a:srgbClr val="C00000"/>
                                  </a:solidFill>
                                  <a:latin typeface="Cambria Math" panose="02040503050406030204" pitchFamily="18" charset="0"/>
                                </a:rPr>
                                <m:t>)</m:t>
                              </m:r>
                            </m:den>
                          </m:f>
                        </m:num>
                        <m:den>
                          <m:f>
                            <m:fPr>
                              <m:type m:val="lin"/>
                              <m:ctrlPr>
                                <a:rPr lang="en-NZ" altLang="ja-JP" sz="1800" b="1" i="1" smtClean="0">
                                  <a:solidFill>
                                    <a:srgbClr val="C00000"/>
                                  </a:solidFill>
                                  <a:latin typeface="Cambria Math" panose="02040503050406030204" pitchFamily="18" charset="0"/>
                                </a:rPr>
                              </m:ctrlPr>
                            </m:fPr>
                            <m:num>
                              <m:r>
                                <a:rPr lang="en-NZ" altLang="ja-JP" sz="1800" b="1" i="1" smtClean="0">
                                  <a:solidFill>
                                    <a:srgbClr val="C00000"/>
                                  </a:solidFill>
                                  <a:latin typeface="Cambria Math" panose="02040503050406030204" pitchFamily="18" charset="0"/>
                                </a:rPr>
                                <m:t>𝑺</m:t>
                              </m:r>
                              <m:sSub>
                                <m:sSubPr>
                                  <m:ctrlPr>
                                    <a:rPr lang="en-NZ" altLang="ja-JP" sz="1800" b="1" i="1" smtClean="0">
                                      <a:solidFill>
                                        <a:srgbClr val="C00000"/>
                                      </a:solidFill>
                                      <a:latin typeface="Cambria Math" panose="02040503050406030204" pitchFamily="18" charset="0"/>
                                    </a:rPr>
                                  </m:ctrlPr>
                                </m:sSubPr>
                                <m:e>
                                  <m:r>
                                    <a:rPr lang="en-NZ" altLang="ja-JP" sz="1800" b="1" i="1" smtClean="0">
                                      <a:solidFill>
                                        <a:srgbClr val="C00000"/>
                                      </a:solidFill>
                                      <a:latin typeface="Cambria Math" panose="02040503050406030204" pitchFamily="18" charset="0"/>
                                    </a:rPr>
                                    <m:t>𝑺</m:t>
                                  </m:r>
                                </m:e>
                                <m:sub>
                                  <m:r>
                                    <a:rPr lang="en-NZ" altLang="ja-JP" sz="1800" b="1" i="1" smtClean="0">
                                      <a:solidFill>
                                        <a:srgbClr val="C00000"/>
                                      </a:solidFill>
                                      <a:latin typeface="Cambria Math" panose="02040503050406030204" pitchFamily="18" charset="0"/>
                                    </a:rPr>
                                    <m:t>𝑩</m:t>
                                  </m:r>
                                  <m:d>
                                    <m:dPr>
                                      <m:ctrlPr>
                                        <a:rPr lang="en-NZ" altLang="ja-JP" sz="1800" b="1" i="1" smtClean="0">
                                          <a:solidFill>
                                            <a:srgbClr val="C00000"/>
                                          </a:solidFill>
                                          <a:latin typeface="Cambria Math" panose="02040503050406030204" pitchFamily="18" charset="0"/>
                                        </a:rPr>
                                      </m:ctrlPr>
                                    </m:dPr>
                                    <m:e>
                                      <m:r>
                                        <a:rPr lang="en-NZ" altLang="ja-JP" sz="1800" b="1" i="1" smtClean="0">
                                          <a:solidFill>
                                            <a:srgbClr val="C00000"/>
                                          </a:solidFill>
                                          <a:latin typeface="Cambria Math" panose="02040503050406030204" pitchFamily="18" charset="0"/>
                                        </a:rPr>
                                        <m:t>𝑨</m:t>
                                      </m:r>
                                    </m:e>
                                  </m:d>
                                </m:sub>
                              </m:sSub>
                              <m:r>
                                <a:rPr lang="en-NZ" altLang="ja-JP" sz="1800" b="1" i="1" smtClean="0">
                                  <a:solidFill>
                                    <a:srgbClr val="C00000"/>
                                  </a:solidFill>
                                  <a:latin typeface="Cambria Math" panose="02040503050406030204" pitchFamily="18" charset="0"/>
                                </a:rPr>
                                <m:t> </m:t>
                              </m:r>
                            </m:num>
                            <m:den>
                              <m:r>
                                <a:rPr lang="en-NZ" altLang="ja-JP" sz="1800" b="1" i="1" smtClean="0">
                                  <a:solidFill>
                                    <a:srgbClr val="C00000"/>
                                  </a:solidFill>
                                  <a:latin typeface="Cambria Math" panose="02040503050406030204" pitchFamily="18" charset="0"/>
                                </a:rPr>
                                <m:t> [ </m:t>
                              </m:r>
                              <m:r>
                                <a:rPr lang="en-NZ" altLang="ja-JP" sz="1800" b="1" i="1" smtClean="0">
                                  <a:solidFill>
                                    <a:srgbClr val="C00000"/>
                                  </a:solidFill>
                                  <a:latin typeface="Cambria Math" panose="02040503050406030204" pitchFamily="18" charset="0"/>
                                </a:rPr>
                                <m:t>𝒂</m:t>
                              </m:r>
                              <m:r>
                                <a:rPr lang="en-NZ" altLang="ja-JP" sz="1800" b="1" i="1" smtClean="0">
                                  <a:solidFill>
                                    <a:srgbClr val="C00000"/>
                                  </a:solidFill>
                                  <a:latin typeface="Cambria Math" panose="02040503050406030204" pitchFamily="18" charset="0"/>
                                </a:rPr>
                                <m:t> </m:t>
                              </m:r>
                              <m:d>
                                <m:dPr>
                                  <m:ctrlPr>
                                    <a:rPr lang="en-NZ" altLang="ja-JP" sz="1800" b="1" i="1" smtClean="0">
                                      <a:solidFill>
                                        <a:srgbClr val="C00000"/>
                                      </a:solidFill>
                                      <a:latin typeface="Cambria Math" panose="02040503050406030204" pitchFamily="18" charset="0"/>
                                    </a:rPr>
                                  </m:ctrlPr>
                                </m:dPr>
                                <m:e>
                                  <m:r>
                                    <a:rPr lang="en-NZ" altLang="ja-JP" sz="1800" b="1" i="1" smtClean="0">
                                      <a:solidFill>
                                        <a:srgbClr val="C00000"/>
                                      </a:solidFill>
                                      <a:latin typeface="Cambria Math" panose="02040503050406030204" pitchFamily="18" charset="0"/>
                                    </a:rPr>
                                    <m:t>𝒃</m:t>
                                  </m:r>
                                  <m:r>
                                    <a:rPr lang="en-NZ" altLang="ja-JP" sz="1800" b="1" i="1" smtClean="0">
                                      <a:solidFill>
                                        <a:srgbClr val="C00000"/>
                                      </a:solidFill>
                                      <a:latin typeface="Cambria Math" panose="02040503050406030204" pitchFamily="18" charset="0"/>
                                    </a:rPr>
                                    <m:t>−</m:t>
                                  </m:r>
                                  <m:r>
                                    <a:rPr lang="en-NZ" altLang="ja-JP" sz="1800" b="1" i="1" smtClean="0">
                                      <a:solidFill>
                                        <a:srgbClr val="C00000"/>
                                      </a:solidFill>
                                      <a:latin typeface="Cambria Math" panose="02040503050406030204" pitchFamily="18" charset="0"/>
                                    </a:rPr>
                                    <m:t>𝟏</m:t>
                                  </m:r>
                                </m:e>
                              </m:d>
                              <m:r>
                                <a:rPr lang="en-NZ" altLang="ja-JP" sz="1800" b="1" i="1" smtClean="0">
                                  <a:solidFill>
                                    <a:srgbClr val="C00000"/>
                                  </a:solidFill>
                                  <a:latin typeface="Cambria Math" panose="02040503050406030204" pitchFamily="18" charset="0"/>
                                </a:rPr>
                                <m:t> ]</m:t>
                              </m:r>
                            </m:den>
                          </m:f>
                        </m:den>
                      </m:f>
                      <m:r>
                        <a:rPr lang="en-NZ" altLang="ja-JP" sz="1800" b="1" i="1" smtClean="0">
                          <a:solidFill>
                            <a:srgbClr val="C00000"/>
                          </a:solidFill>
                          <a:latin typeface="Cambria Math" panose="02040503050406030204" pitchFamily="18" charset="0"/>
                        </a:rPr>
                        <m:t>  =   </m:t>
                      </m:r>
                      <m:f>
                        <m:fPr>
                          <m:ctrlPr>
                            <a:rPr lang="en-NZ" altLang="ja-JP" sz="1800" b="1" i="1">
                              <a:solidFill>
                                <a:srgbClr val="C00000"/>
                              </a:solidFill>
                              <a:latin typeface="Cambria Math" panose="02040503050406030204" pitchFamily="18" charset="0"/>
                            </a:rPr>
                          </m:ctrlPr>
                        </m:fPr>
                        <m:num>
                          <m:f>
                            <m:fPr>
                              <m:type m:val="lin"/>
                              <m:ctrlPr>
                                <a:rPr lang="en-NZ" altLang="ja-JP" sz="1800" b="1" i="1">
                                  <a:solidFill>
                                    <a:srgbClr val="C00000"/>
                                  </a:solidFill>
                                  <a:latin typeface="Cambria Math" panose="02040503050406030204" pitchFamily="18" charset="0"/>
                                </a:rPr>
                              </m:ctrlPr>
                            </m:fPr>
                            <m:num>
                              <m:r>
                                <a:rPr lang="en-NZ" altLang="ja-JP" sz="1800" b="1" i="1">
                                  <a:solidFill>
                                    <a:srgbClr val="C00000"/>
                                  </a:solidFill>
                                  <a:latin typeface="Cambria Math" panose="02040503050406030204" pitchFamily="18" charset="0"/>
                                </a:rPr>
                                <m:t>𝒃𝒏</m:t>
                              </m:r>
                              <m:r>
                                <a:rPr lang="en-NZ" altLang="ja-JP" sz="1800" b="1" i="1">
                                  <a:solidFill>
                                    <a:srgbClr val="C00000"/>
                                  </a:solidFill>
                                  <a:latin typeface="Cambria Math" panose="02040503050406030204" pitchFamily="18" charset="0"/>
                                </a:rPr>
                                <m:t> </m:t>
                              </m:r>
                              <m:nary>
                                <m:naryPr>
                                  <m:chr m:val="∑"/>
                                  <m:ctrlPr>
                                    <a:rPr lang="en-NZ" altLang="ja-JP" sz="1800" b="1" i="1">
                                      <a:solidFill>
                                        <a:srgbClr val="C00000"/>
                                      </a:solidFill>
                                      <a:latin typeface="Cambria Math" panose="02040503050406030204" pitchFamily="18" charset="0"/>
                                    </a:rPr>
                                  </m:ctrlPr>
                                </m:naryPr>
                                <m:sub>
                                  <m:r>
                                    <m:rPr>
                                      <m:brk m:alnAt="23"/>
                                    </m:rPr>
                                    <a:rPr lang="en-NZ" altLang="ja-JP" sz="1800" b="1" i="1">
                                      <a:solidFill>
                                        <a:srgbClr val="C00000"/>
                                      </a:solidFill>
                                      <a:latin typeface="Cambria Math" panose="02040503050406030204" pitchFamily="18" charset="0"/>
                                    </a:rPr>
                                    <m:t>𝒊</m:t>
                                  </m:r>
                                  <m:r>
                                    <a:rPr lang="en-NZ" altLang="ja-JP" sz="1800" b="1" i="1">
                                      <a:solidFill>
                                        <a:srgbClr val="C00000"/>
                                      </a:solidFill>
                                      <a:latin typeface="Cambria Math" panose="02040503050406030204" pitchFamily="18" charset="0"/>
                                    </a:rPr>
                                    <m:t>=</m:t>
                                  </m:r>
                                  <m:r>
                                    <a:rPr lang="en-NZ" altLang="ja-JP" sz="1800" b="1" i="1">
                                      <a:solidFill>
                                        <a:srgbClr val="C00000"/>
                                      </a:solidFill>
                                      <a:latin typeface="Cambria Math" panose="02040503050406030204" pitchFamily="18" charset="0"/>
                                    </a:rPr>
                                    <m:t>𝟏</m:t>
                                  </m:r>
                                </m:sub>
                                <m:sup>
                                  <m:r>
                                    <a:rPr lang="en-NZ" altLang="ja-JP" sz="1800" b="1" i="1">
                                      <a:solidFill>
                                        <a:srgbClr val="C00000"/>
                                      </a:solidFill>
                                      <a:latin typeface="Cambria Math" panose="02040503050406030204" pitchFamily="18" charset="0"/>
                                    </a:rPr>
                                    <m:t>𝒂</m:t>
                                  </m:r>
                                </m:sup>
                                <m:e>
                                  <m:sSup>
                                    <m:sSupPr>
                                      <m:ctrlPr>
                                        <a:rPr lang="en-NZ" altLang="ja-JP" sz="1800" b="1" i="1">
                                          <a:solidFill>
                                            <a:srgbClr val="C00000"/>
                                          </a:solidFill>
                                          <a:latin typeface="Cambria Math" panose="02040503050406030204" pitchFamily="18" charset="0"/>
                                          <a:ea typeface="Cambria Math" panose="02040503050406030204" pitchFamily="18" charset="0"/>
                                        </a:rPr>
                                      </m:ctrlPr>
                                    </m:sSupPr>
                                    <m:e>
                                      <m:d>
                                        <m:dPr>
                                          <m:ctrlPr>
                                            <a:rPr lang="en-NZ" altLang="ja-JP" sz="1800" b="1" i="1">
                                              <a:solidFill>
                                                <a:srgbClr val="C00000"/>
                                              </a:solidFill>
                                              <a:latin typeface="Cambria Math" panose="02040503050406030204" pitchFamily="18" charset="0"/>
                                            </a:rPr>
                                          </m:ctrlPr>
                                        </m:dPr>
                                        <m:e>
                                          <m:sSub>
                                            <m:sSubPr>
                                              <m:ctrlPr>
                                                <a:rPr lang="en-NZ" altLang="ja-JP" sz="1800" b="1" i="1">
                                                  <a:solidFill>
                                                    <a:srgbClr val="C00000"/>
                                                  </a:solidFill>
                                                  <a:latin typeface="Cambria Math" panose="02040503050406030204" pitchFamily="18" charset="0"/>
                                                </a:rPr>
                                              </m:ctrlPr>
                                            </m:sSubPr>
                                            <m:e>
                                              <m:r>
                                                <a:rPr lang="en-NZ" altLang="ja-JP" sz="1800" b="1" i="1">
                                                  <a:solidFill>
                                                    <a:srgbClr val="C00000"/>
                                                  </a:solidFill>
                                                  <a:latin typeface="Cambria Math" panose="02040503050406030204" pitchFamily="18" charset="0"/>
                                                </a:rPr>
                                                <m:t> </m:t>
                                              </m:r>
                                              <m:acc>
                                                <m:accPr>
                                                  <m:chr m:val="̅"/>
                                                  <m:ctrlPr>
                                                    <a:rPr lang="en-NZ" altLang="ja-JP" sz="1800" b="1" i="1">
                                                      <a:solidFill>
                                                        <a:srgbClr val="C00000"/>
                                                      </a:solidFill>
                                                      <a:latin typeface="Cambria Math" panose="02040503050406030204" pitchFamily="18" charset="0"/>
                                                    </a:rPr>
                                                  </m:ctrlPr>
                                                </m:accPr>
                                                <m:e>
                                                  <m:r>
                                                    <a:rPr lang="en-NZ" altLang="ja-JP" sz="1800" b="1" i="1">
                                                      <a:solidFill>
                                                        <a:srgbClr val="C00000"/>
                                                      </a:solidFill>
                                                      <a:latin typeface="Cambria Math" panose="02040503050406030204" pitchFamily="18" charset="0"/>
                                                    </a:rPr>
                                                    <m:t>𝒀</m:t>
                                                  </m:r>
                                                </m:e>
                                              </m:acc>
                                            </m:e>
                                            <m:sub>
                                              <m:r>
                                                <a:rPr lang="en-NZ" altLang="ja-JP" sz="1800" b="1" i="1">
                                                  <a:solidFill>
                                                    <a:srgbClr val="C00000"/>
                                                  </a:solidFill>
                                                  <a:latin typeface="Cambria Math" panose="02040503050406030204" pitchFamily="18" charset="0"/>
                                                </a:rPr>
                                                <m:t>𝒊</m:t>
                                              </m:r>
                                              <m:r>
                                                <a:rPr lang="en-NZ" altLang="ja-JP" sz="1800" b="1" i="1">
                                                  <a:solidFill>
                                                    <a:srgbClr val="C00000"/>
                                                  </a:solidFill>
                                                  <a:latin typeface="Cambria Math" panose="02040503050406030204" pitchFamily="18" charset="0"/>
                                                  <a:ea typeface="Cambria Math" panose="02040503050406030204" pitchFamily="18" charset="0"/>
                                                </a:rPr>
                                                <m:t>∙∙</m:t>
                                              </m:r>
                                            </m:sub>
                                          </m:sSub>
                                          <m:r>
                                            <a:rPr lang="en-NZ" altLang="ja-JP" sz="1800" b="1" i="1">
                                              <a:solidFill>
                                                <a:srgbClr val="C00000"/>
                                              </a:solidFill>
                                              <a:latin typeface="Cambria Math" panose="02040503050406030204" pitchFamily="18" charset="0"/>
                                              <a:ea typeface="Cambria Math" panose="02040503050406030204" pitchFamily="18" charset="0"/>
                                            </a:rPr>
                                            <m:t>  − </m:t>
                                          </m:r>
                                          <m:sSub>
                                            <m:sSubPr>
                                              <m:ctrlPr>
                                                <a:rPr lang="en-NZ" altLang="ja-JP" sz="1800" b="1" i="1">
                                                  <a:solidFill>
                                                    <a:srgbClr val="C00000"/>
                                                  </a:solidFill>
                                                  <a:latin typeface="Cambria Math" panose="02040503050406030204" pitchFamily="18" charset="0"/>
                                                </a:rPr>
                                              </m:ctrlPr>
                                            </m:sSubPr>
                                            <m:e>
                                              <m:acc>
                                                <m:accPr>
                                                  <m:chr m:val="̅"/>
                                                  <m:ctrlPr>
                                                    <a:rPr lang="en-NZ" altLang="ja-JP" sz="1800" b="1" i="1">
                                                      <a:solidFill>
                                                        <a:srgbClr val="C00000"/>
                                                      </a:solidFill>
                                                      <a:latin typeface="Cambria Math" panose="02040503050406030204" pitchFamily="18" charset="0"/>
                                                    </a:rPr>
                                                  </m:ctrlPr>
                                                </m:accPr>
                                                <m:e>
                                                  <m:r>
                                                    <a:rPr lang="en-NZ" altLang="ja-JP" sz="1800" b="1" i="1">
                                                      <a:solidFill>
                                                        <a:srgbClr val="C00000"/>
                                                      </a:solidFill>
                                                      <a:latin typeface="Cambria Math" panose="02040503050406030204" pitchFamily="18" charset="0"/>
                                                    </a:rPr>
                                                    <m:t>𝒀</m:t>
                                                  </m:r>
                                                </m:e>
                                              </m:acc>
                                            </m:e>
                                            <m:sub>
                                              <m:r>
                                                <a:rPr lang="en-NZ" altLang="ja-JP" sz="1800" b="1" i="1">
                                                  <a:solidFill>
                                                    <a:srgbClr val="C00000"/>
                                                  </a:solidFill>
                                                  <a:latin typeface="Cambria Math" panose="02040503050406030204" pitchFamily="18" charset="0"/>
                                                  <a:ea typeface="Cambria Math" panose="02040503050406030204" pitchFamily="18" charset="0"/>
                                                </a:rPr>
                                                <m:t>∙∙∙</m:t>
                                              </m:r>
                                            </m:sub>
                                          </m:sSub>
                                          <m:r>
                                            <a:rPr lang="en-NZ" altLang="ja-JP" sz="1800" b="1" i="1">
                                              <a:solidFill>
                                                <a:srgbClr val="C00000"/>
                                              </a:solidFill>
                                              <a:latin typeface="Cambria Math" panose="02040503050406030204" pitchFamily="18" charset="0"/>
                                              <a:ea typeface="Cambria Math" panose="02040503050406030204" pitchFamily="18" charset="0"/>
                                            </a:rPr>
                                            <m:t> </m:t>
                                          </m:r>
                                        </m:e>
                                      </m:d>
                                    </m:e>
                                    <m:sup>
                                      <m:r>
                                        <a:rPr lang="en-NZ" altLang="ja-JP" sz="1800" b="1" i="1">
                                          <a:solidFill>
                                            <a:srgbClr val="C00000"/>
                                          </a:solidFill>
                                          <a:latin typeface="Cambria Math" panose="02040503050406030204" pitchFamily="18" charset="0"/>
                                          <a:ea typeface="Cambria Math" panose="02040503050406030204" pitchFamily="18" charset="0"/>
                                        </a:rPr>
                                        <m:t>𝟐</m:t>
                                      </m:r>
                                    </m:sup>
                                  </m:sSup>
                                </m:e>
                              </m:nary>
                            </m:num>
                            <m:den>
                              <m:r>
                                <a:rPr lang="en-NZ" altLang="ja-JP" sz="1800" b="1" i="1">
                                  <a:solidFill>
                                    <a:srgbClr val="C00000"/>
                                  </a:solidFill>
                                  <a:latin typeface="Cambria Math" panose="02040503050406030204" pitchFamily="18" charset="0"/>
                                </a:rPr>
                                <m:t>(</m:t>
                              </m:r>
                              <m:r>
                                <a:rPr lang="en-NZ" altLang="ja-JP" sz="1800" b="1" i="1">
                                  <a:solidFill>
                                    <a:srgbClr val="C00000"/>
                                  </a:solidFill>
                                  <a:latin typeface="Cambria Math" panose="02040503050406030204" pitchFamily="18" charset="0"/>
                                </a:rPr>
                                <m:t>𝒂</m:t>
                              </m:r>
                              <m:r>
                                <a:rPr lang="en-NZ" altLang="ja-JP" sz="1800" b="1" i="1">
                                  <a:solidFill>
                                    <a:srgbClr val="C00000"/>
                                  </a:solidFill>
                                  <a:latin typeface="Cambria Math" panose="02040503050406030204" pitchFamily="18" charset="0"/>
                                </a:rPr>
                                <m:t>−</m:t>
                              </m:r>
                              <m:r>
                                <a:rPr lang="en-NZ" altLang="ja-JP" sz="1800" b="1" i="1">
                                  <a:solidFill>
                                    <a:srgbClr val="C00000"/>
                                  </a:solidFill>
                                  <a:latin typeface="Cambria Math" panose="02040503050406030204" pitchFamily="18" charset="0"/>
                                </a:rPr>
                                <m:t>𝟏</m:t>
                              </m:r>
                              <m:r>
                                <a:rPr lang="en-NZ" altLang="ja-JP" sz="1800" b="1" i="1">
                                  <a:solidFill>
                                    <a:srgbClr val="C00000"/>
                                  </a:solidFill>
                                  <a:latin typeface="Cambria Math" panose="02040503050406030204" pitchFamily="18" charset="0"/>
                                </a:rPr>
                                <m:t>)</m:t>
                              </m:r>
                            </m:den>
                          </m:f>
                        </m:num>
                        <m:den>
                          <m:f>
                            <m:fPr>
                              <m:type m:val="lin"/>
                              <m:ctrlPr>
                                <a:rPr lang="en-NZ" altLang="ja-JP" sz="1800" b="1" i="1">
                                  <a:solidFill>
                                    <a:srgbClr val="C00000"/>
                                  </a:solidFill>
                                  <a:latin typeface="Cambria Math" panose="02040503050406030204" pitchFamily="18" charset="0"/>
                                </a:rPr>
                              </m:ctrlPr>
                            </m:fPr>
                            <m:num>
                              <m:r>
                                <a:rPr lang="en-NZ" altLang="ja-JP" sz="1800" b="1" i="1">
                                  <a:solidFill>
                                    <a:srgbClr val="C00000"/>
                                  </a:solidFill>
                                  <a:latin typeface="Cambria Math" panose="02040503050406030204" pitchFamily="18" charset="0"/>
                                </a:rPr>
                                <m:t>𝒏</m:t>
                              </m:r>
                              <m:r>
                                <a:rPr lang="en-NZ" altLang="ja-JP" sz="1800" b="1" i="1">
                                  <a:solidFill>
                                    <a:srgbClr val="C00000"/>
                                  </a:solidFill>
                                  <a:latin typeface="Cambria Math" panose="02040503050406030204" pitchFamily="18" charset="0"/>
                                </a:rPr>
                                <m:t> </m:t>
                              </m:r>
                              <m:nary>
                                <m:naryPr>
                                  <m:chr m:val="∑"/>
                                  <m:ctrlPr>
                                    <a:rPr lang="en-NZ" altLang="ja-JP" sz="1800" b="1" i="1">
                                      <a:solidFill>
                                        <a:srgbClr val="C00000"/>
                                      </a:solidFill>
                                      <a:latin typeface="Cambria Math" panose="02040503050406030204" pitchFamily="18" charset="0"/>
                                    </a:rPr>
                                  </m:ctrlPr>
                                </m:naryPr>
                                <m:sub>
                                  <m:r>
                                    <m:rPr>
                                      <m:brk m:alnAt="23"/>
                                    </m:rPr>
                                    <a:rPr lang="en-NZ" altLang="ja-JP" sz="1800" b="1" i="1">
                                      <a:solidFill>
                                        <a:srgbClr val="C00000"/>
                                      </a:solidFill>
                                      <a:latin typeface="Cambria Math" panose="02040503050406030204" pitchFamily="18" charset="0"/>
                                    </a:rPr>
                                    <m:t>𝒊</m:t>
                                  </m:r>
                                  <m:r>
                                    <a:rPr lang="en-NZ" altLang="ja-JP" sz="1800" b="1" i="1">
                                      <a:solidFill>
                                        <a:srgbClr val="C00000"/>
                                      </a:solidFill>
                                      <a:latin typeface="Cambria Math" panose="02040503050406030204" pitchFamily="18" charset="0"/>
                                    </a:rPr>
                                    <m:t>=</m:t>
                                  </m:r>
                                  <m:r>
                                    <a:rPr lang="en-NZ" altLang="ja-JP" sz="1800" b="1" i="1">
                                      <a:solidFill>
                                        <a:srgbClr val="C00000"/>
                                      </a:solidFill>
                                      <a:latin typeface="Cambria Math" panose="02040503050406030204" pitchFamily="18" charset="0"/>
                                    </a:rPr>
                                    <m:t>𝟏</m:t>
                                  </m:r>
                                </m:sub>
                                <m:sup>
                                  <m:r>
                                    <a:rPr lang="en-NZ" altLang="ja-JP" sz="1800" b="1" i="1">
                                      <a:solidFill>
                                        <a:srgbClr val="C00000"/>
                                      </a:solidFill>
                                      <a:latin typeface="Cambria Math" panose="02040503050406030204" pitchFamily="18" charset="0"/>
                                    </a:rPr>
                                    <m:t>𝒂</m:t>
                                  </m:r>
                                </m:sup>
                                <m:e>
                                  <m:nary>
                                    <m:naryPr>
                                      <m:chr m:val="∑"/>
                                      <m:ctrlPr>
                                        <a:rPr lang="en-NZ" altLang="ja-JP" sz="1800" b="1" i="1">
                                          <a:solidFill>
                                            <a:srgbClr val="C00000"/>
                                          </a:solidFill>
                                          <a:latin typeface="Cambria Math" panose="02040503050406030204" pitchFamily="18" charset="0"/>
                                        </a:rPr>
                                      </m:ctrlPr>
                                    </m:naryPr>
                                    <m:sub>
                                      <m:r>
                                        <m:rPr>
                                          <m:brk m:alnAt="23"/>
                                        </m:rPr>
                                        <a:rPr lang="en-NZ" altLang="ja-JP" sz="1800" b="1" i="1">
                                          <a:solidFill>
                                            <a:srgbClr val="C00000"/>
                                          </a:solidFill>
                                          <a:latin typeface="Cambria Math" panose="02040503050406030204" pitchFamily="18" charset="0"/>
                                        </a:rPr>
                                        <m:t>𝒋</m:t>
                                      </m:r>
                                      <m:r>
                                        <a:rPr lang="en-NZ" altLang="ja-JP" sz="1800" b="1" i="1">
                                          <a:solidFill>
                                            <a:srgbClr val="C00000"/>
                                          </a:solidFill>
                                          <a:latin typeface="Cambria Math" panose="02040503050406030204" pitchFamily="18" charset="0"/>
                                        </a:rPr>
                                        <m:t>=</m:t>
                                      </m:r>
                                      <m:r>
                                        <a:rPr lang="en-NZ" altLang="ja-JP" sz="1800" b="1" i="1">
                                          <a:solidFill>
                                            <a:srgbClr val="C00000"/>
                                          </a:solidFill>
                                          <a:latin typeface="Cambria Math" panose="02040503050406030204" pitchFamily="18" charset="0"/>
                                        </a:rPr>
                                        <m:t>𝟏</m:t>
                                      </m:r>
                                    </m:sub>
                                    <m:sup>
                                      <m:r>
                                        <a:rPr lang="en-NZ" altLang="ja-JP" sz="1800" b="1" i="1">
                                          <a:solidFill>
                                            <a:srgbClr val="C00000"/>
                                          </a:solidFill>
                                          <a:latin typeface="Cambria Math" panose="02040503050406030204" pitchFamily="18" charset="0"/>
                                        </a:rPr>
                                        <m:t>𝒃</m:t>
                                      </m:r>
                                    </m:sup>
                                    <m:e>
                                      <m:sSup>
                                        <m:sSupPr>
                                          <m:ctrlPr>
                                            <a:rPr lang="en-NZ" altLang="ja-JP" sz="1800" b="1" i="1">
                                              <a:solidFill>
                                                <a:srgbClr val="C00000"/>
                                              </a:solidFill>
                                              <a:latin typeface="Cambria Math" panose="02040503050406030204" pitchFamily="18" charset="0"/>
                                              <a:ea typeface="Cambria Math" panose="02040503050406030204" pitchFamily="18" charset="0"/>
                                            </a:rPr>
                                          </m:ctrlPr>
                                        </m:sSupPr>
                                        <m:e>
                                          <m:d>
                                            <m:dPr>
                                              <m:ctrlPr>
                                                <a:rPr lang="en-NZ" altLang="ja-JP" sz="1800" b="1" i="1">
                                                  <a:solidFill>
                                                    <a:srgbClr val="C00000"/>
                                                  </a:solidFill>
                                                  <a:latin typeface="Cambria Math" panose="02040503050406030204" pitchFamily="18" charset="0"/>
                                                </a:rPr>
                                              </m:ctrlPr>
                                            </m:dPr>
                                            <m:e>
                                              <m:sSub>
                                                <m:sSubPr>
                                                  <m:ctrlPr>
                                                    <a:rPr lang="en-NZ" altLang="ja-JP" sz="1800" b="1" i="1">
                                                      <a:solidFill>
                                                        <a:srgbClr val="C00000"/>
                                                      </a:solidFill>
                                                      <a:latin typeface="Cambria Math" panose="02040503050406030204" pitchFamily="18" charset="0"/>
                                                    </a:rPr>
                                                  </m:ctrlPr>
                                                </m:sSubPr>
                                                <m:e>
                                                  <m:r>
                                                    <a:rPr lang="en-NZ" altLang="ja-JP" sz="1800" b="1" i="1">
                                                      <a:solidFill>
                                                        <a:srgbClr val="C00000"/>
                                                      </a:solidFill>
                                                      <a:latin typeface="Cambria Math" panose="02040503050406030204" pitchFamily="18" charset="0"/>
                                                    </a:rPr>
                                                    <m:t> </m:t>
                                                  </m:r>
                                                  <m:acc>
                                                    <m:accPr>
                                                      <m:chr m:val="̅"/>
                                                      <m:ctrlPr>
                                                        <a:rPr lang="en-NZ" altLang="ja-JP" sz="1800" b="1" i="1">
                                                          <a:solidFill>
                                                            <a:srgbClr val="C00000"/>
                                                          </a:solidFill>
                                                          <a:latin typeface="Cambria Math" panose="02040503050406030204" pitchFamily="18" charset="0"/>
                                                        </a:rPr>
                                                      </m:ctrlPr>
                                                    </m:accPr>
                                                    <m:e>
                                                      <m:r>
                                                        <a:rPr lang="en-NZ" altLang="ja-JP" sz="1800" b="1" i="1">
                                                          <a:solidFill>
                                                            <a:srgbClr val="C00000"/>
                                                          </a:solidFill>
                                                          <a:latin typeface="Cambria Math" panose="02040503050406030204" pitchFamily="18" charset="0"/>
                                                        </a:rPr>
                                                        <m:t>𝒀</m:t>
                                                      </m:r>
                                                    </m:e>
                                                  </m:acc>
                                                </m:e>
                                                <m:sub>
                                                  <m:r>
                                                    <a:rPr lang="en-NZ" altLang="ja-JP" sz="1800" b="1" i="1">
                                                      <a:solidFill>
                                                        <a:srgbClr val="C00000"/>
                                                      </a:solidFill>
                                                      <a:latin typeface="Cambria Math" panose="02040503050406030204" pitchFamily="18" charset="0"/>
                                                    </a:rPr>
                                                    <m:t>𝒊</m:t>
                                                  </m:r>
                                                  <m:r>
                                                    <a:rPr lang="en-NZ" altLang="ja-JP" sz="1800" b="1" i="1">
                                                      <a:solidFill>
                                                        <a:srgbClr val="C00000"/>
                                                      </a:solidFill>
                                                      <a:latin typeface="Cambria Math" panose="02040503050406030204" pitchFamily="18" charset="0"/>
                                                      <a:ea typeface="Cambria Math" panose="02040503050406030204" pitchFamily="18" charset="0"/>
                                                    </a:rPr>
                                                    <m:t>𝒋</m:t>
                                                  </m:r>
                                                  <m:r>
                                                    <a:rPr lang="en-NZ" altLang="ja-JP" sz="1800" b="1" i="1">
                                                      <a:solidFill>
                                                        <a:srgbClr val="C00000"/>
                                                      </a:solidFill>
                                                      <a:latin typeface="Cambria Math" panose="02040503050406030204" pitchFamily="18" charset="0"/>
                                                      <a:ea typeface="Cambria Math" panose="02040503050406030204" pitchFamily="18" charset="0"/>
                                                    </a:rPr>
                                                    <m:t>∙</m:t>
                                                  </m:r>
                                                </m:sub>
                                              </m:sSub>
                                              <m:r>
                                                <a:rPr lang="en-NZ" altLang="ja-JP" sz="1800" b="1" i="1">
                                                  <a:solidFill>
                                                    <a:srgbClr val="C00000"/>
                                                  </a:solidFill>
                                                  <a:latin typeface="Cambria Math" panose="02040503050406030204" pitchFamily="18" charset="0"/>
                                                  <a:ea typeface="Cambria Math" panose="02040503050406030204" pitchFamily="18" charset="0"/>
                                                </a:rPr>
                                                <m:t>  − </m:t>
                                              </m:r>
                                              <m:sSub>
                                                <m:sSubPr>
                                                  <m:ctrlPr>
                                                    <a:rPr lang="en-NZ" altLang="ja-JP" sz="1800" b="1" i="1">
                                                      <a:solidFill>
                                                        <a:srgbClr val="C00000"/>
                                                      </a:solidFill>
                                                      <a:latin typeface="Cambria Math" panose="02040503050406030204" pitchFamily="18" charset="0"/>
                                                    </a:rPr>
                                                  </m:ctrlPr>
                                                </m:sSubPr>
                                                <m:e>
                                                  <m:acc>
                                                    <m:accPr>
                                                      <m:chr m:val="̅"/>
                                                      <m:ctrlPr>
                                                        <a:rPr lang="en-NZ" altLang="ja-JP" sz="1800" b="1" i="1">
                                                          <a:solidFill>
                                                            <a:srgbClr val="C00000"/>
                                                          </a:solidFill>
                                                          <a:latin typeface="Cambria Math" panose="02040503050406030204" pitchFamily="18" charset="0"/>
                                                        </a:rPr>
                                                      </m:ctrlPr>
                                                    </m:accPr>
                                                    <m:e>
                                                      <m:r>
                                                        <a:rPr lang="en-NZ" altLang="ja-JP" sz="1800" b="1" i="1">
                                                          <a:solidFill>
                                                            <a:srgbClr val="C00000"/>
                                                          </a:solidFill>
                                                          <a:latin typeface="Cambria Math" panose="02040503050406030204" pitchFamily="18" charset="0"/>
                                                        </a:rPr>
                                                        <m:t>𝒀</m:t>
                                                      </m:r>
                                                    </m:e>
                                                  </m:acc>
                                                </m:e>
                                                <m:sub>
                                                  <m:r>
                                                    <a:rPr lang="en-NZ" altLang="ja-JP" sz="1800" b="1" i="1">
                                                      <a:solidFill>
                                                        <a:srgbClr val="C00000"/>
                                                      </a:solidFill>
                                                      <a:latin typeface="Cambria Math" panose="02040503050406030204" pitchFamily="18" charset="0"/>
                                                    </a:rPr>
                                                    <m:t>𝒊</m:t>
                                                  </m:r>
                                                  <m:r>
                                                    <a:rPr lang="en-NZ" altLang="ja-JP" sz="1800" b="1" i="1">
                                                      <a:solidFill>
                                                        <a:srgbClr val="C00000"/>
                                                      </a:solidFill>
                                                      <a:latin typeface="Cambria Math" panose="02040503050406030204" pitchFamily="18" charset="0"/>
                                                      <a:ea typeface="Cambria Math" panose="02040503050406030204" pitchFamily="18" charset="0"/>
                                                    </a:rPr>
                                                    <m:t>∙∙</m:t>
                                                  </m:r>
                                                </m:sub>
                                              </m:sSub>
                                              <m:r>
                                                <a:rPr lang="en-NZ" altLang="ja-JP" sz="1800" b="1" i="1">
                                                  <a:solidFill>
                                                    <a:srgbClr val="C00000"/>
                                                  </a:solidFill>
                                                  <a:latin typeface="Cambria Math" panose="02040503050406030204" pitchFamily="18" charset="0"/>
                                                  <a:ea typeface="Cambria Math" panose="02040503050406030204" pitchFamily="18" charset="0"/>
                                                </a:rPr>
                                                <m:t> </m:t>
                                              </m:r>
                                            </m:e>
                                          </m:d>
                                        </m:e>
                                        <m:sup>
                                          <m:r>
                                            <a:rPr lang="en-NZ" altLang="ja-JP" sz="1800" b="1" i="1">
                                              <a:solidFill>
                                                <a:srgbClr val="C00000"/>
                                              </a:solidFill>
                                              <a:latin typeface="Cambria Math" panose="02040503050406030204" pitchFamily="18" charset="0"/>
                                              <a:ea typeface="Cambria Math" panose="02040503050406030204" pitchFamily="18" charset="0"/>
                                            </a:rPr>
                                            <m:t>𝟐</m:t>
                                          </m:r>
                                        </m:sup>
                                      </m:sSup>
                                    </m:e>
                                  </m:nary>
                                </m:e>
                              </m:nary>
                            </m:num>
                            <m:den>
                              <m:r>
                                <a:rPr lang="en-NZ" altLang="ja-JP" sz="1800" b="1" i="1" smtClean="0">
                                  <a:solidFill>
                                    <a:srgbClr val="C00000"/>
                                  </a:solidFill>
                                  <a:latin typeface="Cambria Math" panose="02040503050406030204" pitchFamily="18" charset="0"/>
                                </a:rPr>
                                <m:t> </m:t>
                              </m:r>
                              <m:r>
                                <a:rPr lang="en-NZ" altLang="ja-JP" sz="1800" b="1" i="1">
                                  <a:solidFill>
                                    <a:srgbClr val="C00000"/>
                                  </a:solidFill>
                                  <a:latin typeface="Cambria Math" panose="02040503050406030204" pitchFamily="18" charset="0"/>
                                </a:rPr>
                                <m:t>[ </m:t>
                              </m:r>
                              <m:r>
                                <a:rPr lang="en-NZ" altLang="ja-JP" sz="1800" b="1" i="1">
                                  <a:solidFill>
                                    <a:srgbClr val="C00000"/>
                                  </a:solidFill>
                                  <a:latin typeface="Cambria Math" panose="02040503050406030204" pitchFamily="18" charset="0"/>
                                </a:rPr>
                                <m:t>𝒂</m:t>
                              </m:r>
                              <m:r>
                                <a:rPr lang="en-NZ" altLang="ja-JP" sz="1800" b="1" i="1">
                                  <a:solidFill>
                                    <a:srgbClr val="C00000"/>
                                  </a:solidFill>
                                  <a:latin typeface="Cambria Math" panose="02040503050406030204" pitchFamily="18" charset="0"/>
                                </a:rPr>
                                <m:t> </m:t>
                              </m:r>
                              <m:d>
                                <m:dPr>
                                  <m:ctrlPr>
                                    <a:rPr lang="en-NZ" altLang="ja-JP" sz="1800" b="1" i="1">
                                      <a:solidFill>
                                        <a:srgbClr val="C00000"/>
                                      </a:solidFill>
                                      <a:latin typeface="Cambria Math" panose="02040503050406030204" pitchFamily="18" charset="0"/>
                                    </a:rPr>
                                  </m:ctrlPr>
                                </m:dPr>
                                <m:e>
                                  <m:r>
                                    <a:rPr lang="en-NZ" altLang="ja-JP" sz="1800" b="1" i="1">
                                      <a:solidFill>
                                        <a:srgbClr val="C00000"/>
                                      </a:solidFill>
                                      <a:latin typeface="Cambria Math" panose="02040503050406030204" pitchFamily="18" charset="0"/>
                                    </a:rPr>
                                    <m:t>𝒃</m:t>
                                  </m:r>
                                  <m:r>
                                    <a:rPr lang="en-NZ" altLang="ja-JP" sz="1800" b="1" i="1">
                                      <a:solidFill>
                                        <a:srgbClr val="C00000"/>
                                      </a:solidFill>
                                      <a:latin typeface="Cambria Math" panose="02040503050406030204" pitchFamily="18" charset="0"/>
                                    </a:rPr>
                                    <m:t>−</m:t>
                                  </m:r>
                                  <m:r>
                                    <a:rPr lang="en-NZ" altLang="ja-JP" sz="1800" b="1" i="1">
                                      <a:solidFill>
                                        <a:srgbClr val="C00000"/>
                                      </a:solidFill>
                                      <a:latin typeface="Cambria Math" panose="02040503050406030204" pitchFamily="18" charset="0"/>
                                    </a:rPr>
                                    <m:t>𝟏</m:t>
                                  </m:r>
                                </m:e>
                              </m:d>
                              <m:r>
                                <a:rPr lang="en-NZ" altLang="ja-JP" sz="1800" b="1" i="1" smtClean="0">
                                  <a:solidFill>
                                    <a:srgbClr val="C00000"/>
                                  </a:solidFill>
                                  <a:latin typeface="Cambria Math" panose="02040503050406030204" pitchFamily="18" charset="0"/>
                                </a:rPr>
                                <m:t> ]</m:t>
                              </m:r>
                            </m:den>
                          </m:f>
                        </m:den>
                      </m:f>
                    </m:oMath>
                  </m:oMathPara>
                </a14:m>
                <a:endParaRPr lang="en-NZ" altLang="ja-JP" sz="1800" b="1" dirty="0">
                  <a:solidFill>
                    <a:srgbClr val="C00000"/>
                  </a:solidFill>
                </a:endParaRPr>
              </a:p>
              <a:p>
                <a:pPr algn="just">
                  <a:lnSpc>
                    <a:spcPct val="100000"/>
                  </a:lnSpc>
                </a:pPr>
                <a:endParaRPr lang="en-NZ" altLang="ja-JP" sz="1800" b="1" dirty="0">
                  <a:solidFill>
                    <a:srgbClr val="C00000"/>
                  </a:solidFill>
                </a:endParaRPr>
              </a:p>
            </p:txBody>
          </p:sp>
        </mc:Choice>
        <mc:Fallback xmlns="">
          <p:sp>
            <p:nvSpPr>
              <p:cNvPr id="16" name="Text Placeholder 5">
                <a:extLst>
                  <a:ext uri="{FF2B5EF4-FFF2-40B4-BE49-F238E27FC236}">
                    <a16:creationId xmlns:a16="http://schemas.microsoft.com/office/drawing/2014/main" id="{376F4062-97CE-480D-5F16-9881DB18BF15}"/>
                  </a:ext>
                </a:extLst>
              </p:cNvPr>
              <p:cNvSpPr txBox="1">
                <a:spLocks noRot="1" noChangeAspect="1" noMove="1" noResize="1" noEditPoints="1" noAdjustHandles="1" noChangeArrowheads="1" noChangeShapeType="1" noTextEdit="1"/>
              </p:cNvSpPr>
              <p:nvPr/>
            </p:nvSpPr>
            <p:spPr>
              <a:xfrm>
                <a:off x="450795" y="1932427"/>
                <a:ext cx="11222321" cy="960076"/>
              </a:xfrm>
              <a:prstGeom prst="rect">
                <a:avLst/>
              </a:prstGeom>
              <a:blipFill>
                <a:blip r:embed="rId4"/>
                <a:stretch>
                  <a:fillRect/>
                </a:stretch>
              </a:blipFill>
            </p:spPr>
            <p:txBody>
              <a:bodyPr/>
              <a:lstStyle/>
              <a:p>
                <a:r>
                  <a:rPr lang="en-NZ">
                    <a:noFill/>
                  </a:rPr>
                  <a:t> </a:t>
                </a:r>
              </a:p>
            </p:txBody>
          </p:sp>
        </mc:Fallback>
      </mc:AlternateContent>
      <p:sp>
        <p:nvSpPr>
          <p:cNvPr id="17" name="Text Placeholder 5">
            <a:extLst>
              <a:ext uri="{FF2B5EF4-FFF2-40B4-BE49-F238E27FC236}">
                <a16:creationId xmlns:a16="http://schemas.microsoft.com/office/drawing/2014/main" id="{0EA64555-04E8-E51F-3EFE-B742B88F84D1}"/>
              </a:ext>
            </a:extLst>
          </p:cNvPr>
          <p:cNvSpPr txBox="1">
            <a:spLocks/>
          </p:cNvSpPr>
          <p:nvPr/>
        </p:nvSpPr>
        <p:spPr>
          <a:xfrm>
            <a:off x="202154" y="2885753"/>
            <a:ext cx="1795940" cy="41823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1800" dirty="0">
                <a:solidFill>
                  <a:schemeClr val="tx1"/>
                </a:solidFill>
              </a:rPr>
              <a:t>We note that:    </a:t>
            </a:r>
          </a:p>
          <a:p>
            <a:pPr algn="just">
              <a:lnSpc>
                <a:spcPct val="100000"/>
              </a:lnSpc>
            </a:pPr>
            <a:endParaRPr lang="en-NZ" altLang="ja-JP" sz="1800" dirty="0">
              <a:solidFill>
                <a:schemeClr val="tx1"/>
              </a:solidFill>
            </a:endParaRPr>
          </a:p>
        </p:txBody>
      </p:sp>
      <mc:AlternateContent xmlns:mc="http://schemas.openxmlformats.org/markup-compatibility/2006" xmlns:a14="http://schemas.microsoft.com/office/drawing/2010/main">
        <mc:Choice Requires="a14">
          <p:sp>
            <p:nvSpPr>
              <p:cNvPr id="18" name="Text Placeholder 5">
                <a:extLst>
                  <a:ext uri="{FF2B5EF4-FFF2-40B4-BE49-F238E27FC236}">
                    <a16:creationId xmlns:a16="http://schemas.microsoft.com/office/drawing/2014/main" id="{FBBABF70-8598-5F0F-7F93-020A38151BCF}"/>
                  </a:ext>
                </a:extLst>
              </p:cNvPr>
              <p:cNvSpPr txBox="1">
                <a:spLocks/>
              </p:cNvSpPr>
              <p:nvPr/>
            </p:nvSpPr>
            <p:spPr>
              <a:xfrm>
                <a:off x="327095" y="3124249"/>
                <a:ext cx="7110936" cy="96007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14:m>
                  <m:oMathPara xmlns:m="http://schemas.openxmlformats.org/officeDocument/2006/math">
                    <m:oMathParaPr>
                      <m:jc m:val="centerGroup"/>
                    </m:oMathParaPr>
                    <m:oMath xmlns:m="http://schemas.openxmlformats.org/officeDocument/2006/math">
                      <m:r>
                        <a:rPr lang="en-NZ" altLang="ja-JP" sz="1800" b="1" i="1" smtClean="0">
                          <a:solidFill>
                            <a:schemeClr val="tx1"/>
                          </a:solidFill>
                          <a:latin typeface="Cambria Math" panose="02040503050406030204" pitchFamily="18" charset="0"/>
                        </a:rPr>
                        <m:t>𝑬</m:t>
                      </m:r>
                      <m:r>
                        <a:rPr lang="en-NZ" altLang="ja-JP" sz="1800" b="1" i="1" smtClean="0">
                          <a:solidFill>
                            <a:schemeClr val="tx1"/>
                          </a:solidFill>
                          <a:latin typeface="Cambria Math" panose="02040503050406030204" pitchFamily="18" charset="0"/>
                        </a:rPr>
                        <m:t> </m:t>
                      </m:r>
                      <m:d>
                        <m:dPr>
                          <m:begChr m:val="["/>
                          <m:endChr m:val="]"/>
                          <m:ctrlPr>
                            <a:rPr lang="en-NZ" altLang="ja-JP" sz="1800" b="1" i="1" smtClean="0">
                              <a:solidFill>
                                <a:schemeClr val="tx1"/>
                              </a:solidFill>
                              <a:latin typeface="Cambria Math" panose="02040503050406030204" pitchFamily="18" charset="0"/>
                            </a:rPr>
                          </m:ctrlPr>
                        </m:dPr>
                        <m:e>
                          <m:r>
                            <a:rPr lang="en-NZ" altLang="ja-JP" sz="1800" b="1" i="1" smtClean="0">
                              <a:solidFill>
                                <a:schemeClr val="tx1"/>
                              </a:solidFill>
                              <a:latin typeface="Cambria Math" panose="02040503050406030204" pitchFamily="18" charset="0"/>
                            </a:rPr>
                            <m:t> </m:t>
                          </m:r>
                          <m:r>
                            <a:rPr lang="en-NZ" altLang="ja-JP" sz="1800" b="1" i="1" smtClean="0">
                              <a:solidFill>
                                <a:schemeClr val="tx1"/>
                              </a:solidFill>
                              <a:latin typeface="Cambria Math" panose="02040503050406030204" pitchFamily="18" charset="0"/>
                            </a:rPr>
                            <m:t>𝑭</m:t>
                          </m:r>
                          <m:r>
                            <a:rPr lang="en-NZ" altLang="ja-JP" sz="1800" b="1" i="1" smtClean="0">
                              <a:solidFill>
                                <a:schemeClr val="tx1"/>
                              </a:solidFill>
                              <a:latin typeface="Cambria Math" panose="02040503050406030204" pitchFamily="18" charset="0"/>
                            </a:rPr>
                            <m:t> </m:t>
                          </m:r>
                        </m:e>
                      </m:d>
                      <m:r>
                        <a:rPr lang="en-NZ" altLang="ja-JP" sz="1800" b="1" i="1" smtClean="0">
                          <a:solidFill>
                            <a:schemeClr val="tx1"/>
                          </a:solidFill>
                          <a:latin typeface="Cambria Math" panose="02040503050406030204" pitchFamily="18" charset="0"/>
                        </a:rPr>
                        <m:t>=  </m:t>
                      </m:r>
                      <m:r>
                        <a:rPr lang="en-NZ" altLang="ja-JP" sz="1800" b="1" i="1" smtClean="0">
                          <a:solidFill>
                            <a:schemeClr val="tx1"/>
                          </a:solidFill>
                          <a:latin typeface="Cambria Math" panose="02040503050406030204" pitchFamily="18" charset="0"/>
                        </a:rPr>
                        <m:t>𝑬</m:t>
                      </m:r>
                      <m:d>
                        <m:dPr>
                          <m:begChr m:val="["/>
                          <m:endChr m:val="]"/>
                          <m:ctrlPr>
                            <a:rPr lang="en-NZ" altLang="ja-JP" sz="1800" b="1" i="1" smtClean="0">
                              <a:solidFill>
                                <a:schemeClr val="tx1"/>
                              </a:solidFill>
                              <a:latin typeface="Cambria Math" panose="02040503050406030204" pitchFamily="18" charset="0"/>
                            </a:rPr>
                          </m:ctrlPr>
                        </m:dPr>
                        <m:e>
                          <m:f>
                            <m:fPr>
                              <m:ctrlPr>
                                <a:rPr lang="en-NZ" altLang="ja-JP" sz="1800" b="1" i="1">
                                  <a:solidFill>
                                    <a:schemeClr val="tx1"/>
                                  </a:solidFill>
                                  <a:latin typeface="Cambria Math" panose="02040503050406030204" pitchFamily="18" charset="0"/>
                                </a:rPr>
                              </m:ctrlPr>
                            </m:fPr>
                            <m:num>
                              <m:r>
                                <a:rPr lang="en-NZ" altLang="ja-JP" sz="1800" b="1" i="1">
                                  <a:solidFill>
                                    <a:schemeClr val="tx1"/>
                                  </a:solidFill>
                                  <a:latin typeface="Cambria Math" panose="02040503050406030204" pitchFamily="18" charset="0"/>
                                </a:rPr>
                                <m:t>𝑴</m:t>
                              </m:r>
                              <m:sSub>
                                <m:sSubPr>
                                  <m:ctrlPr>
                                    <a:rPr lang="en-NZ" altLang="ja-JP" sz="1800" b="1" i="1">
                                      <a:solidFill>
                                        <a:schemeClr val="tx1"/>
                                      </a:solidFill>
                                      <a:latin typeface="Cambria Math" panose="02040503050406030204" pitchFamily="18" charset="0"/>
                                    </a:rPr>
                                  </m:ctrlPr>
                                </m:sSubPr>
                                <m:e>
                                  <m:r>
                                    <a:rPr lang="en-NZ" altLang="ja-JP" sz="1800" b="1" i="1">
                                      <a:solidFill>
                                        <a:schemeClr val="tx1"/>
                                      </a:solidFill>
                                      <a:latin typeface="Cambria Math" panose="02040503050406030204" pitchFamily="18" charset="0"/>
                                    </a:rPr>
                                    <m:t>𝑺</m:t>
                                  </m:r>
                                </m:e>
                                <m:sub>
                                  <m:r>
                                    <a:rPr lang="en-NZ" altLang="ja-JP" sz="1800" b="1" i="1">
                                      <a:solidFill>
                                        <a:schemeClr val="tx1"/>
                                      </a:solidFill>
                                      <a:latin typeface="Cambria Math" panose="02040503050406030204" pitchFamily="18" charset="0"/>
                                    </a:rPr>
                                    <m:t>𝑨</m:t>
                                  </m:r>
                                </m:sub>
                              </m:sSub>
                            </m:num>
                            <m:den>
                              <m:r>
                                <a:rPr lang="en-NZ" altLang="ja-JP" sz="1800" b="1" i="1" smtClean="0">
                                  <a:solidFill>
                                    <a:schemeClr val="tx1"/>
                                  </a:solidFill>
                                  <a:latin typeface="Cambria Math" panose="02040503050406030204" pitchFamily="18" charset="0"/>
                                </a:rPr>
                                <m:t> </m:t>
                              </m:r>
                              <m:r>
                                <a:rPr lang="en-NZ" altLang="ja-JP" sz="1800" b="1" i="1">
                                  <a:solidFill>
                                    <a:schemeClr val="tx1"/>
                                  </a:solidFill>
                                  <a:latin typeface="Cambria Math" panose="02040503050406030204" pitchFamily="18" charset="0"/>
                                </a:rPr>
                                <m:t>𝑴</m:t>
                              </m:r>
                              <m:sSub>
                                <m:sSubPr>
                                  <m:ctrlPr>
                                    <a:rPr lang="en-NZ" altLang="ja-JP" sz="1800" b="1" i="1">
                                      <a:solidFill>
                                        <a:schemeClr val="tx1"/>
                                      </a:solidFill>
                                      <a:latin typeface="Cambria Math" panose="02040503050406030204" pitchFamily="18" charset="0"/>
                                    </a:rPr>
                                  </m:ctrlPr>
                                </m:sSubPr>
                                <m:e>
                                  <m:r>
                                    <a:rPr lang="en-NZ" altLang="ja-JP" sz="1800" b="1" i="1">
                                      <a:solidFill>
                                        <a:schemeClr val="tx1"/>
                                      </a:solidFill>
                                      <a:latin typeface="Cambria Math" panose="02040503050406030204" pitchFamily="18" charset="0"/>
                                    </a:rPr>
                                    <m:t>𝑺</m:t>
                                  </m:r>
                                </m:e>
                                <m:sub>
                                  <m:r>
                                    <a:rPr lang="en-NZ" altLang="ja-JP" sz="1800" b="1" i="1">
                                      <a:solidFill>
                                        <a:schemeClr val="tx1"/>
                                      </a:solidFill>
                                      <a:latin typeface="Cambria Math" panose="02040503050406030204" pitchFamily="18" charset="0"/>
                                    </a:rPr>
                                    <m:t>𝑩</m:t>
                                  </m:r>
                                  <m:d>
                                    <m:dPr>
                                      <m:ctrlPr>
                                        <a:rPr lang="en-NZ" altLang="ja-JP" sz="1800" b="1" i="1">
                                          <a:solidFill>
                                            <a:schemeClr val="tx1"/>
                                          </a:solidFill>
                                          <a:latin typeface="Cambria Math" panose="02040503050406030204" pitchFamily="18" charset="0"/>
                                        </a:rPr>
                                      </m:ctrlPr>
                                    </m:dPr>
                                    <m:e>
                                      <m:r>
                                        <a:rPr lang="en-NZ" altLang="ja-JP" sz="1800" b="1" i="1">
                                          <a:solidFill>
                                            <a:schemeClr val="tx1"/>
                                          </a:solidFill>
                                          <a:latin typeface="Cambria Math" panose="02040503050406030204" pitchFamily="18" charset="0"/>
                                        </a:rPr>
                                        <m:t>𝑨</m:t>
                                      </m:r>
                                    </m:e>
                                  </m:d>
                                  <m:r>
                                    <a:rPr lang="en-NZ" altLang="ja-JP" sz="1800" b="1" i="1" smtClean="0">
                                      <a:solidFill>
                                        <a:schemeClr val="tx1"/>
                                      </a:solidFill>
                                      <a:latin typeface="Cambria Math" panose="02040503050406030204" pitchFamily="18" charset="0"/>
                                    </a:rPr>
                                    <m:t> </m:t>
                                  </m:r>
                                </m:sub>
                              </m:sSub>
                            </m:den>
                          </m:f>
                        </m:e>
                      </m:d>
                      <m:r>
                        <a:rPr lang="en-NZ" altLang="ja-JP" sz="1800" b="1" i="1" smtClean="0">
                          <a:solidFill>
                            <a:schemeClr val="tx1"/>
                          </a:solidFill>
                          <a:latin typeface="Cambria Math" panose="02040503050406030204" pitchFamily="18" charset="0"/>
                        </a:rPr>
                        <m:t> </m:t>
                      </m:r>
                      <m:r>
                        <a:rPr lang="en-NZ" altLang="ja-JP" sz="1800" b="1" i="1" smtClean="0">
                          <a:solidFill>
                            <a:schemeClr val="tx1"/>
                          </a:solidFill>
                          <a:latin typeface="Cambria Math" panose="02040503050406030204" pitchFamily="18" charset="0"/>
                          <a:ea typeface="Cambria Math" panose="02040503050406030204" pitchFamily="18" charset="0"/>
                        </a:rPr>
                        <m:t>≈</m:t>
                      </m:r>
                      <m:r>
                        <a:rPr lang="en-NZ" altLang="ja-JP" sz="1800" b="1" i="1" smtClean="0">
                          <a:solidFill>
                            <a:schemeClr val="tx1"/>
                          </a:solidFill>
                          <a:latin typeface="Cambria Math" panose="02040503050406030204" pitchFamily="18" charset="0"/>
                        </a:rPr>
                        <m:t>   </m:t>
                      </m:r>
                      <m:f>
                        <m:fPr>
                          <m:ctrlPr>
                            <a:rPr lang="en-NZ" altLang="ja-JP" sz="1800" b="1" i="1" smtClean="0">
                              <a:solidFill>
                                <a:schemeClr val="tx1"/>
                              </a:solidFill>
                              <a:latin typeface="Cambria Math" panose="02040503050406030204" pitchFamily="18" charset="0"/>
                            </a:rPr>
                          </m:ctrlPr>
                        </m:fPr>
                        <m:num>
                          <m:sSup>
                            <m:sSupPr>
                              <m:ctrlPr>
                                <a:rPr lang="en-NZ" sz="1800" b="1" i="1">
                                  <a:solidFill>
                                    <a:schemeClr val="tx1"/>
                                  </a:solidFill>
                                  <a:latin typeface="Cambria Math" panose="02040503050406030204" pitchFamily="18" charset="0"/>
                                </a:rPr>
                              </m:ctrlPr>
                            </m:sSupPr>
                            <m:e>
                              <m:r>
                                <a:rPr lang="en-NZ" sz="1800" b="1" i="1">
                                  <a:solidFill>
                                    <a:schemeClr val="tx1"/>
                                  </a:solidFill>
                                  <a:latin typeface="Cambria Math" panose="02040503050406030204" pitchFamily="18" charset="0"/>
                                </a:rPr>
                                <m:t>𝝈</m:t>
                              </m:r>
                            </m:e>
                            <m:sup>
                              <m:r>
                                <a:rPr lang="en-NZ" sz="1800" b="1" i="1">
                                  <a:solidFill>
                                    <a:schemeClr val="tx1"/>
                                  </a:solidFill>
                                  <a:latin typeface="Cambria Math" panose="02040503050406030204" pitchFamily="18" charset="0"/>
                                </a:rPr>
                                <m:t>𝟐</m:t>
                              </m:r>
                            </m:sup>
                          </m:sSup>
                          <m:r>
                            <a:rPr lang="en-NZ" sz="1800" b="1" i="1">
                              <a:solidFill>
                                <a:schemeClr val="tx1"/>
                              </a:solidFill>
                              <a:latin typeface="Cambria Math" panose="02040503050406030204" pitchFamily="18" charset="0"/>
                            </a:rPr>
                            <m:t>+  </m:t>
                          </m:r>
                          <m:r>
                            <a:rPr lang="en-NZ" sz="1800" b="1" i="1">
                              <a:solidFill>
                                <a:schemeClr val="tx1"/>
                              </a:solidFill>
                              <a:latin typeface="Cambria Math" panose="02040503050406030204" pitchFamily="18" charset="0"/>
                            </a:rPr>
                            <m:t>𝒏</m:t>
                          </m:r>
                          <m:r>
                            <a:rPr lang="en-NZ" sz="1800" b="1" i="1">
                              <a:solidFill>
                                <a:schemeClr val="tx1"/>
                              </a:solidFill>
                              <a:latin typeface="Cambria Math" panose="02040503050406030204" pitchFamily="18" charset="0"/>
                            </a:rPr>
                            <m:t> </m:t>
                          </m:r>
                          <m:sSubSup>
                            <m:sSubSupPr>
                              <m:ctrlPr>
                                <a:rPr lang="en-NZ" sz="1800" b="1" i="1">
                                  <a:solidFill>
                                    <a:schemeClr val="tx1"/>
                                  </a:solidFill>
                                  <a:latin typeface="Cambria Math" panose="02040503050406030204" pitchFamily="18" charset="0"/>
                                </a:rPr>
                              </m:ctrlPr>
                            </m:sSubSupPr>
                            <m:e>
                              <m:r>
                                <a:rPr lang="en-NZ" sz="1800" b="1" i="1">
                                  <a:solidFill>
                                    <a:schemeClr val="tx1"/>
                                  </a:solidFill>
                                  <a:latin typeface="Cambria Math" panose="02040503050406030204" pitchFamily="18" charset="0"/>
                                </a:rPr>
                                <m:t>𝝈</m:t>
                              </m:r>
                            </m:e>
                            <m:sub>
                              <m:r>
                                <a:rPr lang="en-NZ" sz="1800" b="1" i="1">
                                  <a:solidFill>
                                    <a:schemeClr val="tx1"/>
                                  </a:solidFill>
                                  <a:latin typeface="Cambria Math" panose="02040503050406030204" pitchFamily="18" charset="0"/>
                                </a:rPr>
                                <m:t>𝑩</m:t>
                              </m:r>
                            </m:sub>
                            <m:sup>
                              <m:r>
                                <a:rPr lang="en-NZ" sz="1800" b="1" i="1">
                                  <a:solidFill>
                                    <a:schemeClr val="tx1"/>
                                  </a:solidFill>
                                  <a:latin typeface="Cambria Math" panose="02040503050406030204" pitchFamily="18" charset="0"/>
                                </a:rPr>
                                <m:t>𝟐</m:t>
                              </m:r>
                            </m:sup>
                          </m:sSubSup>
                          <m:r>
                            <a:rPr lang="en-NZ" sz="1800" b="1" i="1">
                              <a:solidFill>
                                <a:schemeClr val="tx1"/>
                              </a:solidFill>
                              <a:latin typeface="Cambria Math" panose="02040503050406030204" pitchFamily="18" charset="0"/>
                            </a:rPr>
                            <m:t> +  </m:t>
                          </m:r>
                          <m:r>
                            <a:rPr lang="en-NZ" sz="1800" b="1" i="1">
                              <a:solidFill>
                                <a:schemeClr val="tx1"/>
                              </a:solidFill>
                              <a:latin typeface="Cambria Math" panose="02040503050406030204" pitchFamily="18" charset="0"/>
                            </a:rPr>
                            <m:t>𝒃𝒏</m:t>
                          </m:r>
                          <m:r>
                            <a:rPr lang="en-NZ" sz="1800" b="1" i="1">
                              <a:solidFill>
                                <a:schemeClr val="tx1"/>
                              </a:solidFill>
                              <a:latin typeface="Cambria Math" panose="02040503050406030204" pitchFamily="18" charset="0"/>
                            </a:rPr>
                            <m:t> </m:t>
                          </m:r>
                          <m:r>
                            <a:rPr lang="en-NZ" sz="1800" b="1" i="1">
                              <a:solidFill>
                                <a:schemeClr val="tx1"/>
                              </a:solidFill>
                              <a:latin typeface="Cambria Math" panose="02040503050406030204" pitchFamily="18" charset="0"/>
                            </a:rPr>
                            <m:t>𝒗</m:t>
                          </m:r>
                          <m:d>
                            <m:dPr>
                              <m:ctrlPr>
                                <a:rPr lang="en-NZ" sz="1800" b="1" i="1">
                                  <a:solidFill>
                                    <a:schemeClr val="tx1"/>
                                  </a:solidFill>
                                  <a:latin typeface="Cambria Math" panose="02040503050406030204" pitchFamily="18" charset="0"/>
                                </a:rPr>
                              </m:ctrlPr>
                            </m:dPr>
                            <m:e>
                              <m:r>
                                <a:rPr lang="en-NZ" sz="1800" b="1" i="1">
                                  <a:solidFill>
                                    <a:schemeClr val="tx1"/>
                                  </a:solidFill>
                                  <a:latin typeface="Cambria Math" panose="02040503050406030204" pitchFamily="18" charset="0"/>
                                </a:rPr>
                                <m:t>𝜶</m:t>
                              </m:r>
                            </m:e>
                          </m:d>
                          <m:r>
                            <m:rPr>
                              <m:nor/>
                            </m:rPr>
                            <a:rPr lang="en-NZ" sz="1800" b="1" dirty="0">
                              <a:solidFill>
                                <a:schemeClr val="tx1"/>
                              </a:solidFill>
                            </a:rPr>
                            <m:t> </m:t>
                          </m:r>
                        </m:num>
                        <m:den>
                          <m:sSup>
                            <m:sSupPr>
                              <m:ctrlPr>
                                <a:rPr lang="en-NZ" sz="1800" b="1" i="1">
                                  <a:solidFill>
                                    <a:schemeClr val="tx1"/>
                                  </a:solidFill>
                                  <a:latin typeface="Cambria Math" panose="02040503050406030204" pitchFamily="18" charset="0"/>
                                </a:rPr>
                              </m:ctrlPr>
                            </m:sSupPr>
                            <m:e>
                              <m:r>
                                <a:rPr lang="en-NZ" sz="1800" b="1" i="1">
                                  <a:solidFill>
                                    <a:schemeClr val="tx1"/>
                                  </a:solidFill>
                                  <a:latin typeface="Cambria Math" panose="02040503050406030204" pitchFamily="18" charset="0"/>
                                </a:rPr>
                                <m:t>𝝈</m:t>
                              </m:r>
                            </m:e>
                            <m:sup>
                              <m:r>
                                <a:rPr lang="en-NZ" sz="1800" b="1" i="1">
                                  <a:solidFill>
                                    <a:schemeClr val="tx1"/>
                                  </a:solidFill>
                                  <a:latin typeface="Cambria Math" panose="02040503050406030204" pitchFamily="18" charset="0"/>
                                </a:rPr>
                                <m:t>𝟐</m:t>
                              </m:r>
                            </m:sup>
                          </m:sSup>
                          <m:r>
                            <a:rPr lang="en-NZ" sz="1800" b="1" i="1">
                              <a:solidFill>
                                <a:schemeClr val="tx1"/>
                              </a:solidFill>
                              <a:latin typeface="Cambria Math" panose="02040503050406030204" pitchFamily="18" charset="0"/>
                            </a:rPr>
                            <m:t>+  </m:t>
                          </m:r>
                          <m:r>
                            <a:rPr lang="en-NZ" sz="1800" b="1" i="1">
                              <a:solidFill>
                                <a:schemeClr val="tx1"/>
                              </a:solidFill>
                              <a:latin typeface="Cambria Math" panose="02040503050406030204" pitchFamily="18" charset="0"/>
                            </a:rPr>
                            <m:t>𝒏</m:t>
                          </m:r>
                          <m:r>
                            <a:rPr lang="en-NZ" sz="1800" b="1" i="1">
                              <a:solidFill>
                                <a:schemeClr val="tx1"/>
                              </a:solidFill>
                              <a:latin typeface="Cambria Math" panose="02040503050406030204" pitchFamily="18" charset="0"/>
                            </a:rPr>
                            <m:t> </m:t>
                          </m:r>
                          <m:sSubSup>
                            <m:sSubSupPr>
                              <m:ctrlPr>
                                <a:rPr lang="en-NZ" sz="1800" b="1" i="1">
                                  <a:solidFill>
                                    <a:schemeClr val="tx1"/>
                                  </a:solidFill>
                                  <a:latin typeface="Cambria Math" panose="02040503050406030204" pitchFamily="18" charset="0"/>
                                </a:rPr>
                              </m:ctrlPr>
                            </m:sSubSupPr>
                            <m:e>
                              <m:r>
                                <a:rPr lang="en-NZ" sz="1800" b="1" i="1">
                                  <a:solidFill>
                                    <a:schemeClr val="tx1"/>
                                  </a:solidFill>
                                  <a:latin typeface="Cambria Math" panose="02040503050406030204" pitchFamily="18" charset="0"/>
                                </a:rPr>
                                <m:t>𝝈</m:t>
                              </m:r>
                            </m:e>
                            <m:sub>
                              <m:r>
                                <a:rPr lang="en-NZ" sz="1800" b="1" i="1">
                                  <a:solidFill>
                                    <a:schemeClr val="tx1"/>
                                  </a:solidFill>
                                  <a:latin typeface="Cambria Math" panose="02040503050406030204" pitchFamily="18" charset="0"/>
                                </a:rPr>
                                <m:t>𝑩</m:t>
                              </m:r>
                            </m:sub>
                            <m:sup>
                              <m:r>
                                <a:rPr lang="en-NZ" sz="1800" b="1" i="1">
                                  <a:solidFill>
                                    <a:schemeClr val="tx1"/>
                                  </a:solidFill>
                                  <a:latin typeface="Cambria Math" panose="02040503050406030204" pitchFamily="18" charset="0"/>
                                </a:rPr>
                                <m:t>𝟐</m:t>
                              </m:r>
                            </m:sup>
                          </m:sSubSup>
                          <m:r>
                            <m:rPr>
                              <m:nor/>
                            </m:rPr>
                            <a:rPr lang="en-NZ" sz="1800" b="1" dirty="0">
                              <a:solidFill>
                                <a:schemeClr val="tx1"/>
                              </a:solidFill>
                            </a:rPr>
                            <m:t> </m:t>
                          </m:r>
                        </m:den>
                      </m:f>
                    </m:oMath>
                  </m:oMathPara>
                </a14:m>
                <a:endParaRPr lang="en-NZ" altLang="ja-JP" sz="1800" b="1" dirty="0">
                  <a:solidFill>
                    <a:schemeClr val="tx1"/>
                  </a:solidFill>
                </a:endParaRPr>
              </a:p>
              <a:p>
                <a:pPr algn="just">
                  <a:lnSpc>
                    <a:spcPct val="100000"/>
                  </a:lnSpc>
                </a:pPr>
                <a:endParaRPr lang="en-NZ" altLang="ja-JP" sz="1800" b="1" dirty="0">
                  <a:solidFill>
                    <a:schemeClr val="tx1"/>
                  </a:solidFill>
                </a:endParaRPr>
              </a:p>
            </p:txBody>
          </p:sp>
        </mc:Choice>
        <mc:Fallback xmlns="">
          <p:sp>
            <p:nvSpPr>
              <p:cNvPr id="18" name="Text Placeholder 5">
                <a:extLst>
                  <a:ext uri="{FF2B5EF4-FFF2-40B4-BE49-F238E27FC236}">
                    <a16:creationId xmlns:a16="http://schemas.microsoft.com/office/drawing/2014/main" id="{FBBABF70-8598-5F0F-7F93-020A38151BCF}"/>
                  </a:ext>
                </a:extLst>
              </p:cNvPr>
              <p:cNvSpPr txBox="1">
                <a:spLocks noRot="1" noChangeAspect="1" noMove="1" noResize="1" noEditPoints="1" noAdjustHandles="1" noChangeArrowheads="1" noChangeShapeType="1" noTextEdit="1"/>
              </p:cNvSpPr>
              <p:nvPr/>
            </p:nvSpPr>
            <p:spPr>
              <a:xfrm>
                <a:off x="327095" y="3124249"/>
                <a:ext cx="7110936" cy="960076"/>
              </a:xfrm>
              <a:prstGeom prst="rect">
                <a:avLst/>
              </a:prstGeom>
              <a:blipFill>
                <a:blip r:embed="rId5"/>
                <a:stretch>
                  <a:fillRect/>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20" name="Text Placeholder 5">
                <a:extLst>
                  <a:ext uri="{FF2B5EF4-FFF2-40B4-BE49-F238E27FC236}">
                    <a16:creationId xmlns:a16="http://schemas.microsoft.com/office/drawing/2014/main" id="{5339C500-3847-4D5C-B4AF-DD9D79E63B18}"/>
                  </a:ext>
                </a:extLst>
              </p:cNvPr>
              <p:cNvSpPr txBox="1">
                <a:spLocks/>
              </p:cNvSpPr>
              <p:nvPr/>
            </p:nvSpPr>
            <p:spPr>
              <a:xfrm>
                <a:off x="7057963" y="3225806"/>
                <a:ext cx="3080745" cy="67534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800" b="0" i="1" u="none" strike="noStrike" kern="1200" cap="none" spc="0" normalizeH="0" baseline="0" noProof="0" dirty="0">
                    <a:ln>
                      <a:noFill/>
                    </a:ln>
                    <a:solidFill>
                      <a:schemeClr val="bg2">
                        <a:lumMod val="50000"/>
                      </a:schemeClr>
                    </a:solidFill>
                    <a:effectLst/>
                    <a:uLnTx/>
                    <a:uFillTx/>
                    <a:ea typeface="游ゴシック" panose="020B0400000000000000" pitchFamily="34" charset="-128"/>
                    <a:cs typeface="+mn-cs"/>
                  </a:rPr>
                  <a:t>Where   </a:t>
                </a:r>
                <a14:m>
                  <m:oMath xmlns:m="http://schemas.openxmlformats.org/officeDocument/2006/math">
                    <m:r>
                      <a:rPr kumimoji="1" lang="en-NZ" altLang="ja-JP" sz="1800" b="1" i="1" u="none" strike="noStrike" kern="1200" cap="none" spc="0" normalizeH="0" baseline="0" noProof="0" smtClean="0">
                        <a:ln>
                          <a:noFill/>
                        </a:ln>
                        <a:solidFill>
                          <a:schemeClr val="bg2">
                            <a:lumMod val="50000"/>
                          </a:schemeClr>
                        </a:solidFill>
                        <a:effectLst/>
                        <a:uLnTx/>
                        <a:uFillTx/>
                        <a:latin typeface="Cambria Math" panose="02040503050406030204" pitchFamily="18" charset="0"/>
                        <a:ea typeface="游ゴシック" panose="020B0400000000000000" pitchFamily="34" charset="-128"/>
                        <a:cs typeface="+mn-cs"/>
                      </a:rPr>
                      <m:t>𝒗</m:t>
                    </m:r>
                    <m:d>
                      <m:dPr>
                        <m:ctrlPr>
                          <a:rPr kumimoji="1" lang="en-NZ" altLang="ja-JP" sz="1800" b="1" i="1" u="none" strike="noStrike" kern="1200" cap="none" spc="0" normalizeH="0" baseline="0" noProof="0" smtClean="0">
                            <a:ln>
                              <a:noFill/>
                            </a:ln>
                            <a:solidFill>
                              <a:schemeClr val="bg2">
                                <a:lumMod val="50000"/>
                              </a:schemeClr>
                            </a:solidFill>
                            <a:effectLst/>
                            <a:uLnTx/>
                            <a:uFillTx/>
                            <a:latin typeface="Cambria Math" panose="02040503050406030204" pitchFamily="18" charset="0"/>
                            <a:ea typeface="游ゴシック" panose="020B0400000000000000" pitchFamily="34" charset="-128"/>
                            <a:cs typeface="+mn-cs"/>
                          </a:rPr>
                        </m:ctrlPr>
                      </m:dPr>
                      <m:e>
                        <m:r>
                          <a:rPr kumimoji="1" lang="en-NZ" altLang="ja-JP" sz="1800" b="1" i="1" u="none" strike="noStrike" kern="1200" cap="none" spc="0" normalizeH="0" baseline="0" noProof="0" smtClean="0">
                            <a:ln>
                              <a:noFill/>
                            </a:ln>
                            <a:solidFill>
                              <a:schemeClr val="bg2">
                                <a:lumMod val="50000"/>
                              </a:schemeClr>
                            </a:solidFill>
                            <a:effectLst/>
                            <a:uLnTx/>
                            <a:uFillTx/>
                            <a:latin typeface="Cambria Math" panose="02040503050406030204" pitchFamily="18" charset="0"/>
                            <a:ea typeface="游ゴシック" panose="020B0400000000000000" pitchFamily="34" charset="-128"/>
                            <a:cs typeface="+mn-cs"/>
                          </a:rPr>
                          <m:t>𝜶</m:t>
                        </m:r>
                      </m:e>
                    </m:d>
                    <m:r>
                      <a:rPr kumimoji="1" lang="en-NZ" altLang="ja-JP" sz="1800" b="1" i="1" u="none" strike="noStrike" kern="1200" cap="none" spc="0" normalizeH="0" baseline="0" noProof="0" smtClean="0">
                        <a:ln>
                          <a:noFill/>
                        </a:ln>
                        <a:solidFill>
                          <a:schemeClr val="bg2">
                            <a:lumMod val="50000"/>
                          </a:schemeClr>
                        </a:solidFill>
                        <a:effectLst/>
                        <a:uLnTx/>
                        <a:uFillTx/>
                        <a:latin typeface="Cambria Math" panose="02040503050406030204" pitchFamily="18" charset="0"/>
                        <a:ea typeface="游ゴシック" panose="020B0400000000000000" pitchFamily="34" charset="-128"/>
                        <a:cs typeface="+mn-cs"/>
                      </a:rPr>
                      <m:t>= </m:t>
                    </m:r>
                    <m:nary>
                      <m:naryPr>
                        <m:chr m:val="∑"/>
                        <m:ctrlPr>
                          <a:rPr kumimoji="1" lang="en-NZ" altLang="ja-JP" sz="1800" b="1" i="1" u="none" strike="noStrike" kern="1200" cap="none" spc="0" normalizeH="0" baseline="0" noProof="0" smtClean="0">
                            <a:ln>
                              <a:noFill/>
                            </a:ln>
                            <a:solidFill>
                              <a:schemeClr val="bg2">
                                <a:lumMod val="50000"/>
                              </a:schemeClr>
                            </a:solidFill>
                            <a:effectLst/>
                            <a:uLnTx/>
                            <a:uFillTx/>
                            <a:latin typeface="Cambria Math" panose="02040503050406030204" pitchFamily="18" charset="0"/>
                            <a:ea typeface="游ゴシック" panose="020B0400000000000000" pitchFamily="34" charset="-128"/>
                            <a:cs typeface="+mn-cs"/>
                          </a:rPr>
                        </m:ctrlPr>
                      </m:naryPr>
                      <m:sub>
                        <m:r>
                          <m:rPr>
                            <m:brk m:alnAt="23"/>
                          </m:rPr>
                          <a:rPr kumimoji="1" lang="en-NZ" altLang="ja-JP" sz="1800" b="1" i="1" u="none" strike="noStrike" kern="1200" cap="none" spc="0" normalizeH="0" baseline="0" noProof="0" smtClean="0">
                            <a:ln>
                              <a:noFill/>
                            </a:ln>
                            <a:solidFill>
                              <a:schemeClr val="bg2">
                                <a:lumMod val="50000"/>
                              </a:schemeClr>
                            </a:solidFill>
                            <a:effectLst/>
                            <a:uLnTx/>
                            <a:uFillTx/>
                            <a:latin typeface="Cambria Math" panose="02040503050406030204" pitchFamily="18" charset="0"/>
                            <a:ea typeface="游ゴシック" panose="020B0400000000000000" pitchFamily="34" charset="-128"/>
                            <a:cs typeface="+mn-cs"/>
                          </a:rPr>
                          <m:t>𝒊</m:t>
                        </m:r>
                        <m:r>
                          <a:rPr kumimoji="1" lang="en-NZ" altLang="ja-JP" sz="1800" b="1" i="1" u="none" strike="noStrike" kern="1200" cap="none" spc="0" normalizeH="0" baseline="0" noProof="0" smtClean="0">
                            <a:ln>
                              <a:noFill/>
                            </a:ln>
                            <a:solidFill>
                              <a:schemeClr val="bg2">
                                <a:lumMod val="50000"/>
                              </a:schemeClr>
                            </a:solidFill>
                            <a:effectLst/>
                            <a:uLnTx/>
                            <a:uFillTx/>
                            <a:latin typeface="Cambria Math" panose="02040503050406030204" pitchFamily="18" charset="0"/>
                            <a:ea typeface="游ゴシック" panose="020B0400000000000000" pitchFamily="34" charset="-128"/>
                            <a:cs typeface="+mn-cs"/>
                          </a:rPr>
                          <m:t>=</m:t>
                        </m:r>
                        <m:r>
                          <a:rPr kumimoji="1" lang="en-NZ" altLang="ja-JP" sz="1800" b="1" i="1" u="none" strike="noStrike" kern="1200" cap="none" spc="0" normalizeH="0" baseline="0" noProof="0" smtClean="0">
                            <a:ln>
                              <a:noFill/>
                            </a:ln>
                            <a:solidFill>
                              <a:schemeClr val="bg2">
                                <a:lumMod val="50000"/>
                              </a:schemeClr>
                            </a:solidFill>
                            <a:effectLst/>
                            <a:uLnTx/>
                            <a:uFillTx/>
                            <a:latin typeface="Cambria Math" panose="02040503050406030204" pitchFamily="18" charset="0"/>
                            <a:ea typeface="游ゴシック" panose="020B0400000000000000" pitchFamily="34" charset="-128"/>
                            <a:cs typeface="+mn-cs"/>
                          </a:rPr>
                          <m:t>𝟏</m:t>
                        </m:r>
                      </m:sub>
                      <m:sup>
                        <m:r>
                          <a:rPr kumimoji="1" lang="en-NZ" altLang="ja-JP" sz="1800" b="1" i="1" u="none" strike="noStrike" kern="1200" cap="none" spc="0" normalizeH="0" baseline="0" noProof="0" smtClean="0">
                            <a:ln>
                              <a:noFill/>
                            </a:ln>
                            <a:solidFill>
                              <a:schemeClr val="bg2">
                                <a:lumMod val="50000"/>
                              </a:schemeClr>
                            </a:solidFill>
                            <a:effectLst/>
                            <a:uLnTx/>
                            <a:uFillTx/>
                            <a:latin typeface="Cambria Math" panose="02040503050406030204" pitchFamily="18" charset="0"/>
                            <a:ea typeface="游ゴシック" panose="020B0400000000000000" pitchFamily="34" charset="-128"/>
                            <a:cs typeface="+mn-cs"/>
                          </a:rPr>
                          <m:t>𝒂</m:t>
                        </m:r>
                      </m:sup>
                      <m:e>
                        <m:f>
                          <m:fPr>
                            <m:ctrlPr>
                              <a:rPr kumimoji="1" lang="en-NZ" altLang="ja-JP" sz="1800" b="1" i="1" u="none" strike="noStrike" kern="1200" cap="none" spc="0" normalizeH="0" baseline="0" noProof="0" smtClean="0">
                                <a:ln>
                                  <a:noFill/>
                                </a:ln>
                                <a:solidFill>
                                  <a:schemeClr val="bg2">
                                    <a:lumMod val="50000"/>
                                  </a:schemeClr>
                                </a:solidFill>
                                <a:effectLst/>
                                <a:uLnTx/>
                                <a:uFillTx/>
                                <a:latin typeface="Cambria Math" panose="02040503050406030204" pitchFamily="18" charset="0"/>
                                <a:ea typeface="游ゴシック" panose="020B0400000000000000" pitchFamily="34" charset="-128"/>
                                <a:cs typeface="+mn-cs"/>
                              </a:rPr>
                            </m:ctrlPr>
                          </m:fPr>
                          <m:num>
                            <m:sSubSup>
                              <m:sSubSupPr>
                                <m:ctrlPr>
                                  <a:rPr kumimoji="1" lang="en-NZ" altLang="ja-JP" sz="1800" b="1" i="1" u="none" strike="noStrike" kern="1200" cap="none" spc="0" normalizeH="0" baseline="0" noProof="0" smtClean="0">
                                    <a:ln>
                                      <a:noFill/>
                                    </a:ln>
                                    <a:solidFill>
                                      <a:schemeClr val="bg2">
                                        <a:lumMod val="50000"/>
                                      </a:schemeClr>
                                    </a:solidFill>
                                    <a:effectLst/>
                                    <a:uLnTx/>
                                    <a:uFillTx/>
                                    <a:latin typeface="Cambria Math" panose="02040503050406030204" pitchFamily="18" charset="0"/>
                                    <a:ea typeface="游ゴシック" panose="020B0400000000000000" pitchFamily="34" charset="-128"/>
                                    <a:cs typeface="+mn-cs"/>
                                  </a:rPr>
                                </m:ctrlPr>
                              </m:sSubSupPr>
                              <m:e>
                                <m:r>
                                  <a:rPr kumimoji="1" lang="en-NZ" altLang="ja-JP" sz="1800" b="1" i="1" u="none" strike="noStrike" kern="1200" cap="none" spc="0" normalizeH="0" baseline="0" noProof="0" smtClean="0">
                                    <a:ln>
                                      <a:noFill/>
                                    </a:ln>
                                    <a:solidFill>
                                      <a:schemeClr val="bg2">
                                        <a:lumMod val="50000"/>
                                      </a:schemeClr>
                                    </a:solidFill>
                                    <a:effectLst/>
                                    <a:uLnTx/>
                                    <a:uFillTx/>
                                    <a:latin typeface="Cambria Math" panose="02040503050406030204" pitchFamily="18" charset="0"/>
                                    <a:ea typeface="游ゴシック" panose="020B0400000000000000" pitchFamily="34" charset="-128"/>
                                    <a:cs typeface="+mn-cs"/>
                                  </a:rPr>
                                  <m:t>𝜶</m:t>
                                </m:r>
                              </m:e>
                              <m:sub>
                                <m:r>
                                  <a:rPr kumimoji="1" lang="en-NZ" altLang="ja-JP" sz="1800" b="1" i="1" u="none" strike="noStrike" kern="1200" cap="none" spc="0" normalizeH="0" baseline="0" noProof="0" smtClean="0">
                                    <a:ln>
                                      <a:noFill/>
                                    </a:ln>
                                    <a:solidFill>
                                      <a:schemeClr val="bg2">
                                        <a:lumMod val="50000"/>
                                      </a:schemeClr>
                                    </a:solidFill>
                                    <a:effectLst/>
                                    <a:uLnTx/>
                                    <a:uFillTx/>
                                    <a:latin typeface="Cambria Math" panose="02040503050406030204" pitchFamily="18" charset="0"/>
                                    <a:ea typeface="游ゴシック" panose="020B0400000000000000" pitchFamily="34" charset="-128"/>
                                    <a:cs typeface="+mn-cs"/>
                                  </a:rPr>
                                  <m:t>𝒊</m:t>
                                </m:r>
                              </m:sub>
                              <m:sup>
                                <m:r>
                                  <a:rPr kumimoji="1" lang="en-NZ" altLang="ja-JP" sz="1800" b="1" i="1" u="none" strike="noStrike" kern="1200" cap="none" spc="0" normalizeH="0" baseline="0" noProof="0" smtClean="0">
                                    <a:ln>
                                      <a:noFill/>
                                    </a:ln>
                                    <a:solidFill>
                                      <a:schemeClr val="bg2">
                                        <a:lumMod val="50000"/>
                                      </a:schemeClr>
                                    </a:solidFill>
                                    <a:effectLst/>
                                    <a:uLnTx/>
                                    <a:uFillTx/>
                                    <a:latin typeface="Cambria Math" panose="02040503050406030204" pitchFamily="18" charset="0"/>
                                    <a:ea typeface="游ゴシック" panose="020B0400000000000000" pitchFamily="34" charset="-128"/>
                                    <a:cs typeface="+mn-cs"/>
                                  </a:rPr>
                                  <m:t>𝟐</m:t>
                                </m:r>
                              </m:sup>
                            </m:sSubSup>
                          </m:num>
                          <m:den>
                            <m:r>
                              <a:rPr kumimoji="1" lang="en-NZ" altLang="ja-JP" sz="1800" b="1" i="1" u="none" strike="noStrike" kern="1200" cap="none" spc="0" normalizeH="0" baseline="0" noProof="0" smtClean="0">
                                <a:ln>
                                  <a:noFill/>
                                </a:ln>
                                <a:solidFill>
                                  <a:schemeClr val="bg2">
                                    <a:lumMod val="50000"/>
                                  </a:schemeClr>
                                </a:solidFill>
                                <a:effectLst/>
                                <a:uLnTx/>
                                <a:uFillTx/>
                                <a:latin typeface="Cambria Math" panose="02040503050406030204" pitchFamily="18" charset="0"/>
                                <a:ea typeface="游ゴシック" panose="020B0400000000000000" pitchFamily="34" charset="-128"/>
                                <a:cs typeface="+mn-cs"/>
                              </a:rPr>
                              <m:t>𝒂</m:t>
                            </m:r>
                            <m:r>
                              <a:rPr kumimoji="1" lang="en-NZ" altLang="ja-JP" sz="1800" b="1" i="1" u="none" strike="noStrike" kern="1200" cap="none" spc="0" normalizeH="0" baseline="0" noProof="0" smtClean="0">
                                <a:ln>
                                  <a:noFill/>
                                </a:ln>
                                <a:solidFill>
                                  <a:schemeClr val="bg2">
                                    <a:lumMod val="50000"/>
                                  </a:schemeClr>
                                </a:solidFill>
                                <a:effectLst/>
                                <a:uLnTx/>
                                <a:uFillTx/>
                                <a:latin typeface="Cambria Math" panose="02040503050406030204" pitchFamily="18" charset="0"/>
                                <a:ea typeface="游ゴシック" panose="020B0400000000000000" pitchFamily="34" charset="-128"/>
                                <a:cs typeface="+mn-cs"/>
                              </a:rPr>
                              <m:t>−</m:t>
                            </m:r>
                            <m:r>
                              <a:rPr kumimoji="1" lang="en-NZ" altLang="ja-JP" sz="1800" b="1" i="1" u="none" strike="noStrike" kern="1200" cap="none" spc="0" normalizeH="0" baseline="0" noProof="0" smtClean="0">
                                <a:ln>
                                  <a:noFill/>
                                </a:ln>
                                <a:solidFill>
                                  <a:schemeClr val="bg2">
                                    <a:lumMod val="50000"/>
                                  </a:schemeClr>
                                </a:solidFill>
                                <a:effectLst/>
                                <a:uLnTx/>
                                <a:uFillTx/>
                                <a:latin typeface="Cambria Math" panose="02040503050406030204" pitchFamily="18" charset="0"/>
                                <a:ea typeface="游ゴシック" panose="020B0400000000000000" pitchFamily="34" charset="-128"/>
                                <a:cs typeface="+mn-cs"/>
                              </a:rPr>
                              <m:t>𝟏</m:t>
                            </m:r>
                          </m:den>
                        </m:f>
                      </m:e>
                    </m:nary>
                  </m:oMath>
                </a14:m>
                <a:endParaRPr kumimoji="1" lang="en-NZ" altLang="ja-JP" sz="1800" b="1" i="1" u="none" strike="noStrike" kern="1200" cap="none" spc="0" normalizeH="0" baseline="0" noProof="0" dirty="0">
                  <a:ln>
                    <a:noFill/>
                  </a:ln>
                  <a:solidFill>
                    <a:schemeClr val="bg2">
                      <a:lumMod val="50000"/>
                    </a:schemeClr>
                  </a:solidFill>
                  <a:effectLst/>
                  <a:uLnTx/>
                  <a:uFillTx/>
                  <a:latin typeface="Calibri" panose="020F0502020204030204"/>
                  <a:ea typeface="游ゴシック" panose="020B0400000000000000" pitchFamily="34" charset="-128"/>
                  <a:cs typeface="+mn-cs"/>
                </a:endParaRPr>
              </a:p>
            </p:txBody>
          </p:sp>
        </mc:Choice>
        <mc:Fallback xmlns="">
          <p:sp>
            <p:nvSpPr>
              <p:cNvPr id="20" name="Text Placeholder 5">
                <a:extLst>
                  <a:ext uri="{FF2B5EF4-FFF2-40B4-BE49-F238E27FC236}">
                    <a16:creationId xmlns:a16="http://schemas.microsoft.com/office/drawing/2014/main" id="{5339C500-3847-4D5C-B4AF-DD9D79E63B18}"/>
                  </a:ext>
                </a:extLst>
              </p:cNvPr>
              <p:cNvSpPr txBox="1">
                <a:spLocks noRot="1" noChangeAspect="1" noMove="1" noResize="1" noEditPoints="1" noAdjustHandles="1" noChangeArrowheads="1" noChangeShapeType="1" noTextEdit="1"/>
              </p:cNvSpPr>
              <p:nvPr/>
            </p:nvSpPr>
            <p:spPr>
              <a:xfrm>
                <a:off x="7057963" y="3225806"/>
                <a:ext cx="3080745" cy="675343"/>
              </a:xfrm>
              <a:prstGeom prst="rect">
                <a:avLst/>
              </a:prstGeom>
              <a:blipFill>
                <a:blip r:embed="rId6"/>
                <a:stretch>
                  <a:fillRect l="-1782"/>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22" name="Text Placeholder 5">
                <a:extLst>
                  <a:ext uri="{FF2B5EF4-FFF2-40B4-BE49-F238E27FC236}">
                    <a16:creationId xmlns:a16="http://schemas.microsoft.com/office/drawing/2014/main" id="{1DA73B19-4F82-C9B6-C15F-ADC56FEFB721}"/>
                  </a:ext>
                </a:extLst>
              </p:cNvPr>
              <p:cNvSpPr txBox="1">
                <a:spLocks/>
              </p:cNvSpPr>
              <p:nvPr/>
            </p:nvSpPr>
            <p:spPr>
              <a:xfrm>
                <a:off x="202154" y="4258093"/>
                <a:ext cx="10989010" cy="41823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1600" dirty="0">
                    <a:solidFill>
                      <a:schemeClr val="tx1"/>
                    </a:solidFill>
                  </a:rPr>
                  <a:t>On the one hand  if </a:t>
                </a:r>
                <a:r>
                  <a:rPr lang="en-NZ" altLang="ja-JP" sz="1600" b="1" i="1" dirty="0">
                    <a:solidFill>
                      <a:schemeClr val="tx1"/>
                    </a:solidFill>
                  </a:rPr>
                  <a:t>H</a:t>
                </a:r>
                <a:r>
                  <a:rPr lang="en-NZ" altLang="ja-JP" sz="1600" b="1" i="1" baseline="-25000" dirty="0">
                    <a:solidFill>
                      <a:schemeClr val="tx1"/>
                    </a:solidFill>
                  </a:rPr>
                  <a:t>0</a:t>
                </a:r>
                <a:r>
                  <a:rPr lang="en-NZ" altLang="ja-JP" sz="1600" dirty="0">
                    <a:solidFill>
                      <a:schemeClr val="tx1"/>
                    </a:solidFill>
                  </a:rPr>
                  <a:t> is true        =&gt;      </a:t>
                </a:r>
                <a14:m>
                  <m:oMath xmlns:m="http://schemas.openxmlformats.org/officeDocument/2006/math">
                    <m:sSub>
                      <m:sSubPr>
                        <m:ctrlPr>
                          <a:rPr lang="en-NZ" altLang="ja-JP" sz="1600" b="1" i="1" smtClean="0">
                            <a:solidFill>
                              <a:schemeClr val="tx1"/>
                            </a:solidFill>
                            <a:latin typeface="Cambria Math" panose="02040503050406030204" pitchFamily="18" charset="0"/>
                          </a:rPr>
                        </m:ctrlPr>
                      </m:sSubPr>
                      <m:e>
                        <m:r>
                          <a:rPr lang="en-NZ" altLang="ja-JP" sz="1600" b="1" i="1" smtClean="0">
                            <a:solidFill>
                              <a:schemeClr val="tx1"/>
                            </a:solidFill>
                            <a:latin typeface="Cambria Math" panose="02040503050406030204" pitchFamily="18" charset="0"/>
                          </a:rPr>
                          <m:t>𝜶</m:t>
                        </m:r>
                      </m:e>
                      <m:sub>
                        <m:r>
                          <a:rPr lang="en-NZ" altLang="ja-JP" sz="1600" b="1" i="1" smtClean="0">
                            <a:solidFill>
                              <a:schemeClr val="tx1"/>
                            </a:solidFill>
                            <a:latin typeface="Cambria Math" panose="02040503050406030204" pitchFamily="18" charset="0"/>
                          </a:rPr>
                          <m:t>𝒊</m:t>
                        </m:r>
                      </m:sub>
                    </m:sSub>
                    <m:r>
                      <a:rPr lang="en-NZ" altLang="ja-JP" sz="1600" b="1" i="1" smtClean="0">
                        <a:solidFill>
                          <a:schemeClr val="tx1"/>
                        </a:solidFill>
                        <a:latin typeface="Cambria Math" panose="02040503050406030204" pitchFamily="18" charset="0"/>
                      </a:rPr>
                      <m:t> =  </m:t>
                    </m:r>
                    <m:r>
                      <a:rPr lang="en-NZ" altLang="ja-JP" sz="1600" b="1" i="1" smtClean="0">
                        <a:solidFill>
                          <a:schemeClr val="tx1"/>
                        </a:solidFill>
                        <a:latin typeface="Cambria Math" panose="02040503050406030204" pitchFamily="18" charset="0"/>
                      </a:rPr>
                      <m:t>𝟎</m:t>
                    </m:r>
                    <m:r>
                      <a:rPr lang="en-NZ" altLang="ja-JP" sz="1600" b="1" i="1" smtClean="0">
                        <a:solidFill>
                          <a:schemeClr val="tx1"/>
                        </a:solidFill>
                        <a:latin typeface="Cambria Math" panose="02040503050406030204" pitchFamily="18" charset="0"/>
                      </a:rPr>
                      <m:t>  ∀ </m:t>
                    </m:r>
                    <m:r>
                      <a:rPr lang="en-NZ" altLang="ja-JP" sz="1600" b="1" i="1" smtClean="0">
                        <a:solidFill>
                          <a:schemeClr val="tx1"/>
                        </a:solidFill>
                        <a:latin typeface="Cambria Math" panose="02040503050406030204" pitchFamily="18" charset="0"/>
                      </a:rPr>
                      <m:t>𝒊</m:t>
                    </m:r>
                    <m:r>
                      <a:rPr lang="en-NZ" altLang="ja-JP" sz="1600" b="1" i="1" smtClean="0">
                        <a:solidFill>
                          <a:schemeClr val="tx1"/>
                        </a:solidFill>
                        <a:latin typeface="Cambria Math" panose="02040503050406030204" pitchFamily="18" charset="0"/>
                      </a:rPr>
                      <m:t>=</m:t>
                    </m:r>
                    <m:r>
                      <a:rPr lang="en-NZ" altLang="ja-JP" sz="1600" b="1" i="1" smtClean="0">
                        <a:solidFill>
                          <a:schemeClr val="tx1"/>
                        </a:solidFill>
                        <a:latin typeface="Cambria Math" panose="02040503050406030204" pitchFamily="18" charset="0"/>
                      </a:rPr>
                      <m:t>𝟏</m:t>
                    </m:r>
                    <m:r>
                      <a:rPr lang="en-NZ" altLang="ja-JP" sz="1600" b="1" i="1" smtClean="0">
                        <a:solidFill>
                          <a:schemeClr val="tx1"/>
                        </a:solidFill>
                        <a:latin typeface="Cambria Math" panose="02040503050406030204" pitchFamily="18" charset="0"/>
                      </a:rPr>
                      <m:t>, …, </m:t>
                    </m:r>
                    <m:r>
                      <a:rPr lang="en-NZ" altLang="ja-JP" sz="1600" b="1" i="1" smtClean="0">
                        <a:solidFill>
                          <a:schemeClr val="tx1"/>
                        </a:solidFill>
                        <a:latin typeface="Cambria Math" panose="02040503050406030204" pitchFamily="18" charset="0"/>
                      </a:rPr>
                      <m:t>𝒂</m:t>
                    </m:r>
                  </m:oMath>
                </a14:m>
                <a:r>
                  <a:rPr lang="en-NZ" altLang="ja-JP" sz="1600" b="1" dirty="0">
                    <a:solidFill>
                      <a:schemeClr val="tx1"/>
                    </a:solidFill>
                  </a:rPr>
                  <a:t>       </a:t>
                </a:r>
                <a:r>
                  <a:rPr lang="en-NZ" altLang="ja-JP" sz="1600" dirty="0">
                    <a:solidFill>
                      <a:schemeClr val="tx1"/>
                    </a:solidFill>
                  </a:rPr>
                  <a:t>=&gt;</a:t>
                </a:r>
                <a:r>
                  <a:rPr lang="en-NZ" altLang="ja-JP" sz="1600" b="1" dirty="0">
                    <a:solidFill>
                      <a:schemeClr val="tx1"/>
                    </a:solidFill>
                  </a:rPr>
                  <a:t>       </a:t>
                </a:r>
                <a14:m>
                  <m:oMath xmlns:m="http://schemas.openxmlformats.org/officeDocument/2006/math">
                    <m:r>
                      <a:rPr lang="en-NZ" altLang="ja-JP" sz="1600" b="1" i="1" smtClean="0">
                        <a:solidFill>
                          <a:schemeClr val="tx1"/>
                        </a:solidFill>
                        <a:latin typeface="Cambria Math" panose="02040503050406030204" pitchFamily="18" charset="0"/>
                      </a:rPr>
                      <m:t>𝒗</m:t>
                    </m:r>
                    <m:d>
                      <m:dPr>
                        <m:ctrlPr>
                          <a:rPr lang="en-NZ" altLang="ja-JP" sz="1600" b="1" i="1" smtClean="0">
                            <a:solidFill>
                              <a:schemeClr val="tx1"/>
                            </a:solidFill>
                            <a:latin typeface="Cambria Math" panose="02040503050406030204" pitchFamily="18" charset="0"/>
                          </a:rPr>
                        </m:ctrlPr>
                      </m:dPr>
                      <m:e>
                        <m:r>
                          <a:rPr lang="en-NZ" altLang="ja-JP" sz="1600" b="1" i="1" smtClean="0">
                            <a:solidFill>
                              <a:schemeClr val="tx1"/>
                            </a:solidFill>
                            <a:latin typeface="Cambria Math" panose="02040503050406030204" pitchFamily="18" charset="0"/>
                          </a:rPr>
                          <m:t>𝜶</m:t>
                        </m:r>
                      </m:e>
                    </m:d>
                    <m:r>
                      <a:rPr lang="en-NZ" altLang="ja-JP" sz="1600" b="1" i="1" smtClean="0">
                        <a:solidFill>
                          <a:schemeClr val="tx1"/>
                        </a:solidFill>
                        <a:latin typeface="Cambria Math" panose="02040503050406030204" pitchFamily="18" charset="0"/>
                      </a:rPr>
                      <m:t>=</m:t>
                    </m:r>
                    <m:r>
                      <a:rPr lang="en-NZ" altLang="ja-JP" sz="1600" b="1" i="1" smtClean="0">
                        <a:solidFill>
                          <a:schemeClr val="tx1"/>
                        </a:solidFill>
                        <a:latin typeface="Cambria Math" panose="02040503050406030204" pitchFamily="18" charset="0"/>
                      </a:rPr>
                      <m:t>𝟎</m:t>
                    </m:r>
                  </m:oMath>
                </a14:m>
                <a:r>
                  <a:rPr lang="en-NZ" altLang="ja-JP" sz="1600" b="1" dirty="0">
                    <a:solidFill>
                      <a:schemeClr val="tx1"/>
                    </a:solidFill>
                  </a:rPr>
                  <a:t>       </a:t>
                </a:r>
                <a:r>
                  <a:rPr lang="en-NZ" altLang="ja-JP" sz="1600" dirty="0">
                    <a:solidFill>
                      <a:schemeClr val="tx1"/>
                    </a:solidFill>
                  </a:rPr>
                  <a:t>=&gt;      </a:t>
                </a:r>
                <a14:m>
                  <m:oMath xmlns:m="http://schemas.openxmlformats.org/officeDocument/2006/math">
                    <m:r>
                      <a:rPr lang="en-NZ" altLang="ja-JP" sz="1600" b="1" i="1" smtClean="0">
                        <a:solidFill>
                          <a:schemeClr val="tx1"/>
                        </a:solidFill>
                        <a:latin typeface="Cambria Math" panose="02040503050406030204" pitchFamily="18" charset="0"/>
                      </a:rPr>
                      <m:t>𝑬</m:t>
                    </m:r>
                    <m:r>
                      <a:rPr lang="en-NZ" altLang="ja-JP" sz="1600" b="1" i="1" smtClean="0">
                        <a:solidFill>
                          <a:schemeClr val="tx1"/>
                        </a:solidFill>
                        <a:latin typeface="Cambria Math" panose="02040503050406030204" pitchFamily="18" charset="0"/>
                      </a:rPr>
                      <m:t> </m:t>
                    </m:r>
                    <m:d>
                      <m:dPr>
                        <m:begChr m:val="["/>
                        <m:endChr m:val="]"/>
                        <m:ctrlPr>
                          <a:rPr lang="en-NZ" altLang="ja-JP" sz="1600" b="1" i="1" smtClean="0">
                            <a:solidFill>
                              <a:schemeClr val="tx1"/>
                            </a:solidFill>
                            <a:latin typeface="Cambria Math" panose="02040503050406030204" pitchFamily="18" charset="0"/>
                          </a:rPr>
                        </m:ctrlPr>
                      </m:dPr>
                      <m:e>
                        <m:r>
                          <a:rPr lang="en-NZ" altLang="ja-JP" sz="1600" b="1" i="1" smtClean="0">
                            <a:solidFill>
                              <a:schemeClr val="tx1"/>
                            </a:solidFill>
                            <a:latin typeface="Cambria Math" panose="02040503050406030204" pitchFamily="18" charset="0"/>
                          </a:rPr>
                          <m:t> </m:t>
                        </m:r>
                        <m:r>
                          <a:rPr lang="en-NZ" altLang="ja-JP" sz="1600" b="1" i="1" smtClean="0">
                            <a:solidFill>
                              <a:schemeClr val="tx1"/>
                            </a:solidFill>
                            <a:latin typeface="Cambria Math" panose="02040503050406030204" pitchFamily="18" charset="0"/>
                          </a:rPr>
                          <m:t>𝑭</m:t>
                        </m:r>
                        <m:r>
                          <a:rPr lang="en-NZ" altLang="ja-JP" sz="1600" b="1" i="1" smtClean="0">
                            <a:solidFill>
                              <a:schemeClr val="tx1"/>
                            </a:solidFill>
                            <a:latin typeface="Cambria Math" panose="02040503050406030204" pitchFamily="18" charset="0"/>
                          </a:rPr>
                          <m:t> </m:t>
                        </m:r>
                      </m:e>
                    </m:d>
                    <m:r>
                      <a:rPr lang="en-NZ" altLang="ja-JP" sz="1600" b="1" i="1" smtClean="0">
                        <a:solidFill>
                          <a:schemeClr val="tx1"/>
                        </a:solidFill>
                        <a:latin typeface="Cambria Math" panose="02040503050406030204" pitchFamily="18" charset="0"/>
                        <a:ea typeface="Cambria Math" panose="02040503050406030204" pitchFamily="18" charset="0"/>
                      </a:rPr>
                      <m:t>≈</m:t>
                    </m:r>
                    <m:r>
                      <a:rPr lang="en-NZ" altLang="ja-JP" sz="1600" b="1" i="1" smtClean="0">
                        <a:solidFill>
                          <a:schemeClr val="tx1"/>
                        </a:solidFill>
                        <a:latin typeface="Cambria Math" panose="02040503050406030204" pitchFamily="18" charset="0"/>
                      </a:rPr>
                      <m:t>  </m:t>
                    </m:r>
                    <m:r>
                      <a:rPr lang="en-NZ" altLang="ja-JP" sz="1600" b="1" i="1" smtClean="0">
                        <a:solidFill>
                          <a:schemeClr val="tx1"/>
                        </a:solidFill>
                        <a:latin typeface="Cambria Math" panose="02040503050406030204" pitchFamily="18" charset="0"/>
                      </a:rPr>
                      <m:t>𝟏</m:t>
                    </m:r>
                  </m:oMath>
                </a14:m>
                <a:r>
                  <a:rPr lang="en-NZ" altLang="ja-JP" sz="1600" b="1" i="1" dirty="0">
                    <a:solidFill>
                      <a:schemeClr val="tx1"/>
                    </a:solidFill>
                  </a:rPr>
                  <a:t>   </a:t>
                </a:r>
              </a:p>
              <a:p>
                <a:pPr algn="just">
                  <a:lnSpc>
                    <a:spcPct val="100000"/>
                  </a:lnSpc>
                </a:pPr>
                <a:endParaRPr lang="en-NZ" altLang="ja-JP" sz="1600" dirty="0">
                  <a:solidFill>
                    <a:schemeClr val="tx1"/>
                  </a:solidFill>
                </a:endParaRPr>
              </a:p>
            </p:txBody>
          </p:sp>
        </mc:Choice>
        <mc:Fallback xmlns="">
          <p:sp>
            <p:nvSpPr>
              <p:cNvPr id="22" name="Text Placeholder 5">
                <a:extLst>
                  <a:ext uri="{FF2B5EF4-FFF2-40B4-BE49-F238E27FC236}">
                    <a16:creationId xmlns:a16="http://schemas.microsoft.com/office/drawing/2014/main" id="{1DA73B19-4F82-C9B6-C15F-ADC56FEFB721}"/>
                  </a:ext>
                </a:extLst>
              </p:cNvPr>
              <p:cNvSpPr txBox="1">
                <a:spLocks noRot="1" noChangeAspect="1" noMove="1" noResize="1" noEditPoints="1" noAdjustHandles="1" noChangeArrowheads="1" noChangeShapeType="1" noTextEdit="1"/>
              </p:cNvSpPr>
              <p:nvPr/>
            </p:nvSpPr>
            <p:spPr>
              <a:xfrm>
                <a:off x="202154" y="4258093"/>
                <a:ext cx="10989010" cy="418233"/>
              </a:xfrm>
              <a:prstGeom prst="rect">
                <a:avLst/>
              </a:prstGeom>
              <a:blipFill>
                <a:blip r:embed="rId7"/>
                <a:stretch>
                  <a:fillRect l="-277" t="-4412"/>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28" name="Text Placeholder 5">
                <a:extLst>
                  <a:ext uri="{FF2B5EF4-FFF2-40B4-BE49-F238E27FC236}">
                    <a16:creationId xmlns:a16="http://schemas.microsoft.com/office/drawing/2014/main" id="{A9D99294-3630-383B-EA60-A4D10BBB393F}"/>
                  </a:ext>
                </a:extLst>
              </p:cNvPr>
              <p:cNvSpPr txBox="1">
                <a:spLocks/>
              </p:cNvSpPr>
              <p:nvPr/>
            </p:nvSpPr>
            <p:spPr>
              <a:xfrm>
                <a:off x="202153" y="4607609"/>
                <a:ext cx="11421893" cy="41823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1600" dirty="0">
                    <a:solidFill>
                      <a:schemeClr val="tx1"/>
                    </a:solidFill>
                  </a:rPr>
                  <a:t>On the other hand if </a:t>
                </a:r>
                <a:r>
                  <a:rPr lang="en-NZ" altLang="ja-JP" sz="1600" b="1" i="1" dirty="0">
                    <a:solidFill>
                      <a:schemeClr val="tx1"/>
                    </a:solidFill>
                  </a:rPr>
                  <a:t>H</a:t>
                </a:r>
                <a:r>
                  <a:rPr lang="en-NZ" altLang="ja-JP" sz="1600" b="1" i="1" baseline="-25000" dirty="0">
                    <a:solidFill>
                      <a:schemeClr val="tx1"/>
                    </a:solidFill>
                  </a:rPr>
                  <a:t>1</a:t>
                </a:r>
                <a:r>
                  <a:rPr lang="en-NZ" altLang="ja-JP" sz="1600" dirty="0">
                    <a:solidFill>
                      <a:schemeClr val="tx1"/>
                    </a:solidFill>
                  </a:rPr>
                  <a:t> is true      =&gt;      </a:t>
                </a:r>
                <a14:m>
                  <m:oMath xmlns:m="http://schemas.openxmlformats.org/officeDocument/2006/math">
                    <m:sSub>
                      <m:sSubPr>
                        <m:ctrlPr>
                          <a:rPr lang="en-NZ" altLang="ja-JP" sz="1600" b="1" i="1" smtClean="0">
                            <a:solidFill>
                              <a:schemeClr val="tx1"/>
                            </a:solidFill>
                            <a:latin typeface="Cambria Math" panose="02040503050406030204" pitchFamily="18" charset="0"/>
                          </a:rPr>
                        </m:ctrlPr>
                      </m:sSubPr>
                      <m:e>
                        <m:r>
                          <a:rPr lang="en-NZ" altLang="ja-JP" sz="1600" b="1" i="1" smtClean="0">
                            <a:solidFill>
                              <a:schemeClr val="tx1"/>
                            </a:solidFill>
                            <a:latin typeface="Cambria Math" panose="02040503050406030204" pitchFamily="18" charset="0"/>
                          </a:rPr>
                          <m:t>𝜶</m:t>
                        </m:r>
                      </m:e>
                      <m:sub>
                        <m:r>
                          <a:rPr lang="en-NZ" altLang="ja-JP" sz="1600" b="1" i="1" smtClean="0">
                            <a:solidFill>
                              <a:schemeClr val="tx1"/>
                            </a:solidFill>
                            <a:latin typeface="Cambria Math" panose="02040503050406030204" pitchFamily="18" charset="0"/>
                          </a:rPr>
                          <m:t>𝒊</m:t>
                        </m:r>
                      </m:sub>
                    </m:sSub>
                    <m:r>
                      <a:rPr lang="en-NZ" altLang="ja-JP" sz="1600" b="1" i="1" smtClean="0">
                        <a:solidFill>
                          <a:schemeClr val="tx1"/>
                        </a:solidFill>
                        <a:latin typeface="Cambria Math" panose="02040503050406030204" pitchFamily="18" charset="0"/>
                      </a:rPr>
                      <m:t>≠ </m:t>
                    </m:r>
                    <m:r>
                      <a:rPr lang="en-NZ" altLang="ja-JP" sz="1600" b="1" i="1" smtClean="0">
                        <a:solidFill>
                          <a:schemeClr val="tx1"/>
                        </a:solidFill>
                        <a:latin typeface="Cambria Math" panose="02040503050406030204" pitchFamily="18" charset="0"/>
                      </a:rPr>
                      <m:t>𝟎</m:t>
                    </m:r>
                    <m:r>
                      <a:rPr lang="en-NZ" altLang="ja-JP" sz="1600" b="1" i="1" smtClean="0">
                        <a:solidFill>
                          <a:schemeClr val="tx1"/>
                        </a:solidFill>
                        <a:latin typeface="Cambria Math" panose="02040503050406030204" pitchFamily="18" charset="0"/>
                      </a:rPr>
                      <m:t>  </m:t>
                    </m:r>
                  </m:oMath>
                </a14:m>
                <a:r>
                  <a:rPr lang="en-NZ" altLang="ja-JP" sz="1600" dirty="0">
                    <a:solidFill>
                      <a:schemeClr val="tx1"/>
                    </a:solidFill>
                  </a:rPr>
                  <a:t>for some </a:t>
                </a:r>
                <a:r>
                  <a:rPr lang="en-NZ" altLang="ja-JP" sz="1600" dirty="0" err="1">
                    <a:solidFill>
                      <a:schemeClr val="tx1"/>
                    </a:solidFill>
                  </a:rPr>
                  <a:t>i</a:t>
                </a:r>
                <a:r>
                  <a:rPr lang="en-NZ" altLang="ja-JP" sz="1600" b="1" dirty="0">
                    <a:solidFill>
                      <a:schemeClr val="tx1"/>
                    </a:solidFill>
                  </a:rPr>
                  <a:t>              </a:t>
                </a:r>
                <a:r>
                  <a:rPr lang="en-NZ" altLang="ja-JP" sz="1600" dirty="0">
                    <a:solidFill>
                      <a:schemeClr val="tx1"/>
                    </a:solidFill>
                  </a:rPr>
                  <a:t>=&gt;</a:t>
                </a:r>
                <a:r>
                  <a:rPr lang="en-NZ" altLang="ja-JP" sz="1600" b="1" dirty="0">
                    <a:solidFill>
                      <a:schemeClr val="tx1"/>
                    </a:solidFill>
                  </a:rPr>
                  <a:t>       </a:t>
                </a:r>
                <a14:m>
                  <m:oMath xmlns:m="http://schemas.openxmlformats.org/officeDocument/2006/math">
                    <m:r>
                      <a:rPr lang="en-NZ" altLang="ja-JP" sz="1600" b="1" i="1" smtClean="0">
                        <a:solidFill>
                          <a:schemeClr val="tx1"/>
                        </a:solidFill>
                        <a:latin typeface="Cambria Math" panose="02040503050406030204" pitchFamily="18" charset="0"/>
                      </a:rPr>
                      <m:t>𝒗</m:t>
                    </m:r>
                    <m:d>
                      <m:dPr>
                        <m:ctrlPr>
                          <a:rPr lang="en-NZ" altLang="ja-JP" sz="1600" b="1" i="1" smtClean="0">
                            <a:solidFill>
                              <a:schemeClr val="tx1"/>
                            </a:solidFill>
                            <a:latin typeface="Cambria Math" panose="02040503050406030204" pitchFamily="18" charset="0"/>
                          </a:rPr>
                        </m:ctrlPr>
                      </m:dPr>
                      <m:e>
                        <m:r>
                          <a:rPr lang="en-NZ" altLang="ja-JP" sz="1600" b="1" i="1" smtClean="0">
                            <a:solidFill>
                              <a:schemeClr val="tx1"/>
                            </a:solidFill>
                            <a:latin typeface="Cambria Math" panose="02040503050406030204" pitchFamily="18" charset="0"/>
                          </a:rPr>
                          <m:t>𝜶</m:t>
                        </m:r>
                      </m:e>
                    </m:d>
                    <m:r>
                      <a:rPr lang="en-NZ" altLang="ja-JP" sz="1600" b="1" i="1" smtClean="0">
                        <a:solidFill>
                          <a:schemeClr val="tx1"/>
                        </a:solidFill>
                        <a:latin typeface="Cambria Math" panose="02040503050406030204" pitchFamily="18" charset="0"/>
                      </a:rPr>
                      <m:t>&gt;</m:t>
                    </m:r>
                    <m:r>
                      <a:rPr lang="en-NZ" altLang="ja-JP" sz="1600" b="1" i="1" smtClean="0">
                        <a:solidFill>
                          <a:schemeClr val="tx1"/>
                        </a:solidFill>
                        <a:latin typeface="Cambria Math" panose="02040503050406030204" pitchFamily="18" charset="0"/>
                      </a:rPr>
                      <m:t>𝟎</m:t>
                    </m:r>
                  </m:oMath>
                </a14:m>
                <a:r>
                  <a:rPr lang="en-NZ" altLang="ja-JP" sz="1600" b="1" dirty="0">
                    <a:solidFill>
                      <a:schemeClr val="tx1"/>
                    </a:solidFill>
                  </a:rPr>
                  <a:t>        </a:t>
                </a:r>
                <a:r>
                  <a:rPr lang="en-NZ" altLang="ja-JP" sz="1600" dirty="0">
                    <a:solidFill>
                      <a:schemeClr val="tx1"/>
                    </a:solidFill>
                  </a:rPr>
                  <a:t>=&gt;      </a:t>
                </a:r>
                <a14:m>
                  <m:oMath xmlns:m="http://schemas.openxmlformats.org/officeDocument/2006/math">
                    <m:r>
                      <a:rPr lang="en-NZ" altLang="ja-JP" sz="1600" b="1" i="1" smtClean="0">
                        <a:solidFill>
                          <a:schemeClr val="tx1"/>
                        </a:solidFill>
                        <a:latin typeface="Cambria Math" panose="02040503050406030204" pitchFamily="18" charset="0"/>
                      </a:rPr>
                      <m:t>𝑬</m:t>
                    </m:r>
                    <m:r>
                      <a:rPr lang="en-NZ" altLang="ja-JP" sz="1600" b="1" i="1" smtClean="0">
                        <a:solidFill>
                          <a:schemeClr val="tx1"/>
                        </a:solidFill>
                        <a:latin typeface="Cambria Math" panose="02040503050406030204" pitchFamily="18" charset="0"/>
                      </a:rPr>
                      <m:t> </m:t>
                    </m:r>
                    <m:d>
                      <m:dPr>
                        <m:begChr m:val="["/>
                        <m:endChr m:val="]"/>
                        <m:ctrlPr>
                          <a:rPr lang="en-NZ" altLang="ja-JP" sz="1600" b="1" i="1" smtClean="0">
                            <a:solidFill>
                              <a:schemeClr val="tx1"/>
                            </a:solidFill>
                            <a:latin typeface="Cambria Math" panose="02040503050406030204" pitchFamily="18" charset="0"/>
                          </a:rPr>
                        </m:ctrlPr>
                      </m:dPr>
                      <m:e>
                        <m:r>
                          <a:rPr lang="en-NZ" altLang="ja-JP" sz="1600" b="1" i="1" smtClean="0">
                            <a:solidFill>
                              <a:schemeClr val="tx1"/>
                            </a:solidFill>
                            <a:latin typeface="Cambria Math" panose="02040503050406030204" pitchFamily="18" charset="0"/>
                          </a:rPr>
                          <m:t> </m:t>
                        </m:r>
                        <m:r>
                          <a:rPr lang="en-NZ" altLang="ja-JP" sz="1600" b="1" i="1" smtClean="0">
                            <a:solidFill>
                              <a:schemeClr val="tx1"/>
                            </a:solidFill>
                            <a:latin typeface="Cambria Math" panose="02040503050406030204" pitchFamily="18" charset="0"/>
                          </a:rPr>
                          <m:t>𝑭</m:t>
                        </m:r>
                        <m:r>
                          <a:rPr lang="en-NZ" altLang="ja-JP" sz="1600" b="1" i="1" smtClean="0">
                            <a:solidFill>
                              <a:schemeClr val="tx1"/>
                            </a:solidFill>
                            <a:latin typeface="Cambria Math" panose="02040503050406030204" pitchFamily="18" charset="0"/>
                          </a:rPr>
                          <m:t> </m:t>
                        </m:r>
                      </m:e>
                    </m:d>
                    <m:r>
                      <a:rPr lang="en-NZ" altLang="ja-JP" sz="1600" b="1" i="1" smtClean="0">
                        <a:solidFill>
                          <a:schemeClr val="tx1"/>
                        </a:solidFill>
                        <a:latin typeface="Cambria Math" panose="02040503050406030204" pitchFamily="18" charset="0"/>
                      </a:rPr>
                      <m:t>&gt;  </m:t>
                    </m:r>
                    <m:r>
                      <a:rPr lang="en-NZ" altLang="ja-JP" sz="1600" b="1" i="1" smtClean="0">
                        <a:solidFill>
                          <a:schemeClr val="tx1"/>
                        </a:solidFill>
                        <a:latin typeface="Cambria Math" panose="02040503050406030204" pitchFamily="18" charset="0"/>
                      </a:rPr>
                      <m:t>𝟏</m:t>
                    </m:r>
                  </m:oMath>
                </a14:m>
                <a:r>
                  <a:rPr lang="en-NZ" altLang="ja-JP" sz="1600" b="1" i="1" dirty="0">
                    <a:solidFill>
                      <a:schemeClr val="tx1"/>
                    </a:solidFill>
                  </a:rPr>
                  <a:t>   </a:t>
                </a:r>
              </a:p>
              <a:p>
                <a:pPr algn="just">
                  <a:lnSpc>
                    <a:spcPct val="100000"/>
                  </a:lnSpc>
                </a:pPr>
                <a:endParaRPr lang="en-NZ" altLang="ja-JP" sz="1600" dirty="0">
                  <a:solidFill>
                    <a:schemeClr val="tx1"/>
                  </a:solidFill>
                </a:endParaRPr>
              </a:p>
            </p:txBody>
          </p:sp>
        </mc:Choice>
        <mc:Fallback xmlns="">
          <p:sp>
            <p:nvSpPr>
              <p:cNvPr id="28" name="Text Placeholder 5">
                <a:extLst>
                  <a:ext uri="{FF2B5EF4-FFF2-40B4-BE49-F238E27FC236}">
                    <a16:creationId xmlns:a16="http://schemas.microsoft.com/office/drawing/2014/main" id="{A9D99294-3630-383B-EA60-A4D10BBB393F}"/>
                  </a:ext>
                </a:extLst>
              </p:cNvPr>
              <p:cNvSpPr txBox="1">
                <a:spLocks noRot="1" noChangeAspect="1" noMove="1" noResize="1" noEditPoints="1" noAdjustHandles="1" noChangeArrowheads="1" noChangeShapeType="1" noTextEdit="1"/>
              </p:cNvSpPr>
              <p:nvPr/>
            </p:nvSpPr>
            <p:spPr>
              <a:xfrm>
                <a:off x="202153" y="4607609"/>
                <a:ext cx="11421893" cy="418233"/>
              </a:xfrm>
              <a:prstGeom prst="rect">
                <a:avLst/>
              </a:prstGeom>
              <a:blipFill>
                <a:blip r:embed="rId8"/>
                <a:stretch>
                  <a:fillRect l="-267" t="-4412"/>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30" name="Text Placeholder 5">
                <a:extLst>
                  <a:ext uri="{FF2B5EF4-FFF2-40B4-BE49-F238E27FC236}">
                    <a16:creationId xmlns:a16="http://schemas.microsoft.com/office/drawing/2014/main" id="{4E99FB4B-33C5-6DE8-183F-900626DA577B}"/>
                  </a:ext>
                </a:extLst>
              </p:cNvPr>
              <p:cNvSpPr txBox="1">
                <a:spLocks/>
              </p:cNvSpPr>
              <p:nvPr/>
            </p:nvSpPr>
            <p:spPr>
              <a:xfrm>
                <a:off x="202151" y="5406505"/>
                <a:ext cx="7235880" cy="41823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1600" dirty="0">
                    <a:solidFill>
                      <a:schemeClr val="tx1"/>
                    </a:solidFill>
                  </a:rPr>
                  <a:t>If the usual ANOVA conditions of independence, normality and constant variance hold then </a:t>
                </a:r>
                <a14:m>
                  <m:oMath xmlns:m="http://schemas.openxmlformats.org/officeDocument/2006/math">
                    <m:r>
                      <a:rPr lang="en-NZ" altLang="ja-JP" sz="1600" b="1" i="1" smtClean="0">
                        <a:solidFill>
                          <a:schemeClr val="tx1"/>
                        </a:solidFill>
                        <a:latin typeface="Cambria Math" panose="02040503050406030204" pitchFamily="18" charset="0"/>
                      </a:rPr>
                      <m:t>𝑭</m:t>
                    </m:r>
                    <m:r>
                      <a:rPr lang="en-NZ" altLang="ja-JP" sz="1600" b="1" i="1" smtClean="0">
                        <a:solidFill>
                          <a:schemeClr val="tx1"/>
                        </a:solidFill>
                        <a:latin typeface="Cambria Math" panose="02040503050406030204" pitchFamily="18" charset="0"/>
                      </a:rPr>
                      <m:t> ~ </m:t>
                    </m:r>
                    <m:sSub>
                      <m:sSubPr>
                        <m:ctrlPr>
                          <a:rPr lang="en-NZ" altLang="ja-JP" sz="1600" b="1" i="1" smtClean="0">
                            <a:solidFill>
                              <a:schemeClr val="tx1"/>
                            </a:solidFill>
                            <a:latin typeface="Cambria Math" panose="02040503050406030204" pitchFamily="18" charset="0"/>
                          </a:rPr>
                        </m:ctrlPr>
                      </m:sSubPr>
                      <m:e>
                        <m:r>
                          <a:rPr lang="en-NZ" altLang="ja-JP" sz="1600" b="1" i="1" smtClean="0">
                            <a:solidFill>
                              <a:schemeClr val="tx1"/>
                            </a:solidFill>
                            <a:latin typeface="Cambria Math" panose="02040503050406030204" pitchFamily="18" charset="0"/>
                          </a:rPr>
                          <m:t>𝑭</m:t>
                        </m:r>
                      </m:e>
                      <m:sub>
                        <m:r>
                          <a:rPr lang="en-NZ" altLang="ja-JP" sz="1600" b="1" i="1" smtClean="0">
                            <a:solidFill>
                              <a:schemeClr val="tx1"/>
                            </a:solidFill>
                            <a:latin typeface="Cambria Math" panose="02040503050406030204" pitchFamily="18" charset="0"/>
                          </a:rPr>
                          <m:t>𝒂</m:t>
                        </m:r>
                        <m:r>
                          <a:rPr lang="en-NZ" altLang="ja-JP" sz="1600" b="1" i="1" smtClean="0">
                            <a:solidFill>
                              <a:schemeClr val="tx1"/>
                            </a:solidFill>
                            <a:latin typeface="Cambria Math" panose="02040503050406030204" pitchFamily="18" charset="0"/>
                          </a:rPr>
                          <m:t>−</m:t>
                        </m:r>
                        <m:r>
                          <a:rPr lang="en-NZ" altLang="ja-JP" sz="1600" b="1" i="1" smtClean="0">
                            <a:solidFill>
                              <a:schemeClr val="tx1"/>
                            </a:solidFill>
                            <a:latin typeface="Cambria Math" panose="02040503050406030204" pitchFamily="18" charset="0"/>
                          </a:rPr>
                          <m:t>𝟏</m:t>
                        </m:r>
                        <m:r>
                          <a:rPr lang="en-NZ" altLang="ja-JP" sz="1600" b="1" i="1" smtClean="0">
                            <a:solidFill>
                              <a:schemeClr val="tx1"/>
                            </a:solidFill>
                            <a:latin typeface="Cambria Math" panose="02040503050406030204" pitchFamily="18" charset="0"/>
                          </a:rPr>
                          <m:t> ,   </m:t>
                        </m:r>
                        <m:r>
                          <a:rPr lang="en-NZ" altLang="ja-JP" sz="1600" b="1" i="1" smtClean="0">
                            <a:solidFill>
                              <a:schemeClr val="tx1"/>
                            </a:solidFill>
                            <a:latin typeface="Cambria Math" panose="02040503050406030204" pitchFamily="18" charset="0"/>
                          </a:rPr>
                          <m:t>𝒂</m:t>
                        </m:r>
                        <m:r>
                          <a:rPr lang="en-NZ" altLang="ja-JP" sz="1600" b="1" i="1" smtClean="0">
                            <a:solidFill>
                              <a:schemeClr val="tx1"/>
                            </a:solidFill>
                            <a:latin typeface="Cambria Math" panose="02040503050406030204" pitchFamily="18" charset="0"/>
                          </a:rPr>
                          <m:t>(</m:t>
                        </m:r>
                        <m:r>
                          <a:rPr lang="en-NZ" altLang="ja-JP" sz="1600" b="1" i="1" smtClean="0">
                            <a:solidFill>
                              <a:schemeClr val="tx1"/>
                            </a:solidFill>
                            <a:latin typeface="Cambria Math" panose="02040503050406030204" pitchFamily="18" charset="0"/>
                          </a:rPr>
                          <m:t>𝒃</m:t>
                        </m:r>
                        <m:r>
                          <a:rPr lang="en-NZ" altLang="ja-JP" sz="1600" b="1" i="1" smtClean="0">
                            <a:solidFill>
                              <a:schemeClr val="tx1"/>
                            </a:solidFill>
                            <a:latin typeface="Cambria Math" panose="02040503050406030204" pitchFamily="18" charset="0"/>
                          </a:rPr>
                          <m:t>−</m:t>
                        </m:r>
                        <m:r>
                          <a:rPr lang="en-NZ" altLang="ja-JP" sz="1600" b="1" i="1" smtClean="0">
                            <a:solidFill>
                              <a:schemeClr val="tx1"/>
                            </a:solidFill>
                            <a:latin typeface="Cambria Math" panose="02040503050406030204" pitchFamily="18" charset="0"/>
                          </a:rPr>
                          <m:t>𝟏</m:t>
                        </m:r>
                        <m:r>
                          <a:rPr lang="en-NZ" altLang="ja-JP" sz="1600" b="1" i="1" smtClean="0">
                            <a:solidFill>
                              <a:schemeClr val="tx1"/>
                            </a:solidFill>
                            <a:latin typeface="Cambria Math" panose="02040503050406030204" pitchFamily="18" charset="0"/>
                          </a:rPr>
                          <m:t>)</m:t>
                        </m:r>
                      </m:sub>
                    </m:sSub>
                  </m:oMath>
                </a14:m>
                <a:r>
                  <a:rPr lang="en-NZ" altLang="ja-JP" sz="1600" dirty="0">
                    <a:solidFill>
                      <a:schemeClr val="tx1"/>
                    </a:solidFill>
                  </a:rPr>
                  <a:t> </a:t>
                </a:r>
              </a:p>
              <a:p>
                <a:pPr algn="just">
                  <a:lnSpc>
                    <a:spcPct val="100000"/>
                  </a:lnSpc>
                </a:pPr>
                <a:endParaRPr lang="en-NZ" altLang="ja-JP" sz="1600" dirty="0">
                  <a:solidFill>
                    <a:schemeClr val="tx1"/>
                  </a:solidFill>
                </a:endParaRPr>
              </a:p>
            </p:txBody>
          </p:sp>
        </mc:Choice>
        <mc:Fallback xmlns="">
          <p:sp>
            <p:nvSpPr>
              <p:cNvPr id="30" name="Text Placeholder 5">
                <a:extLst>
                  <a:ext uri="{FF2B5EF4-FFF2-40B4-BE49-F238E27FC236}">
                    <a16:creationId xmlns:a16="http://schemas.microsoft.com/office/drawing/2014/main" id="{4E99FB4B-33C5-6DE8-183F-900626DA577B}"/>
                  </a:ext>
                </a:extLst>
              </p:cNvPr>
              <p:cNvSpPr txBox="1">
                <a:spLocks noRot="1" noChangeAspect="1" noMove="1" noResize="1" noEditPoints="1" noAdjustHandles="1" noChangeArrowheads="1" noChangeShapeType="1" noTextEdit="1"/>
              </p:cNvSpPr>
              <p:nvPr/>
            </p:nvSpPr>
            <p:spPr>
              <a:xfrm>
                <a:off x="202151" y="5406505"/>
                <a:ext cx="7235880" cy="418233"/>
              </a:xfrm>
              <a:prstGeom prst="rect">
                <a:avLst/>
              </a:prstGeom>
              <a:blipFill>
                <a:blip r:embed="rId9"/>
                <a:stretch>
                  <a:fillRect l="-421" t="-4348" r="-505" b="-57971"/>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31" name="Text Placeholder 5">
                <a:extLst>
                  <a:ext uri="{FF2B5EF4-FFF2-40B4-BE49-F238E27FC236}">
                    <a16:creationId xmlns:a16="http://schemas.microsoft.com/office/drawing/2014/main" id="{A8F0C493-86A7-3B79-6E29-C72C0666E721}"/>
                  </a:ext>
                </a:extLst>
              </p:cNvPr>
              <p:cNvSpPr txBox="1">
                <a:spLocks/>
              </p:cNvSpPr>
              <p:nvPr/>
            </p:nvSpPr>
            <p:spPr>
              <a:xfrm>
                <a:off x="202154" y="5999055"/>
                <a:ext cx="7345057" cy="77280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1600" dirty="0">
                    <a:solidFill>
                      <a:schemeClr val="tx1"/>
                    </a:solidFill>
                  </a:rPr>
                  <a:t>We calculate the value of </a:t>
                </a:r>
                <a:r>
                  <a:rPr lang="en-NZ" altLang="ja-JP" sz="1600" b="1" i="1" dirty="0">
                    <a:solidFill>
                      <a:schemeClr val="tx1"/>
                    </a:solidFill>
                  </a:rPr>
                  <a:t>F</a:t>
                </a:r>
                <a:r>
                  <a:rPr lang="en-NZ" altLang="ja-JP" sz="1600" b="1" i="1" baseline="-25000" dirty="0">
                    <a:solidFill>
                      <a:schemeClr val="tx1"/>
                    </a:solidFill>
                  </a:rPr>
                  <a:t>obs</a:t>
                </a:r>
                <a:r>
                  <a:rPr lang="en-NZ" altLang="ja-JP" sz="1600" dirty="0">
                    <a:solidFill>
                      <a:schemeClr val="tx1"/>
                    </a:solidFill>
                  </a:rPr>
                  <a:t> and see where this lies in the distribution of </a:t>
                </a:r>
                <a14:m>
                  <m:oMath xmlns:m="http://schemas.openxmlformats.org/officeDocument/2006/math">
                    <m:sSub>
                      <m:sSubPr>
                        <m:ctrlPr>
                          <a:rPr lang="en-NZ" altLang="ja-JP" sz="1600" b="1" i="1">
                            <a:solidFill>
                              <a:schemeClr val="tx1"/>
                            </a:solidFill>
                            <a:latin typeface="Cambria Math" panose="02040503050406030204" pitchFamily="18" charset="0"/>
                          </a:rPr>
                        </m:ctrlPr>
                      </m:sSubPr>
                      <m:e>
                        <m:r>
                          <a:rPr lang="en-NZ" altLang="ja-JP" sz="1600" b="1" i="1">
                            <a:solidFill>
                              <a:schemeClr val="tx1"/>
                            </a:solidFill>
                            <a:latin typeface="Cambria Math" panose="02040503050406030204" pitchFamily="18" charset="0"/>
                          </a:rPr>
                          <m:t>𝑭</m:t>
                        </m:r>
                      </m:e>
                      <m:sub>
                        <m:r>
                          <a:rPr lang="en-NZ" altLang="ja-JP" sz="1600" b="1" i="1">
                            <a:solidFill>
                              <a:schemeClr val="tx1"/>
                            </a:solidFill>
                            <a:latin typeface="Cambria Math" panose="02040503050406030204" pitchFamily="18" charset="0"/>
                          </a:rPr>
                          <m:t>𝒂</m:t>
                        </m:r>
                        <m:r>
                          <a:rPr lang="en-NZ" altLang="ja-JP" sz="1600" b="1" i="1">
                            <a:solidFill>
                              <a:schemeClr val="tx1"/>
                            </a:solidFill>
                            <a:latin typeface="Cambria Math" panose="02040503050406030204" pitchFamily="18" charset="0"/>
                          </a:rPr>
                          <m:t>−</m:t>
                        </m:r>
                        <m:r>
                          <a:rPr lang="en-NZ" altLang="ja-JP" sz="1600" b="1" i="1">
                            <a:solidFill>
                              <a:schemeClr val="tx1"/>
                            </a:solidFill>
                            <a:latin typeface="Cambria Math" panose="02040503050406030204" pitchFamily="18" charset="0"/>
                          </a:rPr>
                          <m:t>𝟏</m:t>
                        </m:r>
                        <m:r>
                          <a:rPr lang="en-NZ" altLang="ja-JP" sz="1600" b="1" i="1">
                            <a:solidFill>
                              <a:schemeClr val="tx1"/>
                            </a:solidFill>
                            <a:latin typeface="Cambria Math" panose="02040503050406030204" pitchFamily="18" charset="0"/>
                          </a:rPr>
                          <m:t> , </m:t>
                        </m:r>
                        <m:r>
                          <a:rPr lang="en-NZ" altLang="ja-JP" sz="1600" b="1" i="1" smtClean="0">
                            <a:solidFill>
                              <a:schemeClr val="tx1"/>
                            </a:solidFill>
                            <a:latin typeface="Cambria Math" panose="02040503050406030204" pitchFamily="18" charset="0"/>
                          </a:rPr>
                          <m:t>𝒂</m:t>
                        </m:r>
                        <m:r>
                          <a:rPr lang="en-NZ" altLang="ja-JP" sz="1600" b="1" i="1" smtClean="0">
                            <a:solidFill>
                              <a:schemeClr val="tx1"/>
                            </a:solidFill>
                            <a:latin typeface="Cambria Math" panose="02040503050406030204" pitchFamily="18" charset="0"/>
                          </a:rPr>
                          <m:t>(</m:t>
                        </m:r>
                        <m:r>
                          <a:rPr lang="en-NZ" altLang="ja-JP" sz="1600" b="1" i="1" smtClean="0">
                            <a:solidFill>
                              <a:schemeClr val="tx1"/>
                            </a:solidFill>
                            <a:latin typeface="Cambria Math" panose="02040503050406030204" pitchFamily="18" charset="0"/>
                          </a:rPr>
                          <m:t>𝒃</m:t>
                        </m:r>
                        <m:r>
                          <a:rPr lang="en-NZ" altLang="ja-JP" sz="1600" b="1" i="1" smtClean="0">
                            <a:solidFill>
                              <a:schemeClr val="tx1"/>
                            </a:solidFill>
                            <a:latin typeface="Cambria Math" panose="02040503050406030204" pitchFamily="18" charset="0"/>
                          </a:rPr>
                          <m:t>−</m:t>
                        </m:r>
                        <m:r>
                          <a:rPr lang="en-NZ" altLang="ja-JP" sz="1600" b="1" i="1" smtClean="0">
                            <a:solidFill>
                              <a:schemeClr val="tx1"/>
                            </a:solidFill>
                            <a:latin typeface="Cambria Math" panose="02040503050406030204" pitchFamily="18" charset="0"/>
                          </a:rPr>
                          <m:t>𝟏</m:t>
                        </m:r>
                        <m:r>
                          <a:rPr lang="en-NZ" altLang="ja-JP" sz="1600" b="1" i="1" smtClean="0">
                            <a:solidFill>
                              <a:schemeClr val="tx1"/>
                            </a:solidFill>
                            <a:latin typeface="Cambria Math" panose="02040503050406030204" pitchFamily="18" charset="0"/>
                          </a:rPr>
                          <m:t>)</m:t>
                        </m:r>
                      </m:sub>
                    </m:sSub>
                  </m:oMath>
                </a14:m>
                <a:endParaRPr lang="en-NZ" altLang="ja-JP" sz="1600" dirty="0">
                  <a:solidFill>
                    <a:schemeClr val="tx1"/>
                  </a:solidFill>
                </a:endParaRPr>
              </a:p>
              <a:p>
                <a:pPr algn="just">
                  <a:lnSpc>
                    <a:spcPct val="100000"/>
                  </a:lnSpc>
                </a:pPr>
                <a:r>
                  <a:rPr lang="en-NZ" altLang="ja-JP" sz="1600" dirty="0">
                    <a:solidFill>
                      <a:schemeClr val="tx1"/>
                    </a:solidFill>
                  </a:rPr>
                  <a:t>The smaller the p-value </a:t>
                </a:r>
                <a14:m>
                  <m:oMath xmlns:m="http://schemas.openxmlformats.org/officeDocument/2006/math">
                    <m:r>
                      <a:rPr lang="en-NZ" altLang="ja-JP" sz="1600" b="1" i="1" smtClean="0">
                        <a:solidFill>
                          <a:schemeClr val="tx1"/>
                        </a:solidFill>
                        <a:latin typeface="Cambria Math" panose="02040503050406030204" pitchFamily="18" charset="0"/>
                      </a:rPr>
                      <m:t>𝑷</m:t>
                    </m:r>
                    <m:r>
                      <a:rPr lang="en-NZ" altLang="ja-JP" sz="1600" b="1" i="1" smtClean="0">
                        <a:solidFill>
                          <a:schemeClr val="tx1"/>
                        </a:solidFill>
                        <a:latin typeface="Cambria Math" panose="02040503050406030204" pitchFamily="18" charset="0"/>
                      </a:rPr>
                      <m:t>( </m:t>
                    </m:r>
                    <m:r>
                      <a:rPr lang="en-NZ" altLang="ja-JP" sz="1600" b="1" i="1" smtClean="0">
                        <a:solidFill>
                          <a:schemeClr val="tx1"/>
                        </a:solidFill>
                        <a:latin typeface="Cambria Math" panose="02040503050406030204" pitchFamily="18" charset="0"/>
                      </a:rPr>
                      <m:t>𝑭</m:t>
                    </m:r>
                    <m:r>
                      <a:rPr lang="en-NZ" altLang="ja-JP" sz="1600" b="1" i="1" smtClean="0">
                        <a:solidFill>
                          <a:schemeClr val="tx1"/>
                        </a:solidFill>
                        <a:latin typeface="Cambria Math" panose="02040503050406030204" pitchFamily="18" charset="0"/>
                      </a:rPr>
                      <m:t>≥</m:t>
                    </m:r>
                    <m:sSub>
                      <m:sSubPr>
                        <m:ctrlPr>
                          <a:rPr lang="en-NZ" altLang="ja-JP" sz="1600" b="1" i="1" smtClean="0">
                            <a:solidFill>
                              <a:schemeClr val="tx1"/>
                            </a:solidFill>
                            <a:latin typeface="Cambria Math" panose="02040503050406030204" pitchFamily="18" charset="0"/>
                          </a:rPr>
                        </m:ctrlPr>
                      </m:sSubPr>
                      <m:e>
                        <m:r>
                          <a:rPr lang="en-NZ" altLang="ja-JP" sz="1600" b="1" i="1" smtClean="0">
                            <a:solidFill>
                              <a:schemeClr val="tx1"/>
                            </a:solidFill>
                            <a:latin typeface="Cambria Math" panose="02040503050406030204" pitchFamily="18" charset="0"/>
                          </a:rPr>
                          <m:t>𝑭</m:t>
                        </m:r>
                      </m:e>
                      <m:sub>
                        <m:r>
                          <a:rPr lang="en-NZ" altLang="ja-JP" sz="1600" b="1" i="1" smtClean="0">
                            <a:solidFill>
                              <a:schemeClr val="tx1"/>
                            </a:solidFill>
                            <a:latin typeface="Cambria Math" panose="02040503050406030204" pitchFamily="18" charset="0"/>
                          </a:rPr>
                          <m:t>𝒐𝒃𝒔</m:t>
                        </m:r>
                      </m:sub>
                    </m:sSub>
                    <m:r>
                      <a:rPr lang="en-NZ" altLang="ja-JP" sz="1600" b="1" i="1" smtClean="0">
                        <a:solidFill>
                          <a:schemeClr val="tx1"/>
                        </a:solidFill>
                        <a:latin typeface="Cambria Math" panose="02040503050406030204" pitchFamily="18" charset="0"/>
                      </a:rPr>
                      <m:t>)</m:t>
                    </m:r>
                  </m:oMath>
                </a14:m>
                <a:r>
                  <a:rPr lang="en-NZ" altLang="ja-JP" sz="1600" b="1" dirty="0">
                    <a:solidFill>
                      <a:schemeClr val="tx1"/>
                    </a:solidFill>
                  </a:rPr>
                  <a:t> </a:t>
                </a:r>
                <a:r>
                  <a:rPr lang="en-NZ" altLang="ja-JP" sz="1600" dirty="0">
                    <a:solidFill>
                      <a:schemeClr val="tx1"/>
                    </a:solidFill>
                  </a:rPr>
                  <a:t>the more evidence we have against the null hypothesis. </a:t>
                </a:r>
              </a:p>
              <a:p>
                <a:pPr algn="just">
                  <a:lnSpc>
                    <a:spcPct val="100000"/>
                  </a:lnSpc>
                </a:pPr>
                <a:endParaRPr lang="en-NZ" altLang="ja-JP" sz="1600" dirty="0">
                  <a:solidFill>
                    <a:schemeClr val="tx1"/>
                  </a:solidFill>
                </a:endParaRPr>
              </a:p>
            </p:txBody>
          </p:sp>
        </mc:Choice>
        <mc:Fallback xmlns="">
          <p:sp>
            <p:nvSpPr>
              <p:cNvPr id="31" name="Text Placeholder 5">
                <a:extLst>
                  <a:ext uri="{FF2B5EF4-FFF2-40B4-BE49-F238E27FC236}">
                    <a16:creationId xmlns:a16="http://schemas.microsoft.com/office/drawing/2014/main" id="{A8F0C493-86A7-3B79-6E29-C72C0666E721}"/>
                  </a:ext>
                </a:extLst>
              </p:cNvPr>
              <p:cNvSpPr txBox="1">
                <a:spLocks noRot="1" noChangeAspect="1" noMove="1" noResize="1" noEditPoints="1" noAdjustHandles="1" noChangeArrowheads="1" noChangeShapeType="1" noTextEdit="1"/>
              </p:cNvSpPr>
              <p:nvPr/>
            </p:nvSpPr>
            <p:spPr>
              <a:xfrm>
                <a:off x="202154" y="5999055"/>
                <a:ext cx="7345057" cy="772806"/>
              </a:xfrm>
              <a:prstGeom prst="rect">
                <a:avLst/>
              </a:prstGeom>
              <a:blipFill>
                <a:blip r:embed="rId10"/>
                <a:stretch>
                  <a:fillRect l="-415" t="-1575" r="-498" b="-19685"/>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32" name="Text Placeholder 5">
                <a:extLst>
                  <a:ext uri="{FF2B5EF4-FFF2-40B4-BE49-F238E27FC236}">
                    <a16:creationId xmlns:a16="http://schemas.microsoft.com/office/drawing/2014/main" id="{486FDDED-D51B-6EFC-08BF-A12C86BFF8DC}"/>
                  </a:ext>
                </a:extLst>
              </p:cNvPr>
              <p:cNvSpPr txBox="1">
                <a:spLocks/>
              </p:cNvSpPr>
              <p:nvPr/>
            </p:nvSpPr>
            <p:spPr>
              <a:xfrm>
                <a:off x="202152" y="4991042"/>
                <a:ext cx="11222321" cy="41823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1600" dirty="0">
                    <a:solidFill>
                      <a:schemeClr val="tx1"/>
                    </a:solidFill>
                  </a:rPr>
                  <a:t>The larger the observed test statistic </a:t>
                </a:r>
                <a14:m>
                  <m:oMath xmlns:m="http://schemas.openxmlformats.org/officeDocument/2006/math">
                    <m:sSub>
                      <m:sSubPr>
                        <m:ctrlPr>
                          <a:rPr lang="en-NZ" altLang="ja-JP" sz="1600" b="1" i="1" smtClean="0">
                            <a:solidFill>
                              <a:schemeClr val="tx1"/>
                            </a:solidFill>
                            <a:latin typeface="Cambria Math" panose="02040503050406030204" pitchFamily="18" charset="0"/>
                          </a:rPr>
                        </m:ctrlPr>
                      </m:sSubPr>
                      <m:e>
                        <m:r>
                          <a:rPr lang="en-NZ" altLang="ja-JP" sz="1600" b="1" i="1" smtClean="0">
                            <a:solidFill>
                              <a:schemeClr val="tx1"/>
                            </a:solidFill>
                            <a:latin typeface="Cambria Math" panose="02040503050406030204" pitchFamily="18" charset="0"/>
                          </a:rPr>
                          <m:t>𝑭</m:t>
                        </m:r>
                      </m:e>
                      <m:sub>
                        <m:r>
                          <a:rPr lang="en-NZ" altLang="ja-JP" sz="1600" b="1" i="1" smtClean="0">
                            <a:solidFill>
                              <a:schemeClr val="tx1"/>
                            </a:solidFill>
                            <a:latin typeface="Cambria Math" panose="02040503050406030204" pitchFamily="18" charset="0"/>
                          </a:rPr>
                          <m:t>𝒐𝒃𝒔</m:t>
                        </m:r>
                      </m:sub>
                    </m:sSub>
                  </m:oMath>
                </a14:m>
                <a:r>
                  <a:rPr lang="en-NZ" altLang="ja-JP" sz="1600" dirty="0">
                    <a:solidFill>
                      <a:schemeClr val="tx1"/>
                    </a:solidFill>
                  </a:rPr>
                  <a:t> the less likely it is that the null hypothesis is true.</a:t>
                </a:r>
              </a:p>
              <a:p>
                <a:pPr algn="just">
                  <a:lnSpc>
                    <a:spcPct val="100000"/>
                  </a:lnSpc>
                </a:pPr>
                <a:endParaRPr lang="en-NZ" altLang="ja-JP" sz="1600" dirty="0">
                  <a:solidFill>
                    <a:schemeClr val="tx1"/>
                  </a:solidFill>
                </a:endParaRPr>
              </a:p>
            </p:txBody>
          </p:sp>
        </mc:Choice>
        <mc:Fallback xmlns="">
          <p:sp>
            <p:nvSpPr>
              <p:cNvPr id="32" name="Text Placeholder 5">
                <a:extLst>
                  <a:ext uri="{FF2B5EF4-FFF2-40B4-BE49-F238E27FC236}">
                    <a16:creationId xmlns:a16="http://schemas.microsoft.com/office/drawing/2014/main" id="{486FDDED-D51B-6EFC-08BF-A12C86BFF8DC}"/>
                  </a:ext>
                </a:extLst>
              </p:cNvPr>
              <p:cNvSpPr txBox="1">
                <a:spLocks noRot="1" noChangeAspect="1" noMove="1" noResize="1" noEditPoints="1" noAdjustHandles="1" noChangeArrowheads="1" noChangeShapeType="1" noTextEdit="1"/>
              </p:cNvSpPr>
              <p:nvPr/>
            </p:nvSpPr>
            <p:spPr>
              <a:xfrm>
                <a:off x="202152" y="4991042"/>
                <a:ext cx="11222321" cy="418233"/>
              </a:xfrm>
              <a:prstGeom prst="rect">
                <a:avLst/>
              </a:prstGeom>
              <a:blipFill>
                <a:blip r:embed="rId11"/>
                <a:stretch>
                  <a:fillRect l="-272" t="-4412"/>
                </a:stretch>
              </a:blipFill>
            </p:spPr>
            <p:txBody>
              <a:bodyPr/>
              <a:lstStyle/>
              <a:p>
                <a:r>
                  <a:rPr lang="en-NZ">
                    <a:noFill/>
                  </a:rPr>
                  <a:t> </a:t>
                </a:r>
              </a:p>
            </p:txBody>
          </p:sp>
        </mc:Fallback>
      </mc:AlternateContent>
      <p:sp>
        <p:nvSpPr>
          <p:cNvPr id="23" name="Footer Placeholder 2">
            <a:extLst>
              <a:ext uri="{FF2B5EF4-FFF2-40B4-BE49-F238E27FC236}">
                <a16:creationId xmlns:a16="http://schemas.microsoft.com/office/drawing/2014/main" id="{514DE294-5E6A-4CC4-5910-32A72D3C38B4}"/>
              </a:ext>
            </a:extLst>
          </p:cNvPr>
          <p:cNvSpPr txBox="1">
            <a:spLocks/>
          </p:cNvSpPr>
          <p:nvPr/>
        </p:nvSpPr>
        <p:spPr>
          <a:xfrm>
            <a:off x="8775510" y="86139"/>
            <a:ext cx="3313855"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600" dirty="0">
                <a:solidFill>
                  <a:srgbClr val="DEDDDD"/>
                </a:solidFill>
                <a:latin typeface="Gidole"/>
                <a:ea typeface="游ゴシック" panose="020B0400000000000000" pitchFamily="34" charset="-128"/>
              </a:rPr>
              <a:t>5</a:t>
            </a:r>
            <a:r>
              <a:rPr kumimoji="1" lang="en-US" altLang="ja-JP"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rPr>
              <a:t>.2 – Two Stage Nested Design</a:t>
            </a:r>
            <a:endParaRPr kumimoji="1" lang="ja-JP" altLang="en-US"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endParaRPr>
          </a:p>
        </p:txBody>
      </p:sp>
      <mc:AlternateContent xmlns:mc="http://schemas.openxmlformats.org/markup-compatibility/2006" xmlns:a14="http://schemas.microsoft.com/office/drawing/2010/main">
        <mc:Choice Requires="a14">
          <p:sp>
            <p:nvSpPr>
              <p:cNvPr id="3" name="Text Placeholder 5">
                <a:extLst>
                  <a:ext uri="{FF2B5EF4-FFF2-40B4-BE49-F238E27FC236}">
                    <a16:creationId xmlns:a16="http://schemas.microsoft.com/office/drawing/2014/main" id="{A38CA3F6-377E-05C0-8341-4C010D6655E4}"/>
                  </a:ext>
                </a:extLst>
              </p:cNvPr>
              <p:cNvSpPr txBox="1">
                <a:spLocks/>
              </p:cNvSpPr>
              <p:nvPr/>
            </p:nvSpPr>
            <p:spPr>
              <a:xfrm>
                <a:off x="8862725" y="6075366"/>
                <a:ext cx="372509" cy="235696"/>
              </a:xfrm>
              <a:prstGeom prst="rect">
                <a:avLst/>
              </a:prstGeom>
              <a:noFill/>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l" defTabSz="914324" rtl="0" eaLnBrk="1" fontAlgn="auto" latinLnBrk="0" hangingPunct="1">
                  <a:lnSpc>
                    <a:spcPct val="100000"/>
                  </a:lnSpc>
                  <a:spcBef>
                    <a:spcPts val="0"/>
                  </a:spcBef>
                  <a:spcAft>
                    <a:spcPts val="0"/>
                  </a:spcAft>
                  <a:buClrTx/>
                  <a:buSzTx/>
                  <a:buFont typeface="Arial" panose="020B0604020202020204" pitchFamily="34" charset="0"/>
                  <a:buNone/>
                  <a:tabLst/>
                  <a:defRPr/>
                </a:pPr>
                <a14:m>
                  <m:oMathPara xmlns:m="http://schemas.openxmlformats.org/officeDocument/2006/math">
                    <m:oMathParaPr>
                      <m:jc m:val="centerGroup"/>
                    </m:oMathParaPr>
                    <m:oMath xmlns:m="http://schemas.openxmlformats.org/officeDocument/2006/math">
                      <m:sSub>
                        <m:sSubPr>
                          <m:ctrlPr>
                            <a:rPr kumimoji="1" lang="en-NZ" altLang="ja-JP" sz="1600" b="1" i="1" u="none" strike="noStrike" kern="1200" cap="none" spc="0" normalizeH="0" baseline="0" noProof="0" smtClean="0">
                              <a:ln>
                                <a:noFill/>
                              </a:ln>
                              <a:solidFill>
                                <a:srgbClr val="C00000"/>
                              </a:solidFill>
                              <a:effectLst/>
                              <a:uLnTx/>
                              <a:uFillTx/>
                              <a:latin typeface="Cambria Math" panose="02040503050406030204" pitchFamily="18" charset="0"/>
                              <a:cs typeface="+mn-cs"/>
                            </a:rPr>
                          </m:ctrlPr>
                        </m:sSubPr>
                        <m:e>
                          <m:r>
                            <a:rPr kumimoji="1" lang="en-NZ" altLang="ja-JP" sz="16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𝑭</m:t>
                          </m:r>
                        </m:e>
                        <m:sub>
                          <m:r>
                            <a:rPr kumimoji="1" lang="en-NZ" altLang="ja-JP" sz="16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𝒐𝒃𝒔</m:t>
                          </m:r>
                        </m:sub>
                      </m:sSub>
                    </m:oMath>
                  </m:oMathPara>
                </a14:m>
                <a:endParaRPr kumimoji="1" lang="en-NZ" altLang="ja-JP" sz="1600" b="0" i="0"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mc:Choice>
        <mc:Fallback xmlns="">
          <p:sp>
            <p:nvSpPr>
              <p:cNvPr id="3" name="Text Placeholder 5">
                <a:extLst>
                  <a:ext uri="{FF2B5EF4-FFF2-40B4-BE49-F238E27FC236}">
                    <a16:creationId xmlns:a16="http://schemas.microsoft.com/office/drawing/2014/main" id="{A38CA3F6-377E-05C0-8341-4C010D6655E4}"/>
                  </a:ext>
                </a:extLst>
              </p:cNvPr>
              <p:cNvSpPr txBox="1">
                <a:spLocks noRot="1" noChangeAspect="1" noMove="1" noResize="1" noEditPoints="1" noAdjustHandles="1" noChangeArrowheads="1" noChangeShapeType="1" noTextEdit="1"/>
              </p:cNvSpPr>
              <p:nvPr/>
            </p:nvSpPr>
            <p:spPr>
              <a:xfrm>
                <a:off x="8862725" y="6075366"/>
                <a:ext cx="372509" cy="235696"/>
              </a:xfrm>
              <a:prstGeom prst="rect">
                <a:avLst/>
              </a:prstGeom>
              <a:blipFill>
                <a:blip r:embed="rId12"/>
                <a:stretch>
                  <a:fillRect r="-40984" b="-44737"/>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4" name="Text Placeholder 5">
                <a:extLst>
                  <a:ext uri="{FF2B5EF4-FFF2-40B4-BE49-F238E27FC236}">
                    <a16:creationId xmlns:a16="http://schemas.microsoft.com/office/drawing/2014/main" id="{8E84C8A6-2681-0955-55CE-647FE2FACB3C}"/>
                  </a:ext>
                </a:extLst>
              </p:cNvPr>
              <p:cNvSpPr txBox="1">
                <a:spLocks/>
              </p:cNvSpPr>
              <p:nvPr/>
            </p:nvSpPr>
            <p:spPr>
              <a:xfrm>
                <a:off x="9480084" y="6182657"/>
                <a:ext cx="1317247" cy="264895"/>
              </a:xfrm>
              <a:prstGeom prst="rect">
                <a:avLst/>
              </a:prstGeom>
              <a:noFill/>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l" defTabSz="914324" rtl="0" eaLnBrk="1" fontAlgn="auto" latinLnBrk="0" hangingPunct="1">
                  <a:lnSpc>
                    <a:spcPct val="100000"/>
                  </a:lnSpc>
                  <a:spcBef>
                    <a:spcPts val="0"/>
                  </a:spcBef>
                  <a:spcAft>
                    <a:spcPts val="0"/>
                  </a:spcAft>
                  <a:buClrTx/>
                  <a:buSzTx/>
                  <a:buFont typeface="Arial" panose="020B0604020202020204" pitchFamily="34" charset="0"/>
                  <a:buNone/>
                  <a:tabLst/>
                  <a:defRPr/>
                </a:pPr>
                <a14:m>
                  <m:oMathPara xmlns:m="http://schemas.openxmlformats.org/officeDocument/2006/math">
                    <m:oMathParaPr>
                      <m:jc m:val="centerGroup"/>
                    </m:oMathParaPr>
                    <m:oMath xmlns:m="http://schemas.openxmlformats.org/officeDocument/2006/math">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𝑷</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𝑭</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sSub>
                        <m:sSubPr>
                          <m:ctrl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𝑭</m:t>
                          </m:r>
                        </m:e>
                        <m:sub>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𝒐𝒃𝒔</m:t>
                          </m:r>
                        </m:sub>
                      </m:sSub>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oMath>
                  </m:oMathPara>
                </a14:m>
                <a:endPar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p:txBody>
          </p:sp>
        </mc:Choice>
        <mc:Fallback xmlns="">
          <p:sp>
            <p:nvSpPr>
              <p:cNvPr id="4" name="Text Placeholder 5">
                <a:extLst>
                  <a:ext uri="{FF2B5EF4-FFF2-40B4-BE49-F238E27FC236}">
                    <a16:creationId xmlns:a16="http://schemas.microsoft.com/office/drawing/2014/main" id="{8E84C8A6-2681-0955-55CE-647FE2FACB3C}"/>
                  </a:ext>
                </a:extLst>
              </p:cNvPr>
              <p:cNvSpPr txBox="1">
                <a:spLocks noRot="1" noChangeAspect="1" noMove="1" noResize="1" noEditPoints="1" noAdjustHandles="1" noChangeArrowheads="1" noChangeShapeType="1" noTextEdit="1"/>
              </p:cNvSpPr>
              <p:nvPr/>
            </p:nvSpPr>
            <p:spPr>
              <a:xfrm>
                <a:off x="9480084" y="6182657"/>
                <a:ext cx="1317247" cy="264895"/>
              </a:xfrm>
              <a:prstGeom prst="rect">
                <a:avLst/>
              </a:prstGeom>
              <a:blipFill>
                <a:blip r:embed="rId13"/>
                <a:stretch>
                  <a:fillRect b="-38636"/>
                </a:stretch>
              </a:blipFill>
            </p:spPr>
            <p:txBody>
              <a:bodyPr/>
              <a:lstStyle/>
              <a:p>
                <a:r>
                  <a:rPr lang="en-NZ">
                    <a:noFill/>
                  </a:rPr>
                  <a:t> </a:t>
                </a:r>
              </a:p>
            </p:txBody>
          </p:sp>
        </mc:Fallback>
      </mc:AlternateContent>
      <p:cxnSp>
        <p:nvCxnSpPr>
          <p:cNvPr id="5" name="Straight Connector 4">
            <a:extLst>
              <a:ext uri="{FF2B5EF4-FFF2-40B4-BE49-F238E27FC236}">
                <a16:creationId xmlns:a16="http://schemas.microsoft.com/office/drawing/2014/main" id="{E343A487-9C12-372C-3644-058313F23519}"/>
              </a:ext>
            </a:extLst>
          </p:cNvPr>
          <p:cNvCxnSpPr>
            <a:cxnSpLocks/>
          </p:cNvCxnSpPr>
          <p:nvPr/>
        </p:nvCxnSpPr>
        <p:spPr>
          <a:xfrm>
            <a:off x="8990384" y="6413611"/>
            <a:ext cx="0" cy="273214"/>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394250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0"/>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1"/>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4"/>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18" grpId="0"/>
      <p:bldP spid="20" grpId="0"/>
      <p:bldP spid="22" grpId="0"/>
      <p:bldP spid="28" grpId="0"/>
      <p:bldP spid="30" grpId="0"/>
      <p:bldP spid="31" grpId="0"/>
      <p:bldP spid="32" grpId="0"/>
      <p:bldP spid="3" grpId="0"/>
      <p:bldP spid="4"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Text Placeholder 5">
            <a:extLst>
              <a:ext uri="{FF2B5EF4-FFF2-40B4-BE49-F238E27FC236}">
                <a16:creationId xmlns:a16="http://schemas.microsoft.com/office/drawing/2014/main" id="{406A8C83-92CF-01A7-B9A0-4AE7CC5A3B43}"/>
              </a:ext>
            </a:extLst>
          </p:cNvPr>
          <p:cNvSpPr txBox="1">
            <a:spLocks/>
          </p:cNvSpPr>
          <p:nvPr/>
        </p:nvSpPr>
        <p:spPr>
          <a:xfrm>
            <a:off x="251224" y="845034"/>
            <a:ext cx="6367939" cy="668379"/>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1800" dirty="0">
                <a:solidFill>
                  <a:schemeClr val="tx1"/>
                </a:solidFill>
              </a:rPr>
              <a:t>We wish to test whether factor </a:t>
            </a:r>
            <a:r>
              <a:rPr lang="en-NZ" altLang="ja-JP" sz="1800" b="1" i="1" dirty="0">
                <a:solidFill>
                  <a:schemeClr val="tx1"/>
                </a:solidFill>
              </a:rPr>
              <a:t>A</a:t>
            </a:r>
            <a:r>
              <a:rPr lang="en-NZ" altLang="ja-JP" sz="1800" dirty="0">
                <a:solidFill>
                  <a:schemeClr val="tx1"/>
                </a:solidFill>
              </a:rPr>
              <a:t> has any effect on the response variable, i.e. we wish to test between the hypotheses:</a:t>
            </a:r>
          </a:p>
        </p:txBody>
      </p:sp>
      <p:sp>
        <p:nvSpPr>
          <p:cNvPr id="10" name="Slide Number Placeholder 3">
            <a:extLst>
              <a:ext uri="{FF2B5EF4-FFF2-40B4-BE49-F238E27FC236}">
                <a16:creationId xmlns:a16="http://schemas.microsoft.com/office/drawing/2014/main" id="{B0C9041D-77F0-4656-90D4-0E84B7AC6B27}"/>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54AD89C-DF1E-4948-B597-5DD47B34A9CA}" type="slidenum">
              <a:rPr kumimoji="1" lang="ja-JP" altLang="en-US" sz="4000" b="0" i="0" u="none" strike="noStrike" kern="1200" cap="none" spc="0" normalizeH="0" baseline="0" noProof="0" smtClean="0">
                <a:ln>
                  <a:noFill/>
                </a:ln>
                <a:solidFill>
                  <a:srgbClr val="575454">
                    <a:lumMod val="20000"/>
                    <a:lumOff val="80000"/>
                  </a:srgbClr>
                </a:solidFill>
                <a:effectLst/>
                <a:uLnTx/>
                <a:uFillTx/>
                <a:latin typeface="Coo Hew"/>
                <a:ea typeface="游ゴシック" panose="020B0400000000000000"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1" lang="ja-JP" altLang="en-US" sz="4000" b="0" i="0" u="none" strike="noStrike" kern="1200" cap="none" spc="0" normalizeH="0" baseline="0" noProof="0" dirty="0">
              <a:ln>
                <a:noFill/>
              </a:ln>
              <a:solidFill>
                <a:srgbClr val="575454">
                  <a:lumMod val="20000"/>
                  <a:lumOff val="80000"/>
                </a:srgbClr>
              </a:solidFill>
              <a:effectLst/>
              <a:uLnTx/>
              <a:uFillTx/>
              <a:latin typeface="Coo Hew"/>
              <a:ea typeface="游ゴシック" panose="020B0400000000000000" pitchFamily="34" charset="-128"/>
              <a:cs typeface="+mn-cs"/>
            </a:endParaRPr>
          </a:p>
        </p:txBody>
      </p:sp>
      <p:sp>
        <p:nvSpPr>
          <p:cNvPr id="21" name="Title 6">
            <a:extLst>
              <a:ext uri="{FF2B5EF4-FFF2-40B4-BE49-F238E27FC236}">
                <a16:creationId xmlns:a16="http://schemas.microsoft.com/office/drawing/2014/main" id="{7C963C88-6E6E-2444-9663-776716CBAA9D}"/>
              </a:ext>
            </a:extLst>
          </p:cNvPr>
          <p:cNvSpPr txBox="1">
            <a:spLocks/>
          </p:cNvSpPr>
          <p:nvPr/>
        </p:nvSpPr>
        <p:spPr>
          <a:xfrm>
            <a:off x="251224" y="237833"/>
            <a:ext cx="9411391" cy="607201"/>
          </a:xfrm>
          <a:prstGeom prst="rect">
            <a:avLst/>
          </a:prstGeom>
        </p:spPr>
        <p:txBody>
          <a:bodyPr anchor="t">
            <a:normAutofit fontScale="85000" lnSpcReduction="10000"/>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pPr marL="0" marR="0" lvl="0" indent="0" algn="l" defTabSz="914324" rtl="0" eaLnBrk="1" fontAlgn="auto" latinLnBrk="0" hangingPunct="1">
              <a:lnSpc>
                <a:spcPct val="90000"/>
              </a:lnSpc>
              <a:spcBef>
                <a:spcPct val="0"/>
              </a:spcBef>
              <a:spcAft>
                <a:spcPts val="0"/>
              </a:spcAft>
              <a:buClrTx/>
              <a:buSzTx/>
              <a:buFontTx/>
              <a:buNone/>
              <a:tabLst/>
              <a:defRPr/>
            </a:pPr>
            <a:r>
              <a:rPr lang="en-US" altLang="ja-JP" b="1" u="sng" dirty="0">
                <a:solidFill>
                  <a:prstClr val="black"/>
                </a:solidFill>
                <a:latin typeface="Calibri" panose="020F0502020204030204"/>
                <a:ea typeface="游ゴシック Light" panose="020B0300000000000000" pitchFamily="34" charset="-128"/>
              </a:rPr>
              <a:t>5</a:t>
            </a:r>
            <a:r>
              <a:rPr kumimoji="1" lang="en-US" altLang="ja-JP"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rPr>
              <a:t>.2d – Hypothesis Testing for a 2-Stage Nested Design:</a:t>
            </a:r>
            <a:endParaRPr kumimoji="1" lang="ja-JP" altLang="en-US"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endParaRPr>
          </a:p>
        </p:txBody>
      </p:sp>
      <p:sp>
        <p:nvSpPr>
          <p:cNvPr id="17" name="Text Placeholder 5">
            <a:extLst>
              <a:ext uri="{FF2B5EF4-FFF2-40B4-BE49-F238E27FC236}">
                <a16:creationId xmlns:a16="http://schemas.microsoft.com/office/drawing/2014/main" id="{0EA64555-04E8-E51F-3EFE-B742B88F84D1}"/>
              </a:ext>
            </a:extLst>
          </p:cNvPr>
          <p:cNvSpPr txBox="1">
            <a:spLocks/>
          </p:cNvSpPr>
          <p:nvPr/>
        </p:nvSpPr>
        <p:spPr>
          <a:xfrm>
            <a:off x="251224" y="4170549"/>
            <a:ext cx="1795940" cy="41823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1800" dirty="0">
                <a:solidFill>
                  <a:schemeClr val="tx1"/>
                </a:solidFill>
              </a:rPr>
              <a:t>Note that:    </a:t>
            </a:r>
          </a:p>
          <a:p>
            <a:pPr algn="just">
              <a:lnSpc>
                <a:spcPct val="100000"/>
              </a:lnSpc>
            </a:pPr>
            <a:endParaRPr lang="en-NZ" altLang="ja-JP" sz="1800" dirty="0">
              <a:solidFill>
                <a:schemeClr val="tx1"/>
              </a:solidFill>
            </a:endParaRPr>
          </a:p>
        </p:txBody>
      </p:sp>
      <mc:AlternateContent xmlns:mc="http://schemas.openxmlformats.org/markup-compatibility/2006" xmlns:a14="http://schemas.microsoft.com/office/drawing/2010/main">
        <mc:Choice Requires="a14">
          <p:sp>
            <p:nvSpPr>
              <p:cNvPr id="18" name="Text Placeholder 5">
                <a:extLst>
                  <a:ext uri="{FF2B5EF4-FFF2-40B4-BE49-F238E27FC236}">
                    <a16:creationId xmlns:a16="http://schemas.microsoft.com/office/drawing/2014/main" id="{FBBABF70-8598-5F0F-7F93-020A38151BCF}"/>
                  </a:ext>
                </a:extLst>
              </p:cNvPr>
              <p:cNvSpPr txBox="1">
                <a:spLocks/>
              </p:cNvSpPr>
              <p:nvPr/>
            </p:nvSpPr>
            <p:spPr>
              <a:xfrm>
                <a:off x="376165" y="4611058"/>
                <a:ext cx="8366529" cy="96007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14:m>
                  <m:oMathPara xmlns:m="http://schemas.openxmlformats.org/officeDocument/2006/math">
                    <m:oMathParaPr>
                      <m:jc m:val="centerGroup"/>
                    </m:oMathParaPr>
                    <m:oMath xmlns:m="http://schemas.openxmlformats.org/officeDocument/2006/math">
                      <m:sSub>
                        <m:sSubPr>
                          <m:ctrlPr>
                            <a:rPr lang="en-NZ" altLang="ja-JP" sz="1800" b="1" i="1" smtClean="0">
                              <a:solidFill>
                                <a:schemeClr val="tx1"/>
                              </a:solidFill>
                              <a:latin typeface="Cambria Math" panose="02040503050406030204" pitchFamily="18" charset="0"/>
                            </a:rPr>
                          </m:ctrlPr>
                        </m:sSubPr>
                        <m:e>
                          <m:d>
                            <m:dPr>
                              <m:begChr m:val=""/>
                              <m:endChr m:val="|"/>
                              <m:ctrlPr>
                                <a:rPr lang="en-NZ" altLang="ja-JP" sz="1800" b="1" i="1" smtClean="0">
                                  <a:solidFill>
                                    <a:schemeClr val="tx1"/>
                                  </a:solidFill>
                                  <a:latin typeface="Cambria Math" panose="02040503050406030204" pitchFamily="18" charset="0"/>
                                </a:rPr>
                              </m:ctrlPr>
                            </m:dPr>
                            <m:e>
                              <m:r>
                                <a:rPr lang="en-NZ" altLang="ja-JP" sz="1800" b="1" i="1">
                                  <a:solidFill>
                                    <a:schemeClr val="tx1"/>
                                  </a:solidFill>
                                  <a:latin typeface="Cambria Math" panose="02040503050406030204" pitchFamily="18" charset="0"/>
                                </a:rPr>
                                <m:t>𝑬</m:t>
                              </m:r>
                              <m:d>
                                <m:dPr>
                                  <m:begChr m:val="["/>
                                  <m:endChr m:val="]"/>
                                  <m:ctrlPr>
                                    <a:rPr lang="en-NZ" altLang="ja-JP" sz="1800" b="1" i="1">
                                      <a:solidFill>
                                        <a:schemeClr val="tx1"/>
                                      </a:solidFill>
                                      <a:latin typeface="Cambria Math" panose="02040503050406030204" pitchFamily="18" charset="0"/>
                                    </a:rPr>
                                  </m:ctrlPr>
                                </m:dPr>
                                <m:e>
                                  <m:f>
                                    <m:fPr>
                                      <m:ctrlPr>
                                        <a:rPr lang="en-NZ" altLang="ja-JP" sz="1800" b="1" i="1" smtClean="0">
                                          <a:solidFill>
                                            <a:srgbClr val="C00000"/>
                                          </a:solidFill>
                                          <a:latin typeface="Cambria Math" panose="02040503050406030204" pitchFamily="18" charset="0"/>
                                        </a:rPr>
                                      </m:ctrlPr>
                                    </m:fPr>
                                    <m:num>
                                      <m:r>
                                        <a:rPr lang="en-NZ" altLang="ja-JP" sz="1800" b="1" i="1">
                                          <a:solidFill>
                                            <a:srgbClr val="C00000"/>
                                          </a:solidFill>
                                          <a:latin typeface="Cambria Math" panose="02040503050406030204" pitchFamily="18" charset="0"/>
                                        </a:rPr>
                                        <m:t>𝑴</m:t>
                                      </m:r>
                                      <m:sSub>
                                        <m:sSubPr>
                                          <m:ctrlPr>
                                            <a:rPr lang="en-NZ" altLang="ja-JP" sz="1800" b="1" i="1">
                                              <a:solidFill>
                                                <a:srgbClr val="C00000"/>
                                              </a:solidFill>
                                              <a:latin typeface="Cambria Math" panose="02040503050406030204" pitchFamily="18" charset="0"/>
                                            </a:rPr>
                                          </m:ctrlPr>
                                        </m:sSubPr>
                                        <m:e>
                                          <m:r>
                                            <a:rPr lang="en-NZ" altLang="ja-JP" sz="1800" b="1" i="1">
                                              <a:solidFill>
                                                <a:srgbClr val="C00000"/>
                                              </a:solidFill>
                                              <a:latin typeface="Cambria Math" panose="02040503050406030204" pitchFamily="18" charset="0"/>
                                            </a:rPr>
                                            <m:t>𝑺</m:t>
                                          </m:r>
                                        </m:e>
                                        <m:sub>
                                          <m:r>
                                            <a:rPr lang="en-NZ" altLang="ja-JP" sz="1800" b="1" i="1">
                                              <a:solidFill>
                                                <a:srgbClr val="C00000"/>
                                              </a:solidFill>
                                              <a:latin typeface="Cambria Math" panose="02040503050406030204" pitchFamily="18" charset="0"/>
                                            </a:rPr>
                                            <m:t>𝑨</m:t>
                                          </m:r>
                                        </m:sub>
                                      </m:sSub>
                                    </m:num>
                                    <m:den>
                                      <m:r>
                                        <a:rPr lang="en-NZ" altLang="ja-JP" sz="1800" b="1" i="1">
                                          <a:solidFill>
                                            <a:srgbClr val="C00000"/>
                                          </a:solidFill>
                                          <a:latin typeface="Cambria Math" panose="02040503050406030204" pitchFamily="18" charset="0"/>
                                        </a:rPr>
                                        <m:t> </m:t>
                                      </m:r>
                                      <m:r>
                                        <a:rPr lang="en-NZ" altLang="ja-JP" sz="1800" b="1" i="1">
                                          <a:solidFill>
                                            <a:srgbClr val="C00000"/>
                                          </a:solidFill>
                                          <a:latin typeface="Cambria Math" panose="02040503050406030204" pitchFamily="18" charset="0"/>
                                        </a:rPr>
                                        <m:t>𝑴𝑺𝑬</m:t>
                                      </m:r>
                                      <m:r>
                                        <a:rPr lang="en-NZ" altLang="ja-JP" sz="1800" b="1" i="1">
                                          <a:solidFill>
                                            <a:srgbClr val="C00000"/>
                                          </a:solidFill>
                                          <a:latin typeface="Cambria Math" panose="02040503050406030204" pitchFamily="18" charset="0"/>
                                        </a:rPr>
                                        <m:t> </m:t>
                                      </m:r>
                                    </m:den>
                                  </m:f>
                                </m:e>
                              </m:d>
                              <m:r>
                                <a:rPr lang="en-NZ" altLang="ja-JP" sz="1800" b="1" i="1" smtClean="0">
                                  <a:solidFill>
                                    <a:schemeClr val="tx1"/>
                                  </a:solidFill>
                                  <a:latin typeface="Cambria Math" panose="02040503050406030204" pitchFamily="18" charset="0"/>
                                </a:rPr>
                                <m:t>  </m:t>
                              </m:r>
                            </m:e>
                          </m:d>
                        </m:e>
                        <m:sub>
                          <m:sSub>
                            <m:sSubPr>
                              <m:ctrlPr>
                                <a:rPr lang="en-NZ" altLang="ja-JP" sz="1800" b="1" i="1" smtClean="0">
                                  <a:solidFill>
                                    <a:schemeClr val="tx1"/>
                                  </a:solidFill>
                                  <a:latin typeface="Cambria Math" panose="02040503050406030204" pitchFamily="18" charset="0"/>
                                </a:rPr>
                              </m:ctrlPr>
                            </m:sSubPr>
                            <m:e>
                              <m:r>
                                <a:rPr lang="en-NZ" altLang="ja-JP" sz="1800" b="1" i="1" smtClean="0">
                                  <a:solidFill>
                                    <a:schemeClr val="tx1"/>
                                  </a:solidFill>
                                  <a:latin typeface="Cambria Math" panose="02040503050406030204" pitchFamily="18" charset="0"/>
                                </a:rPr>
                                <m:t>𝑯</m:t>
                              </m:r>
                            </m:e>
                            <m:sub>
                              <m:r>
                                <a:rPr lang="en-NZ" altLang="ja-JP" sz="1800" b="1" i="1" smtClean="0">
                                  <a:solidFill>
                                    <a:schemeClr val="tx1"/>
                                  </a:solidFill>
                                  <a:latin typeface="Cambria Math" panose="02040503050406030204" pitchFamily="18" charset="0"/>
                                </a:rPr>
                                <m:t>𝟎</m:t>
                              </m:r>
                            </m:sub>
                          </m:sSub>
                        </m:sub>
                      </m:sSub>
                      <m:r>
                        <a:rPr lang="en-NZ" altLang="ja-JP" sz="1800" b="1" i="1" smtClean="0">
                          <a:solidFill>
                            <a:schemeClr val="tx1"/>
                          </a:solidFill>
                          <a:latin typeface="Cambria Math" panose="02040503050406030204" pitchFamily="18" charset="0"/>
                        </a:rPr>
                        <m:t> =    </m:t>
                      </m:r>
                      <m:sSub>
                        <m:sSubPr>
                          <m:ctrlPr>
                            <a:rPr lang="en-NZ" altLang="ja-JP" sz="1800" b="1" i="1" smtClean="0">
                              <a:solidFill>
                                <a:schemeClr val="tx1"/>
                              </a:solidFill>
                              <a:latin typeface="Cambria Math" panose="02040503050406030204" pitchFamily="18" charset="0"/>
                            </a:rPr>
                          </m:ctrlPr>
                        </m:sSubPr>
                        <m:e>
                          <m:d>
                            <m:dPr>
                              <m:begChr m:val=""/>
                              <m:endChr m:val="|"/>
                              <m:ctrlPr>
                                <a:rPr lang="en-NZ" altLang="ja-JP" sz="1800" b="1" i="1" smtClean="0">
                                  <a:solidFill>
                                    <a:schemeClr val="tx1"/>
                                  </a:solidFill>
                                  <a:latin typeface="Cambria Math" panose="02040503050406030204" pitchFamily="18" charset="0"/>
                                </a:rPr>
                              </m:ctrlPr>
                            </m:dPr>
                            <m:e>
                              <m:f>
                                <m:fPr>
                                  <m:ctrlPr>
                                    <a:rPr lang="en-NZ" altLang="ja-JP" sz="1800" b="1" i="1">
                                      <a:solidFill>
                                        <a:schemeClr val="tx1"/>
                                      </a:solidFill>
                                      <a:latin typeface="Cambria Math" panose="02040503050406030204" pitchFamily="18" charset="0"/>
                                    </a:rPr>
                                  </m:ctrlPr>
                                </m:fPr>
                                <m:num>
                                  <m:sSup>
                                    <m:sSupPr>
                                      <m:ctrlPr>
                                        <a:rPr lang="en-NZ" sz="1800" b="1" i="1">
                                          <a:solidFill>
                                            <a:schemeClr val="tx1"/>
                                          </a:solidFill>
                                          <a:latin typeface="Cambria Math" panose="02040503050406030204" pitchFamily="18" charset="0"/>
                                        </a:rPr>
                                      </m:ctrlPr>
                                    </m:sSupPr>
                                    <m:e>
                                      <m:r>
                                        <a:rPr lang="en-NZ" sz="1800" b="1" i="1">
                                          <a:solidFill>
                                            <a:schemeClr val="tx1"/>
                                          </a:solidFill>
                                          <a:latin typeface="Cambria Math" panose="02040503050406030204" pitchFamily="18" charset="0"/>
                                        </a:rPr>
                                        <m:t>𝝈</m:t>
                                      </m:r>
                                    </m:e>
                                    <m:sup>
                                      <m:r>
                                        <a:rPr lang="en-NZ" sz="1800" b="1" i="1">
                                          <a:solidFill>
                                            <a:schemeClr val="tx1"/>
                                          </a:solidFill>
                                          <a:latin typeface="Cambria Math" panose="02040503050406030204" pitchFamily="18" charset="0"/>
                                        </a:rPr>
                                        <m:t>𝟐</m:t>
                                      </m:r>
                                    </m:sup>
                                  </m:sSup>
                                  <m:r>
                                    <a:rPr lang="en-NZ" sz="1800" b="1" i="1">
                                      <a:solidFill>
                                        <a:schemeClr val="tx1"/>
                                      </a:solidFill>
                                      <a:latin typeface="Cambria Math" panose="02040503050406030204" pitchFamily="18" charset="0"/>
                                    </a:rPr>
                                    <m:t>+  </m:t>
                                  </m:r>
                                  <m:r>
                                    <a:rPr lang="en-NZ" sz="1800" b="1" i="1">
                                      <a:solidFill>
                                        <a:schemeClr val="tx1"/>
                                      </a:solidFill>
                                      <a:latin typeface="Cambria Math" panose="02040503050406030204" pitchFamily="18" charset="0"/>
                                    </a:rPr>
                                    <m:t>𝒏</m:t>
                                  </m:r>
                                  <m:r>
                                    <a:rPr lang="en-NZ" sz="1800" b="1" i="1">
                                      <a:solidFill>
                                        <a:schemeClr val="tx1"/>
                                      </a:solidFill>
                                      <a:latin typeface="Cambria Math" panose="02040503050406030204" pitchFamily="18" charset="0"/>
                                    </a:rPr>
                                    <m:t> </m:t>
                                  </m:r>
                                  <m:sSubSup>
                                    <m:sSubSupPr>
                                      <m:ctrlPr>
                                        <a:rPr lang="en-NZ" sz="1800" b="1" i="1">
                                          <a:solidFill>
                                            <a:schemeClr val="tx1"/>
                                          </a:solidFill>
                                          <a:latin typeface="Cambria Math" panose="02040503050406030204" pitchFamily="18" charset="0"/>
                                        </a:rPr>
                                      </m:ctrlPr>
                                    </m:sSubSupPr>
                                    <m:e>
                                      <m:r>
                                        <a:rPr lang="en-NZ" sz="1800" b="1" i="1">
                                          <a:solidFill>
                                            <a:schemeClr val="tx1"/>
                                          </a:solidFill>
                                          <a:latin typeface="Cambria Math" panose="02040503050406030204" pitchFamily="18" charset="0"/>
                                        </a:rPr>
                                        <m:t>𝝈</m:t>
                                      </m:r>
                                    </m:e>
                                    <m:sub>
                                      <m:r>
                                        <a:rPr lang="en-NZ" sz="1800" b="1" i="1">
                                          <a:solidFill>
                                            <a:schemeClr val="tx1"/>
                                          </a:solidFill>
                                          <a:latin typeface="Cambria Math" panose="02040503050406030204" pitchFamily="18" charset="0"/>
                                        </a:rPr>
                                        <m:t>𝑩</m:t>
                                      </m:r>
                                    </m:sub>
                                    <m:sup>
                                      <m:r>
                                        <a:rPr lang="en-NZ" sz="1800" b="1" i="1">
                                          <a:solidFill>
                                            <a:schemeClr val="tx1"/>
                                          </a:solidFill>
                                          <a:latin typeface="Cambria Math" panose="02040503050406030204" pitchFamily="18" charset="0"/>
                                        </a:rPr>
                                        <m:t>𝟐</m:t>
                                      </m:r>
                                    </m:sup>
                                  </m:sSubSup>
                                  <m:r>
                                    <a:rPr lang="en-NZ" sz="1800" b="1" i="1">
                                      <a:solidFill>
                                        <a:schemeClr val="tx1"/>
                                      </a:solidFill>
                                      <a:latin typeface="Cambria Math" panose="02040503050406030204" pitchFamily="18" charset="0"/>
                                    </a:rPr>
                                    <m:t> +  </m:t>
                                  </m:r>
                                  <m:r>
                                    <a:rPr lang="en-NZ" sz="1800" b="1" i="1">
                                      <a:solidFill>
                                        <a:schemeClr val="tx1"/>
                                      </a:solidFill>
                                      <a:latin typeface="Cambria Math" panose="02040503050406030204" pitchFamily="18" charset="0"/>
                                    </a:rPr>
                                    <m:t>𝒃𝒏</m:t>
                                  </m:r>
                                  <m:r>
                                    <a:rPr lang="en-NZ" sz="1800" b="1" i="1">
                                      <a:solidFill>
                                        <a:schemeClr val="tx1"/>
                                      </a:solidFill>
                                      <a:latin typeface="Cambria Math" panose="02040503050406030204" pitchFamily="18" charset="0"/>
                                    </a:rPr>
                                    <m:t> </m:t>
                                  </m:r>
                                  <m:r>
                                    <a:rPr lang="en-NZ" sz="1800" b="1" i="1">
                                      <a:solidFill>
                                        <a:schemeClr val="tx1"/>
                                      </a:solidFill>
                                      <a:latin typeface="Cambria Math" panose="02040503050406030204" pitchFamily="18" charset="0"/>
                                    </a:rPr>
                                    <m:t>𝒗</m:t>
                                  </m:r>
                                  <m:d>
                                    <m:dPr>
                                      <m:ctrlPr>
                                        <a:rPr lang="en-NZ" sz="1800" b="1" i="1">
                                          <a:solidFill>
                                            <a:schemeClr val="tx1"/>
                                          </a:solidFill>
                                          <a:latin typeface="Cambria Math" panose="02040503050406030204" pitchFamily="18" charset="0"/>
                                        </a:rPr>
                                      </m:ctrlPr>
                                    </m:dPr>
                                    <m:e>
                                      <m:r>
                                        <a:rPr lang="en-NZ" sz="1800" b="1" i="1">
                                          <a:solidFill>
                                            <a:schemeClr val="tx1"/>
                                          </a:solidFill>
                                          <a:latin typeface="Cambria Math" panose="02040503050406030204" pitchFamily="18" charset="0"/>
                                        </a:rPr>
                                        <m:t>𝜶</m:t>
                                      </m:r>
                                    </m:e>
                                  </m:d>
                                  <m:r>
                                    <m:rPr>
                                      <m:nor/>
                                    </m:rPr>
                                    <a:rPr lang="en-NZ" sz="1800" b="1" dirty="0">
                                      <a:solidFill>
                                        <a:schemeClr val="tx1"/>
                                      </a:solidFill>
                                    </a:rPr>
                                    <m:t> </m:t>
                                  </m:r>
                                </m:num>
                                <m:den>
                                  <m:sSup>
                                    <m:sSupPr>
                                      <m:ctrlPr>
                                        <a:rPr lang="en-NZ" sz="1800" b="1" i="1">
                                          <a:solidFill>
                                            <a:schemeClr val="tx1"/>
                                          </a:solidFill>
                                          <a:latin typeface="Cambria Math" panose="02040503050406030204" pitchFamily="18" charset="0"/>
                                        </a:rPr>
                                      </m:ctrlPr>
                                    </m:sSupPr>
                                    <m:e>
                                      <m:r>
                                        <a:rPr lang="en-NZ" sz="1800" b="1" i="1">
                                          <a:solidFill>
                                            <a:schemeClr val="tx1"/>
                                          </a:solidFill>
                                          <a:latin typeface="Cambria Math" panose="02040503050406030204" pitchFamily="18" charset="0"/>
                                        </a:rPr>
                                        <m:t>𝝈</m:t>
                                      </m:r>
                                    </m:e>
                                    <m:sup>
                                      <m:r>
                                        <a:rPr lang="en-NZ" sz="1800" b="1" i="1">
                                          <a:solidFill>
                                            <a:schemeClr val="tx1"/>
                                          </a:solidFill>
                                          <a:latin typeface="Cambria Math" panose="02040503050406030204" pitchFamily="18" charset="0"/>
                                        </a:rPr>
                                        <m:t>𝟐</m:t>
                                      </m:r>
                                    </m:sup>
                                  </m:sSup>
                                </m:den>
                              </m:f>
                              <m:r>
                                <a:rPr lang="en-NZ" sz="1800" b="1" i="1" smtClean="0">
                                  <a:solidFill>
                                    <a:schemeClr val="tx1"/>
                                  </a:solidFill>
                                  <a:latin typeface="Cambria Math" panose="02040503050406030204" pitchFamily="18" charset="0"/>
                                </a:rPr>
                                <m:t>  </m:t>
                              </m:r>
                            </m:e>
                          </m:d>
                        </m:e>
                        <m:sub>
                          <m:sSub>
                            <m:sSubPr>
                              <m:ctrlPr>
                                <a:rPr lang="en-NZ" altLang="ja-JP" sz="1800" b="1" i="1" smtClean="0">
                                  <a:solidFill>
                                    <a:schemeClr val="tx1"/>
                                  </a:solidFill>
                                  <a:latin typeface="Cambria Math" panose="02040503050406030204" pitchFamily="18" charset="0"/>
                                </a:rPr>
                              </m:ctrlPr>
                            </m:sSubPr>
                            <m:e>
                              <m:r>
                                <a:rPr lang="en-NZ" altLang="ja-JP" sz="1800" b="1" i="1" smtClean="0">
                                  <a:solidFill>
                                    <a:schemeClr val="tx1"/>
                                  </a:solidFill>
                                  <a:latin typeface="Cambria Math" panose="02040503050406030204" pitchFamily="18" charset="0"/>
                                </a:rPr>
                                <m:t>𝑯</m:t>
                              </m:r>
                            </m:e>
                            <m:sub>
                              <m:r>
                                <a:rPr lang="en-NZ" altLang="ja-JP" sz="1800" b="1" i="1" smtClean="0">
                                  <a:solidFill>
                                    <a:schemeClr val="tx1"/>
                                  </a:solidFill>
                                  <a:latin typeface="Cambria Math" panose="02040503050406030204" pitchFamily="18" charset="0"/>
                                </a:rPr>
                                <m:t>𝟎</m:t>
                              </m:r>
                            </m:sub>
                          </m:sSub>
                        </m:sub>
                      </m:sSub>
                      <m:r>
                        <a:rPr lang="en-NZ" altLang="ja-JP" sz="1800" b="1" i="1" smtClean="0">
                          <a:solidFill>
                            <a:schemeClr val="tx1"/>
                          </a:solidFill>
                          <a:latin typeface="Cambria Math" panose="02040503050406030204" pitchFamily="18" charset="0"/>
                        </a:rPr>
                        <m:t>   =   </m:t>
                      </m:r>
                      <m:f>
                        <m:fPr>
                          <m:ctrlPr>
                            <a:rPr lang="en-NZ" altLang="ja-JP" sz="1800" b="1" i="1">
                              <a:solidFill>
                                <a:schemeClr val="tx1"/>
                              </a:solidFill>
                              <a:latin typeface="Cambria Math" panose="02040503050406030204" pitchFamily="18" charset="0"/>
                            </a:rPr>
                          </m:ctrlPr>
                        </m:fPr>
                        <m:num>
                          <m:sSup>
                            <m:sSupPr>
                              <m:ctrlPr>
                                <a:rPr lang="en-NZ" sz="1800" b="1" i="1">
                                  <a:solidFill>
                                    <a:schemeClr val="tx1"/>
                                  </a:solidFill>
                                  <a:latin typeface="Cambria Math" panose="02040503050406030204" pitchFamily="18" charset="0"/>
                                </a:rPr>
                              </m:ctrlPr>
                            </m:sSupPr>
                            <m:e>
                              <m:r>
                                <a:rPr lang="en-NZ" sz="1800" b="1" i="1">
                                  <a:solidFill>
                                    <a:schemeClr val="tx1"/>
                                  </a:solidFill>
                                  <a:latin typeface="Cambria Math" panose="02040503050406030204" pitchFamily="18" charset="0"/>
                                </a:rPr>
                                <m:t>𝝈</m:t>
                              </m:r>
                            </m:e>
                            <m:sup>
                              <m:r>
                                <a:rPr lang="en-NZ" sz="1800" b="1" i="1">
                                  <a:solidFill>
                                    <a:schemeClr val="tx1"/>
                                  </a:solidFill>
                                  <a:latin typeface="Cambria Math" panose="02040503050406030204" pitchFamily="18" charset="0"/>
                                </a:rPr>
                                <m:t>𝟐</m:t>
                              </m:r>
                            </m:sup>
                          </m:sSup>
                          <m:r>
                            <a:rPr lang="en-NZ" sz="1800" b="1" i="1">
                              <a:solidFill>
                                <a:schemeClr val="tx1"/>
                              </a:solidFill>
                              <a:latin typeface="Cambria Math" panose="02040503050406030204" pitchFamily="18" charset="0"/>
                            </a:rPr>
                            <m:t>+  </m:t>
                          </m:r>
                          <m:r>
                            <a:rPr lang="en-NZ" sz="1800" b="1" i="1">
                              <a:solidFill>
                                <a:schemeClr val="tx1"/>
                              </a:solidFill>
                              <a:latin typeface="Cambria Math" panose="02040503050406030204" pitchFamily="18" charset="0"/>
                            </a:rPr>
                            <m:t>𝒏</m:t>
                          </m:r>
                          <m:r>
                            <a:rPr lang="en-NZ" sz="1800" b="1" i="1">
                              <a:solidFill>
                                <a:schemeClr val="tx1"/>
                              </a:solidFill>
                              <a:latin typeface="Cambria Math" panose="02040503050406030204" pitchFamily="18" charset="0"/>
                            </a:rPr>
                            <m:t> </m:t>
                          </m:r>
                          <m:sSubSup>
                            <m:sSubSupPr>
                              <m:ctrlPr>
                                <a:rPr lang="en-NZ" sz="1800" b="1" i="1">
                                  <a:solidFill>
                                    <a:schemeClr val="tx1"/>
                                  </a:solidFill>
                                  <a:latin typeface="Cambria Math" panose="02040503050406030204" pitchFamily="18" charset="0"/>
                                </a:rPr>
                              </m:ctrlPr>
                            </m:sSubSupPr>
                            <m:e>
                              <m:r>
                                <a:rPr lang="en-NZ" sz="1800" b="1" i="1">
                                  <a:solidFill>
                                    <a:schemeClr val="tx1"/>
                                  </a:solidFill>
                                  <a:latin typeface="Cambria Math" panose="02040503050406030204" pitchFamily="18" charset="0"/>
                                </a:rPr>
                                <m:t>𝝈</m:t>
                              </m:r>
                            </m:e>
                            <m:sub>
                              <m:r>
                                <a:rPr lang="en-NZ" sz="1800" b="1" i="1">
                                  <a:solidFill>
                                    <a:schemeClr val="tx1"/>
                                  </a:solidFill>
                                  <a:latin typeface="Cambria Math" panose="02040503050406030204" pitchFamily="18" charset="0"/>
                                </a:rPr>
                                <m:t>𝑩</m:t>
                              </m:r>
                            </m:sub>
                            <m:sup>
                              <m:r>
                                <a:rPr lang="en-NZ" sz="1800" b="1" i="1">
                                  <a:solidFill>
                                    <a:schemeClr val="tx1"/>
                                  </a:solidFill>
                                  <a:latin typeface="Cambria Math" panose="02040503050406030204" pitchFamily="18" charset="0"/>
                                </a:rPr>
                                <m:t>𝟐</m:t>
                              </m:r>
                            </m:sup>
                          </m:sSubSup>
                          <m:r>
                            <a:rPr lang="en-NZ" sz="1800" b="1" i="1">
                              <a:solidFill>
                                <a:schemeClr val="tx1"/>
                              </a:solidFill>
                              <a:latin typeface="Cambria Math" panose="02040503050406030204" pitchFamily="18" charset="0"/>
                            </a:rPr>
                            <m:t> </m:t>
                          </m:r>
                        </m:num>
                        <m:den>
                          <m:sSup>
                            <m:sSupPr>
                              <m:ctrlPr>
                                <a:rPr lang="en-NZ" sz="1800" b="1" i="1">
                                  <a:solidFill>
                                    <a:schemeClr val="tx1"/>
                                  </a:solidFill>
                                  <a:latin typeface="Cambria Math" panose="02040503050406030204" pitchFamily="18" charset="0"/>
                                </a:rPr>
                              </m:ctrlPr>
                            </m:sSupPr>
                            <m:e>
                              <m:r>
                                <a:rPr lang="en-NZ" sz="1800" b="1" i="1">
                                  <a:solidFill>
                                    <a:schemeClr val="tx1"/>
                                  </a:solidFill>
                                  <a:latin typeface="Cambria Math" panose="02040503050406030204" pitchFamily="18" charset="0"/>
                                </a:rPr>
                                <m:t>𝝈</m:t>
                              </m:r>
                            </m:e>
                            <m:sup>
                              <m:r>
                                <a:rPr lang="en-NZ" sz="1800" b="1" i="1">
                                  <a:solidFill>
                                    <a:schemeClr val="tx1"/>
                                  </a:solidFill>
                                  <a:latin typeface="Cambria Math" panose="02040503050406030204" pitchFamily="18" charset="0"/>
                                </a:rPr>
                                <m:t>𝟐</m:t>
                              </m:r>
                            </m:sup>
                          </m:sSup>
                        </m:den>
                      </m:f>
                      <m:r>
                        <a:rPr lang="en-NZ" sz="1800" b="1" i="1" smtClean="0">
                          <a:solidFill>
                            <a:schemeClr val="tx1"/>
                          </a:solidFill>
                          <a:latin typeface="Cambria Math" panose="02040503050406030204" pitchFamily="18" charset="0"/>
                        </a:rPr>
                        <m:t>   &gt;    </m:t>
                      </m:r>
                      <m:r>
                        <a:rPr lang="en-NZ" sz="1800" b="1" i="1" smtClean="0">
                          <a:solidFill>
                            <a:schemeClr val="tx1"/>
                          </a:solidFill>
                          <a:latin typeface="Cambria Math" panose="02040503050406030204" pitchFamily="18" charset="0"/>
                        </a:rPr>
                        <m:t>𝟏</m:t>
                      </m:r>
                    </m:oMath>
                  </m:oMathPara>
                </a14:m>
                <a:endParaRPr lang="en-NZ" altLang="ja-JP" sz="1800" b="1" dirty="0">
                  <a:solidFill>
                    <a:schemeClr val="tx1"/>
                  </a:solidFill>
                </a:endParaRPr>
              </a:p>
              <a:p>
                <a:pPr algn="just">
                  <a:lnSpc>
                    <a:spcPct val="100000"/>
                  </a:lnSpc>
                </a:pPr>
                <a:endParaRPr lang="en-NZ" altLang="ja-JP" sz="1800" b="1" dirty="0">
                  <a:solidFill>
                    <a:schemeClr val="tx1"/>
                  </a:solidFill>
                </a:endParaRPr>
              </a:p>
            </p:txBody>
          </p:sp>
        </mc:Choice>
        <mc:Fallback xmlns="">
          <p:sp>
            <p:nvSpPr>
              <p:cNvPr id="18" name="Text Placeholder 5">
                <a:extLst>
                  <a:ext uri="{FF2B5EF4-FFF2-40B4-BE49-F238E27FC236}">
                    <a16:creationId xmlns:a16="http://schemas.microsoft.com/office/drawing/2014/main" id="{FBBABF70-8598-5F0F-7F93-020A38151BCF}"/>
                  </a:ext>
                </a:extLst>
              </p:cNvPr>
              <p:cNvSpPr txBox="1">
                <a:spLocks noRot="1" noChangeAspect="1" noMove="1" noResize="1" noEditPoints="1" noAdjustHandles="1" noChangeArrowheads="1" noChangeShapeType="1" noTextEdit="1"/>
              </p:cNvSpPr>
              <p:nvPr/>
            </p:nvSpPr>
            <p:spPr>
              <a:xfrm>
                <a:off x="376165" y="4611058"/>
                <a:ext cx="8366529" cy="960076"/>
              </a:xfrm>
              <a:prstGeom prst="rect">
                <a:avLst/>
              </a:prstGeom>
              <a:blipFill>
                <a:blip r:embed="rId2"/>
                <a:stretch>
                  <a:fillRect/>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23" name="Text Placeholder 5">
                <a:extLst>
                  <a:ext uri="{FF2B5EF4-FFF2-40B4-BE49-F238E27FC236}">
                    <a16:creationId xmlns:a16="http://schemas.microsoft.com/office/drawing/2014/main" id="{3FCF1465-DD8C-63A6-7BBC-BC60334E8714}"/>
                  </a:ext>
                </a:extLst>
              </p:cNvPr>
              <p:cNvSpPr txBox="1">
                <a:spLocks/>
              </p:cNvSpPr>
              <p:nvPr/>
            </p:nvSpPr>
            <p:spPr>
              <a:xfrm>
                <a:off x="251224" y="5594733"/>
                <a:ext cx="7113047" cy="41823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1800" dirty="0">
                    <a:solidFill>
                      <a:schemeClr val="tx1"/>
                    </a:solidFill>
                  </a:rPr>
                  <a:t>=&gt;  </a:t>
                </a:r>
                <a14:m>
                  <m:oMath xmlns:m="http://schemas.openxmlformats.org/officeDocument/2006/math">
                    <m:f>
                      <m:fPr>
                        <m:ctrlPr>
                          <a:rPr lang="en-NZ" altLang="ja-JP" sz="1800" b="1" i="1" smtClean="0">
                            <a:solidFill>
                              <a:srgbClr val="C00000"/>
                            </a:solidFill>
                            <a:latin typeface="Cambria Math" panose="02040503050406030204" pitchFamily="18" charset="0"/>
                          </a:rPr>
                        </m:ctrlPr>
                      </m:fPr>
                      <m:num>
                        <m:r>
                          <a:rPr lang="en-NZ" altLang="ja-JP" sz="1800" b="1" i="1">
                            <a:solidFill>
                              <a:srgbClr val="C00000"/>
                            </a:solidFill>
                            <a:latin typeface="Cambria Math" panose="02040503050406030204" pitchFamily="18" charset="0"/>
                          </a:rPr>
                          <m:t>𝑴</m:t>
                        </m:r>
                        <m:sSub>
                          <m:sSubPr>
                            <m:ctrlPr>
                              <a:rPr lang="en-NZ" altLang="ja-JP" sz="1800" b="1" i="1">
                                <a:solidFill>
                                  <a:srgbClr val="C00000"/>
                                </a:solidFill>
                                <a:latin typeface="Cambria Math" panose="02040503050406030204" pitchFamily="18" charset="0"/>
                              </a:rPr>
                            </m:ctrlPr>
                          </m:sSubPr>
                          <m:e>
                            <m:r>
                              <a:rPr lang="en-NZ" altLang="ja-JP" sz="1800" b="1" i="1">
                                <a:solidFill>
                                  <a:srgbClr val="C00000"/>
                                </a:solidFill>
                                <a:latin typeface="Cambria Math" panose="02040503050406030204" pitchFamily="18" charset="0"/>
                              </a:rPr>
                              <m:t>𝑺</m:t>
                            </m:r>
                          </m:e>
                          <m:sub>
                            <m:r>
                              <a:rPr lang="en-NZ" altLang="ja-JP" sz="1800" b="1" i="1">
                                <a:solidFill>
                                  <a:srgbClr val="C00000"/>
                                </a:solidFill>
                                <a:latin typeface="Cambria Math" panose="02040503050406030204" pitchFamily="18" charset="0"/>
                              </a:rPr>
                              <m:t>𝑨</m:t>
                            </m:r>
                          </m:sub>
                        </m:sSub>
                      </m:num>
                      <m:den>
                        <m:r>
                          <a:rPr lang="en-NZ" altLang="ja-JP" sz="1800" b="1" i="1">
                            <a:solidFill>
                              <a:srgbClr val="C00000"/>
                            </a:solidFill>
                            <a:latin typeface="Cambria Math" panose="02040503050406030204" pitchFamily="18" charset="0"/>
                          </a:rPr>
                          <m:t> </m:t>
                        </m:r>
                        <m:r>
                          <a:rPr lang="en-NZ" altLang="ja-JP" sz="1800" b="1" i="1">
                            <a:solidFill>
                              <a:srgbClr val="C00000"/>
                            </a:solidFill>
                            <a:latin typeface="Cambria Math" panose="02040503050406030204" pitchFamily="18" charset="0"/>
                          </a:rPr>
                          <m:t>𝑴𝑺𝑬</m:t>
                        </m:r>
                        <m:r>
                          <a:rPr lang="en-NZ" altLang="ja-JP" sz="1800" b="1" i="1">
                            <a:solidFill>
                              <a:srgbClr val="C00000"/>
                            </a:solidFill>
                            <a:latin typeface="Cambria Math" panose="02040503050406030204" pitchFamily="18" charset="0"/>
                          </a:rPr>
                          <m:t> </m:t>
                        </m:r>
                      </m:den>
                    </m:f>
                  </m:oMath>
                </a14:m>
                <a:r>
                  <a:rPr lang="en-NZ" altLang="ja-JP" sz="1800" dirty="0">
                    <a:solidFill>
                      <a:srgbClr val="C00000"/>
                    </a:solidFill>
                  </a:rPr>
                  <a:t>  </a:t>
                </a:r>
                <a:r>
                  <a:rPr lang="en-NZ" altLang="ja-JP" sz="1800" dirty="0">
                    <a:solidFill>
                      <a:schemeClr val="tx1"/>
                    </a:solidFill>
                  </a:rPr>
                  <a:t>is not a suitable test statistic for our hypothesis test    </a:t>
                </a:r>
              </a:p>
              <a:p>
                <a:pPr algn="just">
                  <a:lnSpc>
                    <a:spcPct val="100000"/>
                  </a:lnSpc>
                </a:pPr>
                <a:endParaRPr lang="en-NZ" altLang="ja-JP" sz="1800" dirty="0">
                  <a:solidFill>
                    <a:schemeClr val="tx1"/>
                  </a:solidFill>
                </a:endParaRPr>
              </a:p>
            </p:txBody>
          </p:sp>
        </mc:Choice>
        <mc:Fallback xmlns="">
          <p:sp>
            <p:nvSpPr>
              <p:cNvPr id="23" name="Text Placeholder 5">
                <a:extLst>
                  <a:ext uri="{FF2B5EF4-FFF2-40B4-BE49-F238E27FC236}">
                    <a16:creationId xmlns:a16="http://schemas.microsoft.com/office/drawing/2014/main" id="{3FCF1465-DD8C-63A6-7BBC-BC60334E8714}"/>
                  </a:ext>
                </a:extLst>
              </p:cNvPr>
              <p:cNvSpPr txBox="1">
                <a:spLocks noRot="1" noChangeAspect="1" noMove="1" noResize="1" noEditPoints="1" noAdjustHandles="1" noChangeArrowheads="1" noChangeShapeType="1" noTextEdit="1"/>
              </p:cNvSpPr>
              <p:nvPr/>
            </p:nvSpPr>
            <p:spPr>
              <a:xfrm>
                <a:off x="251224" y="5594733"/>
                <a:ext cx="7113047" cy="418233"/>
              </a:xfrm>
              <a:prstGeom prst="rect">
                <a:avLst/>
              </a:prstGeom>
              <a:blipFill>
                <a:blip r:embed="rId3"/>
                <a:stretch>
                  <a:fillRect l="-686" b="-27941"/>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25" name="Text Placeholder 5">
                <a:extLst>
                  <a:ext uri="{FF2B5EF4-FFF2-40B4-BE49-F238E27FC236}">
                    <a16:creationId xmlns:a16="http://schemas.microsoft.com/office/drawing/2014/main" id="{19214ED1-1090-EBA8-EAD7-5F48F35EF1FF}"/>
                  </a:ext>
                </a:extLst>
              </p:cNvPr>
              <p:cNvSpPr txBox="1">
                <a:spLocks/>
              </p:cNvSpPr>
              <p:nvPr/>
            </p:nvSpPr>
            <p:spPr>
              <a:xfrm>
                <a:off x="7172995" y="845034"/>
                <a:ext cx="3507477" cy="801442"/>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nSpc>
                    <a:spcPct val="100000"/>
                  </a:lnSpc>
                </a:pPr>
                <a14:m>
                  <m:oMath xmlns:m="http://schemas.openxmlformats.org/officeDocument/2006/math">
                    <m:sSub>
                      <m:sSubPr>
                        <m:ctrlPr>
                          <a:rPr lang="en-NZ" altLang="ja-JP" sz="2000" b="1" i="1" smtClean="0">
                            <a:solidFill>
                              <a:schemeClr val="tx1"/>
                            </a:solidFill>
                            <a:latin typeface="Cambria Math" panose="02040503050406030204" pitchFamily="18" charset="0"/>
                          </a:rPr>
                        </m:ctrlPr>
                      </m:sSubPr>
                      <m:e>
                        <m:r>
                          <a:rPr lang="en-NZ" altLang="ja-JP" sz="2000" b="1" i="1" smtClean="0">
                            <a:solidFill>
                              <a:schemeClr val="tx1"/>
                            </a:solidFill>
                            <a:latin typeface="Cambria Math" panose="02040503050406030204" pitchFamily="18" charset="0"/>
                          </a:rPr>
                          <m:t>𝑯</m:t>
                        </m:r>
                      </m:e>
                      <m:sub>
                        <m:r>
                          <a:rPr lang="en-NZ" altLang="ja-JP" sz="2000" b="1" i="1" smtClean="0">
                            <a:solidFill>
                              <a:schemeClr val="tx1"/>
                            </a:solidFill>
                            <a:latin typeface="Cambria Math" panose="02040503050406030204" pitchFamily="18" charset="0"/>
                          </a:rPr>
                          <m:t>𝟎</m:t>
                        </m:r>
                      </m:sub>
                    </m:sSub>
                    <m:r>
                      <a:rPr lang="en-NZ" altLang="ja-JP" sz="2000" b="1" i="1" smtClean="0">
                        <a:solidFill>
                          <a:schemeClr val="tx1"/>
                        </a:solidFill>
                        <a:latin typeface="Cambria Math" panose="02040503050406030204" pitchFamily="18" charset="0"/>
                      </a:rPr>
                      <m:t> :  </m:t>
                    </m:r>
                    <m:sSub>
                      <m:sSubPr>
                        <m:ctrlPr>
                          <a:rPr lang="en-NZ" altLang="ja-JP" sz="2000" b="1" i="1" smtClean="0">
                            <a:solidFill>
                              <a:schemeClr val="tx1"/>
                            </a:solidFill>
                            <a:latin typeface="Cambria Math" panose="02040503050406030204" pitchFamily="18" charset="0"/>
                          </a:rPr>
                        </m:ctrlPr>
                      </m:sSubPr>
                      <m:e>
                        <m:r>
                          <a:rPr lang="en-NZ" altLang="ja-JP" sz="2000" b="1" i="1" smtClean="0">
                            <a:solidFill>
                              <a:schemeClr val="tx1"/>
                            </a:solidFill>
                            <a:latin typeface="Cambria Math" panose="02040503050406030204" pitchFamily="18" charset="0"/>
                          </a:rPr>
                          <m:t>𝜶</m:t>
                        </m:r>
                      </m:e>
                      <m:sub>
                        <m:r>
                          <a:rPr lang="en-NZ" altLang="ja-JP" sz="2000" b="1" i="1" smtClean="0">
                            <a:solidFill>
                              <a:schemeClr val="tx1"/>
                            </a:solidFill>
                            <a:latin typeface="Cambria Math" panose="02040503050406030204" pitchFamily="18" charset="0"/>
                          </a:rPr>
                          <m:t>𝒊</m:t>
                        </m:r>
                      </m:sub>
                    </m:sSub>
                    <m:r>
                      <a:rPr lang="en-NZ" altLang="ja-JP" sz="2000" b="1" i="1" smtClean="0">
                        <a:solidFill>
                          <a:schemeClr val="tx1"/>
                        </a:solidFill>
                        <a:latin typeface="Cambria Math" panose="02040503050406030204" pitchFamily="18" charset="0"/>
                      </a:rPr>
                      <m:t>=</m:t>
                    </m:r>
                    <m:r>
                      <a:rPr lang="en-NZ" altLang="ja-JP" sz="2000" b="1" i="1" smtClean="0">
                        <a:solidFill>
                          <a:schemeClr val="tx1"/>
                        </a:solidFill>
                        <a:latin typeface="Cambria Math" panose="02040503050406030204" pitchFamily="18" charset="0"/>
                      </a:rPr>
                      <m:t>𝟎</m:t>
                    </m:r>
                  </m:oMath>
                </a14:m>
                <a:r>
                  <a:rPr lang="en-NZ" altLang="ja-JP" sz="2000" b="1" i="1" dirty="0">
                    <a:solidFill>
                      <a:schemeClr val="tx1"/>
                    </a:solidFill>
                    <a:latin typeface="Cambria Math" panose="02040503050406030204" pitchFamily="18" charset="0"/>
                  </a:rPr>
                  <a:t>  </a:t>
                </a:r>
                <a:r>
                  <a:rPr lang="en-NZ" altLang="ja-JP" sz="1600" dirty="0">
                    <a:solidFill>
                      <a:schemeClr val="tx1"/>
                    </a:solidFill>
                    <a:latin typeface="Cambria Math" panose="02040503050406030204" pitchFamily="18" charset="0"/>
                  </a:rPr>
                  <a:t>for all </a:t>
                </a:r>
                <a14:m>
                  <m:oMath xmlns:m="http://schemas.openxmlformats.org/officeDocument/2006/math">
                    <m:r>
                      <a:rPr lang="en-NZ" altLang="ja-JP" sz="1600" b="0" i="1" smtClean="0">
                        <a:solidFill>
                          <a:schemeClr val="tx1"/>
                        </a:solidFill>
                        <a:latin typeface="Cambria Math" panose="02040503050406030204" pitchFamily="18" charset="0"/>
                      </a:rPr>
                      <m:t>𝑖</m:t>
                    </m:r>
                    <m:r>
                      <a:rPr lang="en-NZ" altLang="ja-JP" sz="1600" b="0" i="1" smtClean="0">
                        <a:solidFill>
                          <a:schemeClr val="tx1"/>
                        </a:solidFill>
                        <a:latin typeface="Cambria Math" panose="02040503050406030204" pitchFamily="18" charset="0"/>
                      </a:rPr>
                      <m:t>=1, …, </m:t>
                    </m:r>
                    <m:r>
                      <a:rPr lang="en-NZ" altLang="ja-JP" sz="1600" b="0" i="1" smtClean="0">
                        <a:solidFill>
                          <a:schemeClr val="tx1"/>
                        </a:solidFill>
                        <a:latin typeface="Cambria Math" panose="02040503050406030204" pitchFamily="18" charset="0"/>
                      </a:rPr>
                      <m:t>𝑎</m:t>
                    </m:r>
                  </m:oMath>
                </a14:m>
                <a:r>
                  <a:rPr lang="en-NZ" altLang="ja-JP" sz="1600" dirty="0">
                    <a:solidFill>
                      <a:schemeClr val="tx1"/>
                    </a:solidFill>
                    <a:latin typeface="Cambria Math" panose="02040503050406030204" pitchFamily="18" charset="0"/>
                  </a:rPr>
                  <a:t> </a:t>
                </a:r>
                <a:br>
                  <a:rPr lang="en-NZ" altLang="ja-JP" sz="2000" b="1" i="1" dirty="0">
                    <a:solidFill>
                      <a:schemeClr val="tx1"/>
                    </a:solidFill>
                    <a:latin typeface="Cambria Math" panose="02040503050406030204" pitchFamily="18" charset="0"/>
                  </a:rPr>
                </a:br>
                <a14:m>
                  <m:oMath xmlns:m="http://schemas.openxmlformats.org/officeDocument/2006/math">
                    <m:sSub>
                      <m:sSubPr>
                        <m:ctrlPr>
                          <a:rPr lang="en-NZ" altLang="ja-JP" sz="2000" b="1" i="1">
                            <a:solidFill>
                              <a:schemeClr val="tx1"/>
                            </a:solidFill>
                            <a:latin typeface="Cambria Math" panose="02040503050406030204" pitchFamily="18" charset="0"/>
                          </a:rPr>
                        </m:ctrlPr>
                      </m:sSubPr>
                      <m:e>
                        <m:r>
                          <a:rPr lang="en-NZ" altLang="ja-JP" sz="2000" b="1" i="1">
                            <a:solidFill>
                              <a:schemeClr val="tx1"/>
                            </a:solidFill>
                            <a:latin typeface="Cambria Math" panose="02040503050406030204" pitchFamily="18" charset="0"/>
                          </a:rPr>
                          <m:t>𝑯</m:t>
                        </m:r>
                      </m:e>
                      <m:sub>
                        <m:r>
                          <a:rPr lang="en-NZ" altLang="ja-JP" sz="2000" b="1" i="1" smtClean="0">
                            <a:solidFill>
                              <a:schemeClr val="tx1"/>
                            </a:solidFill>
                            <a:latin typeface="Cambria Math" panose="02040503050406030204" pitchFamily="18" charset="0"/>
                          </a:rPr>
                          <m:t>𝟏</m:t>
                        </m:r>
                      </m:sub>
                    </m:sSub>
                    <m:r>
                      <a:rPr lang="en-NZ" altLang="ja-JP" sz="2000" b="1" i="1">
                        <a:solidFill>
                          <a:schemeClr val="tx1"/>
                        </a:solidFill>
                        <a:latin typeface="Cambria Math" panose="02040503050406030204" pitchFamily="18" charset="0"/>
                      </a:rPr>
                      <m:t> :  </m:t>
                    </m:r>
                    <m:sSub>
                      <m:sSubPr>
                        <m:ctrlPr>
                          <a:rPr lang="en-NZ" altLang="ja-JP" sz="2000" b="1" i="1" smtClean="0">
                            <a:solidFill>
                              <a:schemeClr val="tx1"/>
                            </a:solidFill>
                            <a:latin typeface="Cambria Math" panose="02040503050406030204" pitchFamily="18" charset="0"/>
                          </a:rPr>
                        </m:ctrlPr>
                      </m:sSubPr>
                      <m:e>
                        <m:r>
                          <a:rPr lang="en-NZ" altLang="ja-JP" sz="2000" b="1" i="1" smtClean="0">
                            <a:solidFill>
                              <a:schemeClr val="tx1"/>
                            </a:solidFill>
                            <a:latin typeface="Cambria Math" panose="02040503050406030204" pitchFamily="18" charset="0"/>
                          </a:rPr>
                          <m:t>𝜶</m:t>
                        </m:r>
                      </m:e>
                      <m:sub>
                        <m:r>
                          <a:rPr lang="en-NZ" altLang="ja-JP" sz="2000" b="1" i="1" smtClean="0">
                            <a:solidFill>
                              <a:schemeClr val="tx1"/>
                            </a:solidFill>
                            <a:latin typeface="Cambria Math" panose="02040503050406030204" pitchFamily="18" charset="0"/>
                          </a:rPr>
                          <m:t>𝒊</m:t>
                        </m:r>
                      </m:sub>
                    </m:sSub>
                    <m:r>
                      <a:rPr lang="en-NZ" altLang="ja-JP" sz="2000" b="1" i="1" smtClean="0">
                        <a:solidFill>
                          <a:schemeClr val="tx1"/>
                        </a:solidFill>
                        <a:latin typeface="Cambria Math" panose="02040503050406030204" pitchFamily="18" charset="0"/>
                      </a:rPr>
                      <m:t>≠</m:t>
                    </m:r>
                    <m:r>
                      <a:rPr lang="en-NZ" altLang="ja-JP" sz="2000" b="1" i="1" smtClean="0">
                        <a:solidFill>
                          <a:schemeClr val="tx1"/>
                        </a:solidFill>
                        <a:latin typeface="Cambria Math" panose="02040503050406030204" pitchFamily="18" charset="0"/>
                      </a:rPr>
                      <m:t>𝟎</m:t>
                    </m:r>
                  </m:oMath>
                </a14:m>
                <a:r>
                  <a:rPr lang="en-NZ" altLang="ja-JP" sz="2000" b="1" dirty="0">
                    <a:solidFill>
                      <a:schemeClr val="tx1"/>
                    </a:solidFill>
                  </a:rPr>
                  <a:t>  </a:t>
                </a:r>
                <a:r>
                  <a:rPr lang="en-NZ" altLang="ja-JP" sz="1600" dirty="0">
                    <a:solidFill>
                      <a:schemeClr val="tx1"/>
                    </a:solidFill>
                  </a:rPr>
                  <a:t>for some </a:t>
                </a:r>
                <a14:m>
                  <m:oMath xmlns:m="http://schemas.openxmlformats.org/officeDocument/2006/math">
                    <m:r>
                      <a:rPr lang="en-NZ" altLang="ja-JP" sz="1600" b="0" i="1" smtClean="0">
                        <a:solidFill>
                          <a:schemeClr val="tx1"/>
                        </a:solidFill>
                        <a:latin typeface="Cambria Math" panose="02040503050406030204" pitchFamily="18" charset="0"/>
                      </a:rPr>
                      <m:t>𝑖</m:t>
                    </m:r>
                  </m:oMath>
                </a14:m>
                <a:endParaRPr lang="en-NZ" altLang="ja-JP" sz="1600" dirty="0">
                  <a:solidFill>
                    <a:schemeClr val="tx1"/>
                  </a:solidFill>
                </a:endParaRPr>
              </a:p>
            </p:txBody>
          </p:sp>
        </mc:Choice>
        <mc:Fallback xmlns="">
          <p:sp>
            <p:nvSpPr>
              <p:cNvPr id="25" name="Text Placeholder 5">
                <a:extLst>
                  <a:ext uri="{FF2B5EF4-FFF2-40B4-BE49-F238E27FC236}">
                    <a16:creationId xmlns:a16="http://schemas.microsoft.com/office/drawing/2014/main" id="{19214ED1-1090-EBA8-EAD7-5F48F35EF1FF}"/>
                  </a:ext>
                </a:extLst>
              </p:cNvPr>
              <p:cNvSpPr txBox="1">
                <a:spLocks noRot="1" noChangeAspect="1" noMove="1" noResize="1" noEditPoints="1" noAdjustHandles="1" noChangeArrowheads="1" noChangeShapeType="1" noTextEdit="1"/>
              </p:cNvSpPr>
              <p:nvPr/>
            </p:nvSpPr>
            <p:spPr>
              <a:xfrm>
                <a:off x="7172995" y="845034"/>
                <a:ext cx="3507477" cy="801442"/>
              </a:xfrm>
              <a:prstGeom prst="rect">
                <a:avLst/>
              </a:prstGeom>
              <a:blipFill>
                <a:blip r:embed="rId4"/>
                <a:stretch>
                  <a:fillRect/>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26" name="Text Placeholder 5">
                <a:extLst>
                  <a:ext uri="{FF2B5EF4-FFF2-40B4-BE49-F238E27FC236}">
                    <a16:creationId xmlns:a16="http://schemas.microsoft.com/office/drawing/2014/main" id="{1FF1C673-743E-3445-C7C8-73E710301021}"/>
                  </a:ext>
                </a:extLst>
              </p:cNvPr>
              <p:cNvSpPr txBox="1">
                <a:spLocks/>
              </p:cNvSpPr>
              <p:nvPr/>
            </p:nvSpPr>
            <p:spPr>
              <a:xfrm>
                <a:off x="8914666" y="4753424"/>
                <a:ext cx="3080745" cy="67534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800" b="0" i="1" u="none" strike="noStrike" kern="1200" cap="none" spc="0" normalizeH="0" baseline="0" noProof="0" dirty="0">
                    <a:ln>
                      <a:noFill/>
                    </a:ln>
                    <a:solidFill>
                      <a:schemeClr val="bg2">
                        <a:lumMod val="50000"/>
                      </a:schemeClr>
                    </a:solidFill>
                    <a:effectLst/>
                    <a:uLnTx/>
                    <a:uFillTx/>
                    <a:ea typeface="游ゴシック" panose="020B0400000000000000" pitchFamily="34" charset="-128"/>
                    <a:cs typeface="+mn-cs"/>
                  </a:rPr>
                  <a:t>Where   </a:t>
                </a:r>
                <a14:m>
                  <m:oMath xmlns:m="http://schemas.openxmlformats.org/officeDocument/2006/math">
                    <m:r>
                      <a:rPr kumimoji="1" lang="en-NZ" altLang="ja-JP" sz="1800" b="1" i="1" u="none" strike="noStrike" kern="1200" cap="none" spc="0" normalizeH="0" baseline="0" noProof="0" smtClean="0">
                        <a:ln>
                          <a:noFill/>
                        </a:ln>
                        <a:solidFill>
                          <a:schemeClr val="bg2">
                            <a:lumMod val="50000"/>
                          </a:schemeClr>
                        </a:solidFill>
                        <a:effectLst/>
                        <a:uLnTx/>
                        <a:uFillTx/>
                        <a:latin typeface="Cambria Math" panose="02040503050406030204" pitchFamily="18" charset="0"/>
                        <a:ea typeface="游ゴシック" panose="020B0400000000000000" pitchFamily="34" charset="-128"/>
                        <a:cs typeface="+mn-cs"/>
                      </a:rPr>
                      <m:t>𝒗</m:t>
                    </m:r>
                    <m:d>
                      <m:dPr>
                        <m:ctrlPr>
                          <a:rPr kumimoji="1" lang="en-NZ" altLang="ja-JP" sz="1800" b="1" i="1" u="none" strike="noStrike" kern="1200" cap="none" spc="0" normalizeH="0" baseline="0" noProof="0" smtClean="0">
                            <a:ln>
                              <a:noFill/>
                            </a:ln>
                            <a:solidFill>
                              <a:schemeClr val="bg2">
                                <a:lumMod val="50000"/>
                              </a:schemeClr>
                            </a:solidFill>
                            <a:effectLst/>
                            <a:uLnTx/>
                            <a:uFillTx/>
                            <a:latin typeface="Cambria Math" panose="02040503050406030204" pitchFamily="18" charset="0"/>
                            <a:ea typeface="游ゴシック" panose="020B0400000000000000" pitchFamily="34" charset="-128"/>
                            <a:cs typeface="+mn-cs"/>
                          </a:rPr>
                        </m:ctrlPr>
                      </m:dPr>
                      <m:e>
                        <m:r>
                          <a:rPr kumimoji="1" lang="en-NZ" altLang="ja-JP" sz="1800" b="1" i="1" u="none" strike="noStrike" kern="1200" cap="none" spc="0" normalizeH="0" baseline="0" noProof="0" smtClean="0">
                            <a:ln>
                              <a:noFill/>
                            </a:ln>
                            <a:solidFill>
                              <a:schemeClr val="bg2">
                                <a:lumMod val="50000"/>
                              </a:schemeClr>
                            </a:solidFill>
                            <a:effectLst/>
                            <a:uLnTx/>
                            <a:uFillTx/>
                            <a:latin typeface="Cambria Math" panose="02040503050406030204" pitchFamily="18" charset="0"/>
                            <a:ea typeface="游ゴシック" panose="020B0400000000000000" pitchFamily="34" charset="-128"/>
                            <a:cs typeface="+mn-cs"/>
                          </a:rPr>
                          <m:t>𝜶</m:t>
                        </m:r>
                      </m:e>
                    </m:d>
                    <m:r>
                      <a:rPr kumimoji="1" lang="en-NZ" altLang="ja-JP" sz="1800" b="1" i="1" u="none" strike="noStrike" kern="1200" cap="none" spc="0" normalizeH="0" baseline="0" noProof="0" smtClean="0">
                        <a:ln>
                          <a:noFill/>
                        </a:ln>
                        <a:solidFill>
                          <a:schemeClr val="bg2">
                            <a:lumMod val="50000"/>
                          </a:schemeClr>
                        </a:solidFill>
                        <a:effectLst/>
                        <a:uLnTx/>
                        <a:uFillTx/>
                        <a:latin typeface="Cambria Math" panose="02040503050406030204" pitchFamily="18" charset="0"/>
                        <a:ea typeface="游ゴシック" panose="020B0400000000000000" pitchFamily="34" charset="-128"/>
                        <a:cs typeface="+mn-cs"/>
                      </a:rPr>
                      <m:t>= </m:t>
                    </m:r>
                    <m:nary>
                      <m:naryPr>
                        <m:chr m:val="∑"/>
                        <m:ctrlPr>
                          <a:rPr kumimoji="1" lang="en-NZ" altLang="ja-JP" sz="1800" b="1" i="1" u="none" strike="noStrike" kern="1200" cap="none" spc="0" normalizeH="0" baseline="0" noProof="0" smtClean="0">
                            <a:ln>
                              <a:noFill/>
                            </a:ln>
                            <a:solidFill>
                              <a:schemeClr val="bg2">
                                <a:lumMod val="50000"/>
                              </a:schemeClr>
                            </a:solidFill>
                            <a:effectLst/>
                            <a:uLnTx/>
                            <a:uFillTx/>
                            <a:latin typeface="Cambria Math" panose="02040503050406030204" pitchFamily="18" charset="0"/>
                            <a:ea typeface="游ゴシック" panose="020B0400000000000000" pitchFamily="34" charset="-128"/>
                            <a:cs typeface="+mn-cs"/>
                          </a:rPr>
                        </m:ctrlPr>
                      </m:naryPr>
                      <m:sub>
                        <m:r>
                          <m:rPr>
                            <m:brk m:alnAt="23"/>
                          </m:rPr>
                          <a:rPr kumimoji="1" lang="en-NZ" altLang="ja-JP" sz="1800" b="1" i="1" u="none" strike="noStrike" kern="1200" cap="none" spc="0" normalizeH="0" baseline="0" noProof="0" smtClean="0">
                            <a:ln>
                              <a:noFill/>
                            </a:ln>
                            <a:solidFill>
                              <a:schemeClr val="bg2">
                                <a:lumMod val="50000"/>
                              </a:schemeClr>
                            </a:solidFill>
                            <a:effectLst/>
                            <a:uLnTx/>
                            <a:uFillTx/>
                            <a:latin typeface="Cambria Math" panose="02040503050406030204" pitchFamily="18" charset="0"/>
                            <a:ea typeface="游ゴシック" panose="020B0400000000000000" pitchFamily="34" charset="-128"/>
                            <a:cs typeface="+mn-cs"/>
                          </a:rPr>
                          <m:t>𝒊</m:t>
                        </m:r>
                        <m:r>
                          <a:rPr kumimoji="1" lang="en-NZ" altLang="ja-JP" sz="1800" b="1" i="1" u="none" strike="noStrike" kern="1200" cap="none" spc="0" normalizeH="0" baseline="0" noProof="0" smtClean="0">
                            <a:ln>
                              <a:noFill/>
                            </a:ln>
                            <a:solidFill>
                              <a:schemeClr val="bg2">
                                <a:lumMod val="50000"/>
                              </a:schemeClr>
                            </a:solidFill>
                            <a:effectLst/>
                            <a:uLnTx/>
                            <a:uFillTx/>
                            <a:latin typeface="Cambria Math" panose="02040503050406030204" pitchFamily="18" charset="0"/>
                            <a:ea typeface="游ゴシック" panose="020B0400000000000000" pitchFamily="34" charset="-128"/>
                            <a:cs typeface="+mn-cs"/>
                          </a:rPr>
                          <m:t>=</m:t>
                        </m:r>
                        <m:r>
                          <a:rPr kumimoji="1" lang="en-NZ" altLang="ja-JP" sz="1800" b="1" i="1" u="none" strike="noStrike" kern="1200" cap="none" spc="0" normalizeH="0" baseline="0" noProof="0" smtClean="0">
                            <a:ln>
                              <a:noFill/>
                            </a:ln>
                            <a:solidFill>
                              <a:schemeClr val="bg2">
                                <a:lumMod val="50000"/>
                              </a:schemeClr>
                            </a:solidFill>
                            <a:effectLst/>
                            <a:uLnTx/>
                            <a:uFillTx/>
                            <a:latin typeface="Cambria Math" panose="02040503050406030204" pitchFamily="18" charset="0"/>
                            <a:ea typeface="游ゴシック" panose="020B0400000000000000" pitchFamily="34" charset="-128"/>
                            <a:cs typeface="+mn-cs"/>
                          </a:rPr>
                          <m:t>𝟏</m:t>
                        </m:r>
                      </m:sub>
                      <m:sup>
                        <m:r>
                          <a:rPr kumimoji="1" lang="en-NZ" altLang="ja-JP" sz="1800" b="1" i="1" u="none" strike="noStrike" kern="1200" cap="none" spc="0" normalizeH="0" baseline="0" noProof="0" smtClean="0">
                            <a:ln>
                              <a:noFill/>
                            </a:ln>
                            <a:solidFill>
                              <a:schemeClr val="bg2">
                                <a:lumMod val="50000"/>
                              </a:schemeClr>
                            </a:solidFill>
                            <a:effectLst/>
                            <a:uLnTx/>
                            <a:uFillTx/>
                            <a:latin typeface="Cambria Math" panose="02040503050406030204" pitchFamily="18" charset="0"/>
                            <a:ea typeface="游ゴシック" panose="020B0400000000000000" pitchFamily="34" charset="-128"/>
                            <a:cs typeface="+mn-cs"/>
                          </a:rPr>
                          <m:t>𝒂</m:t>
                        </m:r>
                      </m:sup>
                      <m:e>
                        <m:f>
                          <m:fPr>
                            <m:ctrlPr>
                              <a:rPr kumimoji="1" lang="en-NZ" altLang="ja-JP" sz="1800" b="1" i="1" u="none" strike="noStrike" kern="1200" cap="none" spc="0" normalizeH="0" baseline="0" noProof="0" smtClean="0">
                                <a:ln>
                                  <a:noFill/>
                                </a:ln>
                                <a:solidFill>
                                  <a:schemeClr val="bg2">
                                    <a:lumMod val="50000"/>
                                  </a:schemeClr>
                                </a:solidFill>
                                <a:effectLst/>
                                <a:uLnTx/>
                                <a:uFillTx/>
                                <a:latin typeface="Cambria Math" panose="02040503050406030204" pitchFamily="18" charset="0"/>
                                <a:ea typeface="游ゴシック" panose="020B0400000000000000" pitchFamily="34" charset="-128"/>
                                <a:cs typeface="+mn-cs"/>
                              </a:rPr>
                            </m:ctrlPr>
                          </m:fPr>
                          <m:num>
                            <m:sSubSup>
                              <m:sSubSupPr>
                                <m:ctrlPr>
                                  <a:rPr kumimoji="1" lang="en-NZ" altLang="ja-JP" sz="1800" b="1" i="1" u="none" strike="noStrike" kern="1200" cap="none" spc="0" normalizeH="0" baseline="0" noProof="0" smtClean="0">
                                    <a:ln>
                                      <a:noFill/>
                                    </a:ln>
                                    <a:solidFill>
                                      <a:schemeClr val="bg2">
                                        <a:lumMod val="50000"/>
                                      </a:schemeClr>
                                    </a:solidFill>
                                    <a:effectLst/>
                                    <a:uLnTx/>
                                    <a:uFillTx/>
                                    <a:latin typeface="Cambria Math" panose="02040503050406030204" pitchFamily="18" charset="0"/>
                                    <a:ea typeface="游ゴシック" panose="020B0400000000000000" pitchFamily="34" charset="-128"/>
                                    <a:cs typeface="+mn-cs"/>
                                  </a:rPr>
                                </m:ctrlPr>
                              </m:sSubSupPr>
                              <m:e>
                                <m:r>
                                  <a:rPr kumimoji="1" lang="en-NZ" altLang="ja-JP" sz="1800" b="1" i="1" u="none" strike="noStrike" kern="1200" cap="none" spc="0" normalizeH="0" baseline="0" noProof="0" smtClean="0">
                                    <a:ln>
                                      <a:noFill/>
                                    </a:ln>
                                    <a:solidFill>
                                      <a:schemeClr val="bg2">
                                        <a:lumMod val="50000"/>
                                      </a:schemeClr>
                                    </a:solidFill>
                                    <a:effectLst/>
                                    <a:uLnTx/>
                                    <a:uFillTx/>
                                    <a:latin typeface="Cambria Math" panose="02040503050406030204" pitchFamily="18" charset="0"/>
                                    <a:ea typeface="游ゴシック" panose="020B0400000000000000" pitchFamily="34" charset="-128"/>
                                    <a:cs typeface="+mn-cs"/>
                                  </a:rPr>
                                  <m:t>𝜶</m:t>
                                </m:r>
                              </m:e>
                              <m:sub>
                                <m:r>
                                  <a:rPr kumimoji="1" lang="en-NZ" altLang="ja-JP" sz="1800" b="1" i="1" u="none" strike="noStrike" kern="1200" cap="none" spc="0" normalizeH="0" baseline="0" noProof="0" smtClean="0">
                                    <a:ln>
                                      <a:noFill/>
                                    </a:ln>
                                    <a:solidFill>
                                      <a:schemeClr val="bg2">
                                        <a:lumMod val="50000"/>
                                      </a:schemeClr>
                                    </a:solidFill>
                                    <a:effectLst/>
                                    <a:uLnTx/>
                                    <a:uFillTx/>
                                    <a:latin typeface="Cambria Math" panose="02040503050406030204" pitchFamily="18" charset="0"/>
                                    <a:ea typeface="游ゴシック" panose="020B0400000000000000" pitchFamily="34" charset="-128"/>
                                    <a:cs typeface="+mn-cs"/>
                                  </a:rPr>
                                  <m:t>𝒊</m:t>
                                </m:r>
                              </m:sub>
                              <m:sup>
                                <m:r>
                                  <a:rPr kumimoji="1" lang="en-NZ" altLang="ja-JP" sz="1800" b="1" i="1" u="none" strike="noStrike" kern="1200" cap="none" spc="0" normalizeH="0" baseline="0" noProof="0" smtClean="0">
                                    <a:ln>
                                      <a:noFill/>
                                    </a:ln>
                                    <a:solidFill>
                                      <a:schemeClr val="bg2">
                                        <a:lumMod val="50000"/>
                                      </a:schemeClr>
                                    </a:solidFill>
                                    <a:effectLst/>
                                    <a:uLnTx/>
                                    <a:uFillTx/>
                                    <a:latin typeface="Cambria Math" panose="02040503050406030204" pitchFamily="18" charset="0"/>
                                    <a:ea typeface="游ゴシック" panose="020B0400000000000000" pitchFamily="34" charset="-128"/>
                                    <a:cs typeface="+mn-cs"/>
                                  </a:rPr>
                                  <m:t>𝟐</m:t>
                                </m:r>
                              </m:sup>
                            </m:sSubSup>
                          </m:num>
                          <m:den>
                            <m:r>
                              <a:rPr kumimoji="1" lang="en-NZ" altLang="ja-JP" sz="1800" b="1" i="1" u="none" strike="noStrike" kern="1200" cap="none" spc="0" normalizeH="0" baseline="0" noProof="0" smtClean="0">
                                <a:ln>
                                  <a:noFill/>
                                </a:ln>
                                <a:solidFill>
                                  <a:schemeClr val="bg2">
                                    <a:lumMod val="50000"/>
                                  </a:schemeClr>
                                </a:solidFill>
                                <a:effectLst/>
                                <a:uLnTx/>
                                <a:uFillTx/>
                                <a:latin typeface="Cambria Math" panose="02040503050406030204" pitchFamily="18" charset="0"/>
                                <a:ea typeface="游ゴシック" panose="020B0400000000000000" pitchFamily="34" charset="-128"/>
                                <a:cs typeface="+mn-cs"/>
                              </a:rPr>
                              <m:t>𝒂</m:t>
                            </m:r>
                            <m:r>
                              <a:rPr kumimoji="1" lang="en-NZ" altLang="ja-JP" sz="1800" b="1" i="1" u="none" strike="noStrike" kern="1200" cap="none" spc="0" normalizeH="0" baseline="0" noProof="0" smtClean="0">
                                <a:ln>
                                  <a:noFill/>
                                </a:ln>
                                <a:solidFill>
                                  <a:schemeClr val="bg2">
                                    <a:lumMod val="50000"/>
                                  </a:schemeClr>
                                </a:solidFill>
                                <a:effectLst/>
                                <a:uLnTx/>
                                <a:uFillTx/>
                                <a:latin typeface="Cambria Math" panose="02040503050406030204" pitchFamily="18" charset="0"/>
                                <a:ea typeface="游ゴシック" panose="020B0400000000000000" pitchFamily="34" charset="-128"/>
                                <a:cs typeface="+mn-cs"/>
                              </a:rPr>
                              <m:t>−</m:t>
                            </m:r>
                            <m:r>
                              <a:rPr kumimoji="1" lang="en-NZ" altLang="ja-JP" sz="1800" b="1" i="1" u="none" strike="noStrike" kern="1200" cap="none" spc="0" normalizeH="0" baseline="0" noProof="0" smtClean="0">
                                <a:ln>
                                  <a:noFill/>
                                </a:ln>
                                <a:solidFill>
                                  <a:schemeClr val="bg2">
                                    <a:lumMod val="50000"/>
                                  </a:schemeClr>
                                </a:solidFill>
                                <a:effectLst/>
                                <a:uLnTx/>
                                <a:uFillTx/>
                                <a:latin typeface="Cambria Math" panose="02040503050406030204" pitchFamily="18" charset="0"/>
                                <a:ea typeface="游ゴシック" panose="020B0400000000000000" pitchFamily="34" charset="-128"/>
                                <a:cs typeface="+mn-cs"/>
                              </a:rPr>
                              <m:t>𝟏</m:t>
                            </m:r>
                          </m:den>
                        </m:f>
                      </m:e>
                    </m:nary>
                  </m:oMath>
                </a14:m>
                <a:endParaRPr kumimoji="1" lang="en-NZ" altLang="ja-JP" sz="1800" b="1" i="1" u="none" strike="noStrike" kern="1200" cap="none" spc="0" normalizeH="0" baseline="0" noProof="0" dirty="0">
                  <a:ln>
                    <a:noFill/>
                  </a:ln>
                  <a:solidFill>
                    <a:schemeClr val="bg2">
                      <a:lumMod val="50000"/>
                    </a:schemeClr>
                  </a:solidFill>
                  <a:effectLst/>
                  <a:uLnTx/>
                  <a:uFillTx/>
                  <a:latin typeface="Calibri" panose="020F0502020204030204"/>
                  <a:ea typeface="游ゴシック" panose="020B0400000000000000" pitchFamily="34" charset="-128"/>
                  <a:cs typeface="+mn-cs"/>
                </a:endParaRPr>
              </a:p>
            </p:txBody>
          </p:sp>
        </mc:Choice>
        <mc:Fallback xmlns="">
          <p:sp>
            <p:nvSpPr>
              <p:cNvPr id="26" name="Text Placeholder 5">
                <a:extLst>
                  <a:ext uri="{FF2B5EF4-FFF2-40B4-BE49-F238E27FC236}">
                    <a16:creationId xmlns:a16="http://schemas.microsoft.com/office/drawing/2014/main" id="{1FF1C673-743E-3445-C7C8-73E710301021}"/>
                  </a:ext>
                </a:extLst>
              </p:cNvPr>
              <p:cNvSpPr txBox="1">
                <a:spLocks noRot="1" noChangeAspect="1" noMove="1" noResize="1" noEditPoints="1" noAdjustHandles="1" noChangeArrowheads="1" noChangeShapeType="1" noTextEdit="1"/>
              </p:cNvSpPr>
              <p:nvPr/>
            </p:nvSpPr>
            <p:spPr>
              <a:xfrm>
                <a:off x="8914666" y="4753424"/>
                <a:ext cx="3080745" cy="675343"/>
              </a:xfrm>
              <a:prstGeom prst="rect">
                <a:avLst/>
              </a:prstGeom>
              <a:blipFill>
                <a:blip r:embed="rId5"/>
                <a:stretch>
                  <a:fillRect l="-1581"/>
                </a:stretch>
              </a:blipFill>
            </p:spPr>
            <p:txBody>
              <a:bodyPr/>
              <a:lstStyle/>
              <a:p>
                <a:r>
                  <a:rPr lang="en-NZ">
                    <a:noFill/>
                  </a:rPr>
                  <a:t> </a:t>
                </a:r>
              </a:p>
            </p:txBody>
          </p:sp>
        </mc:Fallback>
      </mc:AlternateContent>
      <p:sp>
        <p:nvSpPr>
          <p:cNvPr id="11" name="Footer Placeholder 2">
            <a:extLst>
              <a:ext uri="{FF2B5EF4-FFF2-40B4-BE49-F238E27FC236}">
                <a16:creationId xmlns:a16="http://schemas.microsoft.com/office/drawing/2014/main" id="{C2BF7F3A-0A40-A428-9C0D-D3D13C1B807E}"/>
              </a:ext>
            </a:extLst>
          </p:cNvPr>
          <p:cNvSpPr txBox="1">
            <a:spLocks/>
          </p:cNvSpPr>
          <p:nvPr/>
        </p:nvSpPr>
        <p:spPr>
          <a:xfrm>
            <a:off x="8775510" y="86139"/>
            <a:ext cx="3313855"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600" dirty="0">
                <a:solidFill>
                  <a:srgbClr val="DEDDDD"/>
                </a:solidFill>
                <a:latin typeface="Gidole"/>
                <a:ea typeface="游ゴシック" panose="020B0400000000000000" pitchFamily="34" charset="-128"/>
              </a:rPr>
              <a:t>5</a:t>
            </a:r>
            <a:r>
              <a:rPr kumimoji="1" lang="en-US" altLang="ja-JP"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rPr>
              <a:t>.2 – Two Stage Nested Design</a:t>
            </a:r>
            <a:endParaRPr kumimoji="1" lang="ja-JP" altLang="en-US"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endParaRPr>
          </a:p>
        </p:txBody>
      </p:sp>
      <mc:AlternateContent xmlns:mc="http://schemas.openxmlformats.org/markup-compatibility/2006" xmlns:a14="http://schemas.microsoft.com/office/drawing/2010/main">
        <mc:Choice Requires="a14">
          <p:graphicFrame>
            <p:nvGraphicFramePr>
              <p:cNvPr id="2" name="Table 2">
                <a:extLst>
                  <a:ext uri="{FF2B5EF4-FFF2-40B4-BE49-F238E27FC236}">
                    <a16:creationId xmlns:a16="http://schemas.microsoft.com/office/drawing/2014/main" id="{9EEF0D7D-7A5D-4A2A-18B0-0764800B2BCC}"/>
                  </a:ext>
                </a:extLst>
              </p:cNvPr>
              <p:cNvGraphicFramePr>
                <a:graphicFrameLocks noGrp="1"/>
              </p:cNvGraphicFramePr>
              <p:nvPr>
                <p:extLst>
                  <p:ext uri="{D42A27DB-BD31-4B8C-83A1-F6EECF244321}">
                    <p14:modId xmlns:p14="http://schemas.microsoft.com/office/powerpoint/2010/main" val="1972921626"/>
                  </p:ext>
                </p:extLst>
              </p:nvPr>
            </p:nvGraphicFramePr>
            <p:xfrm>
              <a:off x="350726" y="1780567"/>
              <a:ext cx="11490547" cy="2123440"/>
            </p:xfrm>
            <a:graphic>
              <a:graphicData uri="http://schemas.openxmlformats.org/drawingml/2006/table">
                <a:tbl>
                  <a:tblPr firstRow="1" bandRow="1">
                    <a:tableStyleId>{5C22544A-7EE6-4342-B048-85BDC9FD1C3A}</a:tableStyleId>
                  </a:tblPr>
                  <a:tblGrid>
                    <a:gridCol w="1583141">
                      <a:extLst>
                        <a:ext uri="{9D8B030D-6E8A-4147-A177-3AD203B41FA5}">
                          <a16:colId xmlns:a16="http://schemas.microsoft.com/office/drawing/2014/main" val="4198110682"/>
                        </a:ext>
                      </a:extLst>
                    </a:gridCol>
                    <a:gridCol w="1037229">
                      <a:extLst>
                        <a:ext uri="{9D8B030D-6E8A-4147-A177-3AD203B41FA5}">
                          <a16:colId xmlns:a16="http://schemas.microsoft.com/office/drawing/2014/main" val="292302729"/>
                        </a:ext>
                      </a:extLst>
                    </a:gridCol>
                    <a:gridCol w="1419368">
                      <a:extLst>
                        <a:ext uri="{9D8B030D-6E8A-4147-A177-3AD203B41FA5}">
                          <a16:colId xmlns:a16="http://schemas.microsoft.com/office/drawing/2014/main" val="126256495"/>
                        </a:ext>
                      </a:extLst>
                    </a:gridCol>
                    <a:gridCol w="2729552">
                      <a:extLst>
                        <a:ext uri="{9D8B030D-6E8A-4147-A177-3AD203B41FA5}">
                          <a16:colId xmlns:a16="http://schemas.microsoft.com/office/drawing/2014/main" val="477450593"/>
                        </a:ext>
                      </a:extLst>
                    </a:gridCol>
                    <a:gridCol w="2788657">
                      <a:extLst>
                        <a:ext uri="{9D8B030D-6E8A-4147-A177-3AD203B41FA5}">
                          <a16:colId xmlns:a16="http://schemas.microsoft.com/office/drawing/2014/main" val="3785429377"/>
                        </a:ext>
                      </a:extLst>
                    </a:gridCol>
                    <a:gridCol w="1932600">
                      <a:extLst>
                        <a:ext uri="{9D8B030D-6E8A-4147-A177-3AD203B41FA5}">
                          <a16:colId xmlns:a16="http://schemas.microsoft.com/office/drawing/2014/main" val="1101540161"/>
                        </a:ext>
                      </a:extLst>
                    </a:gridCol>
                  </a:tblGrid>
                  <a:tr h="370840">
                    <a:tc>
                      <a:txBody>
                        <a:bodyPr/>
                        <a:lstStyle/>
                        <a:p>
                          <a:pPr algn="ctr"/>
                          <a:r>
                            <a:rPr lang="en-NZ" dirty="0"/>
                            <a:t>Source of Variation</a:t>
                          </a:r>
                        </a:p>
                      </a:txBody>
                      <a:tcPr anchor="ctr"/>
                    </a:tc>
                    <a:tc>
                      <a:txBody>
                        <a:bodyPr/>
                        <a:lstStyle/>
                        <a:p>
                          <a:pPr algn="ctr"/>
                          <a:r>
                            <a:rPr lang="en-NZ" dirty="0" err="1"/>
                            <a:t>df</a:t>
                          </a:r>
                          <a:endParaRPr lang="en-NZ" dirty="0"/>
                        </a:p>
                      </a:txBody>
                      <a:tcPr anchor="ctr"/>
                    </a:tc>
                    <a:tc>
                      <a:txBody>
                        <a:bodyPr/>
                        <a:lstStyle/>
                        <a:p>
                          <a:pPr algn="ctr"/>
                          <a:r>
                            <a:rPr lang="en-NZ" dirty="0"/>
                            <a:t>SS</a:t>
                          </a:r>
                        </a:p>
                      </a:txBody>
                      <a:tcPr anchor="ctr"/>
                    </a:tc>
                    <a:tc>
                      <a:txBody>
                        <a:bodyPr/>
                        <a:lstStyle/>
                        <a:p>
                          <a:pPr algn="ctr"/>
                          <a:r>
                            <a:rPr lang="en-NZ" dirty="0"/>
                            <a:t>Mean Square</a:t>
                          </a:r>
                        </a:p>
                      </a:txBody>
                      <a:tcPr anchor="ctr"/>
                    </a:tc>
                    <a:tc>
                      <a:txBody>
                        <a:bodyPr/>
                        <a:lstStyle/>
                        <a:p>
                          <a:pPr algn="ctr"/>
                          <a:r>
                            <a:rPr lang="en-NZ" dirty="0"/>
                            <a:t>E [ Mean Squares ]</a:t>
                          </a:r>
                        </a:p>
                      </a:txBody>
                      <a:tcPr anchor="ctr"/>
                    </a:tc>
                    <a:tc>
                      <a:txBody>
                        <a:bodyPr/>
                        <a:lstStyle/>
                        <a:p>
                          <a:pPr algn="ctr"/>
                          <a:r>
                            <a:rPr lang="en-NZ" dirty="0"/>
                            <a:t>F-Statistic</a:t>
                          </a:r>
                        </a:p>
                      </a:txBody>
                      <a:tcPr anchor="ctr"/>
                    </a:tc>
                    <a:extLst>
                      <a:ext uri="{0D108BD9-81ED-4DB2-BD59-A6C34878D82A}">
                        <a16:rowId xmlns:a16="http://schemas.microsoft.com/office/drawing/2014/main" val="3666350365"/>
                      </a:ext>
                    </a:extLst>
                  </a:tr>
                  <a:tr h="370840">
                    <a:tc>
                      <a:txBody>
                        <a:bodyPr/>
                        <a:lstStyle/>
                        <a:p>
                          <a:pPr algn="ctr"/>
                          <a:r>
                            <a:rPr lang="en-NZ" dirty="0"/>
                            <a:t>Total</a:t>
                          </a:r>
                        </a:p>
                      </a:txBody>
                      <a:tcPr anchor="ctr"/>
                    </a:tc>
                    <a:tc>
                      <a:txBody>
                        <a:bodyPr/>
                        <a:lstStyle/>
                        <a:p>
                          <a:pPr algn="ctr"/>
                          <a:r>
                            <a:rPr lang="en-NZ" dirty="0"/>
                            <a:t>abn-1</a:t>
                          </a:r>
                        </a:p>
                      </a:txBody>
                      <a:tcPr anchor="ctr"/>
                    </a:tc>
                    <a:tc>
                      <a:txBody>
                        <a:bodyPr/>
                        <a:lstStyle/>
                        <a:p>
                          <a:pPr algn="ctr"/>
                          <a:r>
                            <a:rPr lang="en-NZ" dirty="0"/>
                            <a:t>TSS</a:t>
                          </a:r>
                        </a:p>
                      </a:txBody>
                      <a:tcPr anchor="ctr"/>
                    </a:tc>
                    <a:tc>
                      <a:txBody>
                        <a:bodyPr/>
                        <a:lstStyle/>
                        <a:p>
                          <a:pPr algn="ctr"/>
                          <a:endParaRPr lang="en-NZ" dirty="0"/>
                        </a:p>
                      </a:txBody>
                      <a:tcPr anchor="ctr"/>
                    </a:tc>
                    <a:tc>
                      <a:txBody>
                        <a:bodyPr/>
                        <a:lstStyle/>
                        <a:p>
                          <a:pPr algn="ctr"/>
                          <a:endParaRPr lang="en-NZ" dirty="0"/>
                        </a:p>
                      </a:txBody>
                      <a:tcPr anchor="ctr"/>
                    </a:tc>
                    <a:tc>
                      <a:txBody>
                        <a:bodyPr/>
                        <a:lstStyle/>
                        <a:p>
                          <a:pPr algn="ctr"/>
                          <a:endParaRPr lang="en-NZ" dirty="0"/>
                        </a:p>
                      </a:txBody>
                      <a:tcPr anchor="ctr"/>
                    </a:tc>
                    <a:extLst>
                      <a:ext uri="{0D108BD9-81ED-4DB2-BD59-A6C34878D82A}">
                        <a16:rowId xmlns:a16="http://schemas.microsoft.com/office/drawing/2014/main" val="3341485952"/>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NZ" dirty="0"/>
                            <a:t>A</a:t>
                          </a:r>
                        </a:p>
                      </a:txBody>
                      <a:tcPr anchor="ctr"/>
                    </a:tc>
                    <a:tc>
                      <a:txBody>
                        <a:bodyPr/>
                        <a:lstStyle/>
                        <a:p>
                          <a:pPr algn="ctr"/>
                          <a:r>
                            <a:rPr lang="en-NZ" dirty="0"/>
                            <a:t>a-1</a:t>
                          </a:r>
                        </a:p>
                      </a:txBody>
                      <a:tcPr anchor="ctr"/>
                    </a:tc>
                    <a:tc>
                      <a:txBody>
                        <a:bodyPr/>
                        <a:lstStyle/>
                        <a:p>
                          <a:pPr algn="ctr"/>
                          <a:r>
                            <a:rPr lang="en-NZ" dirty="0"/>
                            <a:t>SS</a:t>
                          </a:r>
                          <a:r>
                            <a:rPr lang="en-NZ" baseline="-25000" dirty="0"/>
                            <a:t>A</a:t>
                          </a:r>
                          <a:endParaRPr lang="en-NZ" dirty="0"/>
                        </a:p>
                      </a:txBody>
                      <a:tcPr anchor="ctr"/>
                    </a:tc>
                    <a:tc>
                      <a:txBody>
                        <a:bodyPr/>
                        <a:lstStyle/>
                        <a:p>
                          <a:pPr algn="ctr"/>
                          <a:r>
                            <a:rPr lang="en-NZ" dirty="0"/>
                            <a:t>MS</a:t>
                          </a:r>
                          <a:r>
                            <a:rPr lang="en-NZ" baseline="-25000" dirty="0"/>
                            <a:t>A</a:t>
                          </a:r>
                          <a:r>
                            <a:rPr lang="en-NZ" dirty="0"/>
                            <a:t> = SS</a:t>
                          </a:r>
                          <a:r>
                            <a:rPr lang="en-NZ" baseline="-25000" dirty="0"/>
                            <a:t>A</a:t>
                          </a:r>
                          <a:r>
                            <a:rPr lang="en-NZ" dirty="0"/>
                            <a:t> / (a-1)</a:t>
                          </a:r>
                        </a:p>
                      </a:txBody>
                      <a:tcPr anchor="ctr"/>
                    </a:tc>
                    <a:tc>
                      <a:txBody>
                        <a:bodyPr/>
                        <a:lstStyle/>
                        <a:p>
                          <a:pPr algn="ctr"/>
                          <a14:m>
                            <m:oMathPara xmlns:m="http://schemas.openxmlformats.org/officeDocument/2006/math">
                              <m:oMathParaPr>
                                <m:jc m:val="centerGroup"/>
                              </m:oMathParaPr>
                              <m:oMath xmlns:m="http://schemas.openxmlformats.org/officeDocument/2006/math">
                                <m:sSup>
                                  <m:sSupPr>
                                    <m:ctrlPr>
                                      <a:rPr lang="en-NZ" b="0" i="1" smtClean="0">
                                        <a:latin typeface="Cambria Math" panose="02040503050406030204" pitchFamily="18" charset="0"/>
                                      </a:rPr>
                                    </m:ctrlPr>
                                  </m:sSupPr>
                                  <m:e>
                                    <m:r>
                                      <a:rPr lang="en-NZ" b="0" i="1" smtClean="0">
                                        <a:latin typeface="Cambria Math" panose="02040503050406030204" pitchFamily="18" charset="0"/>
                                      </a:rPr>
                                      <m:t>𝜎</m:t>
                                    </m:r>
                                  </m:e>
                                  <m:sup>
                                    <m:r>
                                      <a:rPr lang="en-NZ" b="0" i="1" smtClean="0">
                                        <a:latin typeface="Cambria Math" panose="02040503050406030204" pitchFamily="18" charset="0"/>
                                      </a:rPr>
                                      <m:t>2</m:t>
                                    </m:r>
                                  </m:sup>
                                </m:sSup>
                                <m:r>
                                  <a:rPr lang="en-NZ" b="0" i="1" smtClean="0">
                                    <a:latin typeface="Cambria Math" panose="02040503050406030204" pitchFamily="18" charset="0"/>
                                  </a:rPr>
                                  <m:t>+  </m:t>
                                </m:r>
                                <m:r>
                                  <a:rPr lang="en-NZ" b="0" i="1" smtClean="0">
                                    <a:latin typeface="Cambria Math" panose="02040503050406030204" pitchFamily="18" charset="0"/>
                                  </a:rPr>
                                  <m:t>𝑛</m:t>
                                </m:r>
                                <m:r>
                                  <a:rPr lang="en-NZ" b="0" i="1" smtClean="0">
                                    <a:latin typeface="Cambria Math" panose="02040503050406030204" pitchFamily="18" charset="0"/>
                                  </a:rPr>
                                  <m:t> </m:t>
                                </m:r>
                                <m:sSubSup>
                                  <m:sSubSupPr>
                                    <m:ctrlPr>
                                      <a:rPr lang="en-NZ" b="0" i="1" smtClean="0">
                                        <a:latin typeface="Cambria Math" panose="02040503050406030204" pitchFamily="18" charset="0"/>
                                      </a:rPr>
                                    </m:ctrlPr>
                                  </m:sSubSupPr>
                                  <m:e>
                                    <m:r>
                                      <a:rPr lang="en-NZ" b="0" i="1" smtClean="0">
                                        <a:latin typeface="Cambria Math" panose="02040503050406030204" pitchFamily="18" charset="0"/>
                                      </a:rPr>
                                      <m:t>𝜎</m:t>
                                    </m:r>
                                  </m:e>
                                  <m:sub>
                                    <m:r>
                                      <a:rPr lang="en-NZ" b="0" i="1" smtClean="0">
                                        <a:latin typeface="Cambria Math" panose="02040503050406030204" pitchFamily="18" charset="0"/>
                                      </a:rPr>
                                      <m:t>𝐵</m:t>
                                    </m:r>
                                  </m:sub>
                                  <m:sup>
                                    <m:r>
                                      <a:rPr lang="en-NZ" b="0" i="1" smtClean="0">
                                        <a:latin typeface="Cambria Math" panose="02040503050406030204" pitchFamily="18" charset="0"/>
                                      </a:rPr>
                                      <m:t>2</m:t>
                                    </m:r>
                                  </m:sup>
                                </m:sSubSup>
                                <m:r>
                                  <a:rPr lang="en-NZ" b="0" i="1" smtClean="0">
                                    <a:latin typeface="Cambria Math" panose="02040503050406030204" pitchFamily="18" charset="0"/>
                                  </a:rPr>
                                  <m:t> +  </m:t>
                                </m:r>
                                <m:r>
                                  <a:rPr lang="en-NZ" b="0" i="1" smtClean="0">
                                    <a:latin typeface="Cambria Math" panose="02040503050406030204" pitchFamily="18" charset="0"/>
                                  </a:rPr>
                                  <m:t>𝑏𝑛</m:t>
                                </m:r>
                                <m:r>
                                  <a:rPr lang="en-NZ" b="0" i="1" smtClean="0">
                                    <a:latin typeface="Cambria Math" panose="02040503050406030204" pitchFamily="18" charset="0"/>
                                  </a:rPr>
                                  <m:t> </m:t>
                                </m:r>
                                <m:r>
                                  <a:rPr lang="en-NZ" b="0" i="1" smtClean="0">
                                    <a:latin typeface="Cambria Math" panose="02040503050406030204" pitchFamily="18" charset="0"/>
                                  </a:rPr>
                                  <m:t>𝑣</m:t>
                                </m:r>
                                <m:d>
                                  <m:dPr>
                                    <m:ctrlPr>
                                      <a:rPr lang="en-NZ" b="0" i="1" smtClean="0">
                                        <a:latin typeface="Cambria Math" panose="02040503050406030204" pitchFamily="18" charset="0"/>
                                      </a:rPr>
                                    </m:ctrlPr>
                                  </m:dPr>
                                  <m:e>
                                    <m:r>
                                      <a:rPr lang="en-NZ" b="0" i="1" smtClean="0">
                                        <a:latin typeface="Cambria Math" panose="02040503050406030204" pitchFamily="18" charset="0"/>
                                      </a:rPr>
                                      <m:t>𝛼</m:t>
                                    </m:r>
                                  </m:e>
                                </m:d>
                              </m:oMath>
                            </m:oMathPara>
                          </a14:m>
                          <a:endParaRPr lang="en-NZ" dirty="0"/>
                        </a:p>
                      </a:txBody>
                      <a:tcPr anchor="ctr"/>
                    </a:tc>
                    <a:tc>
                      <a:txBody>
                        <a:bodyPr/>
                        <a:lstStyle/>
                        <a:p>
                          <a:pPr algn="ctr"/>
                          <a:r>
                            <a:rPr lang="en-NZ" dirty="0"/>
                            <a:t>MS</a:t>
                          </a:r>
                          <a:r>
                            <a:rPr lang="en-NZ" baseline="-25000" dirty="0"/>
                            <a:t>A</a:t>
                          </a:r>
                          <a:r>
                            <a:rPr lang="en-NZ" dirty="0"/>
                            <a:t> / MS</a:t>
                          </a:r>
                          <a:r>
                            <a:rPr lang="en-NZ" baseline="-25000" dirty="0"/>
                            <a:t>B(A)</a:t>
                          </a:r>
                          <a:endParaRPr lang="en-NZ" dirty="0"/>
                        </a:p>
                      </a:txBody>
                      <a:tcPr anchor="ctr"/>
                    </a:tc>
                    <a:extLst>
                      <a:ext uri="{0D108BD9-81ED-4DB2-BD59-A6C34878D82A}">
                        <a16:rowId xmlns:a16="http://schemas.microsoft.com/office/drawing/2014/main" val="443198030"/>
                      </a:ext>
                    </a:extLst>
                  </a:tr>
                  <a:tr h="370840">
                    <a:tc>
                      <a:txBody>
                        <a:bodyPr/>
                        <a:lstStyle/>
                        <a:p>
                          <a:pPr algn="ctr"/>
                          <a:r>
                            <a:rPr lang="en-NZ" dirty="0"/>
                            <a:t>B(A)</a:t>
                          </a:r>
                        </a:p>
                      </a:txBody>
                      <a:tcPr anchor="ctr"/>
                    </a:tc>
                    <a:tc>
                      <a:txBody>
                        <a:bodyPr/>
                        <a:lstStyle/>
                        <a:p>
                          <a:pPr algn="ctr"/>
                          <a:r>
                            <a:rPr lang="en-NZ" dirty="0"/>
                            <a:t>a(b-1)</a:t>
                          </a:r>
                        </a:p>
                      </a:txBody>
                      <a:tcPr anchor="ctr"/>
                    </a:tc>
                    <a:tc>
                      <a:txBody>
                        <a:bodyPr/>
                        <a:lstStyle/>
                        <a:p>
                          <a:pPr algn="ctr"/>
                          <a:r>
                            <a:rPr lang="en-NZ" dirty="0"/>
                            <a:t>SS</a:t>
                          </a:r>
                          <a:r>
                            <a:rPr lang="en-NZ" baseline="-25000" dirty="0"/>
                            <a:t>B(A)</a:t>
                          </a:r>
                          <a:endParaRPr lang="en-NZ" dirty="0"/>
                        </a:p>
                      </a:txBody>
                      <a:tcPr anchor="ctr"/>
                    </a:tc>
                    <a:tc>
                      <a:txBody>
                        <a:bodyPr/>
                        <a:lstStyle/>
                        <a:p>
                          <a:pPr algn="ctr"/>
                          <a:r>
                            <a:rPr lang="en-NZ" dirty="0"/>
                            <a:t>MS</a:t>
                          </a:r>
                          <a:r>
                            <a:rPr lang="en-NZ" baseline="-25000" dirty="0"/>
                            <a:t>B(A)</a:t>
                          </a:r>
                          <a:r>
                            <a:rPr lang="en-NZ" dirty="0"/>
                            <a:t> = SS</a:t>
                          </a:r>
                          <a:r>
                            <a:rPr lang="en-NZ" baseline="-25000" dirty="0"/>
                            <a:t>B(A)</a:t>
                          </a:r>
                          <a:r>
                            <a:rPr lang="en-NZ" dirty="0"/>
                            <a:t> / [ a(b-1) ]</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p>
                                  <m:sSupPr>
                                    <m:ctrlPr>
                                      <a:rPr lang="en-NZ" b="0" i="1" smtClean="0">
                                        <a:latin typeface="Cambria Math" panose="02040503050406030204" pitchFamily="18" charset="0"/>
                                      </a:rPr>
                                    </m:ctrlPr>
                                  </m:sSupPr>
                                  <m:e>
                                    <m:r>
                                      <a:rPr lang="en-NZ" b="0" i="1" smtClean="0">
                                        <a:latin typeface="Cambria Math" panose="02040503050406030204" pitchFamily="18" charset="0"/>
                                      </a:rPr>
                                      <m:t>𝜎</m:t>
                                    </m:r>
                                  </m:e>
                                  <m:sup>
                                    <m:r>
                                      <a:rPr lang="en-NZ" b="0" i="1" smtClean="0">
                                        <a:latin typeface="Cambria Math" panose="02040503050406030204" pitchFamily="18" charset="0"/>
                                      </a:rPr>
                                      <m:t>2</m:t>
                                    </m:r>
                                  </m:sup>
                                </m:sSup>
                                <m:r>
                                  <a:rPr lang="en-NZ" b="0" i="1" smtClean="0">
                                    <a:latin typeface="Cambria Math" panose="02040503050406030204" pitchFamily="18" charset="0"/>
                                  </a:rPr>
                                  <m:t>+  </m:t>
                                </m:r>
                                <m:r>
                                  <a:rPr lang="en-NZ" b="0" i="1" smtClean="0">
                                    <a:latin typeface="Cambria Math" panose="02040503050406030204" pitchFamily="18" charset="0"/>
                                  </a:rPr>
                                  <m:t>𝑛</m:t>
                                </m:r>
                                <m:r>
                                  <a:rPr lang="en-NZ" b="0" i="1" smtClean="0">
                                    <a:latin typeface="Cambria Math" panose="02040503050406030204" pitchFamily="18" charset="0"/>
                                  </a:rPr>
                                  <m:t> </m:t>
                                </m:r>
                                <m:sSubSup>
                                  <m:sSubSupPr>
                                    <m:ctrlPr>
                                      <a:rPr lang="en-NZ" b="0" i="1" smtClean="0">
                                        <a:latin typeface="Cambria Math" panose="02040503050406030204" pitchFamily="18" charset="0"/>
                                      </a:rPr>
                                    </m:ctrlPr>
                                  </m:sSubSupPr>
                                  <m:e>
                                    <m:r>
                                      <a:rPr lang="en-NZ" b="0" i="1" smtClean="0">
                                        <a:latin typeface="Cambria Math" panose="02040503050406030204" pitchFamily="18" charset="0"/>
                                      </a:rPr>
                                      <m:t>𝜎</m:t>
                                    </m:r>
                                  </m:e>
                                  <m:sub>
                                    <m:r>
                                      <a:rPr lang="en-NZ" b="0" i="1" smtClean="0">
                                        <a:latin typeface="Cambria Math" panose="02040503050406030204" pitchFamily="18" charset="0"/>
                                      </a:rPr>
                                      <m:t>𝐵</m:t>
                                    </m:r>
                                  </m:sub>
                                  <m:sup>
                                    <m:r>
                                      <a:rPr lang="en-NZ" b="0" i="1" smtClean="0">
                                        <a:latin typeface="Cambria Math" panose="02040503050406030204" pitchFamily="18" charset="0"/>
                                      </a:rPr>
                                      <m:t>2</m:t>
                                    </m:r>
                                  </m:sup>
                                </m:sSubSup>
                              </m:oMath>
                            </m:oMathPara>
                          </a14:m>
                          <a:endParaRPr lang="en-NZ" dirty="0"/>
                        </a:p>
                      </a:txBody>
                      <a:tcPr anchor="ctr"/>
                    </a:tc>
                    <a:tc>
                      <a:txBody>
                        <a:bodyPr/>
                        <a:lstStyle/>
                        <a:p>
                          <a:pPr algn="ctr"/>
                          <a:r>
                            <a:rPr lang="en-NZ" dirty="0"/>
                            <a:t>MS</a:t>
                          </a:r>
                          <a:r>
                            <a:rPr lang="en-NZ" baseline="-25000" dirty="0"/>
                            <a:t>B(A)</a:t>
                          </a:r>
                          <a:r>
                            <a:rPr lang="en-NZ" dirty="0"/>
                            <a:t> / MSE</a:t>
                          </a:r>
                        </a:p>
                      </a:txBody>
                      <a:tcPr anchor="ctr"/>
                    </a:tc>
                    <a:extLst>
                      <a:ext uri="{0D108BD9-81ED-4DB2-BD59-A6C34878D82A}">
                        <a16:rowId xmlns:a16="http://schemas.microsoft.com/office/drawing/2014/main" val="3427382577"/>
                      </a:ext>
                    </a:extLst>
                  </a:tr>
                  <a:tr h="370840">
                    <a:tc>
                      <a:txBody>
                        <a:bodyPr/>
                        <a:lstStyle/>
                        <a:p>
                          <a:pPr algn="ctr"/>
                          <a:r>
                            <a:rPr lang="en-NZ" dirty="0"/>
                            <a:t>Residual</a:t>
                          </a:r>
                        </a:p>
                      </a:txBody>
                      <a:tcPr anchor="ctr"/>
                    </a:tc>
                    <a:tc>
                      <a:txBody>
                        <a:bodyPr/>
                        <a:lstStyle/>
                        <a:p>
                          <a:pPr algn="ctr"/>
                          <a:r>
                            <a:rPr lang="en-NZ" dirty="0"/>
                            <a:t>ab(n-1)</a:t>
                          </a:r>
                        </a:p>
                      </a:txBody>
                      <a:tcPr anchor="ctr"/>
                    </a:tc>
                    <a:tc>
                      <a:txBody>
                        <a:bodyPr/>
                        <a:lstStyle/>
                        <a:p>
                          <a:pPr algn="ctr"/>
                          <a:r>
                            <a:rPr lang="en-NZ" dirty="0"/>
                            <a:t>SSE</a:t>
                          </a:r>
                        </a:p>
                      </a:txBody>
                      <a:tcPr anchor="ctr"/>
                    </a:tc>
                    <a:tc>
                      <a:txBody>
                        <a:bodyPr/>
                        <a:lstStyle/>
                        <a:p>
                          <a:pPr algn="ctr"/>
                          <a:r>
                            <a:rPr lang="en-NZ" dirty="0"/>
                            <a:t>MSE = SSE / [ ab(n-1) ]</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p>
                                  <m:sSupPr>
                                    <m:ctrlPr>
                                      <a:rPr lang="en-NZ" b="0" i="1" smtClean="0">
                                        <a:latin typeface="Cambria Math" panose="02040503050406030204" pitchFamily="18" charset="0"/>
                                      </a:rPr>
                                    </m:ctrlPr>
                                  </m:sSupPr>
                                  <m:e>
                                    <m:r>
                                      <a:rPr lang="en-NZ" b="0" i="1" smtClean="0">
                                        <a:latin typeface="Cambria Math" panose="02040503050406030204" pitchFamily="18" charset="0"/>
                                      </a:rPr>
                                      <m:t>𝜎</m:t>
                                    </m:r>
                                  </m:e>
                                  <m:sup>
                                    <m:r>
                                      <a:rPr lang="en-NZ" b="0" i="1" smtClean="0">
                                        <a:latin typeface="Cambria Math" panose="02040503050406030204" pitchFamily="18" charset="0"/>
                                      </a:rPr>
                                      <m:t>2</m:t>
                                    </m:r>
                                  </m:sup>
                                </m:sSup>
                              </m:oMath>
                            </m:oMathPara>
                          </a14:m>
                          <a:endParaRPr lang="en-NZ" dirty="0"/>
                        </a:p>
                      </a:txBody>
                      <a:tcPr anchor="ctr"/>
                    </a:tc>
                    <a:tc>
                      <a:txBody>
                        <a:bodyPr/>
                        <a:lstStyle/>
                        <a:p>
                          <a:pPr algn="ctr"/>
                          <a:endParaRPr lang="en-NZ" dirty="0"/>
                        </a:p>
                      </a:txBody>
                      <a:tcPr anchor="ctr"/>
                    </a:tc>
                    <a:extLst>
                      <a:ext uri="{0D108BD9-81ED-4DB2-BD59-A6C34878D82A}">
                        <a16:rowId xmlns:a16="http://schemas.microsoft.com/office/drawing/2014/main" val="3328376915"/>
                      </a:ext>
                    </a:extLst>
                  </a:tr>
                </a:tbl>
              </a:graphicData>
            </a:graphic>
          </p:graphicFrame>
        </mc:Choice>
        <mc:Fallback xmlns="">
          <p:graphicFrame>
            <p:nvGraphicFramePr>
              <p:cNvPr id="2" name="Table 2">
                <a:extLst>
                  <a:ext uri="{FF2B5EF4-FFF2-40B4-BE49-F238E27FC236}">
                    <a16:creationId xmlns:a16="http://schemas.microsoft.com/office/drawing/2014/main" id="{9EEF0D7D-7A5D-4A2A-18B0-0764800B2BCC}"/>
                  </a:ext>
                </a:extLst>
              </p:cNvPr>
              <p:cNvGraphicFramePr>
                <a:graphicFrameLocks noGrp="1"/>
              </p:cNvGraphicFramePr>
              <p:nvPr>
                <p:extLst>
                  <p:ext uri="{D42A27DB-BD31-4B8C-83A1-F6EECF244321}">
                    <p14:modId xmlns:p14="http://schemas.microsoft.com/office/powerpoint/2010/main" val="1972921626"/>
                  </p:ext>
                </p:extLst>
              </p:nvPr>
            </p:nvGraphicFramePr>
            <p:xfrm>
              <a:off x="350726" y="1780567"/>
              <a:ext cx="11490547" cy="2123440"/>
            </p:xfrm>
            <a:graphic>
              <a:graphicData uri="http://schemas.openxmlformats.org/drawingml/2006/table">
                <a:tbl>
                  <a:tblPr firstRow="1" bandRow="1">
                    <a:tableStyleId>{5C22544A-7EE6-4342-B048-85BDC9FD1C3A}</a:tableStyleId>
                  </a:tblPr>
                  <a:tblGrid>
                    <a:gridCol w="1583141">
                      <a:extLst>
                        <a:ext uri="{9D8B030D-6E8A-4147-A177-3AD203B41FA5}">
                          <a16:colId xmlns:a16="http://schemas.microsoft.com/office/drawing/2014/main" val="4198110682"/>
                        </a:ext>
                      </a:extLst>
                    </a:gridCol>
                    <a:gridCol w="1037229">
                      <a:extLst>
                        <a:ext uri="{9D8B030D-6E8A-4147-A177-3AD203B41FA5}">
                          <a16:colId xmlns:a16="http://schemas.microsoft.com/office/drawing/2014/main" val="292302729"/>
                        </a:ext>
                      </a:extLst>
                    </a:gridCol>
                    <a:gridCol w="1419368">
                      <a:extLst>
                        <a:ext uri="{9D8B030D-6E8A-4147-A177-3AD203B41FA5}">
                          <a16:colId xmlns:a16="http://schemas.microsoft.com/office/drawing/2014/main" val="126256495"/>
                        </a:ext>
                      </a:extLst>
                    </a:gridCol>
                    <a:gridCol w="2729552">
                      <a:extLst>
                        <a:ext uri="{9D8B030D-6E8A-4147-A177-3AD203B41FA5}">
                          <a16:colId xmlns:a16="http://schemas.microsoft.com/office/drawing/2014/main" val="477450593"/>
                        </a:ext>
                      </a:extLst>
                    </a:gridCol>
                    <a:gridCol w="2788657">
                      <a:extLst>
                        <a:ext uri="{9D8B030D-6E8A-4147-A177-3AD203B41FA5}">
                          <a16:colId xmlns:a16="http://schemas.microsoft.com/office/drawing/2014/main" val="3785429377"/>
                        </a:ext>
                      </a:extLst>
                    </a:gridCol>
                    <a:gridCol w="1932600">
                      <a:extLst>
                        <a:ext uri="{9D8B030D-6E8A-4147-A177-3AD203B41FA5}">
                          <a16:colId xmlns:a16="http://schemas.microsoft.com/office/drawing/2014/main" val="1101540161"/>
                        </a:ext>
                      </a:extLst>
                    </a:gridCol>
                  </a:tblGrid>
                  <a:tr h="640080">
                    <a:tc>
                      <a:txBody>
                        <a:bodyPr/>
                        <a:lstStyle/>
                        <a:p>
                          <a:pPr algn="ctr"/>
                          <a:r>
                            <a:rPr lang="en-NZ" dirty="0"/>
                            <a:t>Source of Variation</a:t>
                          </a:r>
                        </a:p>
                      </a:txBody>
                      <a:tcPr anchor="ctr"/>
                    </a:tc>
                    <a:tc>
                      <a:txBody>
                        <a:bodyPr/>
                        <a:lstStyle/>
                        <a:p>
                          <a:pPr algn="ctr"/>
                          <a:r>
                            <a:rPr lang="en-NZ" dirty="0" err="1"/>
                            <a:t>df</a:t>
                          </a:r>
                          <a:endParaRPr lang="en-NZ" dirty="0"/>
                        </a:p>
                      </a:txBody>
                      <a:tcPr anchor="ctr"/>
                    </a:tc>
                    <a:tc>
                      <a:txBody>
                        <a:bodyPr/>
                        <a:lstStyle/>
                        <a:p>
                          <a:pPr algn="ctr"/>
                          <a:r>
                            <a:rPr lang="en-NZ" dirty="0"/>
                            <a:t>SS</a:t>
                          </a:r>
                        </a:p>
                      </a:txBody>
                      <a:tcPr anchor="ctr"/>
                    </a:tc>
                    <a:tc>
                      <a:txBody>
                        <a:bodyPr/>
                        <a:lstStyle/>
                        <a:p>
                          <a:pPr algn="ctr"/>
                          <a:r>
                            <a:rPr lang="en-NZ" dirty="0"/>
                            <a:t>Mean Square</a:t>
                          </a:r>
                        </a:p>
                      </a:txBody>
                      <a:tcPr anchor="ctr"/>
                    </a:tc>
                    <a:tc>
                      <a:txBody>
                        <a:bodyPr/>
                        <a:lstStyle/>
                        <a:p>
                          <a:pPr algn="ctr"/>
                          <a:r>
                            <a:rPr lang="en-NZ" dirty="0"/>
                            <a:t>E [ Mean Squares ]</a:t>
                          </a:r>
                        </a:p>
                      </a:txBody>
                      <a:tcPr anchor="ctr"/>
                    </a:tc>
                    <a:tc>
                      <a:txBody>
                        <a:bodyPr/>
                        <a:lstStyle/>
                        <a:p>
                          <a:pPr algn="ctr"/>
                          <a:r>
                            <a:rPr lang="en-NZ" dirty="0"/>
                            <a:t>F-Statistic</a:t>
                          </a:r>
                        </a:p>
                      </a:txBody>
                      <a:tcPr anchor="ctr"/>
                    </a:tc>
                    <a:extLst>
                      <a:ext uri="{0D108BD9-81ED-4DB2-BD59-A6C34878D82A}">
                        <a16:rowId xmlns:a16="http://schemas.microsoft.com/office/drawing/2014/main" val="3666350365"/>
                      </a:ext>
                    </a:extLst>
                  </a:tr>
                  <a:tr h="370840">
                    <a:tc>
                      <a:txBody>
                        <a:bodyPr/>
                        <a:lstStyle/>
                        <a:p>
                          <a:pPr algn="ctr"/>
                          <a:r>
                            <a:rPr lang="en-NZ" dirty="0"/>
                            <a:t>Total</a:t>
                          </a:r>
                        </a:p>
                      </a:txBody>
                      <a:tcPr anchor="ctr"/>
                    </a:tc>
                    <a:tc>
                      <a:txBody>
                        <a:bodyPr/>
                        <a:lstStyle/>
                        <a:p>
                          <a:pPr algn="ctr"/>
                          <a:r>
                            <a:rPr lang="en-NZ" dirty="0"/>
                            <a:t>abn-1</a:t>
                          </a:r>
                        </a:p>
                      </a:txBody>
                      <a:tcPr anchor="ctr"/>
                    </a:tc>
                    <a:tc>
                      <a:txBody>
                        <a:bodyPr/>
                        <a:lstStyle/>
                        <a:p>
                          <a:pPr algn="ctr"/>
                          <a:r>
                            <a:rPr lang="en-NZ" dirty="0"/>
                            <a:t>TSS</a:t>
                          </a:r>
                        </a:p>
                      </a:txBody>
                      <a:tcPr anchor="ctr"/>
                    </a:tc>
                    <a:tc>
                      <a:txBody>
                        <a:bodyPr/>
                        <a:lstStyle/>
                        <a:p>
                          <a:pPr algn="ctr"/>
                          <a:endParaRPr lang="en-NZ" dirty="0"/>
                        </a:p>
                      </a:txBody>
                      <a:tcPr anchor="ctr"/>
                    </a:tc>
                    <a:tc>
                      <a:txBody>
                        <a:bodyPr/>
                        <a:lstStyle/>
                        <a:p>
                          <a:pPr algn="ctr"/>
                          <a:endParaRPr lang="en-NZ" dirty="0"/>
                        </a:p>
                      </a:txBody>
                      <a:tcPr anchor="ctr"/>
                    </a:tc>
                    <a:tc>
                      <a:txBody>
                        <a:bodyPr/>
                        <a:lstStyle/>
                        <a:p>
                          <a:pPr algn="ctr"/>
                          <a:endParaRPr lang="en-NZ" dirty="0"/>
                        </a:p>
                      </a:txBody>
                      <a:tcPr anchor="ctr"/>
                    </a:tc>
                    <a:extLst>
                      <a:ext uri="{0D108BD9-81ED-4DB2-BD59-A6C34878D82A}">
                        <a16:rowId xmlns:a16="http://schemas.microsoft.com/office/drawing/2014/main" val="3341485952"/>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NZ" dirty="0"/>
                            <a:t>A</a:t>
                          </a:r>
                        </a:p>
                      </a:txBody>
                      <a:tcPr anchor="ctr"/>
                    </a:tc>
                    <a:tc>
                      <a:txBody>
                        <a:bodyPr/>
                        <a:lstStyle/>
                        <a:p>
                          <a:pPr algn="ctr"/>
                          <a:r>
                            <a:rPr lang="en-NZ" dirty="0"/>
                            <a:t>a-1</a:t>
                          </a:r>
                        </a:p>
                      </a:txBody>
                      <a:tcPr anchor="ctr"/>
                    </a:tc>
                    <a:tc>
                      <a:txBody>
                        <a:bodyPr/>
                        <a:lstStyle/>
                        <a:p>
                          <a:pPr algn="ctr"/>
                          <a:r>
                            <a:rPr lang="en-NZ" dirty="0"/>
                            <a:t>SS</a:t>
                          </a:r>
                          <a:r>
                            <a:rPr lang="en-NZ" baseline="-25000" dirty="0"/>
                            <a:t>A</a:t>
                          </a:r>
                          <a:endParaRPr lang="en-NZ" dirty="0"/>
                        </a:p>
                      </a:txBody>
                      <a:tcPr anchor="ctr"/>
                    </a:tc>
                    <a:tc>
                      <a:txBody>
                        <a:bodyPr/>
                        <a:lstStyle/>
                        <a:p>
                          <a:pPr algn="ctr"/>
                          <a:r>
                            <a:rPr lang="en-NZ" dirty="0"/>
                            <a:t>MS</a:t>
                          </a:r>
                          <a:r>
                            <a:rPr lang="en-NZ" baseline="-25000" dirty="0"/>
                            <a:t>A</a:t>
                          </a:r>
                          <a:r>
                            <a:rPr lang="en-NZ" dirty="0"/>
                            <a:t> = SS</a:t>
                          </a:r>
                          <a:r>
                            <a:rPr lang="en-NZ" baseline="-25000" dirty="0"/>
                            <a:t>A</a:t>
                          </a:r>
                          <a:r>
                            <a:rPr lang="en-NZ" dirty="0"/>
                            <a:t> / (a-1)</a:t>
                          </a:r>
                        </a:p>
                      </a:txBody>
                      <a:tcPr anchor="ctr"/>
                    </a:tc>
                    <a:tc>
                      <a:txBody>
                        <a:bodyPr/>
                        <a:lstStyle/>
                        <a:p>
                          <a:endParaRPr lang="en-US"/>
                        </a:p>
                      </a:txBody>
                      <a:tcPr anchor="ctr">
                        <a:blipFill>
                          <a:blip r:embed="rId6"/>
                          <a:stretch>
                            <a:fillRect l="-242795" t="-280328" r="-70087" b="-224590"/>
                          </a:stretch>
                        </a:blipFill>
                      </a:tcPr>
                    </a:tc>
                    <a:tc>
                      <a:txBody>
                        <a:bodyPr/>
                        <a:lstStyle/>
                        <a:p>
                          <a:pPr algn="ctr"/>
                          <a:r>
                            <a:rPr lang="en-NZ" dirty="0"/>
                            <a:t>MS</a:t>
                          </a:r>
                          <a:r>
                            <a:rPr lang="en-NZ" baseline="-25000" dirty="0"/>
                            <a:t>A</a:t>
                          </a:r>
                          <a:r>
                            <a:rPr lang="en-NZ" dirty="0"/>
                            <a:t> / MS</a:t>
                          </a:r>
                          <a:r>
                            <a:rPr lang="en-NZ" baseline="-25000" dirty="0"/>
                            <a:t>B(A)</a:t>
                          </a:r>
                          <a:endParaRPr lang="en-NZ" dirty="0"/>
                        </a:p>
                      </a:txBody>
                      <a:tcPr anchor="ctr"/>
                    </a:tc>
                    <a:extLst>
                      <a:ext uri="{0D108BD9-81ED-4DB2-BD59-A6C34878D82A}">
                        <a16:rowId xmlns:a16="http://schemas.microsoft.com/office/drawing/2014/main" val="443198030"/>
                      </a:ext>
                    </a:extLst>
                  </a:tr>
                  <a:tr h="370840">
                    <a:tc>
                      <a:txBody>
                        <a:bodyPr/>
                        <a:lstStyle/>
                        <a:p>
                          <a:pPr algn="ctr"/>
                          <a:r>
                            <a:rPr lang="en-NZ" dirty="0"/>
                            <a:t>B(A)</a:t>
                          </a:r>
                        </a:p>
                      </a:txBody>
                      <a:tcPr anchor="ctr"/>
                    </a:tc>
                    <a:tc>
                      <a:txBody>
                        <a:bodyPr/>
                        <a:lstStyle/>
                        <a:p>
                          <a:pPr algn="ctr"/>
                          <a:r>
                            <a:rPr lang="en-NZ" dirty="0"/>
                            <a:t>a(b-1)</a:t>
                          </a:r>
                        </a:p>
                      </a:txBody>
                      <a:tcPr anchor="ctr"/>
                    </a:tc>
                    <a:tc>
                      <a:txBody>
                        <a:bodyPr/>
                        <a:lstStyle/>
                        <a:p>
                          <a:pPr algn="ctr"/>
                          <a:r>
                            <a:rPr lang="en-NZ" dirty="0"/>
                            <a:t>SS</a:t>
                          </a:r>
                          <a:r>
                            <a:rPr lang="en-NZ" baseline="-25000" dirty="0"/>
                            <a:t>B(A)</a:t>
                          </a:r>
                          <a:endParaRPr lang="en-NZ" dirty="0"/>
                        </a:p>
                      </a:txBody>
                      <a:tcPr anchor="ctr"/>
                    </a:tc>
                    <a:tc>
                      <a:txBody>
                        <a:bodyPr/>
                        <a:lstStyle/>
                        <a:p>
                          <a:pPr algn="ctr"/>
                          <a:r>
                            <a:rPr lang="en-NZ" dirty="0"/>
                            <a:t>MS</a:t>
                          </a:r>
                          <a:r>
                            <a:rPr lang="en-NZ" baseline="-25000" dirty="0"/>
                            <a:t>B(A)</a:t>
                          </a:r>
                          <a:r>
                            <a:rPr lang="en-NZ" dirty="0"/>
                            <a:t> = SS</a:t>
                          </a:r>
                          <a:r>
                            <a:rPr lang="en-NZ" baseline="-25000" dirty="0"/>
                            <a:t>B(A)</a:t>
                          </a:r>
                          <a:r>
                            <a:rPr lang="en-NZ" dirty="0"/>
                            <a:t> / [ a(b-1) ]</a:t>
                          </a:r>
                        </a:p>
                      </a:txBody>
                      <a:tcPr anchor="ctr"/>
                    </a:tc>
                    <a:tc>
                      <a:txBody>
                        <a:bodyPr/>
                        <a:lstStyle/>
                        <a:p>
                          <a:endParaRPr lang="en-US"/>
                        </a:p>
                      </a:txBody>
                      <a:tcPr anchor="ctr">
                        <a:blipFill>
                          <a:blip r:embed="rId6"/>
                          <a:stretch>
                            <a:fillRect l="-242795" t="-380328" r="-70087" b="-124590"/>
                          </a:stretch>
                        </a:blipFill>
                      </a:tcPr>
                    </a:tc>
                    <a:tc>
                      <a:txBody>
                        <a:bodyPr/>
                        <a:lstStyle/>
                        <a:p>
                          <a:pPr algn="ctr"/>
                          <a:r>
                            <a:rPr lang="en-NZ" dirty="0"/>
                            <a:t>MS</a:t>
                          </a:r>
                          <a:r>
                            <a:rPr lang="en-NZ" baseline="-25000" dirty="0"/>
                            <a:t>B(A)</a:t>
                          </a:r>
                          <a:r>
                            <a:rPr lang="en-NZ" dirty="0"/>
                            <a:t> / MSE</a:t>
                          </a:r>
                        </a:p>
                      </a:txBody>
                      <a:tcPr anchor="ctr"/>
                    </a:tc>
                    <a:extLst>
                      <a:ext uri="{0D108BD9-81ED-4DB2-BD59-A6C34878D82A}">
                        <a16:rowId xmlns:a16="http://schemas.microsoft.com/office/drawing/2014/main" val="3427382577"/>
                      </a:ext>
                    </a:extLst>
                  </a:tr>
                  <a:tr h="370840">
                    <a:tc>
                      <a:txBody>
                        <a:bodyPr/>
                        <a:lstStyle/>
                        <a:p>
                          <a:pPr algn="ctr"/>
                          <a:r>
                            <a:rPr lang="en-NZ" dirty="0"/>
                            <a:t>Residual</a:t>
                          </a:r>
                        </a:p>
                      </a:txBody>
                      <a:tcPr anchor="ctr"/>
                    </a:tc>
                    <a:tc>
                      <a:txBody>
                        <a:bodyPr/>
                        <a:lstStyle/>
                        <a:p>
                          <a:pPr algn="ctr"/>
                          <a:r>
                            <a:rPr lang="en-NZ" dirty="0"/>
                            <a:t>ab(n-1)</a:t>
                          </a:r>
                        </a:p>
                      </a:txBody>
                      <a:tcPr anchor="ctr"/>
                    </a:tc>
                    <a:tc>
                      <a:txBody>
                        <a:bodyPr/>
                        <a:lstStyle/>
                        <a:p>
                          <a:pPr algn="ctr"/>
                          <a:r>
                            <a:rPr lang="en-NZ" dirty="0"/>
                            <a:t>SSE</a:t>
                          </a:r>
                        </a:p>
                      </a:txBody>
                      <a:tcPr anchor="ctr"/>
                    </a:tc>
                    <a:tc>
                      <a:txBody>
                        <a:bodyPr/>
                        <a:lstStyle/>
                        <a:p>
                          <a:pPr algn="ctr"/>
                          <a:r>
                            <a:rPr lang="en-NZ" dirty="0"/>
                            <a:t>MSE = SSE / [ ab(n-1) ]</a:t>
                          </a:r>
                        </a:p>
                      </a:txBody>
                      <a:tcPr anchor="ctr"/>
                    </a:tc>
                    <a:tc>
                      <a:txBody>
                        <a:bodyPr/>
                        <a:lstStyle/>
                        <a:p>
                          <a:endParaRPr lang="en-US"/>
                        </a:p>
                      </a:txBody>
                      <a:tcPr anchor="ctr">
                        <a:blipFill>
                          <a:blip r:embed="rId6"/>
                          <a:stretch>
                            <a:fillRect l="-242795" t="-480328" r="-70087" b="-24590"/>
                          </a:stretch>
                        </a:blipFill>
                      </a:tcPr>
                    </a:tc>
                    <a:tc>
                      <a:txBody>
                        <a:bodyPr/>
                        <a:lstStyle/>
                        <a:p>
                          <a:pPr algn="ctr"/>
                          <a:endParaRPr lang="en-NZ" dirty="0"/>
                        </a:p>
                      </a:txBody>
                      <a:tcPr anchor="ctr"/>
                    </a:tc>
                    <a:extLst>
                      <a:ext uri="{0D108BD9-81ED-4DB2-BD59-A6C34878D82A}">
                        <a16:rowId xmlns:a16="http://schemas.microsoft.com/office/drawing/2014/main" val="3328376915"/>
                      </a:ext>
                    </a:extLst>
                  </a:tr>
                </a:tbl>
              </a:graphicData>
            </a:graphic>
          </p:graphicFrame>
        </mc:Fallback>
      </mc:AlternateContent>
    </p:spTree>
    <p:extLst>
      <p:ext uri="{BB962C8B-B14F-4D97-AF65-F5344CB8AC3E}">
        <p14:creationId xmlns:p14="http://schemas.microsoft.com/office/powerpoint/2010/main" val="137020320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1" name="Rectangle 70">
            <a:extLst>
              <a:ext uri="{FF2B5EF4-FFF2-40B4-BE49-F238E27FC236}">
                <a16:creationId xmlns:a16="http://schemas.microsoft.com/office/drawing/2014/main" id="{AB8C311F-7253-4AED-9701-7FC0708C4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030" name="Rectangle 72">
            <a:extLst>
              <a:ext uri="{FF2B5EF4-FFF2-40B4-BE49-F238E27FC236}">
                <a16:creationId xmlns:a16="http://schemas.microsoft.com/office/drawing/2014/main" id="{FD073016-B734-483B-8953-5BADEE1451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38600" y="0"/>
            <a:ext cx="8157458" cy="6858000"/>
          </a:xfrm>
          <a:prstGeom prst="rect">
            <a:avLst/>
          </a:prstGeom>
          <a:gradFill>
            <a:gsLst>
              <a:gs pos="2000">
                <a:schemeClr val="accent1"/>
              </a:gs>
              <a:gs pos="78000">
                <a:schemeClr val="accent1">
                  <a:lumMod val="50000"/>
                </a:schemeClr>
              </a:gs>
              <a:gs pos="100000">
                <a:srgbClr val="000000">
                  <a:alpha val="85000"/>
                </a:srgb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031" name="Rectangle 74">
            <a:extLst>
              <a:ext uri="{FF2B5EF4-FFF2-40B4-BE49-F238E27FC236}">
                <a16:creationId xmlns:a16="http://schemas.microsoft.com/office/drawing/2014/main" id="{90A7EAB6-59D3-4325-8DE6-E0CA4009CE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4537" y="1839884"/>
            <a:ext cx="8157460" cy="5017687"/>
          </a:xfrm>
          <a:prstGeom prst="rect">
            <a:avLst/>
          </a:prstGeom>
          <a:gradFill>
            <a:gsLst>
              <a:gs pos="0">
                <a:schemeClr val="accent1">
                  <a:lumMod val="60000"/>
                  <a:lumOff val="40000"/>
                  <a:alpha val="30000"/>
                </a:schemeClr>
              </a:gs>
              <a:gs pos="100000">
                <a:srgbClr val="000000">
                  <a:alpha val="44000"/>
                </a:srgbClr>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032" name="Rectangle 76">
            <a:extLst>
              <a:ext uri="{FF2B5EF4-FFF2-40B4-BE49-F238E27FC236}">
                <a16:creationId xmlns:a16="http://schemas.microsoft.com/office/drawing/2014/main" id="{A8D57A06-A426-446D-B02C-A2DC6B62E4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063179" y="-33131"/>
            <a:ext cx="6857999" cy="6923403"/>
          </a:xfrm>
          <a:prstGeom prst="rect">
            <a:avLst/>
          </a:prstGeom>
          <a:gradFill>
            <a:gsLst>
              <a:gs pos="56000">
                <a:schemeClr val="accent1">
                  <a:lumMod val="60000"/>
                  <a:lumOff val="40000"/>
                  <a:alpha val="0"/>
                </a:schemeClr>
              </a:gs>
              <a:gs pos="100000">
                <a:schemeClr val="accent1"/>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9" name="TextBox 8">
            <a:extLst>
              <a:ext uri="{FF2B5EF4-FFF2-40B4-BE49-F238E27FC236}">
                <a16:creationId xmlns:a16="http://schemas.microsoft.com/office/drawing/2014/main" id="{7F14062D-E1C1-4F63-B0FD-D013BDA5782B}"/>
              </a:ext>
            </a:extLst>
          </p:cNvPr>
          <p:cNvSpPr txBox="1"/>
          <p:nvPr/>
        </p:nvSpPr>
        <p:spPr>
          <a:xfrm>
            <a:off x="43707" y="2844225"/>
            <a:ext cx="12104586" cy="1477328"/>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NZ" sz="4500" b="1" dirty="0">
                <a:solidFill>
                  <a:srgbClr val="FFC000"/>
                </a:solidFill>
                <a:latin typeface="Calibri" panose="020F0502020204030204"/>
              </a:rPr>
              <a:t>5</a:t>
            </a:r>
            <a:r>
              <a:rPr kumimoji="0" lang="en-NZ" sz="4500" b="1" i="0" u="none" strike="noStrike" kern="1200" cap="none" spc="0" normalizeH="0" baseline="0" noProof="0" dirty="0">
                <a:ln>
                  <a:noFill/>
                </a:ln>
                <a:solidFill>
                  <a:srgbClr val="FFC000"/>
                </a:solidFill>
                <a:effectLst/>
                <a:uLnTx/>
                <a:uFillTx/>
                <a:latin typeface="Calibri" panose="020F0502020204030204"/>
                <a:ea typeface="+mn-ea"/>
                <a:cs typeface="+mn-cs"/>
              </a:rPr>
              <a:t>.3 – Computational Example of a Mixed Effects Model for a Two-Stage Nested Design</a:t>
            </a:r>
          </a:p>
        </p:txBody>
      </p:sp>
      <p:pic>
        <p:nvPicPr>
          <p:cNvPr id="10" name="Picture 2" descr="Te Herenga Waka—Victoria University of Wellington | Universities New  Zealand - Te Pōkai Tara">
            <a:extLst>
              <a:ext uri="{FF2B5EF4-FFF2-40B4-BE49-F238E27FC236}">
                <a16:creationId xmlns:a16="http://schemas.microsoft.com/office/drawing/2014/main" id="{078A8151-9BD3-4B62-8210-A87BCD0941E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116733"/>
            <a:ext cx="2185386" cy="7412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2489748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Slide Number Placeholder 3">
            <a:extLst>
              <a:ext uri="{FF2B5EF4-FFF2-40B4-BE49-F238E27FC236}">
                <a16:creationId xmlns:a16="http://schemas.microsoft.com/office/drawing/2014/main" id="{B0C9041D-77F0-4656-90D4-0E84B7AC6B27}"/>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54AD89C-DF1E-4948-B597-5DD47B34A9CA}" type="slidenum">
              <a:rPr kumimoji="1" lang="ja-JP" altLang="en-US" sz="4000" b="0" i="0" u="none" strike="noStrike" kern="1200" cap="none" spc="0" normalizeH="0" baseline="0" noProof="0" smtClean="0">
                <a:ln>
                  <a:noFill/>
                </a:ln>
                <a:solidFill>
                  <a:srgbClr val="575454">
                    <a:lumMod val="20000"/>
                    <a:lumOff val="80000"/>
                  </a:srgbClr>
                </a:solidFill>
                <a:effectLst/>
                <a:uLnTx/>
                <a:uFillTx/>
                <a:latin typeface="Coo Hew"/>
                <a:ea typeface="游ゴシック" panose="020B0400000000000000"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1" lang="ja-JP" altLang="en-US" sz="4000" b="0" i="0" u="none" strike="noStrike" kern="1200" cap="none" spc="0" normalizeH="0" baseline="0" noProof="0" dirty="0">
              <a:ln>
                <a:noFill/>
              </a:ln>
              <a:solidFill>
                <a:srgbClr val="575454">
                  <a:lumMod val="20000"/>
                  <a:lumOff val="80000"/>
                </a:srgbClr>
              </a:solidFill>
              <a:effectLst/>
              <a:uLnTx/>
              <a:uFillTx/>
              <a:latin typeface="Coo Hew"/>
              <a:ea typeface="游ゴシック" panose="020B0400000000000000" pitchFamily="34" charset="-128"/>
              <a:cs typeface="+mn-cs"/>
            </a:endParaRPr>
          </a:p>
        </p:txBody>
      </p:sp>
      <p:sp>
        <p:nvSpPr>
          <p:cNvPr id="19" name="Footer Placeholder 2">
            <a:extLst>
              <a:ext uri="{FF2B5EF4-FFF2-40B4-BE49-F238E27FC236}">
                <a16:creationId xmlns:a16="http://schemas.microsoft.com/office/drawing/2014/main" id="{8FB48505-B142-67B9-4256-51388315A7EF}"/>
              </a:ext>
            </a:extLst>
          </p:cNvPr>
          <p:cNvSpPr txBox="1">
            <a:spLocks/>
          </p:cNvSpPr>
          <p:nvPr/>
        </p:nvSpPr>
        <p:spPr>
          <a:xfrm>
            <a:off x="7397088" y="86139"/>
            <a:ext cx="4692278"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600" dirty="0">
                <a:solidFill>
                  <a:srgbClr val="DEDDDD"/>
                </a:solidFill>
                <a:latin typeface="Gidole"/>
                <a:ea typeface="游ゴシック" panose="020B0400000000000000" pitchFamily="34" charset="-128"/>
              </a:rPr>
              <a:t>5</a:t>
            </a:r>
            <a:r>
              <a:rPr kumimoji="1" lang="en-US" altLang="ja-JP"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rPr>
              <a:t>.3 – Computational Example 2-Stage Nested Design</a:t>
            </a:r>
            <a:endParaRPr kumimoji="1" lang="ja-JP" altLang="en-US"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endParaRPr>
          </a:p>
        </p:txBody>
      </p:sp>
      <p:sp>
        <p:nvSpPr>
          <p:cNvPr id="21" name="Title 6">
            <a:extLst>
              <a:ext uri="{FF2B5EF4-FFF2-40B4-BE49-F238E27FC236}">
                <a16:creationId xmlns:a16="http://schemas.microsoft.com/office/drawing/2014/main" id="{7C963C88-6E6E-2444-9663-776716CBAA9D}"/>
              </a:ext>
            </a:extLst>
          </p:cNvPr>
          <p:cNvSpPr txBox="1">
            <a:spLocks/>
          </p:cNvSpPr>
          <p:nvPr/>
        </p:nvSpPr>
        <p:spPr>
          <a:xfrm>
            <a:off x="251224" y="237833"/>
            <a:ext cx="9411391" cy="607201"/>
          </a:xfrm>
          <a:prstGeom prst="rect">
            <a:avLst/>
          </a:prstGeom>
        </p:spPr>
        <p:txBody>
          <a:bodyPr anchor="t">
            <a:normAutofit/>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pPr marL="0" marR="0" lvl="0" indent="0" algn="l" defTabSz="914324" rtl="0" eaLnBrk="1" fontAlgn="auto" latinLnBrk="0" hangingPunct="1">
              <a:lnSpc>
                <a:spcPct val="90000"/>
              </a:lnSpc>
              <a:spcBef>
                <a:spcPct val="0"/>
              </a:spcBef>
              <a:spcAft>
                <a:spcPts val="0"/>
              </a:spcAft>
              <a:buClrTx/>
              <a:buSzTx/>
              <a:buFontTx/>
              <a:buNone/>
              <a:tabLst/>
              <a:defRPr/>
            </a:pPr>
            <a:r>
              <a:rPr lang="en-US" altLang="ja-JP" b="1" u="sng" dirty="0">
                <a:solidFill>
                  <a:prstClr val="black"/>
                </a:solidFill>
                <a:latin typeface="Calibri" panose="020F0502020204030204"/>
                <a:ea typeface="游ゴシック Light" panose="020B0300000000000000" pitchFamily="34" charset="-128"/>
              </a:rPr>
              <a:t>5</a:t>
            </a:r>
            <a:r>
              <a:rPr kumimoji="1" lang="en-US" altLang="ja-JP"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rPr>
              <a:t>.3a – Drug Sourcing Example:</a:t>
            </a:r>
            <a:endParaRPr kumimoji="1" lang="ja-JP" altLang="en-US"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endParaRPr>
          </a:p>
        </p:txBody>
      </p:sp>
      <p:sp>
        <p:nvSpPr>
          <p:cNvPr id="11" name="Text Placeholder 5">
            <a:extLst>
              <a:ext uri="{FF2B5EF4-FFF2-40B4-BE49-F238E27FC236}">
                <a16:creationId xmlns:a16="http://schemas.microsoft.com/office/drawing/2014/main" id="{7B5CEE78-46DE-D327-3299-AC3CD2863429}"/>
              </a:ext>
            </a:extLst>
          </p:cNvPr>
          <p:cNvSpPr txBox="1">
            <a:spLocks/>
          </p:cNvSpPr>
          <p:nvPr/>
        </p:nvSpPr>
        <p:spPr>
          <a:xfrm>
            <a:off x="3011606" y="6520328"/>
            <a:ext cx="6168789" cy="30855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ctr">
              <a:lnSpc>
                <a:spcPct val="100000"/>
              </a:lnSpc>
            </a:pPr>
            <a:r>
              <a:rPr lang="en-US" altLang="ja-JP" sz="1200" dirty="0">
                <a:solidFill>
                  <a:srgbClr val="C00000"/>
                </a:solidFill>
              </a:rPr>
              <a:t>Associated code = </a:t>
            </a:r>
            <a:r>
              <a:rPr lang="en-NZ" altLang="ja-JP" sz="1200" dirty="0">
                <a:solidFill>
                  <a:srgbClr val="C00000"/>
                </a:solidFill>
              </a:rPr>
              <a:t>5.3 - Drug Source (Two Stage Nested Design Example)</a:t>
            </a:r>
            <a:endParaRPr lang="en-US" altLang="ja-JP" sz="1200" b="1" i="1" dirty="0">
              <a:solidFill>
                <a:srgbClr val="C00000"/>
              </a:solidFill>
            </a:endParaRPr>
          </a:p>
        </p:txBody>
      </p:sp>
      <p:sp>
        <p:nvSpPr>
          <p:cNvPr id="12" name="Text Placeholder 5">
            <a:extLst>
              <a:ext uri="{FF2B5EF4-FFF2-40B4-BE49-F238E27FC236}">
                <a16:creationId xmlns:a16="http://schemas.microsoft.com/office/drawing/2014/main" id="{287CC0BA-E2DD-1FBC-E311-B0DAE248517D}"/>
              </a:ext>
            </a:extLst>
          </p:cNvPr>
          <p:cNvSpPr txBox="1">
            <a:spLocks/>
          </p:cNvSpPr>
          <p:nvPr/>
        </p:nvSpPr>
        <p:spPr>
          <a:xfrm>
            <a:off x="251223" y="941503"/>
            <a:ext cx="11432776" cy="1706164"/>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1600" dirty="0">
                <a:solidFill>
                  <a:srgbClr val="0070C0"/>
                </a:solidFill>
              </a:rPr>
              <a:t> A researcher obtains three different cholesterol lowering drugs. Each drug is sourced from two different suppliers selected at random from all suppliers who make the  drug. The researcher wants to know if the drugs differ in their effectiveness. It is possible that different suppliers will be better or worse at making the same drug, so the researcher also uses the factor </a:t>
            </a:r>
            <a:r>
              <a:rPr lang="en-NZ" altLang="ja-JP" sz="1600" i="1" dirty="0">
                <a:solidFill>
                  <a:srgbClr val="0070C0"/>
                </a:solidFill>
              </a:rPr>
              <a:t>Supplier</a:t>
            </a:r>
            <a:r>
              <a:rPr lang="en-NZ" altLang="ja-JP" sz="1600" dirty="0">
                <a:solidFill>
                  <a:srgbClr val="0070C0"/>
                </a:solidFill>
              </a:rPr>
              <a:t> to account for this possibility. Each drug from each supplier is given to five  people (replicates) randomly selected from volunteers.</a:t>
            </a:r>
          </a:p>
          <a:p>
            <a:pPr algn="just">
              <a:lnSpc>
                <a:spcPct val="100000"/>
              </a:lnSpc>
            </a:pPr>
            <a:endParaRPr lang="en-NZ" altLang="ja-JP" sz="200" dirty="0">
              <a:solidFill>
                <a:srgbClr val="0070C0"/>
              </a:solidFill>
            </a:endParaRPr>
          </a:p>
          <a:p>
            <a:pPr algn="just">
              <a:lnSpc>
                <a:spcPct val="100000"/>
              </a:lnSpc>
            </a:pPr>
            <a:endParaRPr lang="en-NZ" altLang="ja-JP" sz="200" dirty="0">
              <a:solidFill>
                <a:srgbClr val="0070C0"/>
              </a:solidFill>
            </a:endParaRPr>
          </a:p>
          <a:p>
            <a:pPr algn="just">
              <a:lnSpc>
                <a:spcPct val="100000"/>
              </a:lnSpc>
            </a:pPr>
            <a:r>
              <a:rPr lang="en-NZ" altLang="ja-JP" sz="1600" dirty="0">
                <a:solidFill>
                  <a:srgbClr val="0070C0"/>
                </a:solidFill>
              </a:rPr>
              <a:t>The data pertaining to these trials is available in the csv entitled 'drugs’ but is also shown below.</a:t>
            </a:r>
          </a:p>
        </p:txBody>
      </p:sp>
      <p:graphicFrame>
        <p:nvGraphicFramePr>
          <p:cNvPr id="2" name="Table 1">
            <a:extLst>
              <a:ext uri="{FF2B5EF4-FFF2-40B4-BE49-F238E27FC236}">
                <a16:creationId xmlns:a16="http://schemas.microsoft.com/office/drawing/2014/main" id="{B1DEF186-CF92-4C20-9C16-85996ECB3DA6}"/>
              </a:ext>
            </a:extLst>
          </p:cNvPr>
          <p:cNvGraphicFramePr>
            <a:graphicFrameLocks noGrp="1"/>
          </p:cNvGraphicFramePr>
          <p:nvPr>
            <p:extLst>
              <p:ext uri="{D42A27DB-BD31-4B8C-83A1-F6EECF244321}">
                <p14:modId xmlns:p14="http://schemas.microsoft.com/office/powerpoint/2010/main" val="3007826524"/>
              </p:ext>
            </p:extLst>
          </p:nvPr>
        </p:nvGraphicFramePr>
        <p:xfrm>
          <a:off x="814316" y="2528068"/>
          <a:ext cx="5531892" cy="2233742"/>
        </p:xfrm>
        <a:graphic>
          <a:graphicData uri="http://schemas.openxmlformats.org/drawingml/2006/table">
            <a:tbl>
              <a:tblPr/>
              <a:tblGrid>
                <a:gridCol w="921982">
                  <a:extLst>
                    <a:ext uri="{9D8B030D-6E8A-4147-A177-3AD203B41FA5}">
                      <a16:colId xmlns:a16="http://schemas.microsoft.com/office/drawing/2014/main" val="2236848807"/>
                    </a:ext>
                  </a:extLst>
                </a:gridCol>
                <a:gridCol w="921982">
                  <a:extLst>
                    <a:ext uri="{9D8B030D-6E8A-4147-A177-3AD203B41FA5}">
                      <a16:colId xmlns:a16="http://schemas.microsoft.com/office/drawing/2014/main" val="354497925"/>
                    </a:ext>
                  </a:extLst>
                </a:gridCol>
                <a:gridCol w="921982">
                  <a:extLst>
                    <a:ext uri="{9D8B030D-6E8A-4147-A177-3AD203B41FA5}">
                      <a16:colId xmlns:a16="http://schemas.microsoft.com/office/drawing/2014/main" val="1572798933"/>
                    </a:ext>
                  </a:extLst>
                </a:gridCol>
                <a:gridCol w="921982">
                  <a:extLst>
                    <a:ext uri="{9D8B030D-6E8A-4147-A177-3AD203B41FA5}">
                      <a16:colId xmlns:a16="http://schemas.microsoft.com/office/drawing/2014/main" val="2601595116"/>
                    </a:ext>
                  </a:extLst>
                </a:gridCol>
                <a:gridCol w="921982">
                  <a:extLst>
                    <a:ext uri="{9D8B030D-6E8A-4147-A177-3AD203B41FA5}">
                      <a16:colId xmlns:a16="http://schemas.microsoft.com/office/drawing/2014/main" val="995286170"/>
                    </a:ext>
                  </a:extLst>
                </a:gridCol>
                <a:gridCol w="921982">
                  <a:extLst>
                    <a:ext uri="{9D8B030D-6E8A-4147-A177-3AD203B41FA5}">
                      <a16:colId xmlns:a16="http://schemas.microsoft.com/office/drawing/2014/main" val="1267173872"/>
                    </a:ext>
                  </a:extLst>
                </a:gridCol>
              </a:tblGrid>
              <a:tr h="319106">
                <a:tc gridSpan="2">
                  <a:txBody>
                    <a:bodyPr/>
                    <a:lstStyle/>
                    <a:p>
                      <a:pPr algn="ctr" fontAlgn="ctr"/>
                      <a:r>
                        <a:rPr lang="en-NZ" sz="1800" b="1" i="0" u="none" strike="noStrike">
                          <a:solidFill>
                            <a:srgbClr val="FFFFFF"/>
                          </a:solidFill>
                          <a:effectLst/>
                          <a:latin typeface="Calibri" panose="020F0502020204030204" pitchFamily="34" charset="0"/>
                        </a:rPr>
                        <a:t>Drug X</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2060"/>
                    </a:solidFill>
                  </a:tcPr>
                </a:tc>
                <a:tc hMerge="1">
                  <a:txBody>
                    <a:bodyPr/>
                    <a:lstStyle/>
                    <a:p>
                      <a:endParaRPr lang="en-NZ"/>
                    </a:p>
                  </a:txBody>
                  <a:tcPr/>
                </a:tc>
                <a:tc gridSpan="2">
                  <a:txBody>
                    <a:bodyPr/>
                    <a:lstStyle/>
                    <a:p>
                      <a:pPr algn="ctr" fontAlgn="ctr"/>
                      <a:r>
                        <a:rPr lang="en-NZ" sz="1800" b="1" i="0" u="none" strike="noStrike">
                          <a:solidFill>
                            <a:srgbClr val="FFFFFF"/>
                          </a:solidFill>
                          <a:effectLst/>
                          <a:latin typeface="Calibri" panose="020F0502020204030204" pitchFamily="34" charset="0"/>
                        </a:rPr>
                        <a:t>Drug Y</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00000"/>
                    </a:solidFill>
                  </a:tcPr>
                </a:tc>
                <a:tc hMerge="1">
                  <a:txBody>
                    <a:bodyPr/>
                    <a:lstStyle/>
                    <a:p>
                      <a:endParaRPr lang="en-NZ"/>
                    </a:p>
                  </a:txBody>
                  <a:tcPr/>
                </a:tc>
                <a:tc gridSpan="2">
                  <a:txBody>
                    <a:bodyPr/>
                    <a:lstStyle/>
                    <a:p>
                      <a:pPr algn="ctr" fontAlgn="ctr"/>
                      <a:r>
                        <a:rPr lang="en-NZ" sz="1800" b="1" i="0" u="none" strike="noStrike">
                          <a:solidFill>
                            <a:srgbClr val="FFFFFF"/>
                          </a:solidFill>
                          <a:effectLst/>
                          <a:latin typeface="Calibri" panose="020F0502020204030204" pitchFamily="34" charset="0"/>
                        </a:rPr>
                        <a:t>Drug Z</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B050"/>
                    </a:solidFill>
                  </a:tcPr>
                </a:tc>
                <a:tc hMerge="1">
                  <a:txBody>
                    <a:bodyPr/>
                    <a:lstStyle/>
                    <a:p>
                      <a:endParaRPr lang="en-NZ"/>
                    </a:p>
                  </a:txBody>
                  <a:tcPr/>
                </a:tc>
                <a:extLst>
                  <a:ext uri="{0D108BD9-81ED-4DB2-BD59-A6C34878D82A}">
                    <a16:rowId xmlns:a16="http://schemas.microsoft.com/office/drawing/2014/main" val="1365287633"/>
                  </a:ext>
                </a:extLst>
              </a:tr>
              <a:tr h="319106">
                <a:tc>
                  <a:txBody>
                    <a:bodyPr/>
                    <a:lstStyle/>
                    <a:p>
                      <a:pPr algn="ctr" fontAlgn="ctr"/>
                      <a:r>
                        <a:rPr lang="en-NZ" sz="1800" b="1" i="0" u="none" strike="noStrike">
                          <a:solidFill>
                            <a:srgbClr val="FFFFFF"/>
                          </a:solidFill>
                          <a:effectLst/>
                          <a:latin typeface="Calibri" panose="020F0502020204030204" pitchFamily="34" charset="0"/>
                        </a:rPr>
                        <a:t>SA</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2060"/>
                    </a:solidFill>
                  </a:tcPr>
                </a:tc>
                <a:tc>
                  <a:txBody>
                    <a:bodyPr/>
                    <a:lstStyle/>
                    <a:p>
                      <a:pPr algn="ctr" fontAlgn="ctr"/>
                      <a:r>
                        <a:rPr lang="en-NZ" sz="1800" b="1" i="0" u="none" strike="noStrike">
                          <a:solidFill>
                            <a:srgbClr val="FFFFFF"/>
                          </a:solidFill>
                          <a:effectLst/>
                          <a:latin typeface="Calibri" panose="020F0502020204030204" pitchFamily="34" charset="0"/>
                        </a:rPr>
                        <a:t>SB</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2060"/>
                    </a:solidFill>
                  </a:tcPr>
                </a:tc>
                <a:tc>
                  <a:txBody>
                    <a:bodyPr/>
                    <a:lstStyle/>
                    <a:p>
                      <a:pPr algn="ctr" fontAlgn="ctr"/>
                      <a:r>
                        <a:rPr lang="en-NZ" sz="1800" b="1" i="0" u="none" strike="noStrike">
                          <a:solidFill>
                            <a:srgbClr val="FFFFFF"/>
                          </a:solidFill>
                          <a:effectLst/>
                          <a:latin typeface="Calibri" panose="020F0502020204030204" pitchFamily="34" charset="0"/>
                        </a:rPr>
                        <a:t>SC</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00000"/>
                    </a:solidFill>
                  </a:tcPr>
                </a:tc>
                <a:tc>
                  <a:txBody>
                    <a:bodyPr/>
                    <a:lstStyle/>
                    <a:p>
                      <a:pPr algn="ctr" fontAlgn="ctr"/>
                      <a:r>
                        <a:rPr lang="en-NZ" sz="1800" b="1" i="0" u="none" strike="noStrike">
                          <a:solidFill>
                            <a:srgbClr val="FFFFFF"/>
                          </a:solidFill>
                          <a:effectLst/>
                          <a:latin typeface="Calibri" panose="020F0502020204030204" pitchFamily="34" charset="0"/>
                        </a:rPr>
                        <a:t>SD</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00000"/>
                    </a:solidFill>
                  </a:tcPr>
                </a:tc>
                <a:tc>
                  <a:txBody>
                    <a:bodyPr/>
                    <a:lstStyle/>
                    <a:p>
                      <a:pPr algn="ctr" fontAlgn="ctr"/>
                      <a:r>
                        <a:rPr lang="en-NZ" sz="1800" b="1" i="0" u="none" strike="noStrike">
                          <a:solidFill>
                            <a:srgbClr val="FFFFFF"/>
                          </a:solidFill>
                          <a:effectLst/>
                          <a:latin typeface="Calibri" panose="020F0502020204030204" pitchFamily="34" charset="0"/>
                        </a:rPr>
                        <a:t>SE</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B050"/>
                    </a:solidFill>
                  </a:tcPr>
                </a:tc>
                <a:tc>
                  <a:txBody>
                    <a:bodyPr/>
                    <a:lstStyle/>
                    <a:p>
                      <a:pPr algn="ctr" fontAlgn="ctr"/>
                      <a:r>
                        <a:rPr lang="en-NZ" sz="1800" b="1" i="0" u="none" strike="noStrike">
                          <a:solidFill>
                            <a:srgbClr val="FFFFFF"/>
                          </a:solidFill>
                          <a:effectLst/>
                          <a:latin typeface="Calibri" panose="020F0502020204030204" pitchFamily="34" charset="0"/>
                        </a:rPr>
                        <a:t>SF</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B050"/>
                    </a:solidFill>
                  </a:tcPr>
                </a:tc>
                <a:extLst>
                  <a:ext uri="{0D108BD9-81ED-4DB2-BD59-A6C34878D82A}">
                    <a16:rowId xmlns:a16="http://schemas.microsoft.com/office/drawing/2014/main" val="1895998256"/>
                  </a:ext>
                </a:extLst>
              </a:tr>
              <a:tr h="319106">
                <a:tc>
                  <a:txBody>
                    <a:bodyPr/>
                    <a:lstStyle/>
                    <a:p>
                      <a:pPr algn="ctr" fontAlgn="ctr"/>
                      <a:r>
                        <a:rPr lang="en-NZ" sz="1800" b="0" i="0" u="none" strike="noStrike" dirty="0">
                          <a:solidFill>
                            <a:srgbClr val="000000"/>
                          </a:solidFill>
                          <a:effectLst/>
                          <a:latin typeface="Calibri" panose="020F0502020204030204" pitchFamily="34" charset="0"/>
                        </a:rPr>
                        <a:t>21</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800" b="0" i="0" u="none" strike="noStrike">
                          <a:solidFill>
                            <a:srgbClr val="000000"/>
                          </a:solidFill>
                          <a:effectLst/>
                          <a:latin typeface="Calibri" panose="020F0502020204030204" pitchFamily="34" charset="0"/>
                        </a:rPr>
                        <a:t>15</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800" b="0" i="0" u="none" strike="noStrike">
                          <a:solidFill>
                            <a:srgbClr val="000000"/>
                          </a:solidFill>
                          <a:effectLst/>
                          <a:latin typeface="Calibri" panose="020F0502020204030204" pitchFamily="34" charset="0"/>
                        </a:rPr>
                        <a:t>14</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ctr"/>
                      <a:r>
                        <a:rPr lang="en-NZ" sz="1800" b="0" i="0" u="none" strike="noStrike">
                          <a:solidFill>
                            <a:srgbClr val="000000"/>
                          </a:solidFill>
                          <a:effectLst/>
                          <a:latin typeface="Calibri" panose="020F0502020204030204" pitchFamily="34" charset="0"/>
                        </a:rPr>
                        <a:t>6</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ctr"/>
                      <a:r>
                        <a:rPr lang="en-NZ" sz="1800" b="0" i="0" u="none" strike="noStrike">
                          <a:solidFill>
                            <a:srgbClr val="000000"/>
                          </a:solidFill>
                          <a:effectLst/>
                          <a:latin typeface="Calibri" panose="020F0502020204030204" pitchFamily="34" charset="0"/>
                        </a:rPr>
                        <a:t>17</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2EFDA"/>
                    </a:solidFill>
                  </a:tcPr>
                </a:tc>
                <a:tc>
                  <a:txBody>
                    <a:bodyPr/>
                    <a:lstStyle/>
                    <a:p>
                      <a:pPr algn="ctr" fontAlgn="ctr"/>
                      <a:r>
                        <a:rPr lang="en-NZ" sz="1800" b="0" i="0" u="none" strike="noStrike">
                          <a:solidFill>
                            <a:srgbClr val="000000"/>
                          </a:solidFill>
                          <a:effectLst/>
                          <a:latin typeface="Calibri" panose="020F0502020204030204" pitchFamily="34" charset="0"/>
                        </a:rPr>
                        <a:t>7</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2EFDA"/>
                    </a:solidFill>
                  </a:tcPr>
                </a:tc>
                <a:extLst>
                  <a:ext uri="{0D108BD9-81ED-4DB2-BD59-A6C34878D82A}">
                    <a16:rowId xmlns:a16="http://schemas.microsoft.com/office/drawing/2014/main" val="892919926"/>
                  </a:ext>
                </a:extLst>
              </a:tr>
              <a:tr h="319106">
                <a:tc>
                  <a:txBody>
                    <a:bodyPr/>
                    <a:lstStyle/>
                    <a:p>
                      <a:pPr algn="ctr" fontAlgn="ctr"/>
                      <a:r>
                        <a:rPr lang="en-NZ" sz="1800" b="0" i="0" u="none" strike="noStrike">
                          <a:solidFill>
                            <a:srgbClr val="000000"/>
                          </a:solidFill>
                          <a:effectLst/>
                          <a:latin typeface="Calibri" panose="020F0502020204030204" pitchFamily="34" charset="0"/>
                        </a:rPr>
                        <a:t>33</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800" b="0" i="0" u="none" strike="noStrike" dirty="0">
                          <a:solidFill>
                            <a:srgbClr val="000000"/>
                          </a:solidFill>
                          <a:effectLst/>
                          <a:latin typeface="Calibri" panose="020F0502020204030204" pitchFamily="34" charset="0"/>
                        </a:rPr>
                        <a:t>18</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800" b="0" i="0" u="none" strike="noStrike">
                          <a:solidFill>
                            <a:srgbClr val="000000"/>
                          </a:solidFill>
                          <a:effectLst/>
                          <a:latin typeface="Calibri" panose="020F0502020204030204" pitchFamily="34" charset="0"/>
                        </a:rPr>
                        <a:t>9</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ctr"/>
                      <a:r>
                        <a:rPr lang="en-NZ" sz="1800" b="0" i="0" u="none" strike="noStrike">
                          <a:solidFill>
                            <a:srgbClr val="000000"/>
                          </a:solidFill>
                          <a:effectLst/>
                          <a:latin typeface="Calibri" panose="020F0502020204030204" pitchFamily="34" charset="0"/>
                        </a:rPr>
                        <a:t>13</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ctr"/>
                      <a:r>
                        <a:rPr lang="en-NZ" sz="1800" b="0" i="0" u="none" strike="noStrike">
                          <a:solidFill>
                            <a:srgbClr val="000000"/>
                          </a:solidFill>
                          <a:effectLst/>
                          <a:latin typeface="Calibri" panose="020F0502020204030204" pitchFamily="34" charset="0"/>
                        </a:rPr>
                        <a:t>25</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2EFDA"/>
                    </a:solidFill>
                  </a:tcPr>
                </a:tc>
                <a:tc>
                  <a:txBody>
                    <a:bodyPr/>
                    <a:lstStyle/>
                    <a:p>
                      <a:pPr algn="ctr" fontAlgn="ctr"/>
                      <a:r>
                        <a:rPr lang="en-NZ" sz="1800" b="0" i="0" u="none" strike="noStrike">
                          <a:solidFill>
                            <a:srgbClr val="000000"/>
                          </a:solidFill>
                          <a:effectLst/>
                          <a:latin typeface="Calibri" panose="020F0502020204030204" pitchFamily="34" charset="0"/>
                        </a:rPr>
                        <a:t>1</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2EFDA"/>
                    </a:solidFill>
                  </a:tcPr>
                </a:tc>
                <a:extLst>
                  <a:ext uri="{0D108BD9-81ED-4DB2-BD59-A6C34878D82A}">
                    <a16:rowId xmlns:a16="http://schemas.microsoft.com/office/drawing/2014/main" val="3575611715"/>
                  </a:ext>
                </a:extLst>
              </a:tr>
              <a:tr h="319106">
                <a:tc>
                  <a:txBody>
                    <a:bodyPr/>
                    <a:lstStyle/>
                    <a:p>
                      <a:pPr algn="ctr" fontAlgn="ctr"/>
                      <a:r>
                        <a:rPr lang="en-NZ" sz="1800" b="0" i="0" u="none" strike="noStrike">
                          <a:solidFill>
                            <a:srgbClr val="000000"/>
                          </a:solidFill>
                          <a:effectLst/>
                          <a:latin typeface="Calibri" panose="020F0502020204030204" pitchFamily="34" charset="0"/>
                        </a:rPr>
                        <a:t>18</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800" b="0" i="0" u="none" strike="noStrike">
                          <a:solidFill>
                            <a:srgbClr val="000000"/>
                          </a:solidFill>
                          <a:effectLst/>
                          <a:latin typeface="Calibri" panose="020F0502020204030204" pitchFamily="34" charset="0"/>
                        </a:rPr>
                        <a:t>34</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800" b="0" i="0" u="none" strike="noStrike">
                          <a:solidFill>
                            <a:srgbClr val="000000"/>
                          </a:solidFill>
                          <a:effectLst/>
                          <a:latin typeface="Calibri" panose="020F0502020204030204" pitchFamily="34" charset="0"/>
                        </a:rPr>
                        <a:t>11</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ctr"/>
                      <a:r>
                        <a:rPr lang="en-NZ" sz="1800" b="0" i="0" u="none" strike="noStrike" dirty="0">
                          <a:solidFill>
                            <a:srgbClr val="000000"/>
                          </a:solidFill>
                          <a:effectLst/>
                          <a:latin typeface="Calibri" panose="020F0502020204030204" pitchFamily="34" charset="0"/>
                        </a:rPr>
                        <a:t>13</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ctr"/>
                      <a:r>
                        <a:rPr lang="en-NZ" sz="1800" b="0" i="0" u="none" strike="noStrike">
                          <a:solidFill>
                            <a:srgbClr val="000000"/>
                          </a:solidFill>
                          <a:effectLst/>
                          <a:latin typeface="Calibri" panose="020F0502020204030204" pitchFamily="34" charset="0"/>
                        </a:rPr>
                        <a:t>20</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2EFDA"/>
                    </a:solidFill>
                  </a:tcPr>
                </a:tc>
                <a:tc>
                  <a:txBody>
                    <a:bodyPr/>
                    <a:lstStyle/>
                    <a:p>
                      <a:pPr algn="ctr" fontAlgn="ctr"/>
                      <a:r>
                        <a:rPr lang="en-NZ" sz="1800" b="0" i="0" u="none" strike="noStrike">
                          <a:solidFill>
                            <a:srgbClr val="000000"/>
                          </a:solidFill>
                          <a:effectLst/>
                          <a:latin typeface="Calibri" panose="020F0502020204030204" pitchFamily="34" charset="0"/>
                        </a:rPr>
                        <a:t>4</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2EFDA"/>
                    </a:solidFill>
                  </a:tcPr>
                </a:tc>
                <a:extLst>
                  <a:ext uri="{0D108BD9-81ED-4DB2-BD59-A6C34878D82A}">
                    <a16:rowId xmlns:a16="http://schemas.microsoft.com/office/drawing/2014/main" val="147681632"/>
                  </a:ext>
                </a:extLst>
              </a:tr>
              <a:tr h="319106">
                <a:tc>
                  <a:txBody>
                    <a:bodyPr/>
                    <a:lstStyle/>
                    <a:p>
                      <a:pPr algn="ctr" fontAlgn="ctr"/>
                      <a:r>
                        <a:rPr lang="en-NZ" sz="1800" b="0" i="0" u="none" strike="noStrike">
                          <a:solidFill>
                            <a:srgbClr val="000000"/>
                          </a:solidFill>
                          <a:effectLst/>
                          <a:latin typeface="Calibri" panose="020F0502020204030204" pitchFamily="34" charset="0"/>
                        </a:rPr>
                        <a:t>14</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800" b="0" i="0" u="none" strike="noStrike">
                          <a:solidFill>
                            <a:srgbClr val="000000"/>
                          </a:solidFill>
                          <a:effectLst/>
                          <a:latin typeface="Calibri" panose="020F0502020204030204" pitchFamily="34" charset="0"/>
                        </a:rPr>
                        <a:t>23</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800" b="0" i="0" u="none" strike="noStrike">
                          <a:solidFill>
                            <a:srgbClr val="000000"/>
                          </a:solidFill>
                          <a:effectLst/>
                          <a:latin typeface="Calibri" panose="020F0502020204030204" pitchFamily="34" charset="0"/>
                        </a:rPr>
                        <a:t>22</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ctr"/>
                      <a:r>
                        <a:rPr lang="en-NZ" sz="1800" b="0" i="0" u="none" strike="noStrike">
                          <a:solidFill>
                            <a:srgbClr val="000000"/>
                          </a:solidFill>
                          <a:effectLst/>
                          <a:latin typeface="Calibri" panose="020F0502020204030204" pitchFamily="34" charset="0"/>
                        </a:rPr>
                        <a:t>21</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ctr"/>
                      <a:r>
                        <a:rPr lang="en-NZ" sz="1800" b="0" i="0" u="none" strike="noStrike" dirty="0">
                          <a:solidFill>
                            <a:srgbClr val="000000"/>
                          </a:solidFill>
                          <a:effectLst/>
                          <a:latin typeface="Calibri" panose="020F0502020204030204" pitchFamily="34" charset="0"/>
                        </a:rPr>
                        <a:t>18</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2EFDA"/>
                    </a:solidFill>
                  </a:tcPr>
                </a:tc>
                <a:tc>
                  <a:txBody>
                    <a:bodyPr/>
                    <a:lstStyle/>
                    <a:p>
                      <a:pPr algn="ctr" fontAlgn="ctr"/>
                      <a:r>
                        <a:rPr lang="en-NZ" sz="1800" b="0" i="0" u="none" strike="noStrike" dirty="0">
                          <a:solidFill>
                            <a:srgbClr val="000000"/>
                          </a:solidFill>
                          <a:effectLst/>
                          <a:latin typeface="Calibri" panose="020F0502020204030204" pitchFamily="34" charset="0"/>
                        </a:rPr>
                        <a:t>16</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2EFDA"/>
                    </a:solidFill>
                  </a:tcPr>
                </a:tc>
                <a:extLst>
                  <a:ext uri="{0D108BD9-81ED-4DB2-BD59-A6C34878D82A}">
                    <a16:rowId xmlns:a16="http://schemas.microsoft.com/office/drawing/2014/main" val="1113397755"/>
                  </a:ext>
                </a:extLst>
              </a:tr>
              <a:tr h="319106">
                <a:tc>
                  <a:txBody>
                    <a:bodyPr/>
                    <a:lstStyle/>
                    <a:p>
                      <a:pPr algn="ctr" fontAlgn="ctr"/>
                      <a:r>
                        <a:rPr lang="en-NZ" sz="1800" b="0" i="0" u="none" strike="noStrike">
                          <a:solidFill>
                            <a:srgbClr val="000000"/>
                          </a:solidFill>
                          <a:effectLst/>
                          <a:latin typeface="Calibri" panose="020F0502020204030204" pitchFamily="34" charset="0"/>
                        </a:rPr>
                        <a:t>27</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800" b="0" i="0" u="none" strike="noStrike">
                          <a:solidFill>
                            <a:srgbClr val="000000"/>
                          </a:solidFill>
                          <a:effectLst/>
                          <a:latin typeface="Calibri" panose="020F0502020204030204" pitchFamily="34" charset="0"/>
                        </a:rPr>
                        <a:t>26</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800" b="0" i="0" u="none" strike="noStrike">
                          <a:solidFill>
                            <a:srgbClr val="000000"/>
                          </a:solidFill>
                          <a:effectLst/>
                          <a:latin typeface="Calibri" panose="020F0502020204030204" pitchFamily="34" charset="0"/>
                        </a:rPr>
                        <a:t>5</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ctr"/>
                      <a:r>
                        <a:rPr lang="en-NZ" sz="1800" b="0" i="0" u="none" strike="noStrike">
                          <a:solidFill>
                            <a:srgbClr val="000000"/>
                          </a:solidFill>
                          <a:effectLst/>
                          <a:latin typeface="Calibri" panose="020F0502020204030204" pitchFamily="34" charset="0"/>
                        </a:rPr>
                        <a:t>18</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ctr"/>
                      <a:r>
                        <a:rPr lang="en-NZ" sz="1800" b="0" i="0" u="none" strike="noStrike">
                          <a:solidFill>
                            <a:srgbClr val="000000"/>
                          </a:solidFill>
                          <a:effectLst/>
                          <a:latin typeface="Calibri" panose="020F0502020204030204" pitchFamily="34" charset="0"/>
                        </a:rPr>
                        <a:t>31</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2EFDA"/>
                    </a:solidFill>
                  </a:tcPr>
                </a:tc>
                <a:tc>
                  <a:txBody>
                    <a:bodyPr/>
                    <a:lstStyle/>
                    <a:p>
                      <a:pPr algn="ctr" fontAlgn="ctr"/>
                      <a:r>
                        <a:rPr lang="en-NZ" sz="1800" b="0" i="0" u="none" strike="noStrike" dirty="0">
                          <a:solidFill>
                            <a:srgbClr val="000000"/>
                          </a:solidFill>
                          <a:effectLst/>
                          <a:latin typeface="Calibri" panose="020F0502020204030204" pitchFamily="34" charset="0"/>
                        </a:rPr>
                        <a:t>10</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2EFDA"/>
                    </a:solidFill>
                  </a:tcPr>
                </a:tc>
                <a:extLst>
                  <a:ext uri="{0D108BD9-81ED-4DB2-BD59-A6C34878D82A}">
                    <a16:rowId xmlns:a16="http://schemas.microsoft.com/office/drawing/2014/main" val="1541001415"/>
                  </a:ext>
                </a:extLst>
              </a:tr>
            </a:tbl>
          </a:graphicData>
        </a:graphic>
      </p:graphicFrame>
      <p:sp>
        <p:nvSpPr>
          <p:cNvPr id="15" name="Text Placeholder 5">
            <a:extLst>
              <a:ext uri="{FF2B5EF4-FFF2-40B4-BE49-F238E27FC236}">
                <a16:creationId xmlns:a16="http://schemas.microsoft.com/office/drawing/2014/main" id="{7BFF34E6-4F81-C838-62AB-A85F213BD500}"/>
              </a:ext>
            </a:extLst>
          </p:cNvPr>
          <p:cNvSpPr txBox="1">
            <a:spLocks/>
          </p:cNvSpPr>
          <p:nvPr/>
        </p:nvSpPr>
        <p:spPr>
          <a:xfrm>
            <a:off x="6477923" y="2442769"/>
            <a:ext cx="5611443" cy="148738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7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rPr>
              <a:t>Response Variable </a:t>
            </a:r>
            <a:r>
              <a:rPr kumimoji="1" lang="en-NZ" altLang="ja-JP" sz="17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rPr>
              <a:t>	 Cholesterol level</a:t>
            </a: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lang="en-NZ" altLang="ja-JP" sz="1700" b="1" dirty="0">
                <a:solidFill>
                  <a:prstClr val="black"/>
                </a:solidFill>
                <a:latin typeface="Calibri" panose="020F0502020204030204"/>
                <a:ea typeface="游ゴシック" panose="020B0400000000000000" pitchFamily="34" charset="-128"/>
              </a:rPr>
              <a:t>Factor A</a:t>
            </a:r>
            <a:r>
              <a:rPr lang="en-NZ" altLang="ja-JP" sz="1700" dirty="0">
                <a:solidFill>
                  <a:prstClr val="black"/>
                </a:solidFill>
                <a:latin typeface="Calibri" panose="020F0502020204030204"/>
                <a:ea typeface="游ゴシック" panose="020B0400000000000000" pitchFamily="34" charset="-128"/>
              </a:rPr>
              <a:t>    	 Drug  </a:t>
            </a:r>
            <a:r>
              <a:rPr lang="en-NZ" altLang="ja-JP" sz="1700" b="1" i="1" dirty="0">
                <a:solidFill>
                  <a:prstClr val="black"/>
                </a:solidFill>
                <a:latin typeface="Calibri" panose="020F0502020204030204"/>
                <a:ea typeface="游ゴシック" panose="020B0400000000000000" pitchFamily="34" charset="-128"/>
              </a:rPr>
              <a:t> a = 3</a:t>
            </a:r>
            <a:endParaRPr lang="en-NZ" altLang="ja-JP" sz="1700" dirty="0">
              <a:solidFill>
                <a:prstClr val="black"/>
              </a:solidFill>
              <a:latin typeface="Calibri" panose="020F0502020204030204"/>
              <a:ea typeface="游ゴシック" panose="020B0400000000000000" pitchFamily="34" charset="-128"/>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lang="en-NZ" altLang="ja-JP" sz="1700" b="1" dirty="0">
                <a:solidFill>
                  <a:prstClr val="black"/>
                </a:solidFill>
                <a:latin typeface="Calibri" panose="020F0502020204030204"/>
                <a:ea typeface="游ゴシック" panose="020B0400000000000000" pitchFamily="34" charset="-128"/>
              </a:rPr>
              <a:t>Factor A</a:t>
            </a:r>
            <a:r>
              <a:rPr kumimoji="1" lang="en-NZ" altLang="ja-JP" sz="17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rPr>
              <a:t> Levels </a:t>
            </a:r>
            <a:r>
              <a:rPr lang="en-NZ" altLang="ja-JP" sz="1700" b="1" dirty="0">
                <a:solidFill>
                  <a:prstClr val="black"/>
                </a:solidFill>
                <a:latin typeface="Calibri" panose="020F0502020204030204"/>
                <a:ea typeface="游ゴシック" panose="020B0400000000000000" pitchFamily="34" charset="-128"/>
              </a:rPr>
              <a:t>    	 </a:t>
            </a:r>
            <a:r>
              <a:rPr lang="en-NZ" altLang="ja-JP" sz="1700" dirty="0">
                <a:solidFill>
                  <a:prstClr val="black"/>
                </a:solidFill>
                <a:latin typeface="Calibri" panose="020F0502020204030204"/>
                <a:ea typeface="游ゴシック" panose="020B0400000000000000" pitchFamily="34" charset="-128"/>
              </a:rPr>
              <a:t>Drug X, Drug Y, Drug Z</a:t>
            </a:r>
            <a:endParaRPr kumimoji="1" lang="en-NZ" altLang="ja-JP" sz="170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endParaRPr>
          </a:p>
          <a:p>
            <a:pPr lvl="0" algn="just">
              <a:lnSpc>
                <a:spcPct val="100000"/>
              </a:lnSpc>
              <a:defRPr/>
            </a:pPr>
            <a:r>
              <a:rPr lang="en-NZ" altLang="ja-JP" sz="1700" b="1" dirty="0">
                <a:solidFill>
                  <a:prstClr val="black"/>
                </a:solidFill>
              </a:rPr>
              <a:t>Factor B</a:t>
            </a:r>
            <a:r>
              <a:rPr lang="en-NZ" altLang="ja-JP" sz="1700" dirty="0">
                <a:solidFill>
                  <a:prstClr val="black"/>
                </a:solidFill>
              </a:rPr>
              <a:t> </a:t>
            </a:r>
            <a:r>
              <a:rPr lang="en-NZ" altLang="ja-JP" sz="1700" dirty="0">
                <a:solidFill>
                  <a:prstClr val="black"/>
                </a:solidFill>
                <a:latin typeface="Calibri" panose="020F0502020204030204"/>
                <a:ea typeface="游ゴシック" panose="020B0400000000000000" pitchFamily="34" charset="-128"/>
              </a:rPr>
              <a:t>	     	 Supplier  </a:t>
            </a:r>
            <a:r>
              <a:rPr lang="en-NZ" altLang="ja-JP" sz="1700" b="1" i="1" dirty="0">
                <a:solidFill>
                  <a:prstClr val="black"/>
                </a:solidFill>
                <a:latin typeface="Calibri" panose="020F0502020204030204"/>
                <a:ea typeface="游ゴシック" panose="020B0400000000000000" pitchFamily="34" charset="-128"/>
              </a:rPr>
              <a:t> b = 2</a:t>
            </a:r>
            <a:endParaRPr lang="en-NZ" altLang="ja-JP" sz="1700" dirty="0">
              <a:solidFill>
                <a:prstClr val="black"/>
              </a:solidFill>
              <a:latin typeface="Calibri" panose="020F0502020204030204"/>
              <a:ea typeface="游ゴシック" panose="020B0400000000000000" pitchFamily="34" charset="-128"/>
            </a:endParaRPr>
          </a:p>
          <a:p>
            <a:pPr lvl="0" algn="just">
              <a:lnSpc>
                <a:spcPct val="100000"/>
              </a:lnSpc>
              <a:defRPr/>
            </a:pPr>
            <a:r>
              <a:rPr lang="en-NZ" altLang="ja-JP" sz="1700" b="1" dirty="0">
                <a:solidFill>
                  <a:prstClr val="black"/>
                </a:solidFill>
              </a:rPr>
              <a:t>Factor B Levels </a:t>
            </a:r>
            <a:r>
              <a:rPr lang="en-NZ" altLang="ja-JP" sz="1700" dirty="0">
                <a:solidFill>
                  <a:prstClr val="black"/>
                </a:solidFill>
                <a:latin typeface="Calibri" panose="020F0502020204030204"/>
                <a:ea typeface="游ゴシック" panose="020B0400000000000000" pitchFamily="34" charset="-128"/>
              </a:rPr>
              <a:t>	 X = {SA, SB}   Y = {SC, SD}   Z = {SE, SF}</a:t>
            </a:r>
          </a:p>
        </p:txBody>
      </p:sp>
      <p:sp>
        <p:nvSpPr>
          <p:cNvPr id="16" name="Text Placeholder 5">
            <a:extLst>
              <a:ext uri="{FF2B5EF4-FFF2-40B4-BE49-F238E27FC236}">
                <a16:creationId xmlns:a16="http://schemas.microsoft.com/office/drawing/2014/main" id="{44747E65-B454-0DCE-5598-8E219AD0866E}"/>
              </a:ext>
            </a:extLst>
          </p:cNvPr>
          <p:cNvSpPr txBox="1">
            <a:spLocks/>
          </p:cNvSpPr>
          <p:nvPr/>
        </p:nvSpPr>
        <p:spPr>
          <a:xfrm>
            <a:off x="6477923" y="3930155"/>
            <a:ext cx="5092130" cy="393770"/>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700"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rPr>
              <a:t>Note that since only certain levels of Factor B (Supplier) appear in each level of Factor A (Drug) this is a nested design.</a:t>
            </a:r>
            <a:endParaRPr lang="en-NZ" altLang="ja-JP" sz="1700" i="1" dirty="0">
              <a:solidFill>
                <a:prstClr val="black"/>
              </a:solidFill>
              <a:latin typeface="Calibri" panose="020F0502020204030204"/>
              <a:ea typeface="游ゴシック" panose="020B0400000000000000" pitchFamily="34" charset="-128"/>
            </a:endParaRPr>
          </a:p>
        </p:txBody>
      </p:sp>
      <mc:AlternateContent xmlns:mc="http://schemas.openxmlformats.org/markup-compatibility/2006" xmlns:a14="http://schemas.microsoft.com/office/drawing/2010/main">
        <mc:Choice Requires="a14">
          <p:sp>
            <p:nvSpPr>
              <p:cNvPr id="5" name="Text Placeholder 5">
                <a:extLst>
                  <a:ext uri="{FF2B5EF4-FFF2-40B4-BE49-F238E27FC236}">
                    <a16:creationId xmlns:a16="http://schemas.microsoft.com/office/drawing/2014/main" id="{F4ABF0F7-7743-5540-3628-344EC8548F3D}"/>
                  </a:ext>
                </a:extLst>
              </p:cNvPr>
              <p:cNvSpPr txBox="1">
                <a:spLocks/>
              </p:cNvSpPr>
              <p:nvPr/>
            </p:nvSpPr>
            <p:spPr>
              <a:xfrm>
                <a:off x="814316" y="4927868"/>
                <a:ext cx="7190873" cy="148738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1600" dirty="0">
                    <a:solidFill>
                      <a:srgbClr val="0070C0"/>
                    </a:solidFill>
                  </a:rPr>
                  <a:t>We want to do two things:</a:t>
                </a:r>
              </a:p>
              <a:p>
                <a:pPr algn="just">
                  <a:lnSpc>
                    <a:spcPct val="100000"/>
                  </a:lnSpc>
                </a:pPr>
                <a:endParaRPr lang="en-NZ" altLang="ja-JP" sz="200" dirty="0">
                  <a:solidFill>
                    <a:srgbClr val="0070C0"/>
                  </a:solidFill>
                </a:endParaRPr>
              </a:p>
              <a:p>
                <a:pPr algn="just">
                  <a:lnSpc>
                    <a:spcPct val="100000"/>
                  </a:lnSpc>
                </a:pPr>
                <a:endParaRPr lang="en-NZ" altLang="ja-JP" sz="200" dirty="0">
                  <a:solidFill>
                    <a:srgbClr val="0070C0"/>
                  </a:solidFill>
                </a:endParaRPr>
              </a:p>
              <a:p>
                <a:pPr marL="342900" indent="-342900" algn="just">
                  <a:lnSpc>
                    <a:spcPct val="100000"/>
                  </a:lnSpc>
                  <a:buFont typeface="+mj-lt"/>
                  <a:buAutoNum type="arabicPeriod"/>
                </a:pPr>
                <a:r>
                  <a:rPr lang="en-NZ" altLang="ja-JP" sz="1600" dirty="0">
                    <a:solidFill>
                      <a:srgbClr val="0070C0"/>
                    </a:solidFill>
                  </a:rPr>
                  <a:t>Test for the effect of drug on cholesterol level</a:t>
                </a:r>
              </a:p>
              <a:p>
                <a:pPr marL="228600" indent="-228600" algn="just">
                  <a:lnSpc>
                    <a:spcPct val="100000"/>
                  </a:lnSpc>
                  <a:buFont typeface="+mj-lt"/>
                  <a:buAutoNum type="arabicPeriod"/>
                </a:pPr>
                <a:endParaRPr lang="en-NZ" altLang="ja-JP" sz="200" dirty="0">
                  <a:solidFill>
                    <a:srgbClr val="0070C0"/>
                  </a:solidFill>
                </a:endParaRPr>
              </a:p>
              <a:p>
                <a:pPr marL="228600" indent="-228600" algn="just">
                  <a:lnSpc>
                    <a:spcPct val="100000"/>
                  </a:lnSpc>
                  <a:buFont typeface="+mj-lt"/>
                  <a:buAutoNum type="arabicPeriod"/>
                </a:pPr>
                <a:endParaRPr lang="en-NZ" altLang="ja-JP" sz="200" dirty="0">
                  <a:solidFill>
                    <a:srgbClr val="0070C0"/>
                  </a:solidFill>
                </a:endParaRPr>
              </a:p>
              <a:p>
                <a:pPr marL="342900" indent="-342900">
                  <a:lnSpc>
                    <a:spcPct val="100000"/>
                  </a:lnSpc>
                  <a:buFont typeface="+mj-lt"/>
                  <a:buAutoNum type="arabicPeriod"/>
                </a:pPr>
                <a:r>
                  <a:rPr lang="en-NZ" altLang="ja-JP" sz="1600" dirty="0">
                    <a:solidFill>
                      <a:srgbClr val="0070C0"/>
                    </a:solidFill>
                  </a:rPr>
                  <a:t>Determine the proportion of variance (after allowing for drug) due to</a:t>
                </a:r>
                <a:br>
                  <a:rPr lang="en-NZ" altLang="ja-JP" sz="1600" dirty="0">
                    <a:solidFill>
                      <a:srgbClr val="0070C0"/>
                    </a:solidFill>
                  </a:rPr>
                </a:br>
                <a:r>
                  <a:rPr lang="en-NZ" altLang="ja-JP" sz="1600" dirty="0">
                    <a:solidFill>
                      <a:srgbClr val="0070C0"/>
                    </a:solidFill>
                  </a:rPr>
                  <a:t> - Supplier  </a:t>
                </a:r>
                <a14:m>
                  <m:oMath xmlns:m="http://schemas.openxmlformats.org/officeDocument/2006/math">
                    <m:f>
                      <m:fPr>
                        <m:type m:val="lin"/>
                        <m:ctrlPr>
                          <a:rPr lang="en-NZ" altLang="ja-JP" sz="1600" b="1" i="1" smtClean="0">
                            <a:solidFill>
                              <a:srgbClr val="0070C0"/>
                            </a:solidFill>
                            <a:latin typeface="Cambria Math" panose="02040503050406030204" pitchFamily="18" charset="0"/>
                          </a:rPr>
                        </m:ctrlPr>
                      </m:fPr>
                      <m:num>
                        <m:sSubSup>
                          <m:sSubSupPr>
                            <m:ctrlPr>
                              <a:rPr lang="en-NZ" altLang="ja-JP" sz="1600" b="1" i="1">
                                <a:solidFill>
                                  <a:srgbClr val="0070C0"/>
                                </a:solidFill>
                                <a:latin typeface="Cambria Math" panose="02040503050406030204" pitchFamily="18" charset="0"/>
                              </a:rPr>
                            </m:ctrlPr>
                          </m:sSubSupPr>
                          <m:e>
                            <m:r>
                              <a:rPr lang="en-NZ" altLang="ja-JP" sz="1600" b="1" i="1">
                                <a:solidFill>
                                  <a:srgbClr val="0070C0"/>
                                </a:solidFill>
                                <a:latin typeface="Cambria Math" panose="02040503050406030204" pitchFamily="18" charset="0"/>
                              </a:rPr>
                              <m:t>𝝈</m:t>
                            </m:r>
                          </m:e>
                          <m:sub>
                            <m:r>
                              <a:rPr lang="en-NZ" altLang="ja-JP" sz="1600" b="1" i="1">
                                <a:solidFill>
                                  <a:srgbClr val="0070C0"/>
                                </a:solidFill>
                                <a:latin typeface="Cambria Math" panose="02040503050406030204" pitchFamily="18" charset="0"/>
                              </a:rPr>
                              <m:t>𝑩</m:t>
                            </m:r>
                          </m:sub>
                          <m:sup>
                            <m:r>
                              <a:rPr lang="en-NZ" altLang="ja-JP" sz="1600" b="1" i="1">
                                <a:solidFill>
                                  <a:srgbClr val="0070C0"/>
                                </a:solidFill>
                                <a:latin typeface="Cambria Math" panose="02040503050406030204" pitchFamily="18" charset="0"/>
                              </a:rPr>
                              <m:t>𝟐</m:t>
                            </m:r>
                          </m:sup>
                        </m:sSubSup>
                        <m:r>
                          <a:rPr lang="en-NZ" altLang="ja-JP" sz="1600" b="1" i="1">
                            <a:solidFill>
                              <a:srgbClr val="0070C0"/>
                            </a:solidFill>
                            <a:latin typeface="Cambria Math" panose="02040503050406030204" pitchFamily="18" charset="0"/>
                          </a:rPr>
                          <m:t> </m:t>
                        </m:r>
                      </m:num>
                      <m:den>
                        <m:r>
                          <a:rPr lang="en-NZ" altLang="ja-JP" sz="1600" b="1" i="1" smtClean="0">
                            <a:solidFill>
                              <a:srgbClr val="0070C0"/>
                            </a:solidFill>
                            <a:latin typeface="Cambria Math" panose="02040503050406030204" pitchFamily="18" charset="0"/>
                          </a:rPr>
                          <m:t>( </m:t>
                        </m:r>
                        <m:sSubSup>
                          <m:sSubSupPr>
                            <m:ctrlPr>
                              <a:rPr lang="en-NZ" altLang="ja-JP" sz="1600" b="1" i="1">
                                <a:solidFill>
                                  <a:srgbClr val="0070C0"/>
                                </a:solidFill>
                                <a:latin typeface="Cambria Math" panose="02040503050406030204" pitchFamily="18" charset="0"/>
                              </a:rPr>
                            </m:ctrlPr>
                          </m:sSubSupPr>
                          <m:e>
                            <m:r>
                              <a:rPr lang="en-NZ" altLang="ja-JP" sz="1600" b="1" i="1">
                                <a:solidFill>
                                  <a:srgbClr val="0070C0"/>
                                </a:solidFill>
                                <a:latin typeface="Cambria Math" panose="02040503050406030204" pitchFamily="18" charset="0"/>
                              </a:rPr>
                              <m:t>𝝈</m:t>
                            </m:r>
                          </m:e>
                          <m:sub>
                            <m:r>
                              <a:rPr lang="en-NZ" altLang="ja-JP" sz="1600" b="1" i="1">
                                <a:solidFill>
                                  <a:srgbClr val="0070C0"/>
                                </a:solidFill>
                                <a:latin typeface="Cambria Math" panose="02040503050406030204" pitchFamily="18" charset="0"/>
                              </a:rPr>
                              <m:t>𝑩</m:t>
                            </m:r>
                          </m:sub>
                          <m:sup>
                            <m:r>
                              <a:rPr lang="en-NZ" altLang="ja-JP" sz="1600" b="1" i="1">
                                <a:solidFill>
                                  <a:srgbClr val="0070C0"/>
                                </a:solidFill>
                                <a:latin typeface="Cambria Math" panose="02040503050406030204" pitchFamily="18" charset="0"/>
                              </a:rPr>
                              <m:t>𝟐</m:t>
                            </m:r>
                          </m:sup>
                        </m:sSubSup>
                        <m:r>
                          <a:rPr lang="en-NZ" altLang="ja-JP" sz="1600" b="1" i="1">
                            <a:solidFill>
                              <a:srgbClr val="0070C0"/>
                            </a:solidFill>
                            <a:latin typeface="Cambria Math" panose="02040503050406030204" pitchFamily="18" charset="0"/>
                          </a:rPr>
                          <m:t> +  </m:t>
                        </m:r>
                        <m:sSup>
                          <m:sSupPr>
                            <m:ctrlPr>
                              <a:rPr lang="en-NZ" altLang="ja-JP" sz="1600" b="1" i="1">
                                <a:solidFill>
                                  <a:srgbClr val="0070C0"/>
                                </a:solidFill>
                                <a:latin typeface="Cambria Math" panose="02040503050406030204" pitchFamily="18" charset="0"/>
                              </a:rPr>
                            </m:ctrlPr>
                          </m:sSupPr>
                          <m:e>
                            <m:r>
                              <a:rPr lang="en-NZ" altLang="ja-JP" sz="1600" b="1" i="1">
                                <a:solidFill>
                                  <a:srgbClr val="0070C0"/>
                                </a:solidFill>
                                <a:latin typeface="Cambria Math" panose="02040503050406030204" pitchFamily="18" charset="0"/>
                              </a:rPr>
                              <m:t>𝝈</m:t>
                            </m:r>
                          </m:e>
                          <m:sup>
                            <m:r>
                              <a:rPr lang="en-NZ" altLang="ja-JP" sz="1600" b="1" i="1">
                                <a:solidFill>
                                  <a:srgbClr val="0070C0"/>
                                </a:solidFill>
                                <a:latin typeface="Cambria Math" panose="02040503050406030204" pitchFamily="18" charset="0"/>
                              </a:rPr>
                              <m:t>𝟐</m:t>
                            </m:r>
                          </m:sup>
                        </m:sSup>
                        <m:r>
                          <a:rPr lang="en-NZ" altLang="ja-JP" sz="1600" b="1" i="1" smtClean="0">
                            <a:solidFill>
                              <a:srgbClr val="0070C0"/>
                            </a:solidFill>
                            <a:latin typeface="Cambria Math" panose="02040503050406030204" pitchFamily="18" charset="0"/>
                          </a:rPr>
                          <m:t> )</m:t>
                        </m:r>
                      </m:den>
                    </m:f>
                  </m:oMath>
                </a14:m>
                <a:br>
                  <a:rPr lang="en-NZ" altLang="ja-JP" sz="1600" dirty="0">
                    <a:solidFill>
                      <a:srgbClr val="0070C0"/>
                    </a:solidFill>
                  </a:rPr>
                </a:br>
                <a:r>
                  <a:rPr lang="en-NZ" altLang="ja-JP" sz="1600" dirty="0">
                    <a:solidFill>
                      <a:srgbClr val="0070C0"/>
                    </a:solidFill>
                  </a:rPr>
                  <a:t> - Residual unexplained variation </a:t>
                </a:r>
                <a14:m>
                  <m:oMath xmlns:m="http://schemas.openxmlformats.org/officeDocument/2006/math">
                    <m:r>
                      <a:rPr lang="en-NZ" altLang="ja-JP" sz="1600" b="0" i="0" smtClean="0">
                        <a:solidFill>
                          <a:srgbClr val="0070C0"/>
                        </a:solidFill>
                        <a:latin typeface="Cambria Math" panose="02040503050406030204" pitchFamily="18" charset="0"/>
                      </a:rPr>
                      <m:t>  </m:t>
                    </m:r>
                    <m:f>
                      <m:fPr>
                        <m:type m:val="lin"/>
                        <m:ctrlPr>
                          <a:rPr lang="en-NZ" altLang="ja-JP" sz="1600" b="1" i="1">
                            <a:solidFill>
                              <a:srgbClr val="0070C0"/>
                            </a:solidFill>
                            <a:latin typeface="Cambria Math" panose="02040503050406030204" pitchFamily="18" charset="0"/>
                          </a:rPr>
                        </m:ctrlPr>
                      </m:fPr>
                      <m:num>
                        <m:sSup>
                          <m:sSupPr>
                            <m:ctrlPr>
                              <a:rPr lang="en-NZ" altLang="ja-JP" sz="1600" b="1" i="1">
                                <a:solidFill>
                                  <a:srgbClr val="0070C0"/>
                                </a:solidFill>
                                <a:latin typeface="Cambria Math" panose="02040503050406030204" pitchFamily="18" charset="0"/>
                              </a:rPr>
                            </m:ctrlPr>
                          </m:sSupPr>
                          <m:e>
                            <m:r>
                              <a:rPr lang="en-NZ" altLang="ja-JP" sz="1600" b="1" i="1">
                                <a:solidFill>
                                  <a:srgbClr val="0070C0"/>
                                </a:solidFill>
                                <a:latin typeface="Cambria Math" panose="02040503050406030204" pitchFamily="18" charset="0"/>
                              </a:rPr>
                              <m:t>𝝈</m:t>
                            </m:r>
                          </m:e>
                          <m:sup>
                            <m:r>
                              <a:rPr lang="en-NZ" altLang="ja-JP" sz="1600" b="1" i="1">
                                <a:solidFill>
                                  <a:srgbClr val="0070C0"/>
                                </a:solidFill>
                                <a:latin typeface="Cambria Math" panose="02040503050406030204" pitchFamily="18" charset="0"/>
                              </a:rPr>
                              <m:t>𝟐</m:t>
                            </m:r>
                          </m:sup>
                        </m:sSup>
                        <m:r>
                          <a:rPr lang="en-NZ" altLang="ja-JP" sz="1600" b="1" i="1">
                            <a:solidFill>
                              <a:srgbClr val="0070C0"/>
                            </a:solidFill>
                            <a:latin typeface="Cambria Math" panose="02040503050406030204" pitchFamily="18" charset="0"/>
                          </a:rPr>
                          <m:t> </m:t>
                        </m:r>
                      </m:num>
                      <m:den>
                        <m:r>
                          <a:rPr lang="en-NZ" altLang="ja-JP" sz="1600" b="1" i="1">
                            <a:solidFill>
                              <a:srgbClr val="0070C0"/>
                            </a:solidFill>
                            <a:latin typeface="Cambria Math" panose="02040503050406030204" pitchFamily="18" charset="0"/>
                          </a:rPr>
                          <m:t>( </m:t>
                        </m:r>
                        <m:sSubSup>
                          <m:sSubSupPr>
                            <m:ctrlPr>
                              <a:rPr lang="en-NZ" altLang="ja-JP" sz="1600" b="1" i="1">
                                <a:solidFill>
                                  <a:srgbClr val="0070C0"/>
                                </a:solidFill>
                                <a:latin typeface="Cambria Math" panose="02040503050406030204" pitchFamily="18" charset="0"/>
                              </a:rPr>
                            </m:ctrlPr>
                          </m:sSubSupPr>
                          <m:e>
                            <m:r>
                              <a:rPr lang="en-NZ" altLang="ja-JP" sz="1600" b="1" i="1">
                                <a:solidFill>
                                  <a:srgbClr val="0070C0"/>
                                </a:solidFill>
                                <a:latin typeface="Cambria Math" panose="02040503050406030204" pitchFamily="18" charset="0"/>
                              </a:rPr>
                              <m:t>𝝈</m:t>
                            </m:r>
                          </m:e>
                          <m:sub>
                            <m:r>
                              <a:rPr lang="en-NZ" altLang="ja-JP" sz="1600" b="1" i="1">
                                <a:solidFill>
                                  <a:srgbClr val="0070C0"/>
                                </a:solidFill>
                                <a:latin typeface="Cambria Math" panose="02040503050406030204" pitchFamily="18" charset="0"/>
                              </a:rPr>
                              <m:t>𝑩</m:t>
                            </m:r>
                          </m:sub>
                          <m:sup>
                            <m:r>
                              <a:rPr lang="en-NZ" altLang="ja-JP" sz="1600" b="1" i="1">
                                <a:solidFill>
                                  <a:srgbClr val="0070C0"/>
                                </a:solidFill>
                                <a:latin typeface="Cambria Math" panose="02040503050406030204" pitchFamily="18" charset="0"/>
                              </a:rPr>
                              <m:t>𝟐</m:t>
                            </m:r>
                          </m:sup>
                        </m:sSubSup>
                        <m:r>
                          <a:rPr lang="en-NZ" altLang="ja-JP" sz="1600" b="1" i="1">
                            <a:solidFill>
                              <a:srgbClr val="0070C0"/>
                            </a:solidFill>
                            <a:latin typeface="Cambria Math" panose="02040503050406030204" pitchFamily="18" charset="0"/>
                          </a:rPr>
                          <m:t> +  </m:t>
                        </m:r>
                        <m:sSup>
                          <m:sSupPr>
                            <m:ctrlPr>
                              <a:rPr lang="en-NZ" altLang="ja-JP" sz="1600" b="1" i="1">
                                <a:solidFill>
                                  <a:srgbClr val="0070C0"/>
                                </a:solidFill>
                                <a:latin typeface="Cambria Math" panose="02040503050406030204" pitchFamily="18" charset="0"/>
                              </a:rPr>
                            </m:ctrlPr>
                          </m:sSupPr>
                          <m:e>
                            <m:r>
                              <a:rPr lang="en-NZ" altLang="ja-JP" sz="1600" b="1" i="1">
                                <a:solidFill>
                                  <a:srgbClr val="0070C0"/>
                                </a:solidFill>
                                <a:latin typeface="Cambria Math" panose="02040503050406030204" pitchFamily="18" charset="0"/>
                              </a:rPr>
                              <m:t>𝝈</m:t>
                            </m:r>
                          </m:e>
                          <m:sup>
                            <m:r>
                              <a:rPr lang="en-NZ" altLang="ja-JP" sz="1600" b="1" i="1">
                                <a:solidFill>
                                  <a:srgbClr val="0070C0"/>
                                </a:solidFill>
                                <a:latin typeface="Cambria Math" panose="02040503050406030204" pitchFamily="18" charset="0"/>
                              </a:rPr>
                              <m:t>𝟐</m:t>
                            </m:r>
                          </m:sup>
                        </m:sSup>
                        <m:r>
                          <a:rPr lang="en-NZ" altLang="ja-JP" sz="1600" b="1" i="1">
                            <a:solidFill>
                              <a:srgbClr val="0070C0"/>
                            </a:solidFill>
                            <a:latin typeface="Cambria Math" panose="02040503050406030204" pitchFamily="18" charset="0"/>
                          </a:rPr>
                          <m:t> )</m:t>
                        </m:r>
                      </m:den>
                    </m:f>
                  </m:oMath>
                </a14:m>
                <a:endParaRPr lang="en-NZ" altLang="ja-JP" sz="1600" b="1" dirty="0">
                  <a:solidFill>
                    <a:srgbClr val="0070C0"/>
                  </a:solidFill>
                </a:endParaRPr>
              </a:p>
            </p:txBody>
          </p:sp>
        </mc:Choice>
        <mc:Fallback xmlns="">
          <p:sp>
            <p:nvSpPr>
              <p:cNvPr id="5" name="Text Placeholder 5">
                <a:extLst>
                  <a:ext uri="{FF2B5EF4-FFF2-40B4-BE49-F238E27FC236}">
                    <a16:creationId xmlns:a16="http://schemas.microsoft.com/office/drawing/2014/main" id="{F4ABF0F7-7743-5540-3628-344EC8548F3D}"/>
                  </a:ext>
                </a:extLst>
              </p:cNvPr>
              <p:cNvSpPr txBox="1">
                <a:spLocks noRot="1" noChangeAspect="1" noMove="1" noResize="1" noEditPoints="1" noAdjustHandles="1" noChangeArrowheads="1" noChangeShapeType="1" noTextEdit="1"/>
              </p:cNvSpPr>
              <p:nvPr/>
            </p:nvSpPr>
            <p:spPr>
              <a:xfrm>
                <a:off x="814316" y="4927868"/>
                <a:ext cx="7190873" cy="1487386"/>
              </a:xfrm>
              <a:prstGeom prst="rect">
                <a:avLst/>
              </a:prstGeom>
              <a:blipFill>
                <a:blip r:embed="rId2"/>
                <a:stretch>
                  <a:fillRect l="-509" t="-1230" b="-36066"/>
                </a:stretch>
              </a:blipFill>
            </p:spPr>
            <p:txBody>
              <a:bodyPr/>
              <a:lstStyle/>
              <a:p>
                <a:r>
                  <a:rPr lang="en-NZ">
                    <a:noFill/>
                  </a:rPr>
                  <a:t> </a:t>
                </a:r>
              </a:p>
            </p:txBody>
          </p:sp>
        </mc:Fallback>
      </mc:AlternateContent>
      <p:sp>
        <p:nvSpPr>
          <p:cNvPr id="7" name="Text Placeholder 5">
            <a:extLst>
              <a:ext uri="{FF2B5EF4-FFF2-40B4-BE49-F238E27FC236}">
                <a16:creationId xmlns:a16="http://schemas.microsoft.com/office/drawing/2014/main" id="{1222D35D-4A15-75E6-7AED-7F6E182A750E}"/>
              </a:ext>
            </a:extLst>
          </p:cNvPr>
          <p:cNvSpPr txBox="1">
            <a:spLocks/>
          </p:cNvSpPr>
          <p:nvPr/>
        </p:nvSpPr>
        <p:spPr>
          <a:xfrm>
            <a:off x="8219236" y="5287732"/>
            <a:ext cx="3158448" cy="894925"/>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1600" dirty="0">
                <a:solidFill>
                  <a:schemeClr val="bg2">
                    <a:lumMod val="50000"/>
                  </a:schemeClr>
                </a:solidFill>
              </a:rPr>
              <a:t>There are two ways of doing this</a:t>
            </a:r>
          </a:p>
          <a:p>
            <a:pPr algn="just">
              <a:lnSpc>
                <a:spcPct val="100000"/>
              </a:lnSpc>
            </a:pPr>
            <a:r>
              <a:rPr lang="en-NZ" altLang="ja-JP" sz="1600" b="1" dirty="0">
                <a:solidFill>
                  <a:schemeClr val="bg2">
                    <a:lumMod val="50000"/>
                  </a:schemeClr>
                </a:solidFill>
              </a:rPr>
              <a:t> - </a:t>
            </a:r>
            <a:r>
              <a:rPr lang="en-NZ" altLang="ja-JP" sz="1600" dirty="0">
                <a:solidFill>
                  <a:schemeClr val="bg2">
                    <a:lumMod val="50000"/>
                  </a:schemeClr>
                </a:solidFill>
              </a:rPr>
              <a:t>With the </a:t>
            </a:r>
            <a:r>
              <a:rPr lang="en-NZ" altLang="ja-JP" sz="1600" b="1" i="1" dirty="0" err="1">
                <a:solidFill>
                  <a:schemeClr val="bg2">
                    <a:lumMod val="50000"/>
                  </a:schemeClr>
                </a:solidFill>
              </a:rPr>
              <a:t>nlme</a:t>
            </a:r>
            <a:r>
              <a:rPr lang="en-NZ" altLang="ja-JP" sz="1600" b="1" i="1" dirty="0">
                <a:solidFill>
                  <a:schemeClr val="bg2">
                    <a:lumMod val="50000"/>
                  </a:schemeClr>
                </a:solidFill>
              </a:rPr>
              <a:t>()</a:t>
            </a:r>
            <a:r>
              <a:rPr lang="en-NZ" altLang="ja-JP" sz="1600" dirty="0">
                <a:solidFill>
                  <a:schemeClr val="bg2">
                    <a:lumMod val="50000"/>
                  </a:schemeClr>
                </a:solidFill>
              </a:rPr>
              <a:t> package  </a:t>
            </a:r>
            <a:r>
              <a:rPr lang="en-NZ" altLang="ja-JP" sz="1600" dirty="0">
                <a:solidFill>
                  <a:srgbClr val="00B050"/>
                </a:solidFill>
                <a:sym typeface="Wingdings" panose="05000000000000000000" pitchFamily="2" charset="2"/>
              </a:rPr>
              <a:t></a:t>
            </a:r>
            <a:endParaRPr lang="en-NZ" altLang="ja-JP" sz="1600" dirty="0">
              <a:solidFill>
                <a:srgbClr val="00B050"/>
              </a:solidFill>
            </a:endParaRPr>
          </a:p>
          <a:p>
            <a:pPr algn="just">
              <a:lnSpc>
                <a:spcPct val="100000"/>
              </a:lnSpc>
            </a:pPr>
            <a:r>
              <a:rPr lang="en-NZ" altLang="ja-JP" sz="1600" dirty="0">
                <a:solidFill>
                  <a:schemeClr val="bg2">
                    <a:lumMod val="50000"/>
                  </a:schemeClr>
                </a:solidFill>
              </a:rPr>
              <a:t> - With the </a:t>
            </a:r>
            <a:r>
              <a:rPr lang="en-NZ" altLang="ja-JP" sz="1600" b="1" i="1" dirty="0" err="1">
                <a:solidFill>
                  <a:schemeClr val="bg2">
                    <a:lumMod val="50000"/>
                  </a:schemeClr>
                </a:solidFill>
              </a:rPr>
              <a:t>aov</a:t>
            </a:r>
            <a:r>
              <a:rPr lang="en-NZ" altLang="ja-JP" sz="1600" b="1" i="1" dirty="0">
                <a:solidFill>
                  <a:schemeClr val="bg2">
                    <a:lumMod val="50000"/>
                  </a:schemeClr>
                </a:solidFill>
              </a:rPr>
              <a:t>() </a:t>
            </a:r>
            <a:r>
              <a:rPr lang="en-NZ" altLang="ja-JP" sz="1600" dirty="0">
                <a:solidFill>
                  <a:schemeClr val="bg2">
                    <a:lumMod val="50000"/>
                  </a:schemeClr>
                </a:solidFill>
              </a:rPr>
              <a:t>command </a:t>
            </a:r>
            <a:r>
              <a:rPr lang="en-NZ" altLang="ja-JP" sz="1600" dirty="0">
                <a:solidFill>
                  <a:srgbClr val="C00000"/>
                </a:solidFill>
                <a:sym typeface="Wingdings" panose="05000000000000000000" pitchFamily="2" charset="2"/>
              </a:rPr>
              <a:t></a:t>
            </a:r>
            <a:endParaRPr lang="en-NZ" altLang="ja-JP" sz="1600" dirty="0">
              <a:solidFill>
                <a:srgbClr val="C00000"/>
              </a:solidFill>
            </a:endParaRPr>
          </a:p>
          <a:p>
            <a:pPr algn="just">
              <a:lnSpc>
                <a:spcPct val="100000"/>
              </a:lnSpc>
            </a:pPr>
            <a:endParaRPr lang="en-NZ" altLang="ja-JP" sz="1600" dirty="0">
              <a:solidFill>
                <a:schemeClr val="bg2">
                  <a:lumMod val="50000"/>
                </a:schemeClr>
              </a:solidFill>
            </a:endParaRPr>
          </a:p>
        </p:txBody>
      </p:sp>
    </p:spTree>
    <p:extLst>
      <p:ext uri="{BB962C8B-B14F-4D97-AF65-F5344CB8AC3E}">
        <p14:creationId xmlns:p14="http://schemas.microsoft.com/office/powerpoint/2010/main" val="9128784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6" grpId="0"/>
      <p:bldP spid="5" grpId="0"/>
      <p:bldP spid="7"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Slide Number Placeholder 3">
            <a:extLst>
              <a:ext uri="{FF2B5EF4-FFF2-40B4-BE49-F238E27FC236}">
                <a16:creationId xmlns:a16="http://schemas.microsoft.com/office/drawing/2014/main" id="{B0C9041D-77F0-4656-90D4-0E84B7AC6B27}"/>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54AD89C-DF1E-4948-B597-5DD47B34A9CA}" type="slidenum">
              <a:rPr kumimoji="1" lang="ja-JP" altLang="en-US" sz="4000" b="0" i="0" u="none" strike="noStrike" kern="1200" cap="none" spc="0" normalizeH="0" baseline="0" noProof="0" smtClean="0">
                <a:ln>
                  <a:noFill/>
                </a:ln>
                <a:solidFill>
                  <a:srgbClr val="575454">
                    <a:lumMod val="20000"/>
                    <a:lumOff val="80000"/>
                  </a:srgbClr>
                </a:solidFill>
                <a:effectLst/>
                <a:uLnTx/>
                <a:uFillTx/>
                <a:latin typeface="Coo Hew"/>
                <a:ea typeface="游ゴシック" panose="020B0400000000000000"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1" lang="ja-JP" altLang="en-US" sz="4000" b="0" i="0" u="none" strike="noStrike" kern="1200" cap="none" spc="0" normalizeH="0" baseline="0" noProof="0" dirty="0">
              <a:ln>
                <a:noFill/>
              </a:ln>
              <a:solidFill>
                <a:srgbClr val="575454">
                  <a:lumMod val="20000"/>
                  <a:lumOff val="80000"/>
                </a:srgbClr>
              </a:solidFill>
              <a:effectLst/>
              <a:uLnTx/>
              <a:uFillTx/>
              <a:latin typeface="Coo Hew"/>
              <a:ea typeface="游ゴシック" panose="020B0400000000000000" pitchFamily="34" charset="-128"/>
              <a:cs typeface="+mn-cs"/>
            </a:endParaRPr>
          </a:p>
        </p:txBody>
      </p:sp>
      <p:sp>
        <p:nvSpPr>
          <p:cNvPr id="21" name="Title 6">
            <a:extLst>
              <a:ext uri="{FF2B5EF4-FFF2-40B4-BE49-F238E27FC236}">
                <a16:creationId xmlns:a16="http://schemas.microsoft.com/office/drawing/2014/main" id="{7C963C88-6E6E-2444-9663-776716CBAA9D}"/>
              </a:ext>
            </a:extLst>
          </p:cNvPr>
          <p:cNvSpPr txBox="1">
            <a:spLocks/>
          </p:cNvSpPr>
          <p:nvPr/>
        </p:nvSpPr>
        <p:spPr>
          <a:xfrm>
            <a:off x="251224" y="237833"/>
            <a:ext cx="9411391" cy="607201"/>
          </a:xfrm>
          <a:prstGeom prst="rect">
            <a:avLst/>
          </a:prstGeom>
        </p:spPr>
        <p:txBody>
          <a:bodyPr anchor="t">
            <a:normAutofit/>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pPr marL="0" marR="0" lvl="0" indent="0" algn="l" defTabSz="914324" rtl="0" eaLnBrk="1" fontAlgn="auto" latinLnBrk="0" hangingPunct="1">
              <a:lnSpc>
                <a:spcPct val="90000"/>
              </a:lnSpc>
              <a:spcBef>
                <a:spcPct val="0"/>
              </a:spcBef>
              <a:spcAft>
                <a:spcPts val="0"/>
              </a:spcAft>
              <a:buClrTx/>
              <a:buSzTx/>
              <a:buFontTx/>
              <a:buNone/>
              <a:tabLst/>
              <a:defRPr/>
            </a:pPr>
            <a:r>
              <a:rPr lang="en-US" altLang="ja-JP" b="1" u="sng" dirty="0">
                <a:solidFill>
                  <a:prstClr val="black"/>
                </a:solidFill>
                <a:latin typeface="Calibri" panose="020F0502020204030204"/>
                <a:ea typeface="游ゴシック Light" panose="020B0300000000000000" pitchFamily="34" charset="-128"/>
              </a:rPr>
              <a:t>5</a:t>
            </a:r>
            <a:r>
              <a:rPr kumimoji="1" lang="en-US" altLang="ja-JP"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rPr>
              <a:t>.3a – Drug Sourcing Example:</a:t>
            </a:r>
            <a:endParaRPr kumimoji="1" lang="ja-JP" altLang="en-US"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endParaRPr>
          </a:p>
        </p:txBody>
      </p:sp>
      <p:sp>
        <p:nvSpPr>
          <p:cNvPr id="11" name="Text Placeholder 5">
            <a:extLst>
              <a:ext uri="{FF2B5EF4-FFF2-40B4-BE49-F238E27FC236}">
                <a16:creationId xmlns:a16="http://schemas.microsoft.com/office/drawing/2014/main" id="{7B5CEE78-46DE-D327-3299-AC3CD2863429}"/>
              </a:ext>
            </a:extLst>
          </p:cNvPr>
          <p:cNvSpPr txBox="1">
            <a:spLocks/>
          </p:cNvSpPr>
          <p:nvPr/>
        </p:nvSpPr>
        <p:spPr>
          <a:xfrm>
            <a:off x="3011606" y="6520328"/>
            <a:ext cx="6168789" cy="30855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ctr">
              <a:lnSpc>
                <a:spcPct val="100000"/>
              </a:lnSpc>
            </a:pPr>
            <a:r>
              <a:rPr lang="en-US" altLang="ja-JP" sz="1200" dirty="0">
                <a:solidFill>
                  <a:srgbClr val="C00000"/>
                </a:solidFill>
              </a:rPr>
              <a:t>Associated code = </a:t>
            </a:r>
            <a:r>
              <a:rPr lang="en-NZ" altLang="ja-JP" sz="1200" dirty="0">
                <a:solidFill>
                  <a:srgbClr val="C00000"/>
                </a:solidFill>
              </a:rPr>
              <a:t>5.3 - Drug Source (Two Stage Nested Design Example)</a:t>
            </a:r>
            <a:endParaRPr lang="en-US" altLang="ja-JP" sz="1200" b="1" i="1" dirty="0">
              <a:solidFill>
                <a:srgbClr val="C00000"/>
              </a:solidFill>
            </a:endParaRPr>
          </a:p>
        </p:txBody>
      </p:sp>
      <p:sp>
        <p:nvSpPr>
          <p:cNvPr id="12" name="Text Placeholder 5">
            <a:extLst>
              <a:ext uri="{FF2B5EF4-FFF2-40B4-BE49-F238E27FC236}">
                <a16:creationId xmlns:a16="http://schemas.microsoft.com/office/drawing/2014/main" id="{287CC0BA-E2DD-1FBC-E311-B0DAE248517D}"/>
              </a:ext>
            </a:extLst>
          </p:cNvPr>
          <p:cNvSpPr txBox="1">
            <a:spLocks/>
          </p:cNvSpPr>
          <p:nvPr/>
        </p:nvSpPr>
        <p:spPr>
          <a:xfrm>
            <a:off x="5487885" y="1842448"/>
            <a:ext cx="5894348" cy="2866030"/>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1800" dirty="0">
                <a:solidFill>
                  <a:schemeClr val="tx1"/>
                </a:solidFill>
              </a:rPr>
              <a:t>Note that when using a nested design it is important how the data are labelled when entering them into R.</a:t>
            </a:r>
          </a:p>
          <a:p>
            <a:pPr algn="just">
              <a:lnSpc>
                <a:spcPct val="100000"/>
              </a:lnSpc>
            </a:pPr>
            <a:endParaRPr lang="en-NZ" altLang="ja-JP" sz="1800" dirty="0">
              <a:solidFill>
                <a:schemeClr val="tx1"/>
              </a:solidFill>
            </a:endParaRPr>
          </a:p>
          <a:p>
            <a:pPr algn="just">
              <a:lnSpc>
                <a:spcPct val="100000"/>
              </a:lnSpc>
            </a:pPr>
            <a:r>
              <a:rPr lang="en-NZ" altLang="ja-JP" sz="1800" dirty="0">
                <a:solidFill>
                  <a:schemeClr val="tx1"/>
                </a:solidFill>
              </a:rPr>
              <a:t>It is essential that each nested level of factor </a:t>
            </a:r>
            <a:r>
              <a:rPr lang="en-NZ" altLang="ja-JP" sz="1800" b="1" i="1" dirty="0">
                <a:solidFill>
                  <a:schemeClr val="tx1"/>
                </a:solidFill>
              </a:rPr>
              <a:t>B</a:t>
            </a:r>
            <a:r>
              <a:rPr lang="en-NZ" altLang="ja-JP" sz="1800" dirty="0">
                <a:solidFill>
                  <a:schemeClr val="tx1"/>
                </a:solidFill>
              </a:rPr>
              <a:t> is given its own unique label, i.e. labels are not repeated. In this case each supplier should be given its own unique label.</a:t>
            </a:r>
          </a:p>
          <a:p>
            <a:pPr algn="just">
              <a:lnSpc>
                <a:spcPct val="100000"/>
              </a:lnSpc>
            </a:pPr>
            <a:endParaRPr lang="en-NZ" altLang="ja-JP" sz="1800" dirty="0">
              <a:solidFill>
                <a:schemeClr val="tx1"/>
              </a:solidFill>
            </a:endParaRPr>
          </a:p>
          <a:p>
            <a:pPr algn="just">
              <a:lnSpc>
                <a:spcPct val="100000"/>
              </a:lnSpc>
            </a:pPr>
            <a:r>
              <a:rPr lang="en-NZ" altLang="ja-JP" sz="1800" dirty="0">
                <a:solidFill>
                  <a:schemeClr val="tx1"/>
                </a:solidFill>
              </a:rPr>
              <a:t>If we had re-used the labels S1 and S2 for factor </a:t>
            </a:r>
            <a:r>
              <a:rPr lang="en-NZ" altLang="ja-JP" sz="1800" b="1" i="1" dirty="0">
                <a:solidFill>
                  <a:schemeClr val="tx1"/>
                </a:solidFill>
              </a:rPr>
              <a:t>B</a:t>
            </a:r>
            <a:r>
              <a:rPr lang="en-NZ" altLang="ja-JP" sz="1800" dirty="0">
                <a:solidFill>
                  <a:schemeClr val="tx1"/>
                </a:solidFill>
              </a:rPr>
              <a:t> levels within each level of factor </a:t>
            </a:r>
            <a:r>
              <a:rPr lang="en-NZ" altLang="ja-JP" sz="1800" b="1" i="1" dirty="0">
                <a:solidFill>
                  <a:schemeClr val="tx1"/>
                </a:solidFill>
              </a:rPr>
              <a:t>A</a:t>
            </a:r>
            <a:r>
              <a:rPr lang="en-NZ" altLang="ja-JP" sz="1800" dirty="0">
                <a:solidFill>
                  <a:schemeClr val="tx1"/>
                </a:solidFill>
              </a:rPr>
              <a:t>, R would have interpreted this as a </a:t>
            </a:r>
            <a:r>
              <a:rPr lang="en-NZ" altLang="ja-JP" sz="1800" b="1" dirty="0">
                <a:solidFill>
                  <a:schemeClr val="tx1"/>
                </a:solidFill>
              </a:rPr>
              <a:t>crossed</a:t>
            </a:r>
            <a:r>
              <a:rPr lang="en-NZ" altLang="ja-JP" sz="1800" dirty="0">
                <a:solidFill>
                  <a:schemeClr val="tx1"/>
                </a:solidFill>
              </a:rPr>
              <a:t> rather than </a:t>
            </a:r>
            <a:r>
              <a:rPr lang="en-NZ" altLang="ja-JP" sz="1800" b="1" dirty="0">
                <a:solidFill>
                  <a:schemeClr val="tx1"/>
                </a:solidFill>
              </a:rPr>
              <a:t>nested</a:t>
            </a:r>
            <a:r>
              <a:rPr lang="en-NZ" altLang="ja-JP" sz="1800" dirty="0">
                <a:solidFill>
                  <a:schemeClr val="tx1"/>
                </a:solidFill>
              </a:rPr>
              <a:t> design.</a:t>
            </a:r>
          </a:p>
        </p:txBody>
      </p:sp>
      <p:graphicFrame>
        <p:nvGraphicFramePr>
          <p:cNvPr id="3" name="Table 2">
            <a:extLst>
              <a:ext uri="{FF2B5EF4-FFF2-40B4-BE49-F238E27FC236}">
                <a16:creationId xmlns:a16="http://schemas.microsoft.com/office/drawing/2014/main" id="{D35B0D35-B18E-08E8-EDEA-9FF9FBCBDDEB}"/>
              </a:ext>
            </a:extLst>
          </p:cNvPr>
          <p:cNvGraphicFramePr>
            <a:graphicFrameLocks noGrp="1"/>
          </p:cNvGraphicFramePr>
          <p:nvPr>
            <p:extLst>
              <p:ext uri="{D42A27DB-BD31-4B8C-83A1-F6EECF244321}">
                <p14:modId xmlns:p14="http://schemas.microsoft.com/office/powerpoint/2010/main" val="1978092935"/>
              </p:ext>
            </p:extLst>
          </p:nvPr>
        </p:nvGraphicFramePr>
        <p:xfrm>
          <a:off x="412499" y="1199663"/>
          <a:ext cx="2106303" cy="5320665"/>
        </p:xfrm>
        <a:graphic>
          <a:graphicData uri="http://schemas.openxmlformats.org/drawingml/2006/table">
            <a:tbl>
              <a:tblPr/>
              <a:tblGrid>
                <a:gridCol w="702101">
                  <a:extLst>
                    <a:ext uri="{9D8B030D-6E8A-4147-A177-3AD203B41FA5}">
                      <a16:colId xmlns:a16="http://schemas.microsoft.com/office/drawing/2014/main" val="1456634668"/>
                    </a:ext>
                  </a:extLst>
                </a:gridCol>
                <a:gridCol w="743229">
                  <a:extLst>
                    <a:ext uri="{9D8B030D-6E8A-4147-A177-3AD203B41FA5}">
                      <a16:colId xmlns:a16="http://schemas.microsoft.com/office/drawing/2014/main" val="1524488500"/>
                    </a:ext>
                  </a:extLst>
                </a:gridCol>
                <a:gridCol w="660973">
                  <a:extLst>
                    <a:ext uri="{9D8B030D-6E8A-4147-A177-3AD203B41FA5}">
                      <a16:colId xmlns:a16="http://schemas.microsoft.com/office/drawing/2014/main" val="3040453835"/>
                    </a:ext>
                  </a:extLst>
                </a:gridCol>
              </a:tblGrid>
              <a:tr h="237499">
                <a:tc>
                  <a:txBody>
                    <a:bodyPr/>
                    <a:lstStyle/>
                    <a:p>
                      <a:pPr algn="ctr" fontAlgn="b"/>
                      <a:r>
                        <a:rPr lang="en-NZ" sz="1600" b="1" i="0" u="none" strike="noStrike">
                          <a:solidFill>
                            <a:srgbClr val="FFFFFF"/>
                          </a:solidFill>
                          <a:effectLst/>
                          <a:latin typeface="Calibri" panose="020F0502020204030204" pitchFamily="34" charset="0"/>
                        </a:rPr>
                        <a:t>drug</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2060"/>
                    </a:solidFill>
                  </a:tcPr>
                </a:tc>
                <a:tc>
                  <a:txBody>
                    <a:bodyPr/>
                    <a:lstStyle/>
                    <a:p>
                      <a:pPr algn="ctr" fontAlgn="b"/>
                      <a:r>
                        <a:rPr lang="en-NZ" sz="1600" b="1" i="0" u="none" strike="noStrike" dirty="0">
                          <a:solidFill>
                            <a:srgbClr val="FFFFFF"/>
                          </a:solidFill>
                          <a:effectLst/>
                          <a:latin typeface="Calibri" panose="020F0502020204030204" pitchFamily="34" charset="0"/>
                        </a:rPr>
                        <a:t>supplier</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2060"/>
                    </a:solidFill>
                  </a:tcPr>
                </a:tc>
                <a:tc>
                  <a:txBody>
                    <a:bodyPr/>
                    <a:lstStyle/>
                    <a:p>
                      <a:pPr algn="ctr" fontAlgn="b"/>
                      <a:r>
                        <a:rPr lang="en-NZ" sz="1600" b="1" i="0" u="none" strike="noStrike">
                          <a:solidFill>
                            <a:srgbClr val="FFFFFF"/>
                          </a:solidFill>
                          <a:effectLst/>
                          <a:latin typeface="Calibri" panose="020F0502020204030204" pitchFamily="34" charset="0"/>
                        </a:rPr>
                        <a:t>chol</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2060"/>
                    </a:solidFill>
                  </a:tcPr>
                </a:tc>
                <a:extLst>
                  <a:ext uri="{0D108BD9-81ED-4DB2-BD59-A6C34878D82A}">
                    <a16:rowId xmlns:a16="http://schemas.microsoft.com/office/drawing/2014/main" val="3659967676"/>
                  </a:ext>
                </a:extLst>
              </a:tr>
              <a:tr h="237499">
                <a:tc>
                  <a:txBody>
                    <a:bodyPr/>
                    <a:lstStyle/>
                    <a:p>
                      <a:pPr algn="ctr" fontAlgn="b"/>
                      <a:r>
                        <a:rPr lang="en-NZ" sz="1600" b="0" i="0" u="none" strike="noStrike">
                          <a:solidFill>
                            <a:srgbClr val="000000"/>
                          </a:solidFill>
                          <a:effectLst/>
                          <a:latin typeface="Calibri" panose="020F0502020204030204" pitchFamily="34" charset="0"/>
                        </a:rPr>
                        <a:t>X</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600" b="0" i="0" u="none" strike="noStrike">
                          <a:solidFill>
                            <a:srgbClr val="000000"/>
                          </a:solidFill>
                          <a:effectLst/>
                          <a:latin typeface="Calibri" panose="020F0502020204030204" pitchFamily="34" charset="0"/>
                        </a:rPr>
                        <a:t>SA</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600" b="0" i="0" u="none" strike="noStrike">
                          <a:solidFill>
                            <a:srgbClr val="000000"/>
                          </a:solidFill>
                          <a:effectLst/>
                          <a:latin typeface="Calibri" panose="020F0502020204030204" pitchFamily="34" charset="0"/>
                        </a:rPr>
                        <a:t>21</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825760911"/>
                  </a:ext>
                </a:extLst>
              </a:tr>
              <a:tr h="237499">
                <a:tc>
                  <a:txBody>
                    <a:bodyPr/>
                    <a:lstStyle/>
                    <a:p>
                      <a:pPr algn="ctr" fontAlgn="b"/>
                      <a:r>
                        <a:rPr lang="en-NZ" sz="1600" b="0" i="0" u="none" strike="noStrike">
                          <a:solidFill>
                            <a:srgbClr val="000000"/>
                          </a:solidFill>
                          <a:effectLst/>
                          <a:latin typeface="Calibri" panose="020F0502020204030204" pitchFamily="34" charset="0"/>
                        </a:rPr>
                        <a:t>X</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600" b="0" i="0" u="none" strike="noStrike">
                          <a:solidFill>
                            <a:srgbClr val="000000"/>
                          </a:solidFill>
                          <a:effectLst/>
                          <a:latin typeface="Calibri" panose="020F0502020204030204" pitchFamily="34" charset="0"/>
                        </a:rPr>
                        <a:t>SA</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600" b="0" i="0" u="none" strike="noStrike" dirty="0">
                          <a:solidFill>
                            <a:srgbClr val="000000"/>
                          </a:solidFill>
                          <a:effectLst/>
                          <a:latin typeface="Calibri" panose="020F0502020204030204" pitchFamily="34" charset="0"/>
                        </a:rPr>
                        <a:t>33</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985075359"/>
                  </a:ext>
                </a:extLst>
              </a:tr>
              <a:tr h="237499">
                <a:tc>
                  <a:txBody>
                    <a:bodyPr/>
                    <a:lstStyle/>
                    <a:p>
                      <a:pPr algn="ctr" fontAlgn="b"/>
                      <a:r>
                        <a:rPr lang="en-NZ" sz="1600" b="0" i="0" u="none" strike="noStrike">
                          <a:solidFill>
                            <a:srgbClr val="000000"/>
                          </a:solidFill>
                          <a:effectLst/>
                          <a:latin typeface="Calibri" panose="020F0502020204030204" pitchFamily="34" charset="0"/>
                        </a:rPr>
                        <a:t>X</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600" b="0" i="0" u="none" strike="noStrike">
                          <a:solidFill>
                            <a:srgbClr val="000000"/>
                          </a:solidFill>
                          <a:effectLst/>
                          <a:latin typeface="Calibri" panose="020F0502020204030204" pitchFamily="34" charset="0"/>
                        </a:rPr>
                        <a:t>SA</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600" b="0" i="0" u="none" strike="noStrike">
                          <a:solidFill>
                            <a:srgbClr val="000000"/>
                          </a:solidFill>
                          <a:effectLst/>
                          <a:latin typeface="Calibri" panose="020F0502020204030204" pitchFamily="34" charset="0"/>
                        </a:rPr>
                        <a:t>18</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953369977"/>
                  </a:ext>
                </a:extLst>
              </a:tr>
              <a:tr h="237499">
                <a:tc>
                  <a:txBody>
                    <a:bodyPr/>
                    <a:lstStyle/>
                    <a:p>
                      <a:pPr algn="ctr" fontAlgn="b"/>
                      <a:r>
                        <a:rPr lang="en-NZ" sz="1600" b="0" i="0" u="none" strike="noStrike">
                          <a:solidFill>
                            <a:srgbClr val="000000"/>
                          </a:solidFill>
                          <a:effectLst/>
                          <a:latin typeface="Calibri" panose="020F0502020204030204" pitchFamily="34" charset="0"/>
                        </a:rPr>
                        <a:t>X</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600" b="0" i="0" u="none" strike="noStrike">
                          <a:solidFill>
                            <a:srgbClr val="000000"/>
                          </a:solidFill>
                          <a:effectLst/>
                          <a:latin typeface="Calibri" panose="020F0502020204030204" pitchFamily="34" charset="0"/>
                        </a:rPr>
                        <a:t>SA</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600" b="0" i="0" u="none" strike="noStrike">
                          <a:solidFill>
                            <a:srgbClr val="000000"/>
                          </a:solidFill>
                          <a:effectLst/>
                          <a:latin typeface="Calibri" panose="020F0502020204030204" pitchFamily="34" charset="0"/>
                        </a:rPr>
                        <a:t>14</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3926116432"/>
                  </a:ext>
                </a:extLst>
              </a:tr>
              <a:tr h="237499">
                <a:tc>
                  <a:txBody>
                    <a:bodyPr/>
                    <a:lstStyle/>
                    <a:p>
                      <a:pPr algn="ctr" fontAlgn="b"/>
                      <a:r>
                        <a:rPr lang="en-NZ" sz="1600" b="0" i="0" u="none" strike="noStrike">
                          <a:solidFill>
                            <a:srgbClr val="000000"/>
                          </a:solidFill>
                          <a:effectLst/>
                          <a:latin typeface="Calibri" panose="020F0502020204030204" pitchFamily="34" charset="0"/>
                        </a:rPr>
                        <a:t>X</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600" b="0" i="0" u="none" strike="noStrike">
                          <a:solidFill>
                            <a:srgbClr val="000000"/>
                          </a:solidFill>
                          <a:effectLst/>
                          <a:latin typeface="Calibri" panose="020F0502020204030204" pitchFamily="34" charset="0"/>
                        </a:rPr>
                        <a:t>SA</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600" b="0" i="0" u="none" strike="noStrike">
                          <a:solidFill>
                            <a:srgbClr val="000000"/>
                          </a:solidFill>
                          <a:effectLst/>
                          <a:latin typeface="Calibri" panose="020F0502020204030204" pitchFamily="34" charset="0"/>
                        </a:rPr>
                        <a:t>27</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2893861423"/>
                  </a:ext>
                </a:extLst>
              </a:tr>
              <a:tr h="237499">
                <a:tc>
                  <a:txBody>
                    <a:bodyPr/>
                    <a:lstStyle/>
                    <a:p>
                      <a:pPr algn="ctr" fontAlgn="b"/>
                      <a:r>
                        <a:rPr lang="en-NZ" sz="1600" b="0" i="0" u="none" strike="noStrike">
                          <a:solidFill>
                            <a:srgbClr val="000000"/>
                          </a:solidFill>
                          <a:effectLst/>
                          <a:latin typeface="Calibri" panose="020F0502020204030204" pitchFamily="34" charset="0"/>
                        </a:rPr>
                        <a:t>X</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600" b="0" i="0" u="none" strike="noStrike">
                          <a:solidFill>
                            <a:srgbClr val="000000"/>
                          </a:solidFill>
                          <a:effectLst/>
                          <a:latin typeface="Calibri" panose="020F0502020204030204" pitchFamily="34" charset="0"/>
                        </a:rPr>
                        <a:t>SB</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600" b="0" i="0" u="none" strike="noStrike">
                          <a:solidFill>
                            <a:srgbClr val="000000"/>
                          </a:solidFill>
                          <a:effectLst/>
                          <a:latin typeface="Calibri" panose="020F0502020204030204" pitchFamily="34" charset="0"/>
                        </a:rPr>
                        <a:t>15</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3471233336"/>
                  </a:ext>
                </a:extLst>
              </a:tr>
              <a:tr h="237499">
                <a:tc>
                  <a:txBody>
                    <a:bodyPr/>
                    <a:lstStyle/>
                    <a:p>
                      <a:pPr algn="ctr" fontAlgn="b"/>
                      <a:r>
                        <a:rPr lang="en-NZ" sz="1600" b="0" i="0" u="none" strike="noStrike">
                          <a:solidFill>
                            <a:srgbClr val="000000"/>
                          </a:solidFill>
                          <a:effectLst/>
                          <a:latin typeface="Calibri" panose="020F0502020204030204" pitchFamily="34" charset="0"/>
                        </a:rPr>
                        <a:t>X</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600" b="0" i="0" u="none" strike="noStrike">
                          <a:solidFill>
                            <a:srgbClr val="000000"/>
                          </a:solidFill>
                          <a:effectLst/>
                          <a:latin typeface="Calibri" panose="020F0502020204030204" pitchFamily="34" charset="0"/>
                        </a:rPr>
                        <a:t>SB</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600" b="0" i="0" u="none" strike="noStrike">
                          <a:solidFill>
                            <a:srgbClr val="000000"/>
                          </a:solidFill>
                          <a:effectLst/>
                          <a:latin typeface="Calibri" panose="020F0502020204030204" pitchFamily="34" charset="0"/>
                        </a:rPr>
                        <a:t>18</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728162464"/>
                  </a:ext>
                </a:extLst>
              </a:tr>
              <a:tr h="237499">
                <a:tc>
                  <a:txBody>
                    <a:bodyPr/>
                    <a:lstStyle/>
                    <a:p>
                      <a:pPr algn="ctr" fontAlgn="b"/>
                      <a:r>
                        <a:rPr lang="en-NZ" sz="1600" b="0" i="0" u="none" strike="noStrike">
                          <a:solidFill>
                            <a:srgbClr val="000000"/>
                          </a:solidFill>
                          <a:effectLst/>
                          <a:latin typeface="Calibri" panose="020F0502020204030204" pitchFamily="34" charset="0"/>
                        </a:rPr>
                        <a:t>X</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600" b="0" i="0" u="none" strike="noStrike">
                          <a:solidFill>
                            <a:srgbClr val="000000"/>
                          </a:solidFill>
                          <a:effectLst/>
                          <a:latin typeface="Calibri" panose="020F0502020204030204" pitchFamily="34" charset="0"/>
                        </a:rPr>
                        <a:t>SB</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600" b="0" i="0" u="none" strike="noStrike">
                          <a:solidFill>
                            <a:srgbClr val="000000"/>
                          </a:solidFill>
                          <a:effectLst/>
                          <a:latin typeface="Calibri" panose="020F0502020204030204" pitchFamily="34" charset="0"/>
                        </a:rPr>
                        <a:t>34</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2520201673"/>
                  </a:ext>
                </a:extLst>
              </a:tr>
              <a:tr h="237499">
                <a:tc>
                  <a:txBody>
                    <a:bodyPr/>
                    <a:lstStyle/>
                    <a:p>
                      <a:pPr algn="ctr" fontAlgn="b"/>
                      <a:r>
                        <a:rPr lang="en-NZ" sz="1600" b="0" i="0" u="none" strike="noStrike">
                          <a:solidFill>
                            <a:srgbClr val="000000"/>
                          </a:solidFill>
                          <a:effectLst/>
                          <a:latin typeface="Calibri" panose="020F0502020204030204" pitchFamily="34" charset="0"/>
                        </a:rPr>
                        <a:t>X</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600" b="0" i="0" u="none" strike="noStrike">
                          <a:solidFill>
                            <a:srgbClr val="000000"/>
                          </a:solidFill>
                          <a:effectLst/>
                          <a:latin typeface="Calibri" panose="020F0502020204030204" pitchFamily="34" charset="0"/>
                        </a:rPr>
                        <a:t>SB</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600" b="0" i="0" u="none" strike="noStrike">
                          <a:solidFill>
                            <a:srgbClr val="000000"/>
                          </a:solidFill>
                          <a:effectLst/>
                          <a:latin typeface="Calibri" panose="020F0502020204030204" pitchFamily="34" charset="0"/>
                        </a:rPr>
                        <a:t>23</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4223373745"/>
                  </a:ext>
                </a:extLst>
              </a:tr>
              <a:tr h="237499">
                <a:tc>
                  <a:txBody>
                    <a:bodyPr/>
                    <a:lstStyle/>
                    <a:p>
                      <a:pPr algn="ctr" fontAlgn="b"/>
                      <a:r>
                        <a:rPr lang="en-NZ" sz="1600" b="0" i="0" u="none" strike="noStrike">
                          <a:solidFill>
                            <a:srgbClr val="000000"/>
                          </a:solidFill>
                          <a:effectLst/>
                          <a:latin typeface="Calibri" panose="020F0502020204030204" pitchFamily="34" charset="0"/>
                        </a:rPr>
                        <a:t>X</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600" b="0" i="0" u="none" strike="noStrike">
                          <a:solidFill>
                            <a:srgbClr val="000000"/>
                          </a:solidFill>
                          <a:effectLst/>
                          <a:latin typeface="Calibri" panose="020F0502020204030204" pitchFamily="34" charset="0"/>
                        </a:rPr>
                        <a:t>SB</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600" b="0" i="0" u="none" strike="noStrike">
                          <a:solidFill>
                            <a:srgbClr val="000000"/>
                          </a:solidFill>
                          <a:effectLst/>
                          <a:latin typeface="Calibri" panose="020F0502020204030204" pitchFamily="34" charset="0"/>
                        </a:rPr>
                        <a:t>26</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1183164154"/>
                  </a:ext>
                </a:extLst>
              </a:tr>
              <a:tr h="237499">
                <a:tc>
                  <a:txBody>
                    <a:bodyPr/>
                    <a:lstStyle/>
                    <a:p>
                      <a:pPr algn="ctr" fontAlgn="b"/>
                      <a:r>
                        <a:rPr lang="en-NZ" sz="1600" b="0" i="0" u="none" strike="noStrike">
                          <a:solidFill>
                            <a:srgbClr val="000000"/>
                          </a:solidFill>
                          <a:effectLst/>
                          <a:latin typeface="Calibri" panose="020F0502020204030204" pitchFamily="34" charset="0"/>
                        </a:rPr>
                        <a:t>Y</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600" b="0" i="0" u="none" strike="noStrike">
                          <a:solidFill>
                            <a:srgbClr val="000000"/>
                          </a:solidFill>
                          <a:effectLst/>
                          <a:latin typeface="Calibri" panose="020F0502020204030204" pitchFamily="34" charset="0"/>
                        </a:rPr>
                        <a:t>SC</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600" b="0" i="0" u="none" strike="noStrike">
                          <a:solidFill>
                            <a:srgbClr val="000000"/>
                          </a:solidFill>
                          <a:effectLst/>
                          <a:latin typeface="Calibri" panose="020F0502020204030204" pitchFamily="34" charset="0"/>
                        </a:rPr>
                        <a:t>14</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873451046"/>
                  </a:ext>
                </a:extLst>
              </a:tr>
              <a:tr h="237499">
                <a:tc>
                  <a:txBody>
                    <a:bodyPr/>
                    <a:lstStyle/>
                    <a:p>
                      <a:pPr algn="ctr" fontAlgn="b"/>
                      <a:r>
                        <a:rPr lang="en-NZ" sz="1600" b="0" i="0" u="none" strike="noStrike">
                          <a:solidFill>
                            <a:srgbClr val="000000"/>
                          </a:solidFill>
                          <a:effectLst/>
                          <a:latin typeface="Calibri" panose="020F0502020204030204" pitchFamily="34" charset="0"/>
                        </a:rPr>
                        <a:t>Y</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600" b="0" i="0" u="none" strike="noStrike">
                          <a:solidFill>
                            <a:srgbClr val="000000"/>
                          </a:solidFill>
                          <a:effectLst/>
                          <a:latin typeface="Calibri" panose="020F0502020204030204" pitchFamily="34" charset="0"/>
                        </a:rPr>
                        <a:t>SC</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600" b="0" i="0" u="none" strike="noStrike">
                          <a:solidFill>
                            <a:srgbClr val="000000"/>
                          </a:solidFill>
                          <a:effectLst/>
                          <a:latin typeface="Calibri" panose="020F0502020204030204" pitchFamily="34" charset="0"/>
                        </a:rPr>
                        <a:t>9</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3899210923"/>
                  </a:ext>
                </a:extLst>
              </a:tr>
              <a:tr h="237499">
                <a:tc>
                  <a:txBody>
                    <a:bodyPr/>
                    <a:lstStyle/>
                    <a:p>
                      <a:pPr algn="ctr" fontAlgn="b"/>
                      <a:r>
                        <a:rPr lang="en-NZ" sz="1600" b="0" i="0" u="none" strike="noStrike">
                          <a:solidFill>
                            <a:srgbClr val="000000"/>
                          </a:solidFill>
                          <a:effectLst/>
                          <a:latin typeface="Calibri" panose="020F0502020204030204" pitchFamily="34" charset="0"/>
                        </a:rPr>
                        <a:t>Y</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600" b="0" i="0" u="none" strike="noStrike">
                          <a:solidFill>
                            <a:srgbClr val="000000"/>
                          </a:solidFill>
                          <a:effectLst/>
                          <a:latin typeface="Calibri" panose="020F0502020204030204" pitchFamily="34" charset="0"/>
                        </a:rPr>
                        <a:t>SC</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600" b="0" i="0" u="none" strike="noStrike">
                          <a:solidFill>
                            <a:srgbClr val="000000"/>
                          </a:solidFill>
                          <a:effectLst/>
                          <a:latin typeface="Calibri" panose="020F0502020204030204" pitchFamily="34" charset="0"/>
                        </a:rPr>
                        <a:t>11</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698113137"/>
                  </a:ext>
                </a:extLst>
              </a:tr>
              <a:tr h="237499">
                <a:tc>
                  <a:txBody>
                    <a:bodyPr/>
                    <a:lstStyle/>
                    <a:p>
                      <a:pPr algn="ctr" fontAlgn="b"/>
                      <a:r>
                        <a:rPr lang="en-NZ" sz="1600" b="0" i="0" u="none" strike="noStrike">
                          <a:solidFill>
                            <a:srgbClr val="000000"/>
                          </a:solidFill>
                          <a:effectLst/>
                          <a:latin typeface="Calibri" panose="020F0502020204030204" pitchFamily="34" charset="0"/>
                        </a:rPr>
                        <a:t>Y</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600" b="0" i="0" u="none" strike="noStrike">
                          <a:solidFill>
                            <a:srgbClr val="000000"/>
                          </a:solidFill>
                          <a:effectLst/>
                          <a:latin typeface="Calibri" panose="020F0502020204030204" pitchFamily="34" charset="0"/>
                        </a:rPr>
                        <a:t>SC</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600" b="0" i="0" u="none" strike="noStrike">
                          <a:solidFill>
                            <a:srgbClr val="000000"/>
                          </a:solidFill>
                          <a:effectLst/>
                          <a:latin typeface="Calibri" panose="020F0502020204030204" pitchFamily="34" charset="0"/>
                        </a:rPr>
                        <a:t>22</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2409872343"/>
                  </a:ext>
                </a:extLst>
              </a:tr>
              <a:tr h="237499">
                <a:tc>
                  <a:txBody>
                    <a:bodyPr/>
                    <a:lstStyle/>
                    <a:p>
                      <a:pPr algn="ctr" fontAlgn="b"/>
                      <a:r>
                        <a:rPr lang="en-NZ" sz="1600" b="0" i="0" u="none" strike="noStrike">
                          <a:solidFill>
                            <a:srgbClr val="000000"/>
                          </a:solidFill>
                          <a:effectLst/>
                          <a:latin typeface="Calibri" panose="020F0502020204030204" pitchFamily="34" charset="0"/>
                        </a:rPr>
                        <a:t>Y</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600" b="0" i="0" u="none" strike="noStrike">
                          <a:solidFill>
                            <a:srgbClr val="000000"/>
                          </a:solidFill>
                          <a:effectLst/>
                          <a:latin typeface="Calibri" panose="020F0502020204030204" pitchFamily="34" charset="0"/>
                        </a:rPr>
                        <a:t>SC</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600" b="0" i="0" u="none" strike="noStrike">
                          <a:solidFill>
                            <a:srgbClr val="000000"/>
                          </a:solidFill>
                          <a:effectLst/>
                          <a:latin typeface="Calibri" panose="020F0502020204030204" pitchFamily="34" charset="0"/>
                        </a:rPr>
                        <a:t>5</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2352435656"/>
                  </a:ext>
                </a:extLst>
              </a:tr>
              <a:tr h="237499">
                <a:tc>
                  <a:txBody>
                    <a:bodyPr/>
                    <a:lstStyle/>
                    <a:p>
                      <a:pPr algn="ctr" fontAlgn="b"/>
                      <a:r>
                        <a:rPr lang="en-NZ" sz="1600" b="0" i="0" u="none" strike="noStrike">
                          <a:solidFill>
                            <a:srgbClr val="000000"/>
                          </a:solidFill>
                          <a:effectLst/>
                          <a:latin typeface="Calibri" panose="020F0502020204030204" pitchFamily="34" charset="0"/>
                        </a:rPr>
                        <a:t>Y</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600" b="0" i="0" u="none" strike="noStrike">
                          <a:solidFill>
                            <a:srgbClr val="000000"/>
                          </a:solidFill>
                          <a:effectLst/>
                          <a:latin typeface="Calibri" panose="020F0502020204030204" pitchFamily="34" charset="0"/>
                        </a:rPr>
                        <a:t>SD</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600" b="0" i="0" u="none" strike="noStrike">
                          <a:solidFill>
                            <a:srgbClr val="000000"/>
                          </a:solidFill>
                          <a:effectLst/>
                          <a:latin typeface="Calibri" panose="020F0502020204030204" pitchFamily="34" charset="0"/>
                        </a:rPr>
                        <a:t>6</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1888213652"/>
                  </a:ext>
                </a:extLst>
              </a:tr>
              <a:tr h="237499">
                <a:tc>
                  <a:txBody>
                    <a:bodyPr/>
                    <a:lstStyle/>
                    <a:p>
                      <a:pPr algn="ctr" fontAlgn="b"/>
                      <a:r>
                        <a:rPr lang="en-NZ" sz="1600" b="0" i="0" u="none" strike="noStrike">
                          <a:solidFill>
                            <a:srgbClr val="000000"/>
                          </a:solidFill>
                          <a:effectLst/>
                          <a:latin typeface="Calibri" panose="020F0502020204030204" pitchFamily="34" charset="0"/>
                        </a:rPr>
                        <a:t>Y</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600" b="0" i="0" u="none" strike="noStrike">
                          <a:solidFill>
                            <a:srgbClr val="000000"/>
                          </a:solidFill>
                          <a:effectLst/>
                          <a:latin typeface="Calibri" panose="020F0502020204030204" pitchFamily="34" charset="0"/>
                        </a:rPr>
                        <a:t>SD</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600" b="0" i="0" u="none" strike="noStrike">
                          <a:solidFill>
                            <a:srgbClr val="000000"/>
                          </a:solidFill>
                          <a:effectLst/>
                          <a:latin typeface="Calibri" panose="020F0502020204030204" pitchFamily="34" charset="0"/>
                        </a:rPr>
                        <a:t>13</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2980131457"/>
                  </a:ext>
                </a:extLst>
              </a:tr>
              <a:tr h="237499">
                <a:tc>
                  <a:txBody>
                    <a:bodyPr/>
                    <a:lstStyle/>
                    <a:p>
                      <a:pPr algn="ctr" fontAlgn="b"/>
                      <a:r>
                        <a:rPr lang="en-NZ" sz="1600" b="0" i="0" u="none" strike="noStrike">
                          <a:solidFill>
                            <a:srgbClr val="000000"/>
                          </a:solidFill>
                          <a:effectLst/>
                          <a:latin typeface="Calibri" panose="020F0502020204030204" pitchFamily="34" charset="0"/>
                        </a:rPr>
                        <a:t>Y</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600" b="0" i="0" u="none" strike="noStrike">
                          <a:solidFill>
                            <a:srgbClr val="000000"/>
                          </a:solidFill>
                          <a:effectLst/>
                          <a:latin typeface="Calibri" panose="020F0502020204030204" pitchFamily="34" charset="0"/>
                        </a:rPr>
                        <a:t>SD</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600" b="0" i="0" u="none" strike="noStrike">
                          <a:solidFill>
                            <a:srgbClr val="000000"/>
                          </a:solidFill>
                          <a:effectLst/>
                          <a:latin typeface="Calibri" panose="020F0502020204030204" pitchFamily="34" charset="0"/>
                        </a:rPr>
                        <a:t>13</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1378102356"/>
                  </a:ext>
                </a:extLst>
              </a:tr>
              <a:tr h="237499">
                <a:tc>
                  <a:txBody>
                    <a:bodyPr/>
                    <a:lstStyle/>
                    <a:p>
                      <a:pPr algn="ctr" fontAlgn="b"/>
                      <a:r>
                        <a:rPr lang="en-NZ" sz="1600" b="0" i="0" u="none" strike="noStrike">
                          <a:solidFill>
                            <a:srgbClr val="000000"/>
                          </a:solidFill>
                          <a:effectLst/>
                          <a:latin typeface="Calibri" panose="020F0502020204030204" pitchFamily="34" charset="0"/>
                        </a:rPr>
                        <a:t>Y</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600" b="0" i="0" u="none" strike="noStrike">
                          <a:solidFill>
                            <a:srgbClr val="000000"/>
                          </a:solidFill>
                          <a:effectLst/>
                          <a:latin typeface="Calibri" panose="020F0502020204030204" pitchFamily="34" charset="0"/>
                        </a:rPr>
                        <a:t>SD</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600" b="0" i="0" u="none" strike="noStrike">
                          <a:solidFill>
                            <a:srgbClr val="000000"/>
                          </a:solidFill>
                          <a:effectLst/>
                          <a:latin typeface="Calibri" panose="020F0502020204030204" pitchFamily="34" charset="0"/>
                        </a:rPr>
                        <a:t>21</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1703968127"/>
                  </a:ext>
                </a:extLst>
              </a:tr>
              <a:tr h="237499">
                <a:tc>
                  <a:txBody>
                    <a:bodyPr/>
                    <a:lstStyle/>
                    <a:p>
                      <a:pPr algn="ctr" fontAlgn="b"/>
                      <a:r>
                        <a:rPr lang="en-NZ" sz="1600" b="0" i="0" u="none" strike="noStrike" dirty="0">
                          <a:solidFill>
                            <a:srgbClr val="000000"/>
                          </a:solidFill>
                          <a:effectLst/>
                          <a:latin typeface="Calibri" panose="020F0502020204030204" pitchFamily="34" charset="0"/>
                        </a:rPr>
                        <a:t>Y</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600" b="0" i="0" u="none" strike="noStrike">
                          <a:solidFill>
                            <a:srgbClr val="000000"/>
                          </a:solidFill>
                          <a:effectLst/>
                          <a:latin typeface="Calibri" panose="020F0502020204030204" pitchFamily="34" charset="0"/>
                        </a:rPr>
                        <a:t>SD</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600" b="0" i="0" u="none" strike="noStrike" dirty="0">
                          <a:solidFill>
                            <a:srgbClr val="000000"/>
                          </a:solidFill>
                          <a:effectLst/>
                          <a:latin typeface="Calibri" panose="020F0502020204030204" pitchFamily="34" charset="0"/>
                        </a:rPr>
                        <a:t>18</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919048836"/>
                  </a:ext>
                </a:extLst>
              </a:tr>
            </a:tbl>
          </a:graphicData>
        </a:graphic>
      </p:graphicFrame>
      <p:sp>
        <p:nvSpPr>
          <p:cNvPr id="4" name="Oval 3">
            <a:extLst>
              <a:ext uri="{FF2B5EF4-FFF2-40B4-BE49-F238E27FC236}">
                <a16:creationId xmlns:a16="http://schemas.microsoft.com/office/drawing/2014/main" id="{04B578B2-BB31-31D6-CC73-7820F89A5F1B}"/>
              </a:ext>
            </a:extLst>
          </p:cNvPr>
          <p:cNvSpPr/>
          <p:nvPr/>
        </p:nvSpPr>
        <p:spPr>
          <a:xfrm>
            <a:off x="1064526" y="1299502"/>
            <a:ext cx="764274" cy="5320665"/>
          </a:xfrm>
          <a:prstGeom prst="ellipse">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solidFill>
                <a:srgbClr val="00B050"/>
              </a:solidFill>
            </a:endParaRPr>
          </a:p>
        </p:txBody>
      </p:sp>
      <p:graphicFrame>
        <p:nvGraphicFramePr>
          <p:cNvPr id="13" name="Table 12">
            <a:extLst>
              <a:ext uri="{FF2B5EF4-FFF2-40B4-BE49-F238E27FC236}">
                <a16:creationId xmlns:a16="http://schemas.microsoft.com/office/drawing/2014/main" id="{3FE6EE9A-9A0D-172A-7B08-B1CB0CE4679C}"/>
              </a:ext>
            </a:extLst>
          </p:cNvPr>
          <p:cNvGraphicFramePr>
            <a:graphicFrameLocks noGrp="1"/>
          </p:cNvGraphicFramePr>
          <p:nvPr>
            <p:extLst>
              <p:ext uri="{D42A27DB-BD31-4B8C-83A1-F6EECF244321}">
                <p14:modId xmlns:p14="http://schemas.microsoft.com/office/powerpoint/2010/main" val="2576037483"/>
              </p:ext>
            </p:extLst>
          </p:nvPr>
        </p:nvGraphicFramePr>
        <p:xfrm>
          <a:off x="2727309" y="1199663"/>
          <a:ext cx="2106303" cy="5320665"/>
        </p:xfrm>
        <a:graphic>
          <a:graphicData uri="http://schemas.openxmlformats.org/drawingml/2006/table">
            <a:tbl>
              <a:tblPr/>
              <a:tblGrid>
                <a:gridCol w="702101">
                  <a:extLst>
                    <a:ext uri="{9D8B030D-6E8A-4147-A177-3AD203B41FA5}">
                      <a16:colId xmlns:a16="http://schemas.microsoft.com/office/drawing/2014/main" val="1456634668"/>
                    </a:ext>
                  </a:extLst>
                </a:gridCol>
                <a:gridCol w="765219">
                  <a:extLst>
                    <a:ext uri="{9D8B030D-6E8A-4147-A177-3AD203B41FA5}">
                      <a16:colId xmlns:a16="http://schemas.microsoft.com/office/drawing/2014/main" val="1524488500"/>
                    </a:ext>
                  </a:extLst>
                </a:gridCol>
                <a:gridCol w="638983">
                  <a:extLst>
                    <a:ext uri="{9D8B030D-6E8A-4147-A177-3AD203B41FA5}">
                      <a16:colId xmlns:a16="http://schemas.microsoft.com/office/drawing/2014/main" val="3040453835"/>
                    </a:ext>
                  </a:extLst>
                </a:gridCol>
              </a:tblGrid>
              <a:tr h="237499">
                <a:tc>
                  <a:txBody>
                    <a:bodyPr/>
                    <a:lstStyle/>
                    <a:p>
                      <a:pPr algn="ctr" fontAlgn="b"/>
                      <a:r>
                        <a:rPr lang="en-NZ" sz="1600" b="1" i="0" u="none" strike="noStrike">
                          <a:solidFill>
                            <a:srgbClr val="FFFFFF"/>
                          </a:solidFill>
                          <a:effectLst/>
                          <a:latin typeface="Calibri" panose="020F0502020204030204" pitchFamily="34" charset="0"/>
                        </a:rPr>
                        <a:t>drug</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2060"/>
                    </a:solidFill>
                  </a:tcPr>
                </a:tc>
                <a:tc>
                  <a:txBody>
                    <a:bodyPr/>
                    <a:lstStyle/>
                    <a:p>
                      <a:pPr algn="ctr" fontAlgn="b"/>
                      <a:r>
                        <a:rPr lang="en-NZ" sz="1600" b="1" i="0" u="none" strike="noStrike" dirty="0">
                          <a:solidFill>
                            <a:srgbClr val="FFFFFF"/>
                          </a:solidFill>
                          <a:effectLst/>
                          <a:latin typeface="Calibri" panose="020F0502020204030204" pitchFamily="34" charset="0"/>
                        </a:rPr>
                        <a:t>supplier</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2060"/>
                    </a:solidFill>
                  </a:tcPr>
                </a:tc>
                <a:tc>
                  <a:txBody>
                    <a:bodyPr/>
                    <a:lstStyle/>
                    <a:p>
                      <a:pPr algn="ctr" fontAlgn="b"/>
                      <a:r>
                        <a:rPr lang="en-NZ" sz="1600" b="1" i="0" u="none" strike="noStrike">
                          <a:solidFill>
                            <a:srgbClr val="FFFFFF"/>
                          </a:solidFill>
                          <a:effectLst/>
                          <a:latin typeface="Calibri" panose="020F0502020204030204" pitchFamily="34" charset="0"/>
                        </a:rPr>
                        <a:t>chol</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2060"/>
                    </a:solidFill>
                  </a:tcPr>
                </a:tc>
                <a:extLst>
                  <a:ext uri="{0D108BD9-81ED-4DB2-BD59-A6C34878D82A}">
                    <a16:rowId xmlns:a16="http://schemas.microsoft.com/office/drawing/2014/main" val="3659967676"/>
                  </a:ext>
                </a:extLst>
              </a:tr>
              <a:tr h="237499">
                <a:tc>
                  <a:txBody>
                    <a:bodyPr/>
                    <a:lstStyle/>
                    <a:p>
                      <a:pPr algn="ctr" fontAlgn="b"/>
                      <a:r>
                        <a:rPr lang="en-NZ" sz="1600" b="0" i="0" u="none" strike="noStrike">
                          <a:solidFill>
                            <a:srgbClr val="000000"/>
                          </a:solidFill>
                          <a:effectLst/>
                          <a:latin typeface="Calibri" panose="020F0502020204030204" pitchFamily="34" charset="0"/>
                        </a:rPr>
                        <a:t>X</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600" b="0" i="0" u="none" strike="noStrike" dirty="0">
                          <a:solidFill>
                            <a:srgbClr val="000000"/>
                          </a:solidFill>
                          <a:effectLst/>
                          <a:latin typeface="Calibri" panose="020F0502020204030204" pitchFamily="34" charset="0"/>
                        </a:rPr>
                        <a:t>S1</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600" b="0" i="0" u="none" strike="noStrike">
                          <a:solidFill>
                            <a:srgbClr val="000000"/>
                          </a:solidFill>
                          <a:effectLst/>
                          <a:latin typeface="Calibri" panose="020F0502020204030204" pitchFamily="34" charset="0"/>
                        </a:rPr>
                        <a:t>21</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825760911"/>
                  </a:ext>
                </a:extLst>
              </a:tr>
              <a:tr h="237499">
                <a:tc>
                  <a:txBody>
                    <a:bodyPr/>
                    <a:lstStyle/>
                    <a:p>
                      <a:pPr algn="ctr" fontAlgn="b"/>
                      <a:r>
                        <a:rPr lang="en-NZ" sz="1600" b="0" i="0" u="none" strike="noStrike">
                          <a:solidFill>
                            <a:srgbClr val="000000"/>
                          </a:solidFill>
                          <a:effectLst/>
                          <a:latin typeface="Calibri" panose="020F0502020204030204" pitchFamily="34" charset="0"/>
                        </a:rPr>
                        <a:t>X</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600" b="0" i="0" u="none" strike="noStrike" dirty="0">
                          <a:solidFill>
                            <a:srgbClr val="000000"/>
                          </a:solidFill>
                          <a:effectLst/>
                          <a:latin typeface="Calibri" panose="020F0502020204030204" pitchFamily="34" charset="0"/>
                        </a:rPr>
                        <a:t>S1</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600" b="0" i="0" u="none" strike="noStrike">
                          <a:solidFill>
                            <a:srgbClr val="000000"/>
                          </a:solidFill>
                          <a:effectLst/>
                          <a:latin typeface="Calibri" panose="020F0502020204030204" pitchFamily="34" charset="0"/>
                        </a:rPr>
                        <a:t>33</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985075359"/>
                  </a:ext>
                </a:extLst>
              </a:tr>
              <a:tr h="237499">
                <a:tc>
                  <a:txBody>
                    <a:bodyPr/>
                    <a:lstStyle/>
                    <a:p>
                      <a:pPr algn="ctr" fontAlgn="b"/>
                      <a:r>
                        <a:rPr lang="en-NZ" sz="1600" b="0" i="0" u="none" strike="noStrike">
                          <a:solidFill>
                            <a:srgbClr val="000000"/>
                          </a:solidFill>
                          <a:effectLst/>
                          <a:latin typeface="Calibri" panose="020F0502020204030204" pitchFamily="34" charset="0"/>
                        </a:rPr>
                        <a:t>X</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600" b="0" i="0" u="none" strike="noStrike" dirty="0">
                          <a:solidFill>
                            <a:srgbClr val="000000"/>
                          </a:solidFill>
                          <a:effectLst/>
                          <a:latin typeface="Calibri" panose="020F0502020204030204" pitchFamily="34" charset="0"/>
                        </a:rPr>
                        <a:t>S1</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600" b="0" i="0" u="none" strike="noStrike">
                          <a:solidFill>
                            <a:srgbClr val="000000"/>
                          </a:solidFill>
                          <a:effectLst/>
                          <a:latin typeface="Calibri" panose="020F0502020204030204" pitchFamily="34" charset="0"/>
                        </a:rPr>
                        <a:t>18</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953369977"/>
                  </a:ext>
                </a:extLst>
              </a:tr>
              <a:tr h="237499">
                <a:tc>
                  <a:txBody>
                    <a:bodyPr/>
                    <a:lstStyle/>
                    <a:p>
                      <a:pPr algn="ctr" fontAlgn="b"/>
                      <a:r>
                        <a:rPr lang="en-NZ" sz="1600" b="0" i="0" u="none" strike="noStrike">
                          <a:solidFill>
                            <a:srgbClr val="000000"/>
                          </a:solidFill>
                          <a:effectLst/>
                          <a:latin typeface="Calibri" panose="020F0502020204030204" pitchFamily="34" charset="0"/>
                        </a:rPr>
                        <a:t>X</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600" b="0" i="0" u="none" strike="noStrike" dirty="0">
                          <a:solidFill>
                            <a:srgbClr val="000000"/>
                          </a:solidFill>
                          <a:effectLst/>
                          <a:latin typeface="Calibri" panose="020F0502020204030204" pitchFamily="34" charset="0"/>
                        </a:rPr>
                        <a:t>S1</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600" b="0" i="0" u="none" strike="noStrike">
                          <a:solidFill>
                            <a:srgbClr val="000000"/>
                          </a:solidFill>
                          <a:effectLst/>
                          <a:latin typeface="Calibri" panose="020F0502020204030204" pitchFamily="34" charset="0"/>
                        </a:rPr>
                        <a:t>14</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3926116432"/>
                  </a:ext>
                </a:extLst>
              </a:tr>
              <a:tr h="237499">
                <a:tc>
                  <a:txBody>
                    <a:bodyPr/>
                    <a:lstStyle/>
                    <a:p>
                      <a:pPr algn="ctr" fontAlgn="b"/>
                      <a:r>
                        <a:rPr lang="en-NZ" sz="1600" b="0" i="0" u="none" strike="noStrike">
                          <a:solidFill>
                            <a:srgbClr val="000000"/>
                          </a:solidFill>
                          <a:effectLst/>
                          <a:latin typeface="Calibri" panose="020F0502020204030204" pitchFamily="34" charset="0"/>
                        </a:rPr>
                        <a:t>X</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600" b="0" i="0" u="none" strike="noStrike" dirty="0">
                          <a:solidFill>
                            <a:srgbClr val="000000"/>
                          </a:solidFill>
                          <a:effectLst/>
                          <a:latin typeface="Calibri" panose="020F0502020204030204" pitchFamily="34" charset="0"/>
                        </a:rPr>
                        <a:t>S1</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600" b="0" i="0" u="none" strike="noStrike">
                          <a:solidFill>
                            <a:srgbClr val="000000"/>
                          </a:solidFill>
                          <a:effectLst/>
                          <a:latin typeface="Calibri" panose="020F0502020204030204" pitchFamily="34" charset="0"/>
                        </a:rPr>
                        <a:t>27</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2893861423"/>
                  </a:ext>
                </a:extLst>
              </a:tr>
              <a:tr h="237499">
                <a:tc>
                  <a:txBody>
                    <a:bodyPr/>
                    <a:lstStyle/>
                    <a:p>
                      <a:pPr algn="ctr" fontAlgn="b"/>
                      <a:r>
                        <a:rPr lang="en-NZ" sz="1600" b="0" i="0" u="none" strike="noStrike">
                          <a:solidFill>
                            <a:srgbClr val="000000"/>
                          </a:solidFill>
                          <a:effectLst/>
                          <a:latin typeface="Calibri" panose="020F0502020204030204" pitchFamily="34" charset="0"/>
                        </a:rPr>
                        <a:t>X</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600" b="0" i="0" u="none" strike="noStrike" dirty="0">
                          <a:solidFill>
                            <a:srgbClr val="000000"/>
                          </a:solidFill>
                          <a:effectLst/>
                          <a:latin typeface="Calibri" panose="020F0502020204030204" pitchFamily="34" charset="0"/>
                        </a:rPr>
                        <a:t>S2</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600" b="0" i="0" u="none" strike="noStrike">
                          <a:solidFill>
                            <a:srgbClr val="000000"/>
                          </a:solidFill>
                          <a:effectLst/>
                          <a:latin typeface="Calibri" panose="020F0502020204030204" pitchFamily="34" charset="0"/>
                        </a:rPr>
                        <a:t>15</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3471233336"/>
                  </a:ext>
                </a:extLst>
              </a:tr>
              <a:tr h="237499">
                <a:tc>
                  <a:txBody>
                    <a:bodyPr/>
                    <a:lstStyle/>
                    <a:p>
                      <a:pPr algn="ctr" fontAlgn="b"/>
                      <a:r>
                        <a:rPr lang="en-NZ" sz="1600" b="0" i="0" u="none" strike="noStrike">
                          <a:solidFill>
                            <a:srgbClr val="000000"/>
                          </a:solidFill>
                          <a:effectLst/>
                          <a:latin typeface="Calibri" panose="020F0502020204030204" pitchFamily="34" charset="0"/>
                        </a:rPr>
                        <a:t>X</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600" b="0" i="0" u="none" strike="noStrike" dirty="0">
                          <a:solidFill>
                            <a:srgbClr val="000000"/>
                          </a:solidFill>
                          <a:effectLst/>
                          <a:latin typeface="Calibri" panose="020F0502020204030204" pitchFamily="34" charset="0"/>
                        </a:rPr>
                        <a:t>S2</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600" b="0" i="0" u="none" strike="noStrike">
                          <a:solidFill>
                            <a:srgbClr val="000000"/>
                          </a:solidFill>
                          <a:effectLst/>
                          <a:latin typeface="Calibri" panose="020F0502020204030204" pitchFamily="34" charset="0"/>
                        </a:rPr>
                        <a:t>18</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728162464"/>
                  </a:ext>
                </a:extLst>
              </a:tr>
              <a:tr h="237499">
                <a:tc>
                  <a:txBody>
                    <a:bodyPr/>
                    <a:lstStyle/>
                    <a:p>
                      <a:pPr algn="ctr" fontAlgn="b"/>
                      <a:r>
                        <a:rPr lang="en-NZ" sz="1600" b="0" i="0" u="none" strike="noStrike">
                          <a:solidFill>
                            <a:srgbClr val="000000"/>
                          </a:solidFill>
                          <a:effectLst/>
                          <a:latin typeface="Calibri" panose="020F0502020204030204" pitchFamily="34" charset="0"/>
                        </a:rPr>
                        <a:t>X</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600" b="0" i="0" u="none" strike="noStrike" dirty="0">
                          <a:solidFill>
                            <a:srgbClr val="000000"/>
                          </a:solidFill>
                          <a:effectLst/>
                          <a:latin typeface="Calibri" panose="020F0502020204030204" pitchFamily="34" charset="0"/>
                        </a:rPr>
                        <a:t>S2</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600" b="0" i="0" u="none" strike="noStrike">
                          <a:solidFill>
                            <a:srgbClr val="000000"/>
                          </a:solidFill>
                          <a:effectLst/>
                          <a:latin typeface="Calibri" panose="020F0502020204030204" pitchFamily="34" charset="0"/>
                        </a:rPr>
                        <a:t>34</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2520201673"/>
                  </a:ext>
                </a:extLst>
              </a:tr>
              <a:tr h="237499">
                <a:tc>
                  <a:txBody>
                    <a:bodyPr/>
                    <a:lstStyle/>
                    <a:p>
                      <a:pPr algn="ctr" fontAlgn="b"/>
                      <a:r>
                        <a:rPr lang="en-NZ" sz="1600" b="0" i="0" u="none" strike="noStrike">
                          <a:solidFill>
                            <a:srgbClr val="000000"/>
                          </a:solidFill>
                          <a:effectLst/>
                          <a:latin typeface="Calibri" panose="020F0502020204030204" pitchFamily="34" charset="0"/>
                        </a:rPr>
                        <a:t>X</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600" b="0" i="0" u="none" strike="noStrike" dirty="0">
                          <a:solidFill>
                            <a:srgbClr val="000000"/>
                          </a:solidFill>
                          <a:effectLst/>
                          <a:latin typeface="Calibri" panose="020F0502020204030204" pitchFamily="34" charset="0"/>
                        </a:rPr>
                        <a:t>S2</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600" b="0" i="0" u="none" strike="noStrike">
                          <a:solidFill>
                            <a:srgbClr val="000000"/>
                          </a:solidFill>
                          <a:effectLst/>
                          <a:latin typeface="Calibri" panose="020F0502020204030204" pitchFamily="34" charset="0"/>
                        </a:rPr>
                        <a:t>23</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4223373745"/>
                  </a:ext>
                </a:extLst>
              </a:tr>
              <a:tr h="237499">
                <a:tc>
                  <a:txBody>
                    <a:bodyPr/>
                    <a:lstStyle/>
                    <a:p>
                      <a:pPr algn="ctr" fontAlgn="b"/>
                      <a:r>
                        <a:rPr lang="en-NZ" sz="1600" b="0" i="0" u="none" strike="noStrike">
                          <a:solidFill>
                            <a:srgbClr val="000000"/>
                          </a:solidFill>
                          <a:effectLst/>
                          <a:latin typeface="Calibri" panose="020F0502020204030204" pitchFamily="34" charset="0"/>
                        </a:rPr>
                        <a:t>X</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600" b="0" i="0" u="none" strike="noStrike" dirty="0">
                          <a:solidFill>
                            <a:srgbClr val="000000"/>
                          </a:solidFill>
                          <a:effectLst/>
                          <a:latin typeface="Calibri" panose="020F0502020204030204" pitchFamily="34" charset="0"/>
                        </a:rPr>
                        <a:t>S2</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600" b="0" i="0" u="none" strike="noStrike">
                          <a:solidFill>
                            <a:srgbClr val="000000"/>
                          </a:solidFill>
                          <a:effectLst/>
                          <a:latin typeface="Calibri" panose="020F0502020204030204" pitchFamily="34" charset="0"/>
                        </a:rPr>
                        <a:t>26</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1183164154"/>
                  </a:ext>
                </a:extLst>
              </a:tr>
              <a:tr h="237499">
                <a:tc>
                  <a:txBody>
                    <a:bodyPr/>
                    <a:lstStyle/>
                    <a:p>
                      <a:pPr algn="ctr" fontAlgn="b"/>
                      <a:r>
                        <a:rPr lang="en-NZ" sz="1600" b="0" i="0" u="none" strike="noStrike">
                          <a:solidFill>
                            <a:srgbClr val="000000"/>
                          </a:solidFill>
                          <a:effectLst/>
                          <a:latin typeface="Calibri" panose="020F0502020204030204" pitchFamily="34" charset="0"/>
                        </a:rPr>
                        <a:t>Y</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600" b="0" i="0" u="none" strike="noStrike" dirty="0">
                          <a:solidFill>
                            <a:srgbClr val="000000"/>
                          </a:solidFill>
                          <a:effectLst/>
                          <a:latin typeface="Calibri" panose="020F0502020204030204" pitchFamily="34" charset="0"/>
                        </a:rPr>
                        <a:t>S1</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600" b="0" i="0" u="none" strike="noStrike">
                          <a:solidFill>
                            <a:srgbClr val="000000"/>
                          </a:solidFill>
                          <a:effectLst/>
                          <a:latin typeface="Calibri" panose="020F0502020204030204" pitchFamily="34" charset="0"/>
                        </a:rPr>
                        <a:t>14</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873451046"/>
                  </a:ext>
                </a:extLst>
              </a:tr>
              <a:tr h="237499">
                <a:tc>
                  <a:txBody>
                    <a:bodyPr/>
                    <a:lstStyle/>
                    <a:p>
                      <a:pPr algn="ctr" fontAlgn="b"/>
                      <a:r>
                        <a:rPr lang="en-NZ" sz="1600" b="0" i="0" u="none" strike="noStrike">
                          <a:solidFill>
                            <a:srgbClr val="000000"/>
                          </a:solidFill>
                          <a:effectLst/>
                          <a:latin typeface="Calibri" panose="020F0502020204030204" pitchFamily="34" charset="0"/>
                        </a:rPr>
                        <a:t>Y</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600" b="0" i="0" u="none" strike="noStrike" dirty="0">
                          <a:solidFill>
                            <a:srgbClr val="000000"/>
                          </a:solidFill>
                          <a:effectLst/>
                          <a:latin typeface="Calibri" panose="020F0502020204030204" pitchFamily="34" charset="0"/>
                        </a:rPr>
                        <a:t>S1</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600" b="0" i="0" u="none" strike="noStrike">
                          <a:solidFill>
                            <a:srgbClr val="000000"/>
                          </a:solidFill>
                          <a:effectLst/>
                          <a:latin typeface="Calibri" panose="020F0502020204030204" pitchFamily="34" charset="0"/>
                        </a:rPr>
                        <a:t>9</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3899210923"/>
                  </a:ext>
                </a:extLst>
              </a:tr>
              <a:tr h="237499">
                <a:tc>
                  <a:txBody>
                    <a:bodyPr/>
                    <a:lstStyle/>
                    <a:p>
                      <a:pPr algn="ctr" fontAlgn="b"/>
                      <a:r>
                        <a:rPr lang="en-NZ" sz="1600" b="0" i="0" u="none" strike="noStrike">
                          <a:solidFill>
                            <a:srgbClr val="000000"/>
                          </a:solidFill>
                          <a:effectLst/>
                          <a:latin typeface="Calibri" panose="020F0502020204030204" pitchFamily="34" charset="0"/>
                        </a:rPr>
                        <a:t>Y</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600" b="0" i="0" u="none" strike="noStrike" dirty="0">
                          <a:solidFill>
                            <a:srgbClr val="000000"/>
                          </a:solidFill>
                          <a:effectLst/>
                          <a:latin typeface="Calibri" panose="020F0502020204030204" pitchFamily="34" charset="0"/>
                        </a:rPr>
                        <a:t>S1</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600" b="0" i="0" u="none" strike="noStrike">
                          <a:solidFill>
                            <a:srgbClr val="000000"/>
                          </a:solidFill>
                          <a:effectLst/>
                          <a:latin typeface="Calibri" panose="020F0502020204030204" pitchFamily="34" charset="0"/>
                        </a:rPr>
                        <a:t>11</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698113137"/>
                  </a:ext>
                </a:extLst>
              </a:tr>
              <a:tr h="237499">
                <a:tc>
                  <a:txBody>
                    <a:bodyPr/>
                    <a:lstStyle/>
                    <a:p>
                      <a:pPr algn="ctr" fontAlgn="b"/>
                      <a:r>
                        <a:rPr lang="en-NZ" sz="1600" b="0" i="0" u="none" strike="noStrike">
                          <a:solidFill>
                            <a:srgbClr val="000000"/>
                          </a:solidFill>
                          <a:effectLst/>
                          <a:latin typeface="Calibri" panose="020F0502020204030204" pitchFamily="34" charset="0"/>
                        </a:rPr>
                        <a:t>Y</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600" b="0" i="0" u="none" strike="noStrike" dirty="0">
                          <a:solidFill>
                            <a:srgbClr val="000000"/>
                          </a:solidFill>
                          <a:effectLst/>
                          <a:latin typeface="Calibri" panose="020F0502020204030204" pitchFamily="34" charset="0"/>
                        </a:rPr>
                        <a:t>S1</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600" b="0" i="0" u="none" strike="noStrike">
                          <a:solidFill>
                            <a:srgbClr val="000000"/>
                          </a:solidFill>
                          <a:effectLst/>
                          <a:latin typeface="Calibri" panose="020F0502020204030204" pitchFamily="34" charset="0"/>
                        </a:rPr>
                        <a:t>22</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2409872343"/>
                  </a:ext>
                </a:extLst>
              </a:tr>
              <a:tr h="237499">
                <a:tc>
                  <a:txBody>
                    <a:bodyPr/>
                    <a:lstStyle/>
                    <a:p>
                      <a:pPr algn="ctr" fontAlgn="b"/>
                      <a:r>
                        <a:rPr lang="en-NZ" sz="1600" b="0" i="0" u="none" strike="noStrike">
                          <a:solidFill>
                            <a:srgbClr val="000000"/>
                          </a:solidFill>
                          <a:effectLst/>
                          <a:latin typeface="Calibri" panose="020F0502020204030204" pitchFamily="34" charset="0"/>
                        </a:rPr>
                        <a:t>Y</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600" b="0" i="0" u="none" strike="noStrike" dirty="0">
                          <a:solidFill>
                            <a:srgbClr val="000000"/>
                          </a:solidFill>
                          <a:effectLst/>
                          <a:latin typeface="Calibri" panose="020F0502020204030204" pitchFamily="34" charset="0"/>
                        </a:rPr>
                        <a:t>S1</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600" b="0" i="0" u="none" strike="noStrike">
                          <a:solidFill>
                            <a:srgbClr val="000000"/>
                          </a:solidFill>
                          <a:effectLst/>
                          <a:latin typeface="Calibri" panose="020F0502020204030204" pitchFamily="34" charset="0"/>
                        </a:rPr>
                        <a:t>5</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2352435656"/>
                  </a:ext>
                </a:extLst>
              </a:tr>
              <a:tr h="237499">
                <a:tc>
                  <a:txBody>
                    <a:bodyPr/>
                    <a:lstStyle/>
                    <a:p>
                      <a:pPr algn="ctr" fontAlgn="b"/>
                      <a:r>
                        <a:rPr lang="en-NZ" sz="1600" b="0" i="0" u="none" strike="noStrike">
                          <a:solidFill>
                            <a:srgbClr val="000000"/>
                          </a:solidFill>
                          <a:effectLst/>
                          <a:latin typeface="Calibri" panose="020F0502020204030204" pitchFamily="34" charset="0"/>
                        </a:rPr>
                        <a:t>Y</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600" b="0" i="0" u="none" strike="noStrike" dirty="0">
                          <a:solidFill>
                            <a:srgbClr val="000000"/>
                          </a:solidFill>
                          <a:effectLst/>
                          <a:latin typeface="Calibri" panose="020F0502020204030204" pitchFamily="34" charset="0"/>
                        </a:rPr>
                        <a:t>S2</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600" b="0" i="0" u="none" strike="noStrike">
                          <a:solidFill>
                            <a:srgbClr val="000000"/>
                          </a:solidFill>
                          <a:effectLst/>
                          <a:latin typeface="Calibri" panose="020F0502020204030204" pitchFamily="34" charset="0"/>
                        </a:rPr>
                        <a:t>6</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1888213652"/>
                  </a:ext>
                </a:extLst>
              </a:tr>
              <a:tr h="237499">
                <a:tc>
                  <a:txBody>
                    <a:bodyPr/>
                    <a:lstStyle/>
                    <a:p>
                      <a:pPr algn="ctr" fontAlgn="b"/>
                      <a:r>
                        <a:rPr lang="en-NZ" sz="1600" b="0" i="0" u="none" strike="noStrike">
                          <a:solidFill>
                            <a:srgbClr val="000000"/>
                          </a:solidFill>
                          <a:effectLst/>
                          <a:latin typeface="Calibri" panose="020F0502020204030204" pitchFamily="34" charset="0"/>
                        </a:rPr>
                        <a:t>Y</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600" b="0" i="0" u="none" strike="noStrike" dirty="0">
                          <a:solidFill>
                            <a:srgbClr val="000000"/>
                          </a:solidFill>
                          <a:effectLst/>
                          <a:latin typeface="Calibri" panose="020F0502020204030204" pitchFamily="34" charset="0"/>
                        </a:rPr>
                        <a:t>S2</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600" b="0" i="0" u="none" strike="noStrike">
                          <a:solidFill>
                            <a:srgbClr val="000000"/>
                          </a:solidFill>
                          <a:effectLst/>
                          <a:latin typeface="Calibri" panose="020F0502020204030204" pitchFamily="34" charset="0"/>
                        </a:rPr>
                        <a:t>13</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2980131457"/>
                  </a:ext>
                </a:extLst>
              </a:tr>
              <a:tr h="237499">
                <a:tc>
                  <a:txBody>
                    <a:bodyPr/>
                    <a:lstStyle/>
                    <a:p>
                      <a:pPr algn="ctr" fontAlgn="b"/>
                      <a:r>
                        <a:rPr lang="en-NZ" sz="1600" b="0" i="0" u="none" strike="noStrike">
                          <a:solidFill>
                            <a:srgbClr val="000000"/>
                          </a:solidFill>
                          <a:effectLst/>
                          <a:latin typeface="Calibri" panose="020F0502020204030204" pitchFamily="34" charset="0"/>
                        </a:rPr>
                        <a:t>Y</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600" b="0" i="0" u="none" strike="noStrike" dirty="0">
                          <a:solidFill>
                            <a:srgbClr val="000000"/>
                          </a:solidFill>
                          <a:effectLst/>
                          <a:latin typeface="Calibri" panose="020F0502020204030204" pitchFamily="34" charset="0"/>
                        </a:rPr>
                        <a:t>S2</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600" b="0" i="0" u="none" strike="noStrike">
                          <a:solidFill>
                            <a:srgbClr val="000000"/>
                          </a:solidFill>
                          <a:effectLst/>
                          <a:latin typeface="Calibri" panose="020F0502020204030204" pitchFamily="34" charset="0"/>
                        </a:rPr>
                        <a:t>13</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1378102356"/>
                  </a:ext>
                </a:extLst>
              </a:tr>
              <a:tr h="237499">
                <a:tc>
                  <a:txBody>
                    <a:bodyPr/>
                    <a:lstStyle/>
                    <a:p>
                      <a:pPr algn="ctr" fontAlgn="b"/>
                      <a:r>
                        <a:rPr lang="en-NZ" sz="1600" b="0" i="0" u="none" strike="noStrike">
                          <a:solidFill>
                            <a:srgbClr val="000000"/>
                          </a:solidFill>
                          <a:effectLst/>
                          <a:latin typeface="Calibri" panose="020F0502020204030204" pitchFamily="34" charset="0"/>
                        </a:rPr>
                        <a:t>Y</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600" b="0" i="0" u="none" strike="noStrike" dirty="0">
                          <a:solidFill>
                            <a:srgbClr val="000000"/>
                          </a:solidFill>
                          <a:effectLst/>
                          <a:latin typeface="Calibri" panose="020F0502020204030204" pitchFamily="34" charset="0"/>
                        </a:rPr>
                        <a:t>S2</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600" b="0" i="0" u="none" strike="noStrike">
                          <a:solidFill>
                            <a:srgbClr val="000000"/>
                          </a:solidFill>
                          <a:effectLst/>
                          <a:latin typeface="Calibri" panose="020F0502020204030204" pitchFamily="34" charset="0"/>
                        </a:rPr>
                        <a:t>21</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1703968127"/>
                  </a:ext>
                </a:extLst>
              </a:tr>
              <a:tr h="237499">
                <a:tc>
                  <a:txBody>
                    <a:bodyPr/>
                    <a:lstStyle/>
                    <a:p>
                      <a:pPr algn="ctr" fontAlgn="b"/>
                      <a:r>
                        <a:rPr lang="en-NZ" sz="1600" b="0" i="0" u="none" strike="noStrike">
                          <a:solidFill>
                            <a:srgbClr val="000000"/>
                          </a:solidFill>
                          <a:effectLst/>
                          <a:latin typeface="Calibri" panose="020F0502020204030204" pitchFamily="34" charset="0"/>
                        </a:rPr>
                        <a:t>Y</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600" b="0" i="0" u="none" strike="noStrike" dirty="0">
                          <a:solidFill>
                            <a:srgbClr val="000000"/>
                          </a:solidFill>
                          <a:effectLst/>
                          <a:latin typeface="Calibri" panose="020F0502020204030204" pitchFamily="34" charset="0"/>
                        </a:rPr>
                        <a:t>S2</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b"/>
                      <a:r>
                        <a:rPr lang="en-NZ" sz="1600" b="0" i="0" u="none" strike="noStrike" dirty="0">
                          <a:solidFill>
                            <a:srgbClr val="000000"/>
                          </a:solidFill>
                          <a:effectLst/>
                          <a:latin typeface="Calibri" panose="020F0502020204030204" pitchFamily="34" charset="0"/>
                        </a:rPr>
                        <a:t>18</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919048836"/>
                  </a:ext>
                </a:extLst>
              </a:tr>
            </a:tbl>
          </a:graphicData>
        </a:graphic>
      </p:graphicFrame>
      <p:sp>
        <p:nvSpPr>
          <p:cNvPr id="14" name="Oval 13">
            <a:extLst>
              <a:ext uri="{FF2B5EF4-FFF2-40B4-BE49-F238E27FC236}">
                <a16:creationId xmlns:a16="http://schemas.microsoft.com/office/drawing/2014/main" id="{7E672B95-BEA9-2AD9-8EA8-D2BB4C61E15F}"/>
              </a:ext>
            </a:extLst>
          </p:cNvPr>
          <p:cNvSpPr/>
          <p:nvPr/>
        </p:nvSpPr>
        <p:spPr>
          <a:xfrm>
            <a:off x="3379336" y="1299502"/>
            <a:ext cx="764274" cy="5320665"/>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17" name="Text Placeholder 5">
            <a:extLst>
              <a:ext uri="{FF2B5EF4-FFF2-40B4-BE49-F238E27FC236}">
                <a16:creationId xmlns:a16="http://schemas.microsoft.com/office/drawing/2014/main" id="{5D33A995-9AA3-54F2-76F9-314FAB72BA6F}"/>
              </a:ext>
            </a:extLst>
          </p:cNvPr>
          <p:cNvSpPr txBox="1">
            <a:spLocks/>
          </p:cNvSpPr>
          <p:nvPr/>
        </p:nvSpPr>
        <p:spPr>
          <a:xfrm>
            <a:off x="412498" y="814274"/>
            <a:ext cx="2106303" cy="416150"/>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ctr">
              <a:lnSpc>
                <a:spcPct val="100000"/>
              </a:lnSpc>
            </a:pPr>
            <a:r>
              <a:rPr lang="en-NZ" altLang="ja-JP" sz="1800" b="1" dirty="0">
                <a:solidFill>
                  <a:srgbClr val="00B050"/>
                </a:solidFill>
              </a:rPr>
              <a:t>Correct </a:t>
            </a:r>
            <a:r>
              <a:rPr lang="en-NZ" altLang="ja-JP" sz="1800" b="1" dirty="0">
                <a:solidFill>
                  <a:srgbClr val="00B050"/>
                </a:solidFill>
                <a:sym typeface="Wingdings" panose="05000000000000000000" pitchFamily="2" charset="2"/>
              </a:rPr>
              <a:t></a:t>
            </a:r>
            <a:endParaRPr lang="en-NZ" altLang="ja-JP" sz="1800" b="1" dirty="0">
              <a:solidFill>
                <a:srgbClr val="00B050"/>
              </a:solidFill>
            </a:endParaRPr>
          </a:p>
        </p:txBody>
      </p:sp>
      <p:sp>
        <p:nvSpPr>
          <p:cNvPr id="18" name="Text Placeholder 5">
            <a:extLst>
              <a:ext uri="{FF2B5EF4-FFF2-40B4-BE49-F238E27FC236}">
                <a16:creationId xmlns:a16="http://schemas.microsoft.com/office/drawing/2014/main" id="{164CF507-CFC8-66F6-1C3D-6BAC8633701D}"/>
              </a:ext>
            </a:extLst>
          </p:cNvPr>
          <p:cNvSpPr txBox="1">
            <a:spLocks/>
          </p:cNvSpPr>
          <p:nvPr/>
        </p:nvSpPr>
        <p:spPr>
          <a:xfrm>
            <a:off x="2727308" y="814274"/>
            <a:ext cx="2106303" cy="416150"/>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ctr">
              <a:lnSpc>
                <a:spcPct val="100000"/>
              </a:lnSpc>
            </a:pPr>
            <a:r>
              <a:rPr lang="en-NZ" altLang="ja-JP" sz="1800" b="1" dirty="0">
                <a:solidFill>
                  <a:srgbClr val="C00000"/>
                </a:solidFill>
              </a:rPr>
              <a:t>Incorrect </a:t>
            </a:r>
            <a:r>
              <a:rPr lang="en-NZ" altLang="ja-JP" sz="1800" b="1" dirty="0">
                <a:solidFill>
                  <a:srgbClr val="C00000"/>
                </a:solidFill>
                <a:sym typeface="Wingdings" panose="05000000000000000000" pitchFamily="2" charset="2"/>
              </a:rPr>
              <a:t></a:t>
            </a:r>
            <a:endParaRPr lang="en-NZ" altLang="ja-JP" sz="1800" b="1" dirty="0">
              <a:solidFill>
                <a:srgbClr val="C00000"/>
              </a:solidFill>
            </a:endParaRPr>
          </a:p>
        </p:txBody>
      </p:sp>
      <p:sp>
        <p:nvSpPr>
          <p:cNvPr id="15" name="Footer Placeholder 2">
            <a:extLst>
              <a:ext uri="{FF2B5EF4-FFF2-40B4-BE49-F238E27FC236}">
                <a16:creationId xmlns:a16="http://schemas.microsoft.com/office/drawing/2014/main" id="{59D5D3E6-054A-670D-3111-D74E897B0169}"/>
              </a:ext>
            </a:extLst>
          </p:cNvPr>
          <p:cNvSpPr txBox="1">
            <a:spLocks/>
          </p:cNvSpPr>
          <p:nvPr/>
        </p:nvSpPr>
        <p:spPr>
          <a:xfrm>
            <a:off x="7397088" y="86139"/>
            <a:ext cx="4692278"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600" dirty="0">
                <a:solidFill>
                  <a:srgbClr val="DEDDDD"/>
                </a:solidFill>
                <a:latin typeface="Gidole"/>
                <a:ea typeface="游ゴシック" panose="020B0400000000000000" pitchFamily="34" charset="-128"/>
              </a:rPr>
              <a:t>5</a:t>
            </a:r>
            <a:r>
              <a:rPr kumimoji="1" lang="en-US" altLang="ja-JP"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rPr>
              <a:t>.3 – Computational Example 2-Stage Nested Design</a:t>
            </a:r>
            <a:endParaRPr kumimoji="1" lang="ja-JP" altLang="en-US"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endParaRPr>
          </a:p>
        </p:txBody>
      </p:sp>
      <p:sp>
        <p:nvSpPr>
          <p:cNvPr id="2" name="Text Placeholder 5">
            <a:extLst>
              <a:ext uri="{FF2B5EF4-FFF2-40B4-BE49-F238E27FC236}">
                <a16:creationId xmlns:a16="http://schemas.microsoft.com/office/drawing/2014/main" id="{A57A180F-118E-86C7-A95B-C888E16DF35D}"/>
              </a:ext>
            </a:extLst>
          </p:cNvPr>
          <p:cNvSpPr txBox="1">
            <a:spLocks/>
          </p:cNvSpPr>
          <p:nvPr/>
        </p:nvSpPr>
        <p:spPr>
          <a:xfrm>
            <a:off x="5485639" y="5065155"/>
            <a:ext cx="5894348" cy="905021"/>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1800" b="1" dirty="0">
                <a:solidFill>
                  <a:srgbClr val="C00000"/>
                </a:solidFill>
              </a:rPr>
              <a:t>It is essential that you use unique labels for each level of Factor B so that R interprets the design as nested rather than crossed!</a:t>
            </a:r>
          </a:p>
        </p:txBody>
      </p:sp>
    </p:spTree>
    <p:extLst>
      <p:ext uri="{BB962C8B-B14F-4D97-AF65-F5344CB8AC3E}">
        <p14:creationId xmlns:p14="http://schemas.microsoft.com/office/powerpoint/2010/main" val="41630404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3F370184-A89B-2C23-7861-B6D98ACA0841}"/>
              </a:ext>
            </a:extLst>
          </p:cNvPr>
          <p:cNvPicPr>
            <a:picLocks noChangeAspect="1"/>
          </p:cNvPicPr>
          <p:nvPr/>
        </p:nvPicPr>
        <p:blipFill>
          <a:blip r:embed="rId2"/>
          <a:stretch>
            <a:fillRect/>
          </a:stretch>
        </p:blipFill>
        <p:spPr>
          <a:xfrm>
            <a:off x="6275633" y="2347415"/>
            <a:ext cx="5809524" cy="4123809"/>
          </a:xfrm>
          <a:prstGeom prst="rect">
            <a:avLst/>
          </a:prstGeom>
        </p:spPr>
      </p:pic>
      <p:sp>
        <p:nvSpPr>
          <p:cNvPr id="10" name="Slide Number Placeholder 3">
            <a:extLst>
              <a:ext uri="{FF2B5EF4-FFF2-40B4-BE49-F238E27FC236}">
                <a16:creationId xmlns:a16="http://schemas.microsoft.com/office/drawing/2014/main" id="{B0C9041D-77F0-4656-90D4-0E84B7AC6B27}"/>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54AD89C-DF1E-4948-B597-5DD47B34A9CA}" type="slidenum">
              <a:rPr kumimoji="1" lang="ja-JP" altLang="en-US" sz="4000" b="0" i="0" u="none" strike="noStrike" kern="1200" cap="none" spc="0" normalizeH="0" baseline="0" noProof="0" smtClean="0">
                <a:ln>
                  <a:noFill/>
                </a:ln>
                <a:solidFill>
                  <a:srgbClr val="575454">
                    <a:lumMod val="20000"/>
                    <a:lumOff val="80000"/>
                  </a:srgbClr>
                </a:solidFill>
                <a:effectLst/>
                <a:uLnTx/>
                <a:uFillTx/>
                <a:latin typeface="Coo Hew"/>
                <a:ea typeface="游ゴシック" panose="020B0400000000000000"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1" lang="ja-JP" altLang="en-US" sz="4000" b="0" i="0" u="none" strike="noStrike" kern="1200" cap="none" spc="0" normalizeH="0" baseline="0" noProof="0" dirty="0">
              <a:ln>
                <a:noFill/>
              </a:ln>
              <a:solidFill>
                <a:srgbClr val="575454">
                  <a:lumMod val="20000"/>
                  <a:lumOff val="80000"/>
                </a:srgbClr>
              </a:solidFill>
              <a:effectLst/>
              <a:uLnTx/>
              <a:uFillTx/>
              <a:latin typeface="Coo Hew"/>
              <a:ea typeface="游ゴシック" panose="020B0400000000000000" pitchFamily="34" charset="-128"/>
              <a:cs typeface="+mn-cs"/>
            </a:endParaRPr>
          </a:p>
        </p:txBody>
      </p:sp>
      <p:sp>
        <p:nvSpPr>
          <p:cNvPr id="21" name="Title 6">
            <a:extLst>
              <a:ext uri="{FF2B5EF4-FFF2-40B4-BE49-F238E27FC236}">
                <a16:creationId xmlns:a16="http://schemas.microsoft.com/office/drawing/2014/main" id="{7C963C88-6E6E-2444-9663-776716CBAA9D}"/>
              </a:ext>
            </a:extLst>
          </p:cNvPr>
          <p:cNvSpPr txBox="1">
            <a:spLocks/>
          </p:cNvSpPr>
          <p:nvPr/>
        </p:nvSpPr>
        <p:spPr>
          <a:xfrm>
            <a:off x="251224" y="237833"/>
            <a:ext cx="9411391" cy="607201"/>
          </a:xfrm>
          <a:prstGeom prst="rect">
            <a:avLst/>
          </a:prstGeom>
        </p:spPr>
        <p:txBody>
          <a:bodyPr anchor="t">
            <a:normAutofit/>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pPr marL="0" marR="0" lvl="0" indent="0" algn="l" defTabSz="914324" rtl="0" eaLnBrk="1" fontAlgn="auto" latinLnBrk="0" hangingPunct="1">
              <a:lnSpc>
                <a:spcPct val="90000"/>
              </a:lnSpc>
              <a:spcBef>
                <a:spcPct val="0"/>
              </a:spcBef>
              <a:spcAft>
                <a:spcPts val="0"/>
              </a:spcAft>
              <a:buClrTx/>
              <a:buSzTx/>
              <a:buFontTx/>
              <a:buNone/>
              <a:tabLst/>
              <a:defRPr/>
            </a:pPr>
            <a:r>
              <a:rPr lang="en-US" altLang="ja-JP" b="1" u="sng" dirty="0">
                <a:solidFill>
                  <a:prstClr val="black"/>
                </a:solidFill>
                <a:latin typeface="Calibri" panose="020F0502020204030204"/>
                <a:ea typeface="游ゴシック Light" panose="020B0300000000000000" pitchFamily="34" charset="-128"/>
              </a:rPr>
              <a:t>5</a:t>
            </a:r>
            <a:r>
              <a:rPr kumimoji="1" lang="en-US" altLang="ja-JP"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rPr>
              <a:t>.3a – Drug Sourcing Example:</a:t>
            </a:r>
            <a:endParaRPr kumimoji="1" lang="ja-JP" altLang="en-US"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endParaRPr>
          </a:p>
        </p:txBody>
      </p:sp>
      <p:sp>
        <p:nvSpPr>
          <p:cNvPr id="11" name="Text Placeholder 5">
            <a:extLst>
              <a:ext uri="{FF2B5EF4-FFF2-40B4-BE49-F238E27FC236}">
                <a16:creationId xmlns:a16="http://schemas.microsoft.com/office/drawing/2014/main" id="{7B5CEE78-46DE-D327-3299-AC3CD2863429}"/>
              </a:ext>
            </a:extLst>
          </p:cNvPr>
          <p:cNvSpPr txBox="1">
            <a:spLocks/>
          </p:cNvSpPr>
          <p:nvPr/>
        </p:nvSpPr>
        <p:spPr>
          <a:xfrm>
            <a:off x="3011606" y="6520328"/>
            <a:ext cx="6168789" cy="30855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ctr">
              <a:lnSpc>
                <a:spcPct val="100000"/>
              </a:lnSpc>
            </a:pPr>
            <a:r>
              <a:rPr lang="en-US" altLang="ja-JP" sz="1200" dirty="0">
                <a:solidFill>
                  <a:srgbClr val="C00000"/>
                </a:solidFill>
              </a:rPr>
              <a:t>Associated code = </a:t>
            </a:r>
            <a:r>
              <a:rPr lang="en-NZ" altLang="ja-JP" sz="1200" dirty="0">
                <a:solidFill>
                  <a:srgbClr val="C00000"/>
                </a:solidFill>
              </a:rPr>
              <a:t>5.3 - Drug Source (Two Stage Nested Design Example)</a:t>
            </a:r>
            <a:endParaRPr lang="en-US" altLang="ja-JP" sz="1200" b="1" i="1" dirty="0">
              <a:solidFill>
                <a:srgbClr val="C00000"/>
              </a:solidFill>
            </a:endParaRPr>
          </a:p>
        </p:txBody>
      </p:sp>
      <p:pic>
        <p:nvPicPr>
          <p:cNvPr id="6" name="Picture 5">
            <a:extLst>
              <a:ext uri="{FF2B5EF4-FFF2-40B4-BE49-F238E27FC236}">
                <a16:creationId xmlns:a16="http://schemas.microsoft.com/office/drawing/2014/main" id="{5A4B34D2-B28D-3DC9-C91F-909E958205D4}"/>
              </a:ext>
            </a:extLst>
          </p:cNvPr>
          <p:cNvPicPr>
            <a:picLocks noChangeAspect="1"/>
          </p:cNvPicPr>
          <p:nvPr/>
        </p:nvPicPr>
        <p:blipFill>
          <a:blip r:embed="rId3"/>
          <a:stretch>
            <a:fillRect/>
          </a:stretch>
        </p:blipFill>
        <p:spPr>
          <a:xfrm>
            <a:off x="350220" y="1270117"/>
            <a:ext cx="7724775" cy="1685925"/>
          </a:xfrm>
          <a:prstGeom prst="rect">
            <a:avLst/>
          </a:prstGeom>
        </p:spPr>
      </p:pic>
      <p:sp>
        <p:nvSpPr>
          <p:cNvPr id="20" name="Text Placeholder 5">
            <a:extLst>
              <a:ext uri="{FF2B5EF4-FFF2-40B4-BE49-F238E27FC236}">
                <a16:creationId xmlns:a16="http://schemas.microsoft.com/office/drawing/2014/main" id="{40B5F946-3388-2CDF-CF32-83474F9BF913}"/>
              </a:ext>
            </a:extLst>
          </p:cNvPr>
          <p:cNvSpPr txBox="1">
            <a:spLocks/>
          </p:cNvSpPr>
          <p:nvPr/>
        </p:nvSpPr>
        <p:spPr>
          <a:xfrm>
            <a:off x="350220" y="894138"/>
            <a:ext cx="5894348" cy="504967"/>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1800" b="1" dirty="0">
                <a:solidFill>
                  <a:schemeClr val="tx1"/>
                </a:solidFill>
              </a:rPr>
              <a:t>Checking ANOVA Assumptions</a:t>
            </a:r>
            <a:endParaRPr lang="en-NZ" altLang="ja-JP" sz="1800" b="1" dirty="0">
              <a:solidFill>
                <a:srgbClr val="0070C0"/>
              </a:solidFill>
            </a:endParaRPr>
          </a:p>
        </p:txBody>
      </p:sp>
      <p:sp>
        <p:nvSpPr>
          <p:cNvPr id="22" name="Text Placeholder 5">
            <a:extLst>
              <a:ext uri="{FF2B5EF4-FFF2-40B4-BE49-F238E27FC236}">
                <a16:creationId xmlns:a16="http://schemas.microsoft.com/office/drawing/2014/main" id="{3F6E79FA-C997-FF76-DEA4-2ECAAA191B73}"/>
              </a:ext>
            </a:extLst>
          </p:cNvPr>
          <p:cNvSpPr txBox="1">
            <a:spLocks/>
          </p:cNvSpPr>
          <p:nvPr/>
        </p:nvSpPr>
        <p:spPr>
          <a:xfrm>
            <a:off x="350220" y="4572000"/>
            <a:ext cx="5894348" cy="1610657"/>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285750" indent="-285750" algn="just">
              <a:lnSpc>
                <a:spcPct val="100000"/>
              </a:lnSpc>
              <a:buFont typeface="Symbol" panose="05050102010706020507" pitchFamily="18" charset="2"/>
              <a:buChar char="Þ"/>
            </a:pPr>
            <a:r>
              <a:rPr lang="en-NZ" altLang="ja-JP" sz="1400" dirty="0">
                <a:solidFill>
                  <a:srgbClr val="0070C0"/>
                </a:solidFill>
              </a:rPr>
              <a:t>Fitted vs Residual plot suggests constant variance</a:t>
            </a:r>
          </a:p>
          <a:p>
            <a:pPr algn="just">
              <a:lnSpc>
                <a:spcPct val="100000"/>
              </a:lnSpc>
            </a:pPr>
            <a:endParaRPr lang="en-NZ" altLang="ja-JP" sz="1400" dirty="0">
              <a:solidFill>
                <a:srgbClr val="0070C0"/>
              </a:solidFill>
            </a:endParaRPr>
          </a:p>
          <a:p>
            <a:pPr marL="285750" indent="-285750" algn="just">
              <a:lnSpc>
                <a:spcPct val="100000"/>
              </a:lnSpc>
              <a:buFont typeface="Symbol" panose="05050102010706020507" pitchFamily="18" charset="2"/>
              <a:buChar char="Þ"/>
            </a:pPr>
            <a:r>
              <a:rPr lang="en-NZ" altLang="ja-JP" sz="1400" dirty="0">
                <a:solidFill>
                  <a:srgbClr val="0070C0"/>
                </a:solidFill>
              </a:rPr>
              <a:t>QQ-plot suggests that their may be a departure from normality in the tails of the distribution</a:t>
            </a:r>
          </a:p>
          <a:p>
            <a:pPr marL="285750" indent="-285750" algn="just">
              <a:lnSpc>
                <a:spcPct val="100000"/>
              </a:lnSpc>
              <a:buFont typeface="Symbol" panose="05050102010706020507" pitchFamily="18" charset="2"/>
              <a:buChar char="Þ"/>
            </a:pPr>
            <a:endParaRPr lang="en-NZ" altLang="ja-JP" sz="1400" dirty="0">
              <a:solidFill>
                <a:srgbClr val="0070C0"/>
              </a:solidFill>
            </a:endParaRPr>
          </a:p>
          <a:p>
            <a:pPr marL="285750" indent="-285750" algn="just">
              <a:lnSpc>
                <a:spcPct val="100000"/>
              </a:lnSpc>
              <a:buFont typeface="Symbol" panose="05050102010706020507" pitchFamily="18" charset="2"/>
              <a:buChar char="Þ"/>
            </a:pPr>
            <a:r>
              <a:rPr lang="en-NZ" altLang="ja-JP" sz="1400" dirty="0">
                <a:solidFill>
                  <a:srgbClr val="0070C0"/>
                </a:solidFill>
              </a:rPr>
              <a:t>Shapiro-Wilks test shows no evidence that the data is not normally distributed</a:t>
            </a:r>
          </a:p>
        </p:txBody>
      </p:sp>
      <p:pic>
        <p:nvPicPr>
          <p:cNvPr id="23" name="Picture 22">
            <a:extLst>
              <a:ext uri="{FF2B5EF4-FFF2-40B4-BE49-F238E27FC236}">
                <a16:creationId xmlns:a16="http://schemas.microsoft.com/office/drawing/2014/main" id="{4B9B2058-7756-7299-1A60-030F67EFB9DF}"/>
              </a:ext>
            </a:extLst>
          </p:cNvPr>
          <p:cNvPicPr>
            <a:picLocks noChangeAspect="1"/>
          </p:cNvPicPr>
          <p:nvPr/>
        </p:nvPicPr>
        <p:blipFill>
          <a:blip r:embed="rId4"/>
          <a:stretch>
            <a:fillRect/>
          </a:stretch>
        </p:blipFill>
        <p:spPr>
          <a:xfrm>
            <a:off x="350220" y="3127416"/>
            <a:ext cx="6143625" cy="400050"/>
          </a:xfrm>
          <a:prstGeom prst="rect">
            <a:avLst/>
          </a:prstGeom>
        </p:spPr>
      </p:pic>
      <p:pic>
        <p:nvPicPr>
          <p:cNvPr id="25" name="Picture 24">
            <a:extLst>
              <a:ext uri="{FF2B5EF4-FFF2-40B4-BE49-F238E27FC236}">
                <a16:creationId xmlns:a16="http://schemas.microsoft.com/office/drawing/2014/main" id="{59A8DFB0-C296-646B-5043-8A45ADC16C7A}"/>
              </a:ext>
            </a:extLst>
          </p:cNvPr>
          <p:cNvPicPr>
            <a:picLocks noChangeAspect="1"/>
          </p:cNvPicPr>
          <p:nvPr/>
        </p:nvPicPr>
        <p:blipFill>
          <a:blip r:embed="rId5"/>
          <a:stretch>
            <a:fillRect/>
          </a:stretch>
        </p:blipFill>
        <p:spPr>
          <a:xfrm>
            <a:off x="1203252" y="3580781"/>
            <a:ext cx="3616707" cy="778140"/>
          </a:xfrm>
          <a:prstGeom prst="rect">
            <a:avLst/>
          </a:prstGeom>
        </p:spPr>
      </p:pic>
      <p:sp>
        <p:nvSpPr>
          <p:cNvPr id="12" name="Footer Placeholder 2">
            <a:extLst>
              <a:ext uri="{FF2B5EF4-FFF2-40B4-BE49-F238E27FC236}">
                <a16:creationId xmlns:a16="http://schemas.microsoft.com/office/drawing/2014/main" id="{57D143CB-59D1-B92B-A4D2-EF88D8668125}"/>
              </a:ext>
            </a:extLst>
          </p:cNvPr>
          <p:cNvSpPr txBox="1">
            <a:spLocks/>
          </p:cNvSpPr>
          <p:nvPr/>
        </p:nvSpPr>
        <p:spPr>
          <a:xfrm>
            <a:off x="7397088" y="86139"/>
            <a:ext cx="4692278"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600" dirty="0">
                <a:solidFill>
                  <a:srgbClr val="DEDDDD"/>
                </a:solidFill>
                <a:latin typeface="Gidole"/>
                <a:ea typeface="游ゴシック" panose="020B0400000000000000" pitchFamily="34" charset="-128"/>
              </a:rPr>
              <a:t>5</a:t>
            </a:r>
            <a:r>
              <a:rPr kumimoji="1" lang="en-US" altLang="ja-JP"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rPr>
              <a:t>.3 – Computational Example 2-Stage Nested Design</a:t>
            </a:r>
            <a:endParaRPr kumimoji="1" lang="ja-JP" altLang="en-US"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endParaRPr>
          </a:p>
        </p:txBody>
      </p:sp>
      <p:pic>
        <p:nvPicPr>
          <p:cNvPr id="3" name="Picture 2">
            <a:extLst>
              <a:ext uri="{FF2B5EF4-FFF2-40B4-BE49-F238E27FC236}">
                <a16:creationId xmlns:a16="http://schemas.microsoft.com/office/drawing/2014/main" id="{8D0DCC59-CB21-9847-6B4C-216DDCEFEEF4}"/>
              </a:ext>
            </a:extLst>
          </p:cNvPr>
          <p:cNvPicPr>
            <a:picLocks noChangeAspect="1"/>
          </p:cNvPicPr>
          <p:nvPr/>
        </p:nvPicPr>
        <p:blipFill>
          <a:blip r:embed="rId6"/>
          <a:stretch>
            <a:fillRect/>
          </a:stretch>
        </p:blipFill>
        <p:spPr>
          <a:xfrm>
            <a:off x="350220" y="1270117"/>
            <a:ext cx="6210300" cy="800100"/>
          </a:xfrm>
          <a:prstGeom prst="rect">
            <a:avLst/>
          </a:prstGeom>
        </p:spPr>
      </p:pic>
    </p:spTree>
    <p:extLst>
      <p:ext uri="{BB962C8B-B14F-4D97-AF65-F5344CB8AC3E}">
        <p14:creationId xmlns:p14="http://schemas.microsoft.com/office/powerpoint/2010/main" val="213508599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Slide Number Placeholder 3">
            <a:extLst>
              <a:ext uri="{FF2B5EF4-FFF2-40B4-BE49-F238E27FC236}">
                <a16:creationId xmlns:a16="http://schemas.microsoft.com/office/drawing/2014/main" id="{B0C9041D-77F0-4656-90D4-0E84B7AC6B27}"/>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54AD89C-DF1E-4948-B597-5DD47B34A9CA}" type="slidenum">
              <a:rPr kumimoji="1" lang="ja-JP" altLang="en-US" sz="4000" b="0" i="0" u="none" strike="noStrike" kern="1200" cap="none" spc="0" normalizeH="0" baseline="0" noProof="0" smtClean="0">
                <a:ln>
                  <a:noFill/>
                </a:ln>
                <a:solidFill>
                  <a:srgbClr val="575454">
                    <a:lumMod val="20000"/>
                    <a:lumOff val="80000"/>
                  </a:srgbClr>
                </a:solidFill>
                <a:effectLst/>
                <a:uLnTx/>
                <a:uFillTx/>
                <a:latin typeface="Coo Hew"/>
                <a:ea typeface="游ゴシック" panose="020B0400000000000000"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1" lang="ja-JP" altLang="en-US" sz="4000" b="0" i="0" u="none" strike="noStrike" kern="1200" cap="none" spc="0" normalizeH="0" baseline="0" noProof="0" dirty="0">
              <a:ln>
                <a:noFill/>
              </a:ln>
              <a:solidFill>
                <a:srgbClr val="575454">
                  <a:lumMod val="20000"/>
                  <a:lumOff val="80000"/>
                </a:srgbClr>
              </a:solidFill>
              <a:effectLst/>
              <a:uLnTx/>
              <a:uFillTx/>
              <a:latin typeface="Coo Hew"/>
              <a:ea typeface="游ゴシック" panose="020B0400000000000000" pitchFamily="34" charset="-128"/>
              <a:cs typeface="+mn-cs"/>
            </a:endParaRPr>
          </a:p>
        </p:txBody>
      </p:sp>
      <p:sp>
        <p:nvSpPr>
          <p:cNvPr id="21" name="Title 6">
            <a:extLst>
              <a:ext uri="{FF2B5EF4-FFF2-40B4-BE49-F238E27FC236}">
                <a16:creationId xmlns:a16="http://schemas.microsoft.com/office/drawing/2014/main" id="{7C963C88-6E6E-2444-9663-776716CBAA9D}"/>
              </a:ext>
            </a:extLst>
          </p:cNvPr>
          <p:cNvSpPr txBox="1">
            <a:spLocks/>
          </p:cNvSpPr>
          <p:nvPr/>
        </p:nvSpPr>
        <p:spPr>
          <a:xfrm>
            <a:off x="251224" y="237833"/>
            <a:ext cx="9411391" cy="607201"/>
          </a:xfrm>
          <a:prstGeom prst="rect">
            <a:avLst/>
          </a:prstGeom>
        </p:spPr>
        <p:txBody>
          <a:bodyPr anchor="t">
            <a:normAutofit/>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pPr marL="0" marR="0" lvl="0" indent="0" algn="l" defTabSz="914324" rtl="0" eaLnBrk="1" fontAlgn="auto" latinLnBrk="0" hangingPunct="1">
              <a:lnSpc>
                <a:spcPct val="90000"/>
              </a:lnSpc>
              <a:spcBef>
                <a:spcPct val="0"/>
              </a:spcBef>
              <a:spcAft>
                <a:spcPts val="0"/>
              </a:spcAft>
              <a:buClrTx/>
              <a:buSzTx/>
              <a:buFontTx/>
              <a:buNone/>
              <a:tabLst/>
              <a:defRPr/>
            </a:pPr>
            <a:r>
              <a:rPr lang="en-US" altLang="ja-JP" b="1" u="sng" dirty="0">
                <a:solidFill>
                  <a:prstClr val="black"/>
                </a:solidFill>
                <a:latin typeface="Calibri" panose="020F0502020204030204"/>
                <a:ea typeface="游ゴシック Light" panose="020B0300000000000000" pitchFamily="34" charset="-128"/>
              </a:rPr>
              <a:t>5</a:t>
            </a:r>
            <a:r>
              <a:rPr kumimoji="1" lang="en-US" altLang="ja-JP"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rPr>
              <a:t>.3a – Drug Sourcing Example:</a:t>
            </a:r>
            <a:endParaRPr kumimoji="1" lang="ja-JP" altLang="en-US"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endParaRPr>
          </a:p>
        </p:txBody>
      </p:sp>
      <p:sp>
        <p:nvSpPr>
          <p:cNvPr id="11" name="Text Placeholder 5">
            <a:extLst>
              <a:ext uri="{FF2B5EF4-FFF2-40B4-BE49-F238E27FC236}">
                <a16:creationId xmlns:a16="http://schemas.microsoft.com/office/drawing/2014/main" id="{7B5CEE78-46DE-D327-3299-AC3CD2863429}"/>
              </a:ext>
            </a:extLst>
          </p:cNvPr>
          <p:cNvSpPr txBox="1">
            <a:spLocks/>
          </p:cNvSpPr>
          <p:nvPr/>
        </p:nvSpPr>
        <p:spPr>
          <a:xfrm>
            <a:off x="3011606" y="6520328"/>
            <a:ext cx="6168789" cy="30855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ctr">
              <a:lnSpc>
                <a:spcPct val="100000"/>
              </a:lnSpc>
            </a:pPr>
            <a:r>
              <a:rPr lang="en-US" altLang="ja-JP" sz="1200" dirty="0">
                <a:solidFill>
                  <a:srgbClr val="C00000"/>
                </a:solidFill>
              </a:rPr>
              <a:t>Associated code = </a:t>
            </a:r>
            <a:r>
              <a:rPr lang="en-NZ" altLang="ja-JP" sz="1200" dirty="0">
                <a:solidFill>
                  <a:srgbClr val="C00000"/>
                </a:solidFill>
              </a:rPr>
              <a:t>5.3 - Drug Source (Two Stage Nested Design Example)</a:t>
            </a:r>
            <a:endParaRPr lang="en-US" altLang="ja-JP" sz="1200" b="1" i="1" dirty="0">
              <a:solidFill>
                <a:srgbClr val="C00000"/>
              </a:solidFill>
            </a:endParaRPr>
          </a:p>
        </p:txBody>
      </p:sp>
      <p:sp>
        <p:nvSpPr>
          <p:cNvPr id="20" name="Text Placeholder 5">
            <a:extLst>
              <a:ext uri="{FF2B5EF4-FFF2-40B4-BE49-F238E27FC236}">
                <a16:creationId xmlns:a16="http://schemas.microsoft.com/office/drawing/2014/main" id="{40B5F946-3388-2CDF-CF32-83474F9BF913}"/>
              </a:ext>
            </a:extLst>
          </p:cNvPr>
          <p:cNvSpPr txBox="1">
            <a:spLocks/>
          </p:cNvSpPr>
          <p:nvPr/>
        </p:nvSpPr>
        <p:spPr>
          <a:xfrm>
            <a:off x="350220" y="1112502"/>
            <a:ext cx="5894348" cy="504967"/>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1800" b="1" dirty="0">
                <a:solidFill>
                  <a:schemeClr val="tx1"/>
                </a:solidFill>
              </a:rPr>
              <a:t>Test of Factor A effects using the </a:t>
            </a:r>
            <a:r>
              <a:rPr lang="en-NZ" altLang="ja-JP" sz="1800" b="1" dirty="0" err="1">
                <a:solidFill>
                  <a:schemeClr val="tx1"/>
                </a:solidFill>
              </a:rPr>
              <a:t>nlme</a:t>
            </a:r>
            <a:r>
              <a:rPr lang="en-NZ" altLang="ja-JP" sz="1800" b="1" dirty="0">
                <a:solidFill>
                  <a:schemeClr val="tx1"/>
                </a:solidFill>
              </a:rPr>
              <a:t> package </a:t>
            </a:r>
            <a:r>
              <a:rPr lang="en-NZ" altLang="ja-JP" sz="1800" dirty="0">
                <a:solidFill>
                  <a:srgbClr val="00B050"/>
                </a:solidFill>
                <a:sym typeface="Wingdings" panose="05000000000000000000" pitchFamily="2" charset="2"/>
              </a:rPr>
              <a:t></a:t>
            </a:r>
            <a:endParaRPr lang="en-NZ" altLang="ja-JP" sz="1800" b="1" dirty="0">
              <a:solidFill>
                <a:srgbClr val="0070C0"/>
              </a:solidFill>
            </a:endParaRPr>
          </a:p>
        </p:txBody>
      </p:sp>
      <p:pic>
        <p:nvPicPr>
          <p:cNvPr id="3" name="Picture 2">
            <a:extLst>
              <a:ext uri="{FF2B5EF4-FFF2-40B4-BE49-F238E27FC236}">
                <a16:creationId xmlns:a16="http://schemas.microsoft.com/office/drawing/2014/main" id="{A0BB825C-5A65-71A6-8E49-EA99B7F9AD6E}"/>
              </a:ext>
            </a:extLst>
          </p:cNvPr>
          <p:cNvPicPr>
            <a:picLocks noChangeAspect="1"/>
          </p:cNvPicPr>
          <p:nvPr/>
        </p:nvPicPr>
        <p:blipFill>
          <a:blip r:embed="rId2"/>
          <a:stretch>
            <a:fillRect/>
          </a:stretch>
        </p:blipFill>
        <p:spPr>
          <a:xfrm>
            <a:off x="430834" y="1617470"/>
            <a:ext cx="8749561" cy="522994"/>
          </a:xfrm>
          <a:prstGeom prst="rect">
            <a:avLst/>
          </a:prstGeom>
        </p:spPr>
      </p:pic>
      <p:pic>
        <p:nvPicPr>
          <p:cNvPr id="5" name="Picture 4">
            <a:extLst>
              <a:ext uri="{FF2B5EF4-FFF2-40B4-BE49-F238E27FC236}">
                <a16:creationId xmlns:a16="http://schemas.microsoft.com/office/drawing/2014/main" id="{AE2D6E43-694F-DF0D-B5ED-C1905EA545CB}"/>
              </a:ext>
            </a:extLst>
          </p:cNvPr>
          <p:cNvPicPr>
            <a:picLocks noChangeAspect="1"/>
          </p:cNvPicPr>
          <p:nvPr/>
        </p:nvPicPr>
        <p:blipFill>
          <a:blip r:embed="rId3"/>
          <a:stretch>
            <a:fillRect/>
          </a:stretch>
        </p:blipFill>
        <p:spPr>
          <a:xfrm>
            <a:off x="718974" y="2249153"/>
            <a:ext cx="4237945" cy="742239"/>
          </a:xfrm>
          <a:prstGeom prst="rect">
            <a:avLst/>
          </a:prstGeom>
        </p:spPr>
      </p:pic>
      <mc:AlternateContent xmlns:mc="http://schemas.openxmlformats.org/markup-compatibility/2006" xmlns:a14="http://schemas.microsoft.com/office/drawing/2010/main">
        <mc:Choice Requires="a14">
          <p:sp>
            <p:nvSpPr>
              <p:cNvPr id="16" name="Text Placeholder 5">
                <a:extLst>
                  <a:ext uri="{FF2B5EF4-FFF2-40B4-BE49-F238E27FC236}">
                    <a16:creationId xmlns:a16="http://schemas.microsoft.com/office/drawing/2014/main" id="{B86FDA04-A1D0-6D42-68BE-0DC938D0B98C}"/>
                  </a:ext>
                </a:extLst>
              </p:cNvPr>
              <p:cNvSpPr txBox="1">
                <a:spLocks/>
              </p:cNvSpPr>
              <p:nvPr/>
            </p:nvSpPr>
            <p:spPr>
              <a:xfrm>
                <a:off x="430834" y="3525068"/>
                <a:ext cx="7402981" cy="2144332"/>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nSpc>
                    <a:spcPct val="100000"/>
                  </a:lnSpc>
                </a:pPr>
                <a14:m>
                  <m:oMath xmlns:m="http://schemas.openxmlformats.org/officeDocument/2006/math">
                    <m:sSub>
                      <m:sSubPr>
                        <m:ctrlPr>
                          <a:rPr lang="en-NZ" altLang="ja-JP" sz="1800" b="1" i="1">
                            <a:solidFill>
                              <a:schemeClr val="tx1"/>
                            </a:solidFill>
                            <a:latin typeface="Cambria Math" panose="02040503050406030204" pitchFamily="18" charset="0"/>
                          </a:rPr>
                        </m:ctrlPr>
                      </m:sSubPr>
                      <m:e>
                        <m:r>
                          <a:rPr lang="en-NZ" altLang="ja-JP" sz="1800" b="1" i="1">
                            <a:solidFill>
                              <a:schemeClr val="tx1"/>
                            </a:solidFill>
                            <a:latin typeface="Cambria Math" panose="02040503050406030204" pitchFamily="18" charset="0"/>
                          </a:rPr>
                          <m:t>𝑯</m:t>
                        </m:r>
                      </m:e>
                      <m:sub>
                        <m:r>
                          <a:rPr lang="en-NZ" altLang="ja-JP" sz="1800" b="1" i="1">
                            <a:solidFill>
                              <a:schemeClr val="tx1"/>
                            </a:solidFill>
                            <a:latin typeface="Cambria Math" panose="02040503050406030204" pitchFamily="18" charset="0"/>
                          </a:rPr>
                          <m:t>𝟎</m:t>
                        </m:r>
                      </m:sub>
                    </m:sSub>
                    <m:r>
                      <a:rPr lang="en-NZ" altLang="ja-JP" sz="1800" b="1" i="1">
                        <a:solidFill>
                          <a:schemeClr val="tx1"/>
                        </a:solidFill>
                        <a:latin typeface="Cambria Math" panose="02040503050406030204" pitchFamily="18" charset="0"/>
                      </a:rPr>
                      <m:t> :  </m:t>
                    </m:r>
                    <m:sSub>
                      <m:sSubPr>
                        <m:ctrlPr>
                          <a:rPr lang="en-NZ" altLang="ja-JP" sz="1800" b="1" i="1">
                            <a:solidFill>
                              <a:schemeClr val="tx1"/>
                            </a:solidFill>
                            <a:latin typeface="Cambria Math" panose="02040503050406030204" pitchFamily="18" charset="0"/>
                          </a:rPr>
                        </m:ctrlPr>
                      </m:sSubPr>
                      <m:e>
                        <m:r>
                          <a:rPr lang="en-NZ" altLang="ja-JP" sz="1800" b="1" i="1">
                            <a:solidFill>
                              <a:schemeClr val="tx1"/>
                            </a:solidFill>
                            <a:latin typeface="Cambria Math" panose="02040503050406030204" pitchFamily="18" charset="0"/>
                          </a:rPr>
                          <m:t>𝜶</m:t>
                        </m:r>
                      </m:e>
                      <m:sub>
                        <m:r>
                          <a:rPr lang="en-NZ" altLang="ja-JP" sz="1800" b="1" i="1">
                            <a:solidFill>
                              <a:schemeClr val="tx1"/>
                            </a:solidFill>
                            <a:latin typeface="Cambria Math" panose="02040503050406030204" pitchFamily="18" charset="0"/>
                          </a:rPr>
                          <m:t>𝒊</m:t>
                        </m:r>
                      </m:sub>
                    </m:sSub>
                    <m:r>
                      <a:rPr lang="en-NZ" altLang="ja-JP" sz="1800" b="1" i="1">
                        <a:solidFill>
                          <a:schemeClr val="tx1"/>
                        </a:solidFill>
                        <a:latin typeface="Cambria Math" panose="02040503050406030204" pitchFamily="18" charset="0"/>
                      </a:rPr>
                      <m:t>=</m:t>
                    </m:r>
                    <m:r>
                      <a:rPr lang="en-NZ" altLang="ja-JP" sz="1800" b="1" i="1">
                        <a:solidFill>
                          <a:schemeClr val="tx1"/>
                        </a:solidFill>
                        <a:latin typeface="Cambria Math" panose="02040503050406030204" pitchFamily="18" charset="0"/>
                      </a:rPr>
                      <m:t>𝟎</m:t>
                    </m:r>
                  </m:oMath>
                </a14:m>
                <a:r>
                  <a:rPr lang="en-NZ" altLang="ja-JP" sz="1800" b="1" i="1" dirty="0">
                    <a:solidFill>
                      <a:schemeClr val="tx1"/>
                    </a:solidFill>
                    <a:latin typeface="Cambria Math" panose="02040503050406030204" pitchFamily="18" charset="0"/>
                  </a:rPr>
                  <a:t>  </a:t>
                </a:r>
                <a:r>
                  <a:rPr lang="en-NZ" altLang="ja-JP" sz="1400" dirty="0">
                    <a:solidFill>
                      <a:schemeClr val="tx1"/>
                    </a:solidFill>
                    <a:latin typeface="Cambria Math" panose="02040503050406030204" pitchFamily="18" charset="0"/>
                  </a:rPr>
                  <a:t>for all </a:t>
                </a:r>
                <a14:m>
                  <m:oMath xmlns:m="http://schemas.openxmlformats.org/officeDocument/2006/math">
                    <m:r>
                      <a:rPr lang="en-NZ" altLang="ja-JP" sz="1400" i="1">
                        <a:solidFill>
                          <a:schemeClr val="tx1"/>
                        </a:solidFill>
                        <a:latin typeface="Cambria Math" panose="02040503050406030204" pitchFamily="18" charset="0"/>
                      </a:rPr>
                      <m:t>𝑖</m:t>
                    </m:r>
                    <m:r>
                      <a:rPr lang="en-NZ" altLang="ja-JP" sz="1400" i="1">
                        <a:solidFill>
                          <a:schemeClr val="tx1"/>
                        </a:solidFill>
                        <a:latin typeface="Cambria Math" panose="02040503050406030204" pitchFamily="18" charset="0"/>
                      </a:rPr>
                      <m:t>=1, …, </m:t>
                    </m:r>
                    <m:r>
                      <a:rPr lang="en-NZ" altLang="ja-JP" sz="1400" i="1">
                        <a:solidFill>
                          <a:schemeClr val="tx1"/>
                        </a:solidFill>
                        <a:latin typeface="Cambria Math" panose="02040503050406030204" pitchFamily="18" charset="0"/>
                      </a:rPr>
                      <m:t>𝑎</m:t>
                    </m:r>
                  </m:oMath>
                </a14:m>
                <a:r>
                  <a:rPr lang="en-NZ" altLang="ja-JP" sz="1400" dirty="0">
                    <a:solidFill>
                      <a:schemeClr val="tx1"/>
                    </a:solidFill>
                    <a:latin typeface="Cambria Math" panose="02040503050406030204" pitchFamily="18" charset="0"/>
                  </a:rPr>
                  <a:t> </a:t>
                </a:r>
                <a:br>
                  <a:rPr lang="en-NZ" altLang="ja-JP" sz="1800" b="1" i="1" dirty="0">
                    <a:solidFill>
                      <a:schemeClr val="tx1"/>
                    </a:solidFill>
                    <a:latin typeface="Cambria Math" panose="02040503050406030204" pitchFamily="18" charset="0"/>
                  </a:rPr>
                </a:br>
                <a14:m>
                  <m:oMath xmlns:m="http://schemas.openxmlformats.org/officeDocument/2006/math">
                    <m:sSub>
                      <m:sSubPr>
                        <m:ctrlPr>
                          <a:rPr lang="en-NZ" altLang="ja-JP" sz="1800" b="1" i="1">
                            <a:solidFill>
                              <a:schemeClr val="tx1"/>
                            </a:solidFill>
                            <a:latin typeface="Cambria Math" panose="02040503050406030204" pitchFamily="18" charset="0"/>
                          </a:rPr>
                        </m:ctrlPr>
                      </m:sSubPr>
                      <m:e>
                        <m:r>
                          <a:rPr lang="en-NZ" altLang="ja-JP" sz="1800" b="1" i="1">
                            <a:solidFill>
                              <a:schemeClr val="tx1"/>
                            </a:solidFill>
                            <a:latin typeface="Cambria Math" panose="02040503050406030204" pitchFamily="18" charset="0"/>
                          </a:rPr>
                          <m:t>𝑯</m:t>
                        </m:r>
                      </m:e>
                      <m:sub>
                        <m:r>
                          <a:rPr lang="en-NZ" altLang="ja-JP" sz="1800" b="1" i="1">
                            <a:solidFill>
                              <a:schemeClr val="tx1"/>
                            </a:solidFill>
                            <a:latin typeface="Cambria Math" panose="02040503050406030204" pitchFamily="18" charset="0"/>
                          </a:rPr>
                          <m:t>𝟏</m:t>
                        </m:r>
                      </m:sub>
                    </m:sSub>
                    <m:r>
                      <a:rPr lang="en-NZ" altLang="ja-JP" sz="1800" b="1" i="1">
                        <a:solidFill>
                          <a:schemeClr val="tx1"/>
                        </a:solidFill>
                        <a:latin typeface="Cambria Math" panose="02040503050406030204" pitchFamily="18" charset="0"/>
                      </a:rPr>
                      <m:t> :  </m:t>
                    </m:r>
                    <m:sSub>
                      <m:sSubPr>
                        <m:ctrlPr>
                          <a:rPr lang="en-NZ" altLang="ja-JP" sz="1800" b="1" i="1">
                            <a:solidFill>
                              <a:schemeClr val="tx1"/>
                            </a:solidFill>
                            <a:latin typeface="Cambria Math" panose="02040503050406030204" pitchFamily="18" charset="0"/>
                          </a:rPr>
                        </m:ctrlPr>
                      </m:sSubPr>
                      <m:e>
                        <m:r>
                          <a:rPr lang="en-NZ" altLang="ja-JP" sz="1800" b="1" i="1">
                            <a:solidFill>
                              <a:schemeClr val="tx1"/>
                            </a:solidFill>
                            <a:latin typeface="Cambria Math" panose="02040503050406030204" pitchFamily="18" charset="0"/>
                          </a:rPr>
                          <m:t>𝜶</m:t>
                        </m:r>
                      </m:e>
                      <m:sub>
                        <m:r>
                          <a:rPr lang="en-NZ" altLang="ja-JP" sz="1800" b="1" i="1">
                            <a:solidFill>
                              <a:schemeClr val="tx1"/>
                            </a:solidFill>
                            <a:latin typeface="Cambria Math" panose="02040503050406030204" pitchFamily="18" charset="0"/>
                          </a:rPr>
                          <m:t>𝒊</m:t>
                        </m:r>
                      </m:sub>
                    </m:sSub>
                    <m:r>
                      <a:rPr lang="en-NZ" altLang="ja-JP" sz="1800" b="1" i="1">
                        <a:solidFill>
                          <a:schemeClr val="tx1"/>
                        </a:solidFill>
                        <a:latin typeface="Cambria Math" panose="02040503050406030204" pitchFamily="18" charset="0"/>
                      </a:rPr>
                      <m:t>≠</m:t>
                    </m:r>
                    <m:r>
                      <a:rPr lang="en-NZ" altLang="ja-JP" sz="1800" b="1" i="1">
                        <a:solidFill>
                          <a:schemeClr val="tx1"/>
                        </a:solidFill>
                        <a:latin typeface="Cambria Math" panose="02040503050406030204" pitchFamily="18" charset="0"/>
                      </a:rPr>
                      <m:t>𝟎</m:t>
                    </m:r>
                  </m:oMath>
                </a14:m>
                <a:r>
                  <a:rPr lang="en-NZ" altLang="ja-JP" sz="1800" b="1" dirty="0">
                    <a:solidFill>
                      <a:schemeClr val="tx1"/>
                    </a:solidFill>
                  </a:rPr>
                  <a:t>  </a:t>
                </a:r>
                <a:r>
                  <a:rPr lang="en-NZ" altLang="ja-JP" sz="1400" dirty="0">
                    <a:solidFill>
                      <a:schemeClr val="tx1"/>
                    </a:solidFill>
                  </a:rPr>
                  <a:t>for some </a:t>
                </a:r>
                <a14:m>
                  <m:oMath xmlns:m="http://schemas.openxmlformats.org/officeDocument/2006/math">
                    <m:r>
                      <a:rPr lang="en-NZ" altLang="ja-JP" sz="1400" i="1">
                        <a:solidFill>
                          <a:schemeClr val="tx1"/>
                        </a:solidFill>
                        <a:latin typeface="Cambria Math" panose="02040503050406030204" pitchFamily="18" charset="0"/>
                      </a:rPr>
                      <m:t>𝑖</m:t>
                    </m:r>
                  </m:oMath>
                </a14:m>
                <a:endParaRPr lang="en-NZ" altLang="ja-JP" sz="1400" dirty="0">
                  <a:solidFill>
                    <a:schemeClr val="tx1"/>
                  </a:solidFill>
                </a:endParaRPr>
              </a:p>
              <a:p>
                <a:pPr>
                  <a:lnSpc>
                    <a:spcPct val="100000"/>
                  </a:lnSpc>
                </a:pPr>
                <a:endParaRPr lang="en-NZ" altLang="ja-JP" sz="1800" dirty="0">
                  <a:solidFill>
                    <a:srgbClr val="0070C0"/>
                  </a:solidFill>
                </a:endParaRPr>
              </a:p>
              <a:p>
                <a:pPr marL="285750" indent="-285750">
                  <a:lnSpc>
                    <a:spcPct val="100000"/>
                  </a:lnSpc>
                  <a:buFont typeface="Symbol" panose="05050102010706020507" pitchFamily="18" charset="2"/>
                  <a:buChar char="Þ"/>
                </a:pPr>
                <a:r>
                  <a:rPr lang="en-NZ" altLang="ja-JP" sz="1800" dirty="0">
                    <a:solidFill>
                      <a:srgbClr val="0070C0"/>
                    </a:solidFill>
                  </a:rPr>
                  <a:t>F-value = 1.48014,  p-value = 0.3571.</a:t>
                </a:r>
                <a:br>
                  <a:rPr lang="en-NZ" altLang="ja-JP" sz="1800" dirty="0">
                    <a:solidFill>
                      <a:srgbClr val="0070C0"/>
                    </a:solidFill>
                  </a:rPr>
                </a:br>
                <a:r>
                  <a:rPr lang="en-NZ" altLang="ja-JP" sz="1800" dirty="0">
                    <a:solidFill>
                      <a:srgbClr val="0070C0"/>
                    </a:solidFill>
                  </a:rPr>
                  <a:t>No evidence against the null hypothesis</a:t>
                </a:r>
                <a:br>
                  <a:rPr lang="en-NZ" altLang="ja-JP" sz="1800" dirty="0">
                    <a:solidFill>
                      <a:srgbClr val="0070C0"/>
                    </a:solidFill>
                  </a:rPr>
                </a:br>
                <a:r>
                  <a:rPr lang="en-NZ" altLang="ja-JP" sz="1800" dirty="0">
                    <a:solidFill>
                      <a:srgbClr val="0070C0"/>
                    </a:solidFill>
                  </a:rPr>
                  <a:t>No evidence that the choice of drug has an effect on cholesterol levels.</a:t>
                </a:r>
              </a:p>
            </p:txBody>
          </p:sp>
        </mc:Choice>
        <mc:Fallback xmlns="">
          <p:sp>
            <p:nvSpPr>
              <p:cNvPr id="16" name="Text Placeholder 5">
                <a:extLst>
                  <a:ext uri="{FF2B5EF4-FFF2-40B4-BE49-F238E27FC236}">
                    <a16:creationId xmlns:a16="http://schemas.microsoft.com/office/drawing/2014/main" id="{B86FDA04-A1D0-6D42-68BE-0DC938D0B98C}"/>
                  </a:ext>
                </a:extLst>
              </p:cNvPr>
              <p:cNvSpPr txBox="1">
                <a:spLocks noRot="1" noChangeAspect="1" noMove="1" noResize="1" noEditPoints="1" noAdjustHandles="1" noChangeArrowheads="1" noChangeShapeType="1" noTextEdit="1"/>
              </p:cNvSpPr>
              <p:nvPr/>
            </p:nvSpPr>
            <p:spPr>
              <a:xfrm>
                <a:off x="430834" y="3525068"/>
                <a:ext cx="7402981" cy="2144332"/>
              </a:xfrm>
              <a:prstGeom prst="rect">
                <a:avLst/>
              </a:prstGeom>
              <a:blipFill>
                <a:blip r:embed="rId4"/>
                <a:stretch>
                  <a:fillRect l="-741"/>
                </a:stretch>
              </a:blipFill>
            </p:spPr>
            <p:txBody>
              <a:bodyPr/>
              <a:lstStyle/>
              <a:p>
                <a:r>
                  <a:rPr lang="en-NZ">
                    <a:noFill/>
                  </a:rPr>
                  <a:t> </a:t>
                </a:r>
              </a:p>
            </p:txBody>
          </p:sp>
        </mc:Fallback>
      </mc:AlternateContent>
      <p:sp>
        <p:nvSpPr>
          <p:cNvPr id="17" name="Oval 16">
            <a:extLst>
              <a:ext uri="{FF2B5EF4-FFF2-40B4-BE49-F238E27FC236}">
                <a16:creationId xmlns:a16="http://schemas.microsoft.com/office/drawing/2014/main" id="{E2A107B2-5169-6BDA-8841-46B2AF45D99F}"/>
              </a:ext>
            </a:extLst>
          </p:cNvPr>
          <p:cNvSpPr/>
          <p:nvPr/>
        </p:nvSpPr>
        <p:spPr>
          <a:xfrm>
            <a:off x="3061648" y="2769700"/>
            <a:ext cx="1715068" cy="221692"/>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12" name="Footer Placeholder 2">
            <a:extLst>
              <a:ext uri="{FF2B5EF4-FFF2-40B4-BE49-F238E27FC236}">
                <a16:creationId xmlns:a16="http://schemas.microsoft.com/office/drawing/2014/main" id="{E138F52F-A592-0300-1C7F-4F9402F05BBB}"/>
              </a:ext>
            </a:extLst>
          </p:cNvPr>
          <p:cNvSpPr txBox="1">
            <a:spLocks/>
          </p:cNvSpPr>
          <p:nvPr/>
        </p:nvSpPr>
        <p:spPr>
          <a:xfrm>
            <a:off x="7397088" y="86139"/>
            <a:ext cx="4692278"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600" dirty="0">
                <a:solidFill>
                  <a:srgbClr val="DEDDDD"/>
                </a:solidFill>
                <a:latin typeface="Gidole"/>
                <a:ea typeface="游ゴシック" panose="020B0400000000000000" pitchFamily="34" charset="-128"/>
              </a:rPr>
              <a:t>5</a:t>
            </a:r>
            <a:r>
              <a:rPr kumimoji="1" lang="en-US" altLang="ja-JP"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rPr>
              <a:t>.3 – Computational Example 2-Stage Nested Design</a:t>
            </a:r>
            <a:endParaRPr kumimoji="1" lang="ja-JP" altLang="en-US"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endParaRPr>
          </a:p>
        </p:txBody>
      </p:sp>
      <p:graphicFrame>
        <p:nvGraphicFramePr>
          <p:cNvPr id="2" name="Table 2">
            <a:extLst>
              <a:ext uri="{FF2B5EF4-FFF2-40B4-BE49-F238E27FC236}">
                <a16:creationId xmlns:a16="http://schemas.microsoft.com/office/drawing/2014/main" id="{A69F91F2-26C2-A2AB-D318-546CD795EED3}"/>
              </a:ext>
            </a:extLst>
          </p:cNvPr>
          <p:cNvGraphicFramePr>
            <a:graphicFrameLocks noGrp="1"/>
          </p:cNvGraphicFramePr>
          <p:nvPr>
            <p:extLst>
              <p:ext uri="{D42A27DB-BD31-4B8C-83A1-F6EECF244321}">
                <p14:modId xmlns:p14="http://schemas.microsoft.com/office/powerpoint/2010/main" val="3998189301"/>
              </p:ext>
            </p:extLst>
          </p:nvPr>
        </p:nvGraphicFramePr>
        <p:xfrm>
          <a:off x="5829187" y="1592074"/>
          <a:ext cx="6080832" cy="2001520"/>
        </p:xfrm>
        <a:graphic>
          <a:graphicData uri="http://schemas.openxmlformats.org/drawingml/2006/table">
            <a:tbl>
              <a:tblPr firstRow="1" bandRow="1">
                <a:tableStyleId>{5C22544A-7EE6-4342-B048-85BDC9FD1C3A}</a:tableStyleId>
              </a:tblPr>
              <a:tblGrid>
                <a:gridCol w="1106290">
                  <a:extLst>
                    <a:ext uri="{9D8B030D-6E8A-4147-A177-3AD203B41FA5}">
                      <a16:colId xmlns:a16="http://schemas.microsoft.com/office/drawing/2014/main" val="4198110682"/>
                    </a:ext>
                  </a:extLst>
                </a:gridCol>
                <a:gridCol w="877283">
                  <a:extLst>
                    <a:ext uri="{9D8B030D-6E8A-4147-A177-3AD203B41FA5}">
                      <a16:colId xmlns:a16="http://schemas.microsoft.com/office/drawing/2014/main" val="292302729"/>
                    </a:ext>
                  </a:extLst>
                </a:gridCol>
                <a:gridCol w="839373">
                  <a:extLst>
                    <a:ext uri="{9D8B030D-6E8A-4147-A177-3AD203B41FA5}">
                      <a16:colId xmlns:a16="http://schemas.microsoft.com/office/drawing/2014/main" val="126256495"/>
                    </a:ext>
                  </a:extLst>
                </a:gridCol>
                <a:gridCol w="2103251">
                  <a:extLst>
                    <a:ext uri="{9D8B030D-6E8A-4147-A177-3AD203B41FA5}">
                      <a16:colId xmlns:a16="http://schemas.microsoft.com/office/drawing/2014/main" val="477450593"/>
                    </a:ext>
                  </a:extLst>
                </a:gridCol>
                <a:gridCol w="1154635">
                  <a:extLst>
                    <a:ext uri="{9D8B030D-6E8A-4147-A177-3AD203B41FA5}">
                      <a16:colId xmlns:a16="http://schemas.microsoft.com/office/drawing/2014/main" val="1101540161"/>
                    </a:ext>
                  </a:extLst>
                </a:gridCol>
              </a:tblGrid>
              <a:tr h="370840">
                <a:tc>
                  <a:txBody>
                    <a:bodyPr/>
                    <a:lstStyle/>
                    <a:p>
                      <a:pPr algn="ctr"/>
                      <a:r>
                        <a:rPr lang="en-NZ" sz="1400" dirty="0"/>
                        <a:t>Source of Variation</a:t>
                      </a:r>
                    </a:p>
                  </a:txBody>
                  <a:tcPr anchor="ctr"/>
                </a:tc>
                <a:tc>
                  <a:txBody>
                    <a:bodyPr/>
                    <a:lstStyle/>
                    <a:p>
                      <a:pPr algn="ctr"/>
                      <a:r>
                        <a:rPr lang="en-NZ" sz="1400" dirty="0" err="1"/>
                        <a:t>df</a:t>
                      </a:r>
                      <a:endParaRPr lang="en-NZ" sz="1400" dirty="0"/>
                    </a:p>
                  </a:txBody>
                  <a:tcPr anchor="ctr"/>
                </a:tc>
                <a:tc>
                  <a:txBody>
                    <a:bodyPr/>
                    <a:lstStyle/>
                    <a:p>
                      <a:pPr algn="ctr"/>
                      <a:r>
                        <a:rPr lang="en-NZ" sz="1400" dirty="0"/>
                        <a:t>SS</a:t>
                      </a:r>
                    </a:p>
                  </a:txBody>
                  <a:tcPr anchor="ctr"/>
                </a:tc>
                <a:tc>
                  <a:txBody>
                    <a:bodyPr/>
                    <a:lstStyle/>
                    <a:p>
                      <a:pPr algn="ctr"/>
                      <a:r>
                        <a:rPr lang="en-NZ" sz="1400" dirty="0"/>
                        <a:t>Mean Square</a:t>
                      </a:r>
                    </a:p>
                  </a:txBody>
                  <a:tcPr anchor="ctr"/>
                </a:tc>
                <a:tc>
                  <a:txBody>
                    <a:bodyPr/>
                    <a:lstStyle/>
                    <a:p>
                      <a:pPr algn="ctr"/>
                      <a:r>
                        <a:rPr lang="en-NZ" sz="1400" dirty="0"/>
                        <a:t>F-Statistic</a:t>
                      </a:r>
                    </a:p>
                  </a:txBody>
                  <a:tcPr anchor="ctr"/>
                </a:tc>
                <a:extLst>
                  <a:ext uri="{0D108BD9-81ED-4DB2-BD59-A6C34878D82A}">
                    <a16:rowId xmlns:a16="http://schemas.microsoft.com/office/drawing/2014/main" val="3666350365"/>
                  </a:ext>
                </a:extLst>
              </a:tr>
              <a:tr h="370840">
                <a:tc>
                  <a:txBody>
                    <a:bodyPr/>
                    <a:lstStyle/>
                    <a:p>
                      <a:pPr algn="ctr"/>
                      <a:r>
                        <a:rPr lang="en-NZ" sz="1400" dirty="0"/>
                        <a:t>Total</a:t>
                      </a:r>
                    </a:p>
                  </a:txBody>
                  <a:tcPr anchor="ctr"/>
                </a:tc>
                <a:tc>
                  <a:txBody>
                    <a:bodyPr/>
                    <a:lstStyle/>
                    <a:p>
                      <a:pPr algn="ctr"/>
                      <a:r>
                        <a:rPr lang="en-NZ" sz="1400" dirty="0"/>
                        <a:t>abn-1</a:t>
                      </a:r>
                    </a:p>
                  </a:txBody>
                  <a:tcPr anchor="ctr"/>
                </a:tc>
                <a:tc>
                  <a:txBody>
                    <a:bodyPr/>
                    <a:lstStyle/>
                    <a:p>
                      <a:pPr algn="ctr"/>
                      <a:r>
                        <a:rPr lang="en-NZ" sz="1400" dirty="0"/>
                        <a:t>TSS</a:t>
                      </a:r>
                    </a:p>
                  </a:txBody>
                  <a:tcPr anchor="ctr"/>
                </a:tc>
                <a:tc>
                  <a:txBody>
                    <a:bodyPr/>
                    <a:lstStyle/>
                    <a:p>
                      <a:pPr algn="ctr"/>
                      <a:endParaRPr lang="en-NZ" sz="1400" dirty="0"/>
                    </a:p>
                  </a:txBody>
                  <a:tcPr anchor="ctr"/>
                </a:tc>
                <a:tc>
                  <a:txBody>
                    <a:bodyPr/>
                    <a:lstStyle/>
                    <a:p>
                      <a:pPr algn="ctr"/>
                      <a:endParaRPr lang="en-NZ" sz="1400" dirty="0"/>
                    </a:p>
                  </a:txBody>
                  <a:tcPr anchor="ctr"/>
                </a:tc>
                <a:extLst>
                  <a:ext uri="{0D108BD9-81ED-4DB2-BD59-A6C34878D82A}">
                    <a16:rowId xmlns:a16="http://schemas.microsoft.com/office/drawing/2014/main" val="3341485952"/>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NZ" sz="1400" dirty="0"/>
                        <a:t>A</a:t>
                      </a:r>
                    </a:p>
                  </a:txBody>
                  <a:tcPr anchor="ctr"/>
                </a:tc>
                <a:tc>
                  <a:txBody>
                    <a:bodyPr/>
                    <a:lstStyle/>
                    <a:p>
                      <a:pPr algn="ctr"/>
                      <a:r>
                        <a:rPr lang="en-NZ" sz="1400" dirty="0"/>
                        <a:t>a-1</a:t>
                      </a:r>
                    </a:p>
                  </a:txBody>
                  <a:tcPr anchor="ctr"/>
                </a:tc>
                <a:tc>
                  <a:txBody>
                    <a:bodyPr/>
                    <a:lstStyle/>
                    <a:p>
                      <a:pPr algn="ctr"/>
                      <a:r>
                        <a:rPr lang="en-NZ" sz="1400" dirty="0"/>
                        <a:t>SS</a:t>
                      </a:r>
                      <a:r>
                        <a:rPr lang="en-NZ" sz="1400" baseline="-25000" dirty="0"/>
                        <a:t>A</a:t>
                      </a:r>
                      <a:endParaRPr lang="en-NZ" sz="1400" dirty="0"/>
                    </a:p>
                  </a:txBody>
                  <a:tcPr anchor="ctr"/>
                </a:tc>
                <a:tc>
                  <a:txBody>
                    <a:bodyPr/>
                    <a:lstStyle/>
                    <a:p>
                      <a:pPr algn="ctr"/>
                      <a:r>
                        <a:rPr lang="en-NZ" sz="1400" dirty="0"/>
                        <a:t>MS</a:t>
                      </a:r>
                      <a:r>
                        <a:rPr lang="en-NZ" sz="1400" baseline="-25000" dirty="0"/>
                        <a:t>A</a:t>
                      </a:r>
                      <a:r>
                        <a:rPr lang="en-NZ" sz="1400" dirty="0"/>
                        <a:t> = SS</a:t>
                      </a:r>
                      <a:r>
                        <a:rPr lang="en-NZ" sz="1400" baseline="-25000" dirty="0"/>
                        <a:t>A</a:t>
                      </a:r>
                      <a:r>
                        <a:rPr lang="en-NZ" sz="1400" dirty="0"/>
                        <a:t> / (a-1)</a:t>
                      </a:r>
                    </a:p>
                  </a:txBody>
                  <a:tcPr anchor="ctr"/>
                </a:tc>
                <a:tc>
                  <a:txBody>
                    <a:bodyPr/>
                    <a:lstStyle/>
                    <a:p>
                      <a:pPr algn="ctr"/>
                      <a:r>
                        <a:rPr lang="en-NZ" sz="1400" dirty="0"/>
                        <a:t>MS</a:t>
                      </a:r>
                      <a:r>
                        <a:rPr lang="en-NZ" sz="1400" baseline="-25000" dirty="0"/>
                        <a:t>A</a:t>
                      </a:r>
                      <a:r>
                        <a:rPr lang="en-NZ" sz="1400" dirty="0"/>
                        <a:t> / MS</a:t>
                      </a:r>
                      <a:r>
                        <a:rPr lang="en-NZ" sz="1400" baseline="-25000" dirty="0"/>
                        <a:t>B(A)</a:t>
                      </a:r>
                      <a:endParaRPr lang="en-NZ" sz="1400" dirty="0"/>
                    </a:p>
                  </a:txBody>
                  <a:tcPr anchor="ctr"/>
                </a:tc>
                <a:extLst>
                  <a:ext uri="{0D108BD9-81ED-4DB2-BD59-A6C34878D82A}">
                    <a16:rowId xmlns:a16="http://schemas.microsoft.com/office/drawing/2014/main" val="443198030"/>
                  </a:ext>
                </a:extLst>
              </a:tr>
              <a:tr h="370840">
                <a:tc>
                  <a:txBody>
                    <a:bodyPr/>
                    <a:lstStyle/>
                    <a:p>
                      <a:pPr algn="ctr"/>
                      <a:r>
                        <a:rPr lang="en-NZ" sz="1400" dirty="0"/>
                        <a:t>B(A)</a:t>
                      </a:r>
                    </a:p>
                  </a:txBody>
                  <a:tcPr anchor="ctr"/>
                </a:tc>
                <a:tc>
                  <a:txBody>
                    <a:bodyPr/>
                    <a:lstStyle/>
                    <a:p>
                      <a:pPr algn="ctr"/>
                      <a:r>
                        <a:rPr lang="en-NZ" sz="1400" dirty="0"/>
                        <a:t>a(b-1)</a:t>
                      </a:r>
                    </a:p>
                  </a:txBody>
                  <a:tcPr anchor="ctr"/>
                </a:tc>
                <a:tc>
                  <a:txBody>
                    <a:bodyPr/>
                    <a:lstStyle/>
                    <a:p>
                      <a:pPr algn="ctr"/>
                      <a:r>
                        <a:rPr lang="en-NZ" sz="1400" dirty="0"/>
                        <a:t>SS</a:t>
                      </a:r>
                      <a:r>
                        <a:rPr lang="en-NZ" sz="1400" baseline="-25000" dirty="0"/>
                        <a:t>B(A)</a:t>
                      </a:r>
                      <a:endParaRPr lang="en-NZ" sz="1400" dirty="0"/>
                    </a:p>
                  </a:txBody>
                  <a:tcPr anchor="ctr"/>
                </a:tc>
                <a:tc>
                  <a:txBody>
                    <a:bodyPr/>
                    <a:lstStyle/>
                    <a:p>
                      <a:pPr algn="ctr"/>
                      <a:r>
                        <a:rPr lang="en-NZ" sz="1400" dirty="0"/>
                        <a:t>MS</a:t>
                      </a:r>
                      <a:r>
                        <a:rPr lang="en-NZ" sz="1400" baseline="-25000" dirty="0"/>
                        <a:t>B(A)</a:t>
                      </a:r>
                      <a:r>
                        <a:rPr lang="en-NZ" sz="1400" dirty="0"/>
                        <a:t> = SS</a:t>
                      </a:r>
                      <a:r>
                        <a:rPr lang="en-NZ" sz="1400" baseline="-25000" dirty="0"/>
                        <a:t>B(A)</a:t>
                      </a:r>
                      <a:r>
                        <a:rPr lang="en-NZ" sz="1400" dirty="0"/>
                        <a:t> / [ a(b-1) ]</a:t>
                      </a:r>
                    </a:p>
                  </a:txBody>
                  <a:tcPr anchor="ctr"/>
                </a:tc>
                <a:tc>
                  <a:txBody>
                    <a:bodyPr/>
                    <a:lstStyle/>
                    <a:p>
                      <a:pPr algn="ctr"/>
                      <a:r>
                        <a:rPr lang="en-NZ" sz="1400" dirty="0"/>
                        <a:t>MS</a:t>
                      </a:r>
                      <a:r>
                        <a:rPr lang="en-NZ" sz="1400" baseline="-25000" dirty="0"/>
                        <a:t>B(A)</a:t>
                      </a:r>
                      <a:r>
                        <a:rPr lang="en-NZ" sz="1400" dirty="0"/>
                        <a:t> / MSE</a:t>
                      </a:r>
                    </a:p>
                  </a:txBody>
                  <a:tcPr anchor="ctr"/>
                </a:tc>
                <a:extLst>
                  <a:ext uri="{0D108BD9-81ED-4DB2-BD59-A6C34878D82A}">
                    <a16:rowId xmlns:a16="http://schemas.microsoft.com/office/drawing/2014/main" val="3427382577"/>
                  </a:ext>
                </a:extLst>
              </a:tr>
              <a:tr h="370840">
                <a:tc>
                  <a:txBody>
                    <a:bodyPr/>
                    <a:lstStyle/>
                    <a:p>
                      <a:pPr algn="ctr"/>
                      <a:r>
                        <a:rPr lang="en-NZ" sz="1400" dirty="0"/>
                        <a:t>Residual</a:t>
                      </a:r>
                    </a:p>
                  </a:txBody>
                  <a:tcPr anchor="ctr"/>
                </a:tc>
                <a:tc>
                  <a:txBody>
                    <a:bodyPr/>
                    <a:lstStyle/>
                    <a:p>
                      <a:pPr algn="ctr"/>
                      <a:r>
                        <a:rPr lang="en-NZ" sz="1400" dirty="0"/>
                        <a:t>ab(n-1)</a:t>
                      </a:r>
                    </a:p>
                  </a:txBody>
                  <a:tcPr anchor="ctr"/>
                </a:tc>
                <a:tc>
                  <a:txBody>
                    <a:bodyPr/>
                    <a:lstStyle/>
                    <a:p>
                      <a:pPr algn="ctr"/>
                      <a:r>
                        <a:rPr lang="en-NZ" sz="1400" dirty="0"/>
                        <a:t>SSE</a:t>
                      </a:r>
                    </a:p>
                  </a:txBody>
                  <a:tcPr anchor="ctr"/>
                </a:tc>
                <a:tc>
                  <a:txBody>
                    <a:bodyPr/>
                    <a:lstStyle/>
                    <a:p>
                      <a:pPr algn="ctr"/>
                      <a:r>
                        <a:rPr lang="en-NZ" sz="1400" dirty="0"/>
                        <a:t>MSE = SSE / [ ab(n-1) ]</a:t>
                      </a:r>
                    </a:p>
                  </a:txBody>
                  <a:tcPr anchor="ctr"/>
                </a:tc>
                <a:tc>
                  <a:txBody>
                    <a:bodyPr/>
                    <a:lstStyle/>
                    <a:p>
                      <a:pPr algn="ctr"/>
                      <a:endParaRPr lang="en-NZ" sz="1400" dirty="0"/>
                    </a:p>
                  </a:txBody>
                  <a:tcPr anchor="ctr"/>
                </a:tc>
                <a:extLst>
                  <a:ext uri="{0D108BD9-81ED-4DB2-BD59-A6C34878D82A}">
                    <a16:rowId xmlns:a16="http://schemas.microsoft.com/office/drawing/2014/main" val="3328376915"/>
                  </a:ext>
                </a:extLst>
              </a:tr>
            </a:tbl>
          </a:graphicData>
        </a:graphic>
      </p:graphicFrame>
      <mc:AlternateContent xmlns:mc="http://schemas.openxmlformats.org/markup-compatibility/2006" xmlns:a14="http://schemas.microsoft.com/office/drawing/2010/main">
        <mc:Choice Requires="a14">
          <p:sp>
            <p:nvSpPr>
              <p:cNvPr id="6" name="Text Placeholder 5">
                <a:extLst>
                  <a:ext uri="{FF2B5EF4-FFF2-40B4-BE49-F238E27FC236}">
                    <a16:creationId xmlns:a16="http://schemas.microsoft.com/office/drawing/2014/main" id="{99B8D40F-F2A2-337D-58FB-731E778BFC56}"/>
                  </a:ext>
                </a:extLst>
              </p:cNvPr>
              <p:cNvSpPr txBox="1">
                <a:spLocks/>
              </p:cNvSpPr>
              <p:nvPr/>
            </p:nvSpPr>
            <p:spPr>
              <a:xfrm>
                <a:off x="6509195" y="845288"/>
                <a:ext cx="4258890" cy="666627"/>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14:m>
                  <m:oMathPara xmlns:m="http://schemas.openxmlformats.org/officeDocument/2006/math">
                    <m:oMathParaPr>
                      <m:jc m:val="centerGroup"/>
                    </m:oMathParaPr>
                    <m:oMath xmlns:m="http://schemas.openxmlformats.org/officeDocument/2006/math">
                      <m:r>
                        <a:rPr lang="en-NZ" altLang="ja-JP" sz="1600" b="1" i="1" smtClean="0">
                          <a:solidFill>
                            <a:srgbClr val="4472C4"/>
                          </a:solidFill>
                          <a:latin typeface="Cambria Math" panose="02040503050406030204" pitchFamily="18" charset="0"/>
                        </a:rPr>
                        <m:t>𝑭</m:t>
                      </m:r>
                      <m:r>
                        <a:rPr lang="en-NZ" altLang="ja-JP" sz="1600" b="1" i="1" smtClean="0">
                          <a:solidFill>
                            <a:srgbClr val="4472C4"/>
                          </a:solidFill>
                          <a:latin typeface="Cambria Math" panose="02040503050406030204" pitchFamily="18" charset="0"/>
                        </a:rPr>
                        <m:t> =  </m:t>
                      </m:r>
                      <m:f>
                        <m:fPr>
                          <m:ctrlPr>
                            <a:rPr lang="en-NZ" altLang="ja-JP" sz="1600" b="1" i="1" smtClean="0">
                              <a:solidFill>
                                <a:srgbClr val="4472C4"/>
                              </a:solidFill>
                              <a:latin typeface="Cambria Math" panose="02040503050406030204" pitchFamily="18" charset="0"/>
                            </a:rPr>
                          </m:ctrlPr>
                        </m:fPr>
                        <m:num>
                          <m:r>
                            <a:rPr lang="en-NZ" altLang="ja-JP" sz="1600" b="1" i="1" smtClean="0">
                              <a:solidFill>
                                <a:srgbClr val="4472C4"/>
                              </a:solidFill>
                              <a:latin typeface="Cambria Math" panose="02040503050406030204" pitchFamily="18" charset="0"/>
                            </a:rPr>
                            <m:t>𝑴</m:t>
                          </m:r>
                          <m:sSub>
                            <m:sSubPr>
                              <m:ctrlPr>
                                <a:rPr lang="en-NZ" altLang="ja-JP" sz="1600" b="1" i="1" smtClean="0">
                                  <a:solidFill>
                                    <a:srgbClr val="4472C4"/>
                                  </a:solidFill>
                                  <a:latin typeface="Cambria Math" panose="02040503050406030204" pitchFamily="18" charset="0"/>
                                </a:rPr>
                              </m:ctrlPr>
                            </m:sSubPr>
                            <m:e>
                              <m:r>
                                <a:rPr lang="en-NZ" altLang="ja-JP" sz="1600" b="1" i="1" smtClean="0">
                                  <a:solidFill>
                                    <a:srgbClr val="4472C4"/>
                                  </a:solidFill>
                                  <a:latin typeface="Cambria Math" panose="02040503050406030204" pitchFamily="18" charset="0"/>
                                </a:rPr>
                                <m:t>𝑺</m:t>
                              </m:r>
                            </m:e>
                            <m:sub>
                              <m:r>
                                <a:rPr lang="en-NZ" altLang="ja-JP" sz="1600" b="1" i="1" smtClean="0">
                                  <a:solidFill>
                                    <a:srgbClr val="4472C4"/>
                                  </a:solidFill>
                                  <a:latin typeface="Cambria Math" panose="02040503050406030204" pitchFamily="18" charset="0"/>
                                </a:rPr>
                                <m:t>𝑨</m:t>
                              </m:r>
                            </m:sub>
                          </m:sSub>
                        </m:num>
                        <m:den>
                          <m:r>
                            <a:rPr lang="en-NZ" altLang="ja-JP" sz="1600" b="1" i="1" smtClean="0">
                              <a:solidFill>
                                <a:srgbClr val="4472C4"/>
                              </a:solidFill>
                              <a:latin typeface="Cambria Math" panose="02040503050406030204" pitchFamily="18" charset="0"/>
                            </a:rPr>
                            <m:t>𝑴</m:t>
                          </m:r>
                          <m:sSub>
                            <m:sSubPr>
                              <m:ctrlPr>
                                <a:rPr lang="en-NZ" altLang="ja-JP" sz="1600" b="1" i="1" smtClean="0">
                                  <a:solidFill>
                                    <a:srgbClr val="4472C4"/>
                                  </a:solidFill>
                                  <a:latin typeface="Cambria Math" panose="02040503050406030204" pitchFamily="18" charset="0"/>
                                </a:rPr>
                              </m:ctrlPr>
                            </m:sSubPr>
                            <m:e>
                              <m:r>
                                <a:rPr lang="en-NZ" altLang="ja-JP" sz="1600" b="1" i="1" smtClean="0">
                                  <a:solidFill>
                                    <a:srgbClr val="4472C4"/>
                                  </a:solidFill>
                                  <a:latin typeface="Cambria Math" panose="02040503050406030204" pitchFamily="18" charset="0"/>
                                </a:rPr>
                                <m:t>𝑺</m:t>
                              </m:r>
                            </m:e>
                            <m:sub>
                              <m:r>
                                <a:rPr lang="en-NZ" altLang="ja-JP" sz="1600" b="1" i="1" smtClean="0">
                                  <a:solidFill>
                                    <a:srgbClr val="4472C4"/>
                                  </a:solidFill>
                                  <a:latin typeface="Cambria Math" panose="02040503050406030204" pitchFamily="18" charset="0"/>
                                </a:rPr>
                                <m:t>𝑩</m:t>
                              </m:r>
                              <m:d>
                                <m:dPr>
                                  <m:ctrlPr>
                                    <a:rPr lang="en-NZ" altLang="ja-JP" sz="1600" b="1" i="1" smtClean="0">
                                      <a:solidFill>
                                        <a:srgbClr val="4472C4"/>
                                      </a:solidFill>
                                      <a:latin typeface="Cambria Math" panose="02040503050406030204" pitchFamily="18" charset="0"/>
                                    </a:rPr>
                                  </m:ctrlPr>
                                </m:dPr>
                                <m:e>
                                  <m:r>
                                    <a:rPr lang="en-NZ" altLang="ja-JP" sz="1600" b="1" i="1" smtClean="0">
                                      <a:solidFill>
                                        <a:srgbClr val="4472C4"/>
                                      </a:solidFill>
                                      <a:latin typeface="Cambria Math" panose="02040503050406030204" pitchFamily="18" charset="0"/>
                                    </a:rPr>
                                    <m:t>𝑨</m:t>
                                  </m:r>
                                </m:e>
                              </m:d>
                            </m:sub>
                          </m:sSub>
                        </m:den>
                      </m:f>
                      <m:r>
                        <a:rPr lang="en-NZ" altLang="ja-JP" sz="1600" b="1" i="1" smtClean="0">
                          <a:solidFill>
                            <a:srgbClr val="4472C4"/>
                          </a:solidFill>
                          <a:latin typeface="Cambria Math" panose="02040503050406030204" pitchFamily="18" charset="0"/>
                        </a:rPr>
                        <m:t>  =   </m:t>
                      </m:r>
                      <m:f>
                        <m:fPr>
                          <m:ctrlPr>
                            <a:rPr lang="en-NZ" altLang="ja-JP" sz="1600" b="1" i="1" smtClean="0">
                              <a:solidFill>
                                <a:srgbClr val="4472C4"/>
                              </a:solidFill>
                              <a:latin typeface="Cambria Math" panose="02040503050406030204" pitchFamily="18" charset="0"/>
                            </a:rPr>
                          </m:ctrlPr>
                        </m:fPr>
                        <m:num>
                          <m:f>
                            <m:fPr>
                              <m:type m:val="lin"/>
                              <m:ctrlPr>
                                <a:rPr lang="en-NZ" altLang="ja-JP" sz="1600" b="1" i="1" smtClean="0">
                                  <a:solidFill>
                                    <a:srgbClr val="4472C4"/>
                                  </a:solidFill>
                                  <a:latin typeface="Cambria Math" panose="02040503050406030204" pitchFamily="18" charset="0"/>
                                </a:rPr>
                              </m:ctrlPr>
                            </m:fPr>
                            <m:num>
                              <m:r>
                                <a:rPr lang="en-NZ" altLang="ja-JP" sz="1600" b="1" i="1" smtClean="0">
                                  <a:solidFill>
                                    <a:srgbClr val="4472C4"/>
                                  </a:solidFill>
                                  <a:latin typeface="Cambria Math" panose="02040503050406030204" pitchFamily="18" charset="0"/>
                                </a:rPr>
                                <m:t>𝑺</m:t>
                              </m:r>
                              <m:sSub>
                                <m:sSubPr>
                                  <m:ctrlPr>
                                    <a:rPr lang="en-NZ" altLang="ja-JP" sz="1600" b="1" i="1" smtClean="0">
                                      <a:solidFill>
                                        <a:srgbClr val="4472C4"/>
                                      </a:solidFill>
                                      <a:latin typeface="Cambria Math" panose="02040503050406030204" pitchFamily="18" charset="0"/>
                                    </a:rPr>
                                  </m:ctrlPr>
                                </m:sSubPr>
                                <m:e>
                                  <m:r>
                                    <a:rPr lang="en-NZ" altLang="ja-JP" sz="1600" b="1" i="1" smtClean="0">
                                      <a:solidFill>
                                        <a:srgbClr val="4472C4"/>
                                      </a:solidFill>
                                      <a:latin typeface="Cambria Math" panose="02040503050406030204" pitchFamily="18" charset="0"/>
                                    </a:rPr>
                                    <m:t>𝑺</m:t>
                                  </m:r>
                                </m:e>
                                <m:sub>
                                  <m:r>
                                    <a:rPr lang="en-NZ" altLang="ja-JP" sz="1600" b="1" i="1" smtClean="0">
                                      <a:solidFill>
                                        <a:srgbClr val="4472C4"/>
                                      </a:solidFill>
                                      <a:latin typeface="Cambria Math" panose="02040503050406030204" pitchFamily="18" charset="0"/>
                                    </a:rPr>
                                    <m:t>𝑨</m:t>
                                  </m:r>
                                </m:sub>
                              </m:sSub>
                              <m:r>
                                <a:rPr lang="en-NZ" altLang="ja-JP" sz="1600" b="1" i="1" smtClean="0">
                                  <a:solidFill>
                                    <a:srgbClr val="4472C4"/>
                                  </a:solidFill>
                                  <a:latin typeface="Cambria Math" panose="02040503050406030204" pitchFamily="18" charset="0"/>
                                </a:rPr>
                                <m:t> </m:t>
                              </m:r>
                            </m:num>
                            <m:den>
                              <m:r>
                                <a:rPr lang="en-NZ" altLang="ja-JP" sz="1600" b="1" i="1" smtClean="0">
                                  <a:solidFill>
                                    <a:srgbClr val="4472C4"/>
                                  </a:solidFill>
                                  <a:latin typeface="Cambria Math" panose="02040503050406030204" pitchFamily="18" charset="0"/>
                                </a:rPr>
                                <m:t> (</m:t>
                              </m:r>
                              <m:r>
                                <a:rPr lang="en-NZ" altLang="ja-JP" sz="1600" b="1" i="1" smtClean="0">
                                  <a:solidFill>
                                    <a:srgbClr val="4472C4"/>
                                  </a:solidFill>
                                  <a:latin typeface="Cambria Math" panose="02040503050406030204" pitchFamily="18" charset="0"/>
                                </a:rPr>
                                <m:t>𝒂</m:t>
                              </m:r>
                              <m:r>
                                <a:rPr lang="en-NZ" altLang="ja-JP" sz="1600" b="1" i="1" smtClean="0">
                                  <a:solidFill>
                                    <a:srgbClr val="4472C4"/>
                                  </a:solidFill>
                                  <a:latin typeface="Cambria Math" panose="02040503050406030204" pitchFamily="18" charset="0"/>
                                </a:rPr>
                                <m:t>−</m:t>
                              </m:r>
                              <m:r>
                                <a:rPr lang="en-NZ" altLang="ja-JP" sz="1600" b="1" i="1" smtClean="0">
                                  <a:solidFill>
                                    <a:srgbClr val="4472C4"/>
                                  </a:solidFill>
                                  <a:latin typeface="Cambria Math" panose="02040503050406030204" pitchFamily="18" charset="0"/>
                                </a:rPr>
                                <m:t>𝟏</m:t>
                              </m:r>
                              <m:r>
                                <a:rPr lang="en-NZ" altLang="ja-JP" sz="1600" b="1" i="1" smtClean="0">
                                  <a:solidFill>
                                    <a:srgbClr val="4472C4"/>
                                  </a:solidFill>
                                  <a:latin typeface="Cambria Math" panose="02040503050406030204" pitchFamily="18" charset="0"/>
                                </a:rPr>
                                <m:t>)</m:t>
                              </m:r>
                            </m:den>
                          </m:f>
                        </m:num>
                        <m:den>
                          <m:f>
                            <m:fPr>
                              <m:type m:val="lin"/>
                              <m:ctrlPr>
                                <a:rPr lang="en-NZ" altLang="ja-JP" sz="1600" b="1" i="1" smtClean="0">
                                  <a:solidFill>
                                    <a:srgbClr val="4472C4"/>
                                  </a:solidFill>
                                  <a:latin typeface="Cambria Math" panose="02040503050406030204" pitchFamily="18" charset="0"/>
                                </a:rPr>
                              </m:ctrlPr>
                            </m:fPr>
                            <m:num>
                              <m:r>
                                <a:rPr lang="en-NZ" altLang="ja-JP" sz="1600" b="1" i="1" smtClean="0">
                                  <a:solidFill>
                                    <a:srgbClr val="4472C4"/>
                                  </a:solidFill>
                                  <a:latin typeface="Cambria Math" panose="02040503050406030204" pitchFamily="18" charset="0"/>
                                </a:rPr>
                                <m:t>𝑺</m:t>
                              </m:r>
                              <m:sSub>
                                <m:sSubPr>
                                  <m:ctrlPr>
                                    <a:rPr lang="en-NZ" altLang="ja-JP" sz="1600" b="1" i="1" smtClean="0">
                                      <a:solidFill>
                                        <a:srgbClr val="4472C4"/>
                                      </a:solidFill>
                                      <a:latin typeface="Cambria Math" panose="02040503050406030204" pitchFamily="18" charset="0"/>
                                    </a:rPr>
                                  </m:ctrlPr>
                                </m:sSubPr>
                                <m:e>
                                  <m:r>
                                    <a:rPr lang="en-NZ" altLang="ja-JP" sz="1600" b="1" i="1" smtClean="0">
                                      <a:solidFill>
                                        <a:srgbClr val="4472C4"/>
                                      </a:solidFill>
                                      <a:latin typeface="Cambria Math" panose="02040503050406030204" pitchFamily="18" charset="0"/>
                                    </a:rPr>
                                    <m:t>𝑺</m:t>
                                  </m:r>
                                </m:e>
                                <m:sub>
                                  <m:r>
                                    <a:rPr lang="en-NZ" altLang="ja-JP" sz="1600" b="1" i="1" smtClean="0">
                                      <a:solidFill>
                                        <a:srgbClr val="4472C4"/>
                                      </a:solidFill>
                                      <a:latin typeface="Cambria Math" panose="02040503050406030204" pitchFamily="18" charset="0"/>
                                    </a:rPr>
                                    <m:t>𝑩</m:t>
                                  </m:r>
                                  <m:d>
                                    <m:dPr>
                                      <m:ctrlPr>
                                        <a:rPr lang="en-NZ" altLang="ja-JP" sz="1600" b="1" i="1" smtClean="0">
                                          <a:solidFill>
                                            <a:srgbClr val="4472C4"/>
                                          </a:solidFill>
                                          <a:latin typeface="Cambria Math" panose="02040503050406030204" pitchFamily="18" charset="0"/>
                                        </a:rPr>
                                      </m:ctrlPr>
                                    </m:dPr>
                                    <m:e>
                                      <m:r>
                                        <a:rPr lang="en-NZ" altLang="ja-JP" sz="1600" b="1" i="1" smtClean="0">
                                          <a:solidFill>
                                            <a:srgbClr val="4472C4"/>
                                          </a:solidFill>
                                          <a:latin typeface="Cambria Math" panose="02040503050406030204" pitchFamily="18" charset="0"/>
                                        </a:rPr>
                                        <m:t>𝑨</m:t>
                                      </m:r>
                                    </m:e>
                                  </m:d>
                                </m:sub>
                              </m:sSub>
                              <m:r>
                                <a:rPr lang="en-NZ" altLang="ja-JP" sz="1600" b="1" i="1" smtClean="0">
                                  <a:solidFill>
                                    <a:srgbClr val="4472C4"/>
                                  </a:solidFill>
                                  <a:latin typeface="Cambria Math" panose="02040503050406030204" pitchFamily="18" charset="0"/>
                                </a:rPr>
                                <m:t> </m:t>
                              </m:r>
                            </m:num>
                            <m:den>
                              <m:r>
                                <a:rPr lang="en-NZ" altLang="ja-JP" sz="1600" b="1" i="1" smtClean="0">
                                  <a:solidFill>
                                    <a:srgbClr val="4472C4"/>
                                  </a:solidFill>
                                  <a:latin typeface="Cambria Math" panose="02040503050406030204" pitchFamily="18" charset="0"/>
                                </a:rPr>
                                <m:t> [ </m:t>
                              </m:r>
                              <m:r>
                                <a:rPr lang="en-NZ" altLang="ja-JP" sz="1600" b="1" i="1" smtClean="0">
                                  <a:solidFill>
                                    <a:srgbClr val="4472C4"/>
                                  </a:solidFill>
                                  <a:latin typeface="Cambria Math" panose="02040503050406030204" pitchFamily="18" charset="0"/>
                                </a:rPr>
                                <m:t>𝒂</m:t>
                              </m:r>
                              <m:r>
                                <a:rPr lang="en-NZ" altLang="ja-JP" sz="1600" b="1" i="1" smtClean="0">
                                  <a:solidFill>
                                    <a:srgbClr val="4472C4"/>
                                  </a:solidFill>
                                  <a:latin typeface="Cambria Math" panose="02040503050406030204" pitchFamily="18" charset="0"/>
                                </a:rPr>
                                <m:t> </m:t>
                              </m:r>
                              <m:d>
                                <m:dPr>
                                  <m:ctrlPr>
                                    <a:rPr lang="en-NZ" altLang="ja-JP" sz="1600" b="1" i="1" smtClean="0">
                                      <a:solidFill>
                                        <a:srgbClr val="4472C4"/>
                                      </a:solidFill>
                                      <a:latin typeface="Cambria Math" panose="02040503050406030204" pitchFamily="18" charset="0"/>
                                    </a:rPr>
                                  </m:ctrlPr>
                                </m:dPr>
                                <m:e>
                                  <m:r>
                                    <a:rPr lang="en-NZ" altLang="ja-JP" sz="1600" b="1" i="1" smtClean="0">
                                      <a:solidFill>
                                        <a:srgbClr val="4472C4"/>
                                      </a:solidFill>
                                      <a:latin typeface="Cambria Math" panose="02040503050406030204" pitchFamily="18" charset="0"/>
                                    </a:rPr>
                                    <m:t>𝒃</m:t>
                                  </m:r>
                                  <m:r>
                                    <a:rPr lang="en-NZ" altLang="ja-JP" sz="1600" b="1" i="1" smtClean="0">
                                      <a:solidFill>
                                        <a:srgbClr val="4472C4"/>
                                      </a:solidFill>
                                      <a:latin typeface="Cambria Math" panose="02040503050406030204" pitchFamily="18" charset="0"/>
                                    </a:rPr>
                                    <m:t>−</m:t>
                                  </m:r>
                                  <m:r>
                                    <a:rPr lang="en-NZ" altLang="ja-JP" sz="1600" b="1" i="1" smtClean="0">
                                      <a:solidFill>
                                        <a:srgbClr val="4472C4"/>
                                      </a:solidFill>
                                      <a:latin typeface="Cambria Math" panose="02040503050406030204" pitchFamily="18" charset="0"/>
                                    </a:rPr>
                                    <m:t>𝟏</m:t>
                                  </m:r>
                                </m:e>
                              </m:d>
                              <m:r>
                                <a:rPr lang="en-NZ" altLang="ja-JP" sz="1600" b="1" i="1" smtClean="0">
                                  <a:solidFill>
                                    <a:srgbClr val="4472C4"/>
                                  </a:solidFill>
                                  <a:latin typeface="Cambria Math" panose="02040503050406030204" pitchFamily="18" charset="0"/>
                                </a:rPr>
                                <m:t> ]</m:t>
                              </m:r>
                            </m:den>
                          </m:f>
                        </m:den>
                      </m:f>
                      <m:r>
                        <a:rPr lang="en-NZ" altLang="ja-JP" sz="1600" b="1" i="1" smtClean="0">
                          <a:solidFill>
                            <a:srgbClr val="4472C4"/>
                          </a:solidFill>
                          <a:latin typeface="Cambria Math" panose="02040503050406030204" pitchFamily="18" charset="0"/>
                        </a:rPr>
                        <m:t> </m:t>
                      </m:r>
                    </m:oMath>
                  </m:oMathPara>
                </a14:m>
                <a:endParaRPr lang="en-NZ" altLang="ja-JP" sz="1600" b="1" dirty="0">
                  <a:solidFill>
                    <a:srgbClr val="4472C4"/>
                  </a:solidFill>
                </a:endParaRPr>
              </a:p>
              <a:p>
                <a:pPr algn="just">
                  <a:lnSpc>
                    <a:spcPct val="100000"/>
                  </a:lnSpc>
                </a:pPr>
                <a:endParaRPr lang="en-NZ" altLang="ja-JP" sz="1600" b="1" dirty="0">
                  <a:solidFill>
                    <a:srgbClr val="4472C4"/>
                  </a:solidFill>
                </a:endParaRPr>
              </a:p>
            </p:txBody>
          </p:sp>
        </mc:Choice>
        <mc:Fallback xmlns="">
          <p:sp>
            <p:nvSpPr>
              <p:cNvPr id="6" name="Text Placeholder 5">
                <a:extLst>
                  <a:ext uri="{FF2B5EF4-FFF2-40B4-BE49-F238E27FC236}">
                    <a16:creationId xmlns:a16="http://schemas.microsoft.com/office/drawing/2014/main" id="{99B8D40F-F2A2-337D-58FB-731E778BFC56}"/>
                  </a:ext>
                </a:extLst>
              </p:cNvPr>
              <p:cNvSpPr txBox="1">
                <a:spLocks noRot="1" noChangeAspect="1" noMove="1" noResize="1" noEditPoints="1" noAdjustHandles="1" noChangeArrowheads="1" noChangeShapeType="1" noTextEdit="1"/>
              </p:cNvSpPr>
              <p:nvPr/>
            </p:nvSpPr>
            <p:spPr>
              <a:xfrm>
                <a:off x="6509195" y="845288"/>
                <a:ext cx="4258890" cy="666627"/>
              </a:xfrm>
              <a:prstGeom prst="rect">
                <a:avLst/>
              </a:prstGeom>
              <a:blipFill>
                <a:blip r:embed="rId5"/>
                <a:stretch>
                  <a:fillRect/>
                </a:stretch>
              </a:blipFill>
            </p:spPr>
            <p:txBody>
              <a:bodyPr/>
              <a:lstStyle/>
              <a:p>
                <a:r>
                  <a:rPr lang="en-NZ">
                    <a:noFill/>
                  </a:rPr>
                  <a:t> </a:t>
                </a:r>
              </a:p>
            </p:txBody>
          </p:sp>
        </mc:Fallback>
      </mc:AlternateContent>
    </p:spTree>
    <p:extLst>
      <p:ext uri="{BB962C8B-B14F-4D97-AF65-F5344CB8AC3E}">
        <p14:creationId xmlns:p14="http://schemas.microsoft.com/office/powerpoint/2010/main" val="1881130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7"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9198FFF1-9923-7DD7-EC3E-B66DE01FE614}"/>
              </a:ext>
            </a:extLst>
          </p:cNvPr>
          <p:cNvPicPr>
            <a:picLocks noChangeAspect="1"/>
          </p:cNvPicPr>
          <p:nvPr/>
        </p:nvPicPr>
        <p:blipFill>
          <a:blip r:embed="rId2"/>
          <a:stretch>
            <a:fillRect/>
          </a:stretch>
        </p:blipFill>
        <p:spPr>
          <a:xfrm>
            <a:off x="859274" y="1991078"/>
            <a:ext cx="5012016" cy="4646903"/>
          </a:xfrm>
          <a:prstGeom prst="rect">
            <a:avLst/>
          </a:prstGeom>
        </p:spPr>
      </p:pic>
      <p:sp>
        <p:nvSpPr>
          <p:cNvPr id="10" name="Slide Number Placeholder 3">
            <a:extLst>
              <a:ext uri="{FF2B5EF4-FFF2-40B4-BE49-F238E27FC236}">
                <a16:creationId xmlns:a16="http://schemas.microsoft.com/office/drawing/2014/main" id="{B0C9041D-77F0-4656-90D4-0E84B7AC6B27}"/>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54AD89C-DF1E-4948-B597-5DD47B34A9CA}" type="slidenum">
              <a:rPr kumimoji="1" lang="ja-JP" altLang="en-US" sz="4000" b="0" i="0" u="none" strike="noStrike" kern="1200" cap="none" spc="0" normalizeH="0" baseline="0" noProof="0" smtClean="0">
                <a:ln>
                  <a:noFill/>
                </a:ln>
                <a:solidFill>
                  <a:srgbClr val="575454">
                    <a:lumMod val="20000"/>
                    <a:lumOff val="80000"/>
                  </a:srgbClr>
                </a:solidFill>
                <a:effectLst/>
                <a:uLnTx/>
                <a:uFillTx/>
                <a:latin typeface="Coo Hew"/>
                <a:ea typeface="游ゴシック" panose="020B0400000000000000"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1" lang="ja-JP" altLang="en-US" sz="4000" b="0" i="0" u="none" strike="noStrike" kern="1200" cap="none" spc="0" normalizeH="0" baseline="0" noProof="0" dirty="0">
              <a:ln>
                <a:noFill/>
              </a:ln>
              <a:solidFill>
                <a:srgbClr val="575454">
                  <a:lumMod val="20000"/>
                  <a:lumOff val="80000"/>
                </a:srgbClr>
              </a:solidFill>
              <a:effectLst/>
              <a:uLnTx/>
              <a:uFillTx/>
              <a:latin typeface="Coo Hew"/>
              <a:ea typeface="游ゴシック" panose="020B0400000000000000" pitchFamily="34" charset="-128"/>
              <a:cs typeface="+mn-cs"/>
            </a:endParaRPr>
          </a:p>
        </p:txBody>
      </p:sp>
      <p:sp>
        <p:nvSpPr>
          <p:cNvPr id="21" name="Title 6">
            <a:extLst>
              <a:ext uri="{FF2B5EF4-FFF2-40B4-BE49-F238E27FC236}">
                <a16:creationId xmlns:a16="http://schemas.microsoft.com/office/drawing/2014/main" id="{7C963C88-6E6E-2444-9663-776716CBAA9D}"/>
              </a:ext>
            </a:extLst>
          </p:cNvPr>
          <p:cNvSpPr txBox="1">
            <a:spLocks/>
          </p:cNvSpPr>
          <p:nvPr/>
        </p:nvSpPr>
        <p:spPr>
          <a:xfrm>
            <a:off x="251224" y="237833"/>
            <a:ext cx="9411391" cy="607201"/>
          </a:xfrm>
          <a:prstGeom prst="rect">
            <a:avLst/>
          </a:prstGeom>
        </p:spPr>
        <p:txBody>
          <a:bodyPr anchor="t">
            <a:normAutofit/>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pPr marL="0" marR="0" lvl="0" indent="0" algn="l" defTabSz="914324" rtl="0" eaLnBrk="1" fontAlgn="auto" latinLnBrk="0" hangingPunct="1">
              <a:lnSpc>
                <a:spcPct val="90000"/>
              </a:lnSpc>
              <a:spcBef>
                <a:spcPct val="0"/>
              </a:spcBef>
              <a:spcAft>
                <a:spcPts val="0"/>
              </a:spcAft>
              <a:buClrTx/>
              <a:buSzTx/>
              <a:buFontTx/>
              <a:buNone/>
              <a:tabLst/>
              <a:defRPr/>
            </a:pPr>
            <a:r>
              <a:rPr lang="en-US" altLang="ja-JP" b="1" u="sng" dirty="0">
                <a:solidFill>
                  <a:prstClr val="black"/>
                </a:solidFill>
                <a:latin typeface="Calibri" panose="020F0502020204030204"/>
                <a:ea typeface="游ゴシック Light" panose="020B0300000000000000" pitchFamily="34" charset="-128"/>
              </a:rPr>
              <a:t>5</a:t>
            </a:r>
            <a:r>
              <a:rPr kumimoji="1" lang="en-US" altLang="ja-JP"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rPr>
              <a:t>.3a – Drug Sourcing Example:</a:t>
            </a:r>
            <a:endParaRPr kumimoji="1" lang="ja-JP" altLang="en-US"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endParaRPr>
          </a:p>
        </p:txBody>
      </p:sp>
      <p:sp>
        <p:nvSpPr>
          <p:cNvPr id="11" name="Text Placeholder 5">
            <a:extLst>
              <a:ext uri="{FF2B5EF4-FFF2-40B4-BE49-F238E27FC236}">
                <a16:creationId xmlns:a16="http://schemas.microsoft.com/office/drawing/2014/main" id="{7B5CEE78-46DE-D327-3299-AC3CD2863429}"/>
              </a:ext>
            </a:extLst>
          </p:cNvPr>
          <p:cNvSpPr txBox="1">
            <a:spLocks/>
          </p:cNvSpPr>
          <p:nvPr/>
        </p:nvSpPr>
        <p:spPr>
          <a:xfrm>
            <a:off x="3011606" y="6520328"/>
            <a:ext cx="6168789" cy="30855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ctr">
              <a:lnSpc>
                <a:spcPct val="100000"/>
              </a:lnSpc>
            </a:pPr>
            <a:r>
              <a:rPr lang="en-US" altLang="ja-JP" sz="1200" dirty="0">
                <a:solidFill>
                  <a:srgbClr val="C00000"/>
                </a:solidFill>
              </a:rPr>
              <a:t>Associated code = </a:t>
            </a:r>
            <a:r>
              <a:rPr lang="en-NZ" altLang="ja-JP" sz="1200" dirty="0">
                <a:solidFill>
                  <a:srgbClr val="C00000"/>
                </a:solidFill>
              </a:rPr>
              <a:t>5.3 - Drug Source (Two Stage Nested Design Example)</a:t>
            </a:r>
            <a:endParaRPr lang="en-US" altLang="ja-JP" sz="1200" b="1" i="1" dirty="0">
              <a:solidFill>
                <a:srgbClr val="C00000"/>
              </a:solidFill>
            </a:endParaRPr>
          </a:p>
        </p:txBody>
      </p:sp>
      <p:sp>
        <p:nvSpPr>
          <p:cNvPr id="20" name="Text Placeholder 5">
            <a:extLst>
              <a:ext uri="{FF2B5EF4-FFF2-40B4-BE49-F238E27FC236}">
                <a16:creationId xmlns:a16="http://schemas.microsoft.com/office/drawing/2014/main" id="{40B5F946-3388-2CDF-CF32-83474F9BF913}"/>
              </a:ext>
            </a:extLst>
          </p:cNvPr>
          <p:cNvSpPr txBox="1">
            <a:spLocks/>
          </p:cNvSpPr>
          <p:nvPr/>
        </p:nvSpPr>
        <p:spPr>
          <a:xfrm>
            <a:off x="251223" y="993808"/>
            <a:ext cx="6108633" cy="504967"/>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1800" b="1" dirty="0">
                <a:solidFill>
                  <a:schemeClr val="tx1"/>
                </a:solidFill>
              </a:rPr>
              <a:t>Calculating proportion of variance using the </a:t>
            </a:r>
            <a:r>
              <a:rPr lang="en-NZ" altLang="ja-JP" sz="1800" b="1" dirty="0" err="1">
                <a:solidFill>
                  <a:schemeClr val="tx1"/>
                </a:solidFill>
              </a:rPr>
              <a:t>nlme</a:t>
            </a:r>
            <a:r>
              <a:rPr lang="en-NZ" altLang="ja-JP" sz="1800" b="1" dirty="0">
                <a:solidFill>
                  <a:schemeClr val="tx1"/>
                </a:solidFill>
              </a:rPr>
              <a:t> package </a:t>
            </a:r>
            <a:r>
              <a:rPr lang="en-NZ" altLang="ja-JP" sz="1800" dirty="0">
                <a:solidFill>
                  <a:srgbClr val="00B050"/>
                </a:solidFill>
                <a:sym typeface="Wingdings" panose="05000000000000000000" pitchFamily="2" charset="2"/>
              </a:rPr>
              <a:t></a:t>
            </a:r>
            <a:endParaRPr lang="en-NZ" altLang="ja-JP" sz="1800" b="1" dirty="0">
              <a:solidFill>
                <a:srgbClr val="0070C0"/>
              </a:solidFill>
            </a:endParaRPr>
          </a:p>
        </p:txBody>
      </p:sp>
      <mc:AlternateContent xmlns:mc="http://schemas.openxmlformats.org/markup-compatibility/2006" xmlns:a14="http://schemas.microsoft.com/office/drawing/2010/main">
        <mc:Choice Requires="a14">
          <p:sp>
            <p:nvSpPr>
              <p:cNvPr id="16" name="Text Placeholder 5">
                <a:extLst>
                  <a:ext uri="{FF2B5EF4-FFF2-40B4-BE49-F238E27FC236}">
                    <a16:creationId xmlns:a16="http://schemas.microsoft.com/office/drawing/2014/main" id="{B86FDA04-A1D0-6D42-68BE-0DC938D0B98C}"/>
                  </a:ext>
                </a:extLst>
              </p:cNvPr>
              <p:cNvSpPr txBox="1">
                <a:spLocks/>
              </p:cNvSpPr>
              <p:nvPr/>
            </p:nvSpPr>
            <p:spPr>
              <a:xfrm>
                <a:off x="7399235" y="1255595"/>
                <a:ext cx="4376234" cy="5036024"/>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285750" indent="-285750">
                  <a:lnSpc>
                    <a:spcPct val="100000"/>
                  </a:lnSpc>
                  <a:buFont typeface="Arial" panose="020B0604020202020204" pitchFamily="34" charset="0"/>
                  <a:buChar char="•"/>
                </a:pPr>
                <a14:m>
                  <m:oMath xmlns:m="http://schemas.openxmlformats.org/officeDocument/2006/math">
                    <m:sSubSup>
                      <m:sSubSupPr>
                        <m:ctrlPr>
                          <a:rPr lang="en-NZ" altLang="ja-JP" sz="1800" b="0" i="1" smtClean="0">
                            <a:solidFill>
                              <a:srgbClr val="0070C0"/>
                            </a:solidFill>
                            <a:latin typeface="Cambria Math" panose="02040503050406030204" pitchFamily="18" charset="0"/>
                          </a:rPr>
                        </m:ctrlPr>
                      </m:sSubSupPr>
                      <m:e>
                        <m:acc>
                          <m:accPr>
                            <m:chr m:val="̂"/>
                            <m:ctrlPr>
                              <a:rPr lang="en-NZ" altLang="ja-JP" sz="1800" b="0" i="1" smtClean="0">
                                <a:solidFill>
                                  <a:srgbClr val="0070C0"/>
                                </a:solidFill>
                                <a:latin typeface="Cambria Math" panose="02040503050406030204" pitchFamily="18" charset="0"/>
                              </a:rPr>
                            </m:ctrlPr>
                          </m:accPr>
                          <m:e>
                            <m:r>
                              <a:rPr lang="en-NZ" altLang="ja-JP" sz="1800" b="0" i="1" smtClean="0">
                                <a:solidFill>
                                  <a:srgbClr val="0070C0"/>
                                </a:solidFill>
                                <a:latin typeface="Cambria Math" panose="02040503050406030204" pitchFamily="18" charset="0"/>
                              </a:rPr>
                              <m:t>𝜎</m:t>
                            </m:r>
                          </m:e>
                        </m:acc>
                      </m:e>
                      <m:sub>
                        <m:r>
                          <a:rPr lang="en-NZ" altLang="ja-JP" sz="1800" b="0" i="1" smtClean="0">
                            <a:solidFill>
                              <a:srgbClr val="0070C0"/>
                            </a:solidFill>
                            <a:latin typeface="Cambria Math" panose="02040503050406030204" pitchFamily="18" charset="0"/>
                          </a:rPr>
                          <m:t>𝐵</m:t>
                        </m:r>
                      </m:sub>
                      <m:sup>
                        <m:r>
                          <a:rPr lang="en-NZ" altLang="ja-JP" sz="1800" b="0" i="1" smtClean="0">
                            <a:solidFill>
                              <a:srgbClr val="0070C0"/>
                            </a:solidFill>
                            <a:latin typeface="Cambria Math" panose="02040503050406030204" pitchFamily="18" charset="0"/>
                          </a:rPr>
                          <m:t>2</m:t>
                        </m:r>
                      </m:sup>
                    </m:sSubSup>
                    <m:r>
                      <a:rPr lang="en-NZ" altLang="ja-JP" sz="1800" b="0" i="1" smtClean="0">
                        <a:solidFill>
                          <a:srgbClr val="0070C0"/>
                        </a:solidFill>
                        <a:latin typeface="Cambria Math" panose="02040503050406030204" pitchFamily="18" charset="0"/>
                      </a:rPr>
                      <m:t>=  </m:t>
                    </m:r>
                    <m:sSup>
                      <m:sSupPr>
                        <m:ctrlPr>
                          <a:rPr lang="en-NZ" altLang="ja-JP" sz="1800" b="0" i="1" smtClean="0">
                            <a:solidFill>
                              <a:srgbClr val="0070C0"/>
                            </a:solidFill>
                            <a:latin typeface="Cambria Math" panose="02040503050406030204" pitchFamily="18" charset="0"/>
                          </a:rPr>
                        </m:ctrlPr>
                      </m:sSupPr>
                      <m:e>
                        <m:r>
                          <a:rPr lang="en-NZ" altLang="ja-JP" sz="1800" b="0" i="1" smtClean="0">
                            <a:solidFill>
                              <a:srgbClr val="0070C0"/>
                            </a:solidFill>
                            <a:latin typeface="Cambria Math" panose="02040503050406030204" pitchFamily="18" charset="0"/>
                          </a:rPr>
                          <m:t>5.27952</m:t>
                        </m:r>
                      </m:e>
                      <m:sup>
                        <m:r>
                          <a:rPr lang="en-NZ" altLang="ja-JP" sz="1800" b="0" i="1" smtClean="0">
                            <a:solidFill>
                              <a:srgbClr val="0070C0"/>
                            </a:solidFill>
                            <a:latin typeface="Cambria Math" panose="02040503050406030204" pitchFamily="18" charset="0"/>
                          </a:rPr>
                          <m:t>2</m:t>
                        </m:r>
                      </m:sup>
                    </m:sSup>
                    <m:r>
                      <a:rPr lang="en-NZ" altLang="ja-JP" sz="1800" b="0" i="1" smtClean="0">
                        <a:solidFill>
                          <a:srgbClr val="0070C0"/>
                        </a:solidFill>
                        <a:latin typeface="Cambria Math" panose="02040503050406030204" pitchFamily="18" charset="0"/>
                      </a:rPr>
                      <m:t>=27.87</m:t>
                    </m:r>
                  </m:oMath>
                </a14:m>
                <a:endParaRPr lang="en-NZ" altLang="ja-JP" sz="1800" b="0" i="1" dirty="0">
                  <a:solidFill>
                    <a:srgbClr val="0070C0"/>
                  </a:solidFill>
                  <a:latin typeface="Cambria Math" panose="02040503050406030204" pitchFamily="18" charset="0"/>
                </a:endParaRPr>
              </a:p>
              <a:p>
                <a:pPr marL="285750" indent="-285750">
                  <a:lnSpc>
                    <a:spcPct val="100000"/>
                  </a:lnSpc>
                  <a:buFont typeface="Arial" panose="020B0604020202020204" pitchFamily="34" charset="0"/>
                  <a:buChar char="•"/>
                </a:pPr>
                <a:endParaRPr lang="en-NZ" altLang="ja-JP" sz="1800" b="0" i="1" dirty="0">
                  <a:solidFill>
                    <a:srgbClr val="0070C0"/>
                  </a:solidFill>
                  <a:latin typeface="Cambria Math" panose="02040503050406030204" pitchFamily="18" charset="0"/>
                </a:endParaRPr>
              </a:p>
              <a:p>
                <a:pPr marL="285750" indent="-285750">
                  <a:lnSpc>
                    <a:spcPct val="100000"/>
                  </a:lnSpc>
                  <a:buFont typeface="Arial" panose="020B0604020202020204" pitchFamily="34" charset="0"/>
                  <a:buChar char="•"/>
                </a:pPr>
                <a:endParaRPr lang="en-NZ" altLang="ja-JP" sz="1800" i="1" dirty="0">
                  <a:solidFill>
                    <a:srgbClr val="0070C0"/>
                  </a:solidFill>
                  <a:latin typeface="Cambria Math" panose="02040503050406030204" pitchFamily="18" charset="0"/>
                </a:endParaRPr>
              </a:p>
              <a:p>
                <a:pPr marL="285750" indent="-285750">
                  <a:lnSpc>
                    <a:spcPct val="100000"/>
                  </a:lnSpc>
                  <a:buFont typeface="Arial" panose="020B0604020202020204" pitchFamily="34" charset="0"/>
                  <a:buChar char="•"/>
                </a:pPr>
                <a14:m>
                  <m:oMath xmlns:m="http://schemas.openxmlformats.org/officeDocument/2006/math">
                    <m:sSup>
                      <m:sSupPr>
                        <m:ctrlPr>
                          <a:rPr lang="en-NZ" altLang="ja-JP" sz="1800" b="0" i="1" smtClean="0">
                            <a:solidFill>
                              <a:srgbClr val="0070C0"/>
                            </a:solidFill>
                            <a:latin typeface="Cambria Math" panose="02040503050406030204" pitchFamily="18" charset="0"/>
                          </a:rPr>
                        </m:ctrlPr>
                      </m:sSupPr>
                      <m:e>
                        <m:acc>
                          <m:accPr>
                            <m:chr m:val="̂"/>
                            <m:ctrlPr>
                              <a:rPr lang="en-NZ" altLang="ja-JP" sz="1800" b="0" i="1" smtClean="0">
                                <a:solidFill>
                                  <a:srgbClr val="0070C0"/>
                                </a:solidFill>
                                <a:latin typeface="Cambria Math" panose="02040503050406030204" pitchFamily="18" charset="0"/>
                              </a:rPr>
                            </m:ctrlPr>
                          </m:accPr>
                          <m:e>
                            <m:r>
                              <a:rPr lang="en-NZ" altLang="ja-JP" sz="1800" b="0" i="1" smtClean="0">
                                <a:solidFill>
                                  <a:srgbClr val="0070C0"/>
                                </a:solidFill>
                                <a:latin typeface="Cambria Math" panose="02040503050406030204" pitchFamily="18" charset="0"/>
                              </a:rPr>
                              <m:t>𝜎</m:t>
                            </m:r>
                          </m:e>
                        </m:acc>
                      </m:e>
                      <m:sup>
                        <m:r>
                          <a:rPr lang="en-NZ" altLang="ja-JP" sz="1800" b="0" i="1" smtClean="0">
                            <a:solidFill>
                              <a:srgbClr val="0070C0"/>
                            </a:solidFill>
                            <a:latin typeface="Cambria Math" panose="02040503050406030204" pitchFamily="18" charset="0"/>
                          </a:rPr>
                          <m:t>2</m:t>
                        </m:r>
                      </m:sup>
                    </m:sSup>
                    <m:r>
                      <a:rPr lang="en-NZ" altLang="ja-JP" sz="1800" b="0" i="1" smtClean="0">
                        <a:solidFill>
                          <a:srgbClr val="0070C0"/>
                        </a:solidFill>
                        <a:latin typeface="Cambria Math" panose="02040503050406030204" pitchFamily="18" charset="0"/>
                      </a:rPr>
                      <m:t>=</m:t>
                    </m:r>
                    <m:sSup>
                      <m:sSupPr>
                        <m:ctrlPr>
                          <a:rPr lang="en-NZ" altLang="ja-JP" sz="1800" b="0" i="1" smtClean="0">
                            <a:solidFill>
                              <a:srgbClr val="0070C0"/>
                            </a:solidFill>
                            <a:latin typeface="Cambria Math" panose="02040503050406030204" pitchFamily="18" charset="0"/>
                          </a:rPr>
                        </m:ctrlPr>
                      </m:sSupPr>
                      <m:e>
                        <m:r>
                          <a:rPr lang="en-NZ" altLang="ja-JP" sz="1800" b="0" i="1" smtClean="0">
                            <a:solidFill>
                              <a:srgbClr val="0070C0"/>
                            </a:solidFill>
                            <a:latin typeface="Cambria Math" panose="02040503050406030204" pitchFamily="18" charset="0"/>
                          </a:rPr>
                          <m:t>6.473021</m:t>
                        </m:r>
                      </m:e>
                      <m:sup>
                        <m:r>
                          <a:rPr lang="en-NZ" altLang="ja-JP" sz="1800" b="0" i="1" smtClean="0">
                            <a:solidFill>
                              <a:srgbClr val="0070C0"/>
                            </a:solidFill>
                            <a:latin typeface="Cambria Math" panose="02040503050406030204" pitchFamily="18" charset="0"/>
                          </a:rPr>
                          <m:t>2</m:t>
                        </m:r>
                      </m:sup>
                    </m:sSup>
                    <m:r>
                      <a:rPr lang="en-NZ" altLang="ja-JP" sz="1800" b="0" i="1" smtClean="0">
                        <a:solidFill>
                          <a:srgbClr val="0070C0"/>
                        </a:solidFill>
                        <a:latin typeface="Cambria Math" panose="02040503050406030204" pitchFamily="18" charset="0"/>
                      </a:rPr>
                      <m:t>=41.9</m:t>
                    </m:r>
                  </m:oMath>
                </a14:m>
                <a:r>
                  <a:rPr lang="en-NZ" altLang="ja-JP" sz="1800" b="0" dirty="0">
                    <a:solidFill>
                      <a:srgbClr val="0070C0"/>
                    </a:solidFill>
                  </a:rPr>
                  <a:t>0</a:t>
                </a:r>
              </a:p>
              <a:p>
                <a:pPr marL="285750" indent="-285750">
                  <a:lnSpc>
                    <a:spcPct val="100000"/>
                  </a:lnSpc>
                  <a:buFont typeface="Arial" panose="020B0604020202020204" pitchFamily="34" charset="0"/>
                  <a:buChar char="•"/>
                </a:pPr>
                <a:endParaRPr lang="en-NZ" altLang="ja-JP" sz="1800" dirty="0">
                  <a:solidFill>
                    <a:srgbClr val="0070C0"/>
                  </a:solidFill>
                </a:endParaRPr>
              </a:p>
              <a:p>
                <a:pPr marL="285750" indent="-285750">
                  <a:lnSpc>
                    <a:spcPct val="100000"/>
                  </a:lnSpc>
                  <a:buFont typeface="Arial" panose="020B0604020202020204" pitchFamily="34" charset="0"/>
                  <a:buChar char="•"/>
                </a:pPr>
                <a:endParaRPr lang="en-NZ" altLang="ja-JP" sz="1800" dirty="0">
                  <a:solidFill>
                    <a:srgbClr val="0070C0"/>
                  </a:solidFill>
                </a:endParaRPr>
              </a:p>
              <a:p>
                <a:pPr marL="285750" indent="-285750">
                  <a:lnSpc>
                    <a:spcPct val="100000"/>
                  </a:lnSpc>
                  <a:buFont typeface="Arial" panose="020B0604020202020204" pitchFamily="34" charset="0"/>
                  <a:buChar char="•"/>
                </a:pPr>
                <a:r>
                  <a:rPr lang="en-NZ" altLang="ja-JP" sz="1800" dirty="0">
                    <a:solidFill>
                      <a:srgbClr val="0070C0"/>
                    </a:solidFill>
                  </a:rPr>
                  <a:t>% of variation (after allowing for Drug) due to Supplier </a:t>
                </a:r>
              </a:p>
              <a:p>
                <a:pPr algn="ctr">
                  <a:lnSpc>
                    <a:spcPct val="100000"/>
                  </a:lnSpc>
                </a:pPr>
                <a:r>
                  <a:rPr lang="en-NZ" altLang="ja-JP" sz="1800" b="1" i="1" dirty="0">
                    <a:solidFill>
                      <a:srgbClr val="0070C0"/>
                    </a:solidFill>
                  </a:rPr>
                  <a:t> </a:t>
                </a:r>
                <a14:m>
                  <m:oMath xmlns:m="http://schemas.openxmlformats.org/officeDocument/2006/math">
                    <m:f>
                      <m:fPr>
                        <m:ctrlPr>
                          <a:rPr lang="en-NZ" altLang="ja-JP" sz="1800" b="1" i="1">
                            <a:solidFill>
                              <a:srgbClr val="0070C0"/>
                            </a:solidFill>
                            <a:latin typeface="Cambria Math" panose="02040503050406030204" pitchFamily="18" charset="0"/>
                          </a:rPr>
                        </m:ctrlPr>
                      </m:fPr>
                      <m:num>
                        <m:sSubSup>
                          <m:sSubSupPr>
                            <m:ctrlPr>
                              <a:rPr lang="en-NZ" altLang="ja-JP" sz="1800" b="1" i="1">
                                <a:solidFill>
                                  <a:srgbClr val="0070C0"/>
                                </a:solidFill>
                                <a:latin typeface="Cambria Math" panose="02040503050406030204" pitchFamily="18" charset="0"/>
                              </a:rPr>
                            </m:ctrlPr>
                          </m:sSubSupPr>
                          <m:e>
                            <m:acc>
                              <m:accPr>
                                <m:chr m:val="̂"/>
                                <m:ctrlPr>
                                  <a:rPr lang="en-NZ" altLang="ja-JP" sz="1800" b="1" i="1">
                                    <a:solidFill>
                                      <a:srgbClr val="0070C0"/>
                                    </a:solidFill>
                                    <a:latin typeface="Cambria Math" panose="02040503050406030204" pitchFamily="18" charset="0"/>
                                  </a:rPr>
                                </m:ctrlPr>
                              </m:accPr>
                              <m:e>
                                <m:r>
                                  <a:rPr lang="en-NZ" altLang="ja-JP" sz="1800" b="1" i="1">
                                    <a:solidFill>
                                      <a:srgbClr val="0070C0"/>
                                    </a:solidFill>
                                    <a:latin typeface="Cambria Math" panose="02040503050406030204" pitchFamily="18" charset="0"/>
                                  </a:rPr>
                                  <m:t>𝝈</m:t>
                                </m:r>
                              </m:e>
                            </m:acc>
                          </m:e>
                          <m:sub>
                            <m:r>
                              <a:rPr lang="en-NZ" altLang="ja-JP" sz="1800" b="1" i="1">
                                <a:solidFill>
                                  <a:srgbClr val="0070C0"/>
                                </a:solidFill>
                                <a:latin typeface="Cambria Math" panose="02040503050406030204" pitchFamily="18" charset="0"/>
                              </a:rPr>
                              <m:t>𝑩</m:t>
                            </m:r>
                          </m:sub>
                          <m:sup>
                            <m:r>
                              <a:rPr lang="en-NZ" altLang="ja-JP" sz="1800" b="1" i="1">
                                <a:solidFill>
                                  <a:srgbClr val="0070C0"/>
                                </a:solidFill>
                                <a:latin typeface="Cambria Math" panose="02040503050406030204" pitchFamily="18" charset="0"/>
                              </a:rPr>
                              <m:t>𝟐</m:t>
                            </m:r>
                          </m:sup>
                        </m:sSubSup>
                      </m:num>
                      <m:den>
                        <m:sSubSup>
                          <m:sSubSupPr>
                            <m:ctrlPr>
                              <a:rPr lang="en-NZ" altLang="ja-JP" sz="1800" b="1" i="1">
                                <a:solidFill>
                                  <a:srgbClr val="0070C0"/>
                                </a:solidFill>
                                <a:latin typeface="Cambria Math" panose="02040503050406030204" pitchFamily="18" charset="0"/>
                              </a:rPr>
                            </m:ctrlPr>
                          </m:sSubSupPr>
                          <m:e>
                            <m:acc>
                              <m:accPr>
                                <m:chr m:val="̂"/>
                                <m:ctrlPr>
                                  <a:rPr lang="en-NZ" altLang="ja-JP" sz="1800" b="1" i="1">
                                    <a:solidFill>
                                      <a:srgbClr val="0070C0"/>
                                    </a:solidFill>
                                    <a:latin typeface="Cambria Math" panose="02040503050406030204" pitchFamily="18" charset="0"/>
                                  </a:rPr>
                                </m:ctrlPr>
                              </m:accPr>
                              <m:e>
                                <m:r>
                                  <a:rPr lang="en-NZ" altLang="ja-JP" sz="1800" b="1" i="1">
                                    <a:solidFill>
                                      <a:srgbClr val="0070C0"/>
                                    </a:solidFill>
                                    <a:latin typeface="Cambria Math" panose="02040503050406030204" pitchFamily="18" charset="0"/>
                                  </a:rPr>
                                  <m:t>𝝈</m:t>
                                </m:r>
                              </m:e>
                            </m:acc>
                          </m:e>
                          <m:sub>
                            <m:r>
                              <a:rPr lang="en-NZ" altLang="ja-JP" sz="1800" b="1" i="1">
                                <a:solidFill>
                                  <a:srgbClr val="0070C0"/>
                                </a:solidFill>
                                <a:latin typeface="Cambria Math" panose="02040503050406030204" pitchFamily="18" charset="0"/>
                              </a:rPr>
                              <m:t>𝑩</m:t>
                            </m:r>
                          </m:sub>
                          <m:sup>
                            <m:r>
                              <a:rPr lang="en-NZ" altLang="ja-JP" sz="1800" b="1" i="1">
                                <a:solidFill>
                                  <a:srgbClr val="0070C0"/>
                                </a:solidFill>
                                <a:latin typeface="Cambria Math" panose="02040503050406030204" pitchFamily="18" charset="0"/>
                              </a:rPr>
                              <m:t>𝟐</m:t>
                            </m:r>
                          </m:sup>
                        </m:sSubSup>
                        <m:r>
                          <a:rPr lang="en-NZ" altLang="ja-JP" sz="1800" b="1" i="1">
                            <a:solidFill>
                              <a:srgbClr val="0070C0"/>
                            </a:solidFill>
                            <a:latin typeface="Cambria Math" panose="02040503050406030204" pitchFamily="18" charset="0"/>
                          </a:rPr>
                          <m:t> +  </m:t>
                        </m:r>
                        <m:sSup>
                          <m:sSupPr>
                            <m:ctrlPr>
                              <a:rPr lang="en-NZ" altLang="ja-JP" sz="1800" b="1" i="1">
                                <a:solidFill>
                                  <a:srgbClr val="0070C0"/>
                                </a:solidFill>
                                <a:latin typeface="Cambria Math" panose="02040503050406030204" pitchFamily="18" charset="0"/>
                              </a:rPr>
                            </m:ctrlPr>
                          </m:sSupPr>
                          <m:e>
                            <m:acc>
                              <m:accPr>
                                <m:chr m:val="̂"/>
                                <m:ctrlPr>
                                  <a:rPr lang="en-NZ" altLang="ja-JP" sz="1800" b="1" i="1">
                                    <a:solidFill>
                                      <a:srgbClr val="0070C0"/>
                                    </a:solidFill>
                                    <a:latin typeface="Cambria Math" panose="02040503050406030204" pitchFamily="18" charset="0"/>
                                  </a:rPr>
                                </m:ctrlPr>
                              </m:accPr>
                              <m:e>
                                <m:r>
                                  <a:rPr lang="en-NZ" altLang="ja-JP" sz="1800" b="1" i="1">
                                    <a:solidFill>
                                      <a:srgbClr val="0070C0"/>
                                    </a:solidFill>
                                    <a:latin typeface="Cambria Math" panose="02040503050406030204" pitchFamily="18" charset="0"/>
                                  </a:rPr>
                                  <m:t>𝝈</m:t>
                                </m:r>
                              </m:e>
                            </m:acc>
                          </m:e>
                          <m:sup>
                            <m:r>
                              <a:rPr lang="en-NZ" altLang="ja-JP" sz="1800" b="1" i="1">
                                <a:solidFill>
                                  <a:srgbClr val="0070C0"/>
                                </a:solidFill>
                                <a:latin typeface="Cambria Math" panose="02040503050406030204" pitchFamily="18" charset="0"/>
                              </a:rPr>
                              <m:t>𝟐</m:t>
                            </m:r>
                          </m:sup>
                        </m:sSup>
                      </m:den>
                    </m:f>
                    <m:r>
                      <a:rPr lang="en-NZ" altLang="ja-JP" sz="1800" b="1" i="1">
                        <a:solidFill>
                          <a:srgbClr val="0070C0"/>
                        </a:solidFill>
                        <a:latin typeface="Cambria Math" panose="02040503050406030204" pitchFamily="18" charset="0"/>
                      </a:rPr>
                      <m:t> </m:t>
                    </m:r>
                    <m:r>
                      <a:rPr lang="en-NZ" altLang="ja-JP" sz="1800" b="1" i="1" smtClean="0">
                        <a:solidFill>
                          <a:srgbClr val="0070C0"/>
                        </a:solidFill>
                        <a:latin typeface="Cambria Math" panose="02040503050406030204" pitchFamily="18" charset="0"/>
                      </a:rPr>
                      <m:t> </m:t>
                    </m:r>
                    <m:r>
                      <a:rPr lang="en-NZ" altLang="ja-JP" sz="1800" b="1" i="1">
                        <a:solidFill>
                          <a:srgbClr val="0070C0"/>
                        </a:solidFill>
                        <a:latin typeface="Cambria Math" panose="02040503050406030204" pitchFamily="18" charset="0"/>
                      </a:rPr>
                      <m:t>=</m:t>
                    </m:r>
                    <m:r>
                      <a:rPr lang="en-NZ" altLang="ja-JP" sz="1800" b="1" i="1" smtClean="0">
                        <a:solidFill>
                          <a:srgbClr val="0070C0"/>
                        </a:solidFill>
                        <a:latin typeface="Cambria Math" panose="02040503050406030204" pitchFamily="18" charset="0"/>
                      </a:rPr>
                      <m:t> </m:t>
                    </m:r>
                    <m:f>
                      <m:fPr>
                        <m:ctrlPr>
                          <a:rPr lang="en-NZ" altLang="ja-JP" sz="1800" i="1" smtClean="0">
                            <a:solidFill>
                              <a:srgbClr val="0070C0"/>
                            </a:solidFill>
                            <a:latin typeface="Cambria Math" panose="02040503050406030204" pitchFamily="18" charset="0"/>
                          </a:rPr>
                        </m:ctrlPr>
                      </m:fPr>
                      <m:num>
                        <m:r>
                          <a:rPr lang="en-NZ" altLang="ja-JP" sz="1800" b="0" i="1" smtClean="0">
                            <a:solidFill>
                              <a:srgbClr val="0070C0"/>
                            </a:solidFill>
                            <a:latin typeface="Cambria Math" panose="02040503050406030204" pitchFamily="18" charset="0"/>
                          </a:rPr>
                          <m:t>27.87</m:t>
                        </m:r>
                      </m:num>
                      <m:den>
                        <m:r>
                          <a:rPr lang="en-NZ" altLang="ja-JP" sz="1800" b="0" i="1" smtClean="0">
                            <a:solidFill>
                              <a:srgbClr val="0070C0"/>
                            </a:solidFill>
                            <a:latin typeface="Cambria Math" panose="02040503050406030204" pitchFamily="18" charset="0"/>
                          </a:rPr>
                          <m:t>27.87 + 41.90</m:t>
                        </m:r>
                      </m:den>
                    </m:f>
                    <m:r>
                      <a:rPr lang="en-NZ" altLang="ja-JP" sz="1800" b="0" i="1" smtClean="0">
                        <a:solidFill>
                          <a:srgbClr val="0070C0"/>
                        </a:solidFill>
                        <a:latin typeface="Cambria Math" panose="02040503050406030204" pitchFamily="18" charset="0"/>
                      </a:rPr>
                      <m:t> = </m:t>
                    </m:r>
                    <m:r>
                      <a:rPr lang="en-NZ" altLang="ja-JP" sz="1800" b="0" i="1">
                        <a:solidFill>
                          <a:srgbClr val="0070C0"/>
                        </a:solidFill>
                        <a:latin typeface="Cambria Math" panose="02040503050406030204" pitchFamily="18" charset="0"/>
                      </a:rPr>
                      <m:t>  39.9%</m:t>
                    </m:r>
                  </m:oMath>
                </a14:m>
                <a:endParaRPr lang="en-NZ" altLang="ja-JP" sz="1800" dirty="0">
                  <a:solidFill>
                    <a:srgbClr val="0070C0"/>
                  </a:solidFill>
                </a:endParaRPr>
              </a:p>
              <a:p>
                <a:pPr algn="ctr">
                  <a:lnSpc>
                    <a:spcPct val="100000"/>
                  </a:lnSpc>
                </a:pPr>
                <a:endParaRPr lang="en-NZ" altLang="ja-JP" sz="1800" dirty="0">
                  <a:solidFill>
                    <a:srgbClr val="0070C0"/>
                  </a:solidFill>
                </a:endParaRPr>
              </a:p>
              <a:p>
                <a:pPr algn="ctr">
                  <a:lnSpc>
                    <a:spcPct val="100000"/>
                  </a:lnSpc>
                </a:pPr>
                <a:endParaRPr lang="en-NZ" altLang="ja-JP" sz="1800" dirty="0">
                  <a:solidFill>
                    <a:srgbClr val="0070C0"/>
                  </a:solidFill>
                </a:endParaRPr>
              </a:p>
              <a:p>
                <a:pPr marL="285750" indent="-285750">
                  <a:lnSpc>
                    <a:spcPct val="100000"/>
                  </a:lnSpc>
                  <a:buFont typeface="Arial" panose="020B0604020202020204" pitchFamily="34" charset="0"/>
                  <a:buChar char="•"/>
                </a:pPr>
                <a:r>
                  <a:rPr lang="en-NZ" altLang="ja-JP" sz="1800" dirty="0">
                    <a:solidFill>
                      <a:srgbClr val="0070C0"/>
                    </a:solidFill>
                  </a:rPr>
                  <a:t>% of variation (after allowing for Drug) due to unexplained residual variation</a:t>
                </a:r>
              </a:p>
              <a:p>
                <a:pPr algn="ctr">
                  <a:lnSpc>
                    <a:spcPct val="100000"/>
                  </a:lnSpc>
                </a:pPr>
                <a:r>
                  <a:rPr lang="en-NZ" altLang="ja-JP" sz="1800" b="1" i="1" dirty="0">
                    <a:solidFill>
                      <a:srgbClr val="0070C0"/>
                    </a:solidFill>
                  </a:rPr>
                  <a:t> </a:t>
                </a:r>
                <a14:m>
                  <m:oMath xmlns:m="http://schemas.openxmlformats.org/officeDocument/2006/math">
                    <m:f>
                      <m:fPr>
                        <m:ctrlPr>
                          <a:rPr lang="en-NZ" altLang="ja-JP" sz="1800" b="1" i="1">
                            <a:solidFill>
                              <a:srgbClr val="0070C0"/>
                            </a:solidFill>
                            <a:latin typeface="Cambria Math" panose="02040503050406030204" pitchFamily="18" charset="0"/>
                          </a:rPr>
                        </m:ctrlPr>
                      </m:fPr>
                      <m:num>
                        <m:sSup>
                          <m:sSupPr>
                            <m:ctrlPr>
                              <a:rPr lang="en-NZ" altLang="ja-JP" sz="1800" b="1" i="1">
                                <a:solidFill>
                                  <a:srgbClr val="0070C0"/>
                                </a:solidFill>
                                <a:latin typeface="Cambria Math" panose="02040503050406030204" pitchFamily="18" charset="0"/>
                              </a:rPr>
                            </m:ctrlPr>
                          </m:sSupPr>
                          <m:e>
                            <m:acc>
                              <m:accPr>
                                <m:chr m:val="̂"/>
                                <m:ctrlPr>
                                  <a:rPr lang="en-NZ" altLang="ja-JP" sz="1800" b="1" i="1">
                                    <a:solidFill>
                                      <a:srgbClr val="0070C0"/>
                                    </a:solidFill>
                                    <a:latin typeface="Cambria Math" panose="02040503050406030204" pitchFamily="18" charset="0"/>
                                  </a:rPr>
                                </m:ctrlPr>
                              </m:accPr>
                              <m:e>
                                <m:r>
                                  <a:rPr lang="en-NZ" altLang="ja-JP" sz="1800" b="1" i="1">
                                    <a:solidFill>
                                      <a:srgbClr val="0070C0"/>
                                    </a:solidFill>
                                    <a:latin typeface="Cambria Math" panose="02040503050406030204" pitchFamily="18" charset="0"/>
                                  </a:rPr>
                                  <m:t>𝝈</m:t>
                                </m:r>
                              </m:e>
                            </m:acc>
                          </m:e>
                          <m:sup>
                            <m:r>
                              <a:rPr lang="en-NZ" altLang="ja-JP" sz="1800" b="1" i="1">
                                <a:solidFill>
                                  <a:srgbClr val="0070C0"/>
                                </a:solidFill>
                                <a:latin typeface="Cambria Math" panose="02040503050406030204" pitchFamily="18" charset="0"/>
                              </a:rPr>
                              <m:t>𝟐</m:t>
                            </m:r>
                          </m:sup>
                        </m:sSup>
                      </m:num>
                      <m:den>
                        <m:sSubSup>
                          <m:sSubSupPr>
                            <m:ctrlPr>
                              <a:rPr lang="en-NZ" altLang="ja-JP" sz="1800" b="1" i="1">
                                <a:solidFill>
                                  <a:srgbClr val="0070C0"/>
                                </a:solidFill>
                                <a:latin typeface="Cambria Math" panose="02040503050406030204" pitchFamily="18" charset="0"/>
                              </a:rPr>
                            </m:ctrlPr>
                          </m:sSubSupPr>
                          <m:e>
                            <m:acc>
                              <m:accPr>
                                <m:chr m:val="̂"/>
                                <m:ctrlPr>
                                  <a:rPr lang="en-NZ" altLang="ja-JP" sz="1800" b="1" i="1">
                                    <a:solidFill>
                                      <a:srgbClr val="0070C0"/>
                                    </a:solidFill>
                                    <a:latin typeface="Cambria Math" panose="02040503050406030204" pitchFamily="18" charset="0"/>
                                  </a:rPr>
                                </m:ctrlPr>
                              </m:accPr>
                              <m:e>
                                <m:r>
                                  <a:rPr lang="en-NZ" altLang="ja-JP" sz="1800" b="1" i="1">
                                    <a:solidFill>
                                      <a:srgbClr val="0070C0"/>
                                    </a:solidFill>
                                    <a:latin typeface="Cambria Math" panose="02040503050406030204" pitchFamily="18" charset="0"/>
                                  </a:rPr>
                                  <m:t>𝝈</m:t>
                                </m:r>
                              </m:e>
                            </m:acc>
                          </m:e>
                          <m:sub>
                            <m:r>
                              <a:rPr lang="en-NZ" altLang="ja-JP" sz="1800" b="1" i="1">
                                <a:solidFill>
                                  <a:srgbClr val="0070C0"/>
                                </a:solidFill>
                                <a:latin typeface="Cambria Math" panose="02040503050406030204" pitchFamily="18" charset="0"/>
                              </a:rPr>
                              <m:t>𝑩</m:t>
                            </m:r>
                          </m:sub>
                          <m:sup>
                            <m:r>
                              <a:rPr lang="en-NZ" altLang="ja-JP" sz="1800" b="1" i="1">
                                <a:solidFill>
                                  <a:srgbClr val="0070C0"/>
                                </a:solidFill>
                                <a:latin typeface="Cambria Math" panose="02040503050406030204" pitchFamily="18" charset="0"/>
                              </a:rPr>
                              <m:t>𝟐</m:t>
                            </m:r>
                          </m:sup>
                        </m:sSubSup>
                        <m:r>
                          <a:rPr lang="en-NZ" altLang="ja-JP" sz="1800" b="1" i="1">
                            <a:solidFill>
                              <a:srgbClr val="0070C0"/>
                            </a:solidFill>
                            <a:latin typeface="Cambria Math" panose="02040503050406030204" pitchFamily="18" charset="0"/>
                          </a:rPr>
                          <m:t> +  </m:t>
                        </m:r>
                        <m:sSup>
                          <m:sSupPr>
                            <m:ctrlPr>
                              <a:rPr lang="en-NZ" altLang="ja-JP" sz="1800" b="1" i="1">
                                <a:solidFill>
                                  <a:srgbClr val="0070C0"/>
                                </a:solidFill>
                                <a:latin typeface="Cambria Math" panose="02040503050406030204" pitchFamily="18" charset="0"/>
                              </a:rPr>
                            </m:ctrlPr>
                          </m:sSupPr>
                          <m:e>
                            <m:acc>
                              <m:accPr>
                                <m:chr m:val="̂"/>
                                <m:ctrlPr>
                                  <a:rPr lang="en-NZ" altLang="ja-JP" sz="1800" b="1" i="1">
                                    <a:solidFill>
                                      <a:srgbClr val="0070C0"/>
                                    </a:solidFill>
                                    <a:latin typeface="Cambria Math" panose="02040503050406030204" pitchFamily="18" charset="0"/>
                                  </a:rPr>
                                </m:ctrlPr>
                              </m:accPr>
                              <m:e>
                                <m:r>
                                  <a:rPr lang="en-NZ" altLang="ja-JP" sz="1800" b="1" i="1">
                                    <a:solidFill>
                                      <a:srgbClr val="0070C0"/>
                                    </a:solidFill>
                                    <a:latin typeface="Cambria Math" panose="02040503050406030204" pitchFamily="18" charset="0"/>
                                  </a:rPr>
                                  <m:t>𝝈</m:t>
                                </m:r>
                              </m:e>
                            </m:acc>
                          </m:e>
                          <m:sup>
                            <m:r>
                              <a:rPr lang="en-NZ" altLang="ja-JP" sz="1800" b="1" i="1">
                                <a:solidFill>
                                  <a:srgbClr val="0070C0"/>
                                </a:solidFill>
                                <a:latin typeface="Cambria Math" panose="02040503050406030204" pitchFamily="18" charset="0"/>
                              </a:rPr>
                              <m:t>𝟐</m:t>
                            </m:r>
                          </m:sup>
                        </m:sSup>
                      </m:den>
                    </m:f>
                    <m:r>
                      <a:rPr lang="en-NZ" altLang="ja-JP" sz="1800" b="1" i="1">
                        <a:solidFill>
                          <a:srgbClr val="0070C0"/>
                        </a:solidFill>
                        <a:latin typeface="Cambria Math" panose="02040503050406030204" pitchFamily="18" charset="0"/>
                      </a:rPr>
                      <m:t>  = </m:t>
                    </m:r>
                    <m:f>
                      <m:fPr>
                        <m:ctrlPr>
                          <a:rPr lang="en-NZ" altLang="ja-JP" sz="1800" i="1">
                            <a:solidFill>
                              <a:srgbClr val="0070C0"/>
                            </a:solidFill>
                            <a:latin typeface="Cambria Math" panose="02040503050406030204" pitchFamily="18" charset="0"/>
                          </a:rPr>
                        </m:ctrlPr>
                      </m:fPr>
                      <m:num>
                        <m:r>
                          <a:rPr lang="en-NZ" altLang="ja-JP" sz="1800" b="0" i="1" smtClean="0">
                            <a:solidFill>
                              <a:srgbClr val="0070C0"/>
                            </a:solidFill>
                            <a:latin typeface="Cambria Math" panose="02040503050406030204" pitchFamily="18" charset="0"/>
                          </a:rPr>
                          <m:t>41.90</m:t>
                        </m:r>
                      </m:num>
                      <m:den>
                        <m:r>
                          <a:rPr lang="en-NZ" altLang="ja-JP" sz="1800" i="1">
                            <a:solidFill>
                              <a:srgbClr val="0070C0"/>
                            </a:solidFill>
                            <a:latin typeface="Cambria Math" panose="02040503050406030204" pitchFamily="18" charset="0"/>
                          </a:rPr>
                          <m:t>27.87 + 41.90</m:t>
                        </m:r>
                      </m:den>
                    </m:f>
                    <m:r>
                      <a:rPr lang="en-NZ" altLang="ja-JP" sz="1800" i="1">
                        <a:solidFill>
                          <a:srgbClr val="0070C0"/>
                        </a:solidFill>
                        <a:latin typeface="Cambria Math" panose="02040503050406030204" pitchFamily="18" charset="0"/>
                      </a:rPr>
                      <m:t> =   </m:t>
                    </m:r>
                    <m:r>
                      <a:rPr lang="en-NZ" altLang="ja-JP" sz="1800" b="0" i="1" smtClean="0">
                        <a:solidFill>
                          <a:srgbClr val="0070C0"/>
                        </a:solidFill>
                        <a:latin typeface="Cambria Math" panose="02040503050406030204" pitchFamily="18" charset="0"/>
                      </a:rPr>
                      <m:t>60.1</m:t>
                    </m:r>
                    <m:r>
                      <a:rPr lang="en-NZ" altLang="ja-JP" sz="1800" i="1">
                        <a:solidFill>
                          <a:srgbClr val="0070C0"/>
                        </a:solidFill>
                        <a:latin typeface="Cambria Math" panose="02040503050406030204" pitchFamily="18" charset="0"/>
                      </a:rPr>
                      <m:t>%</m:t>
                    </m:r>
                  </m:oMath>
                </a14:m>
                <a:endParaRPr lang="en-NZ" altLang="ja-JP" sz="1800" dirty="0">
                  <a:solidFill>
                    <a:srgbClr val="0070C0"/>
                  </a:solidFill>
                </a:endParaRPr>
              </a:p>
              <a:p>
                <a:pPr algn="ctr">
                  <a:lnSpc>
                    <a:spcPct val="100000"/>
                  </a:lnSpc>
                </a:pPr>
                <a:endParaRPr lang="en-NZ" altLang="ja-JP" sz="1800" dirty="0">
                  <a:solidFill>
                    <a:srgbClr val="0070C0"/>
                  </a:solidFill>
                </a:endParaRPr>
              </a:p>
            </p:txBody>
          </p:sp>
        </mc:Choice>
        <mc:Fallback xmlns="">
          <p:sp>
            <p:nvSpPr>
              <p:cNvPr id="16" name="Text Placeholder 5">
                <a:extLst>
                  <a:ext uri="{FF2B5EF4-FFF2-40B4-BE49-F238E27FC236}">
                    <a16:creationId xmlns:a16="http://schemas.microsoft.com/office/drawing/2014/main" id="{B86FDA04-A1D0-6D42-68BE-0DC938D0B98C}"/>
                  </a:ext>
                </a:extLst>
              </p:cNvPr>
              <p:cNvSpPr txBox="1">
                <a:spLocks noRot="1" noChangeAspect="1" noMove="1" noResize="1" noEditPoints="1" noAdjustHandles="1" noChangeArrowheads="1" noChangeShapeType="1" noTextEdit="1"/>
              </p:cNvSpPr>
              <p:nvPr/>
            </p:nvSpPr>
            <p:spPr>
              <a:xfrm>
                <a:off x="7399235" y="1255595"/>
                <a:ext cx="4376234" cy="5036024"/>
              </a:xfrm>
              <a:prstGeom prst="rect">
                <a:avLst/>
              </a:prstGeom>
              <a:blipFill>
                <a:blip r:embed="rId3"/>
                <a:stretch>
                  <a:fillRect l="-975" t="-242"/>
                </a:stretch>
              </a:blipFill>
            </p:spPr>
            <p:txBody>
              <a:bodyPr/>
              <a:lstStyle/>
              <a:p>
                <a:r>
                  <a:rPr lang="en-NZ">
                    <a:noFill/>
                  </a:rPr>
                  <a:t> </a:t>
                </a:r>
              </a:p>
            </p:txBody>
          </p:sp>
        </mc:Fallback>
      </mc:AlternateContent>
      <p:pic>
        <p:nvPicPr>
          <p:cNvPr id="4" name="Picture 3">
            <a:extLst>
              <a:ext uri="{FF2B5EF4-FFF2-40B4-BE49-F238E27FC236}">
                <a16:creationId xmlns:a16="http://schemas.microsoft.com/office/drawing/2014/main" id="{7DDA86A0-FB55-DBC1-32AE-7CA0D2D34293}"/>
              </a:ext>
            </a:extLst>
          </p:cNvPr>
          <p:cNvPicPr>
            <a:picLocks noChangeAspect="1"/>
          </p:cNvPicPr>
          <p:nvPr/>
        </p:nvPicPr>
        <p:blipFill>
          <a:blip r:embed="rId4"/>
          <a:stretch>
            <a:fillRect/>
          </a:stretch>
        </p:blipFill>
        <p:spPr>
          <a:xfrm>
            <a:off x="297997" y="1397647"/>
            <a:ext cx="7108382" cy="504967"/>
          </a:xfrm>
          <a:prstGeom prst="rect">
            <a:avLst/>
          </a:prstGeom>
        </p:spPr>
      </p:pic>
      <p:cxnSp>
        <p:nvCxnSpPr>
          <p:cNvPr id="9" name="Straight Arrow Connector 8">
            <a:extLst>
              <a:ext uri="{FF2B5EF4-FFF2-40B4-BE49-F238E27FC236}">
                <a16:creationId xmlns:a16="http://schemas.microsoft.com/office/drawing/2014/main" id="{66AFDB98-47E0-3B74-1DCE-8E5BCF8B6D97}"/>
              </a:ext>
            </a:extLst>
          </p:cNvPr>
          <p:cNvCxnSpPr>
            <a:cxnSpLocks/>
            <a:stCxn id="22" idx="7"/>
          </p:cNvCxnSpPr>
          <p:nvPr/>
        </p:nvCxnSpPr>
        <p:spPr>
          <a:xfrm flipV="1">
            <a:off x="2533742" y="1498775"/>
            <a:ext cx="4872637" cy="2157077"/>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DC67867B-3CB1-EDFC-E9FD-7738B1FDB6B2}"/>
              </a:ext>
            </a:extLst>
          </p:cNvPr>
          <p:cNvCxnSpPr>
            <a:cxnSpLocks/>
          </p:cNvCxnSpPr>
          <p:nvPr/>
        </p:nvCxnSpPr>
        <p:spPr>
          <a:xfrm flipV="1">
            <a:off x="3465257" y="2303106"/>
            <a:ext cx="3941122" cy="1395712"/>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2" name="Oval 21">
            <a:extLst>
              <a:ext uri="{FF2B5EF4-FFF2-40B4-BE49-F238E27FC236}">
                <a16:creationId xmlns:a16="http://schemas.microsoft.com/office/drawing/2014/main" id="{3D6348D0-A860-34B0-4C7C-672EEC1657CB}"/>
              </a:ext>
            </a:extLst>
          </p:cNvPr>
          <p:cNvSpPr/>
          <p:nvPr/>
        </p:nvSpPr>
        <p:spPr>
          <a:xfrm>
            <a:off x="1869743" y="3623386"/>
            <a:ext cx="777923" cy="221692"/>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23" name="Oval 22">
            <a:extLst>
              <a:ext uri="{FF2B5EF4-FFF2-40B4-BE49-F238E27FC236}">
                <a16:creationId xmlns:a16="http://schemas.microsoft.com/office/drawing/2014/main" id="{0A8C873E-C156-97C2-040B-77F4FB1960F0}"/>
              </a:ext>
            </a:extLst>
          </p:cNvPr>
          <p:cNvSpPr/>
          <p:nvPr/>
        </p:nvSpPr>
        <p:spPr>
          <a:xfrm>
            <a:off x="2622644" y="3607992"/>
            <a:ext cx="777923" cy="221692"/>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14" name="Footer Placeholder 2">
            <a:extLst>
              <a:ext uri="{FF2B5EF4-FFF2-40B4-BE49-F238E27FC236}">
                <a16:creationId xmlns:a16="http://schemas.microsoft.com/office/drawing/2014/main" id="{05157FE6-6883-09C4-E46A-81B7C33D5467}"/>
              </a:ext>
            </a:extLst>
          </p:cNvPr>
          <p:cNvSpPr txBox="1">
            <a:spLocks/>
          </p:cNvSpPr>
          <p:nvPr/>
        </p:nvSpPr>
        <p:spPr>
          <a:xfrm>
            <a:off x="7397088" y="86139"/>
            <a:ext cx="4692278"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600" dirty="0">
                <a:solidFill>
                  <a:srgbClr val="DEDDDD"/>
                </a:solidFill>
                <a:latin typeface="Gidole"/>
                <a:ea typeface="游ゴシック" panose="020B0400000000000000" pitchFamily="34" charset="-128"/>
              </a:rPr>
              <a:t>5</a:t>
            </a:r>
            <a:r>
              <a:rPr kumimoji="1" lang="en-US" altLang="ja-JP"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rPr>
              <a:t>.3 – Computational Example 2-Stage Nested Design</a:t>
            </a:r>
            <a:endParaRPr kumimoji="1" lang="ja-JP" altLang="en-US"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endParaRPr>
          </a:p>
        </p:txBody>
      </p:sp>
      <p:sp>
        <p:nvSpPr>
          <p:cNvPr id="18" name="Text Placeholder 5">
            <a:extLst>
              <a:ext uri="{FF2B5EF4-FFF2-40B4-BE49-F238E27FC236}">
                <a16:creationId xmlns:a16="http://schemas.microsoft.com/office/drawing/2014/main" id="{E18FACDE-901C-B8EB-8345-5483B90B4E63}"/>
              </a:ext>
            </a:extLst>
          </p:cNvPr>
          <p:cNvSpPr txBox="1">
            <a:spLocks/>
          </p:cNvSpPr>
          <p:nvPr/>
        </p:nvSpPr>
        <p:spPr>
          <a:xfrm>
            <a:off x="2115598" y="3234614"/>
            <a:ext cx="836287" cy="266701"/>
          </a:xfrm>
          <a:prstGeom prst="rect">
            <a:avLst/>
          </a:prstGeom>
          <a:solidFill>
            <a:schemeClr val="bg1"/>
          </a:solidFill>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1400" dirty="0">
                <a:solidFill>
                  <a:schemeClr val="bg2">
                    <a:lumMod val="25000"/>
                  </a:schemeClr>
                </a:solidFill>
              </a:rPr>
              <a:t>supplier</a:t>
            </a:r>
          </a:p>
        </p:txBody>
      </p:sp>
    </p:spTree>
    <p:extLst>
      <p:ext uri="{BB962C8B-B14F-4D97-AF65-F5344CB8AC3E}">
        <p14:creationId xmlns:p14="http://schemas.microsoft.com/office/powerpoint/2010/main" val="8548850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3"/>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22" grpId="0" animBg="1"/>
      <p:bldP spid="23"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Slide Number Placeholder 3">
            <a:extLst>
              <a:ext uri="{FF2B5EF4-FFF2-40B4-BE49-F238E27FC236}">
                <a16:creationId xmlns:a16="http://schemas.microsoft.com/office/drawing/2014/main" id="{B0C9041D-77F0-4656-90D4-0E84B7AC6B27}"/>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54AD89C-DF1E-4948-B597-5DD47B34A9CA}" type="slidenum">
              <a:rPr kumimoji="1" lang="ja-JP" altLang="en-US" sz="4000" b="0" i="0" u="none" strike="noStrike" kern="1200" cap="none" spc="0" normalizeH="0" baseline="0" noProof="0" smtClean="0">
                <a:ln>
                  <a:noFill/>
                </a:ln>
                <a:solidFill>
                  <a:srgbClr val="575454">
                    <a:lumMod val="20000"/>
                    <a:lumOff val="80000"/>
                  </a:srgbClr>
                </a:solidFill>
                <a:effectLst/>
                <a:uLnTx/>
                <a:uFillTx/>
                <a:latin typeface="Coo Hew"/>
                <a:ea typeface="游ゴシック" panose="020B0400000000000000"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1" lang="ja-JP" altLang="en-US" sz="4000" b="0" i="0" u="none" strike="noStrike" kern="1200" cap="none" spc="0" normalizeH="0" baseline="0" noProof="0" dirty="0">
              <a:ln>
                <a:noFill/>
              </a:ln>
              <a:solidFill>
                <a:srgbClr val="575454">
                  <a:lumMod val="20000"/>
                  <a:lumOff val="80000"/>
                </a:srgbClr>
              </a:solidFill>
              <a:effectLst/>
              <a:uLnTx/>
              <a:uFillTx/>
              <a:latin typeface="Coo Hew"/>
              <a:ea typeface="游ゴシック" panose="020B0400000000000000" pitchFamily="34" charset="-128"/>
              <a:cs typeface="+mn-cs"/>
            </a:endParaRPr>
          </a:p>
        </p:txBody>
      </p:sp>
      <p:sp>
        <p:nvSpPr>
          <p:cNvPr id="21" name="Title 6">
            <a:extLst>
              <a:ext uri="{FF2B5EF4-FFF2-40B4-BE49-F238E27FC236}">
                <a16:creationId xmlns:a16="http://schemas.microsoft.com/office/drawing/2014/main" id="{7C963C88-6E6E-2444-9663-776716CBAA9D}"/>
              </a:ext>
            </a:extLst>
          </p:cNvPr>
          <p:cNvSpPr txBox="1">
            <a:spLocks/>
          </p:cNvSpPr>
          <p:nvPr/>
        </p:nvSpPr>
        <p:spPr>
          <a:xfrm>
            <a:off x="251224" y="237833"/>
            <a:ext cx="9411391" cy="607201"/>
          </a:xfrm>
          <a:prstGeom prst="rect">
            <a:avLst/>
          </a:prstGeom>
        </p:spPr>
        <p:txBody>
          <a:bodyPr anchor="t">
            <a:normAutofit/>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pPr marL="0" marR="0" lvl="0" indent="0" algn="l" defTabSz="914324" rtl="0" eaLnBrk="1" fontAlgn="auto" latinLnBrk="0" hangingPunct="1">
              <a:lnSpc>
                <a:spcPct val="90000"/>
              </a:lnSpc>
              <a:spcBef>
                <a:spcPct val="0"/>
              </a:spcBef>
              <a:spcAft>
                <a:spcPts val="0"/>
              </a:spcAft>
              <a:buClrTx/>
              <a:buSzTx/>
              <a:buFontTx/>
              <a:buNone/>
              <a:tabLst/>
              <a:defRPr/>
            </a:pPr>
            <a:r>
              <a:rPr lang="en-US" altLang="ja-JP" b="1" u="sng" dirty="0">
                <a:solidFill>
                  <a:prstClr val="black"/>
                </a:solidFill>
                <a:latin typeface="Calibri" panose="020F0502020204030204"/>
                <a:ea typeface="游ゴシック Light" panose="020B0300000000000000" pitchFamily="34" charset="-128"/>
              </a:rPr>
              <a:t>5</a:t>
            </a:r>
            <a:r>
              <a:rPr kumimoji="1" lang="en-US" altLang="ja-JP"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rPr>
              <a:t>.3a – Drug Sourcing Example:</a:t>
            </a:r>
            <a:endParaRPr kumimoji="1" lang="ja-JP" altLang="en-US"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endParaRPr>
          </a:p>
        </p:txBody>
      </p:sp>
      <p:sp>
        <p:nvSpPr>
          <p:cNvPr id="11" name="Text Placeholder 5">
            <a:extLst>
              <a:ext uri="{FF2B5EF4-FFF2-40B4-BE49-F238E27FC236}">
                <a16:creationId xmlns:a16="http://schemas.microsoft.com/office/drawing/2014/main" id="{7B5CEE78-46DE-D327-3299-AC3CD2863429}"/>
              </a:ext>
            </a:extLst>
          </p:cNvPr>
          <p:cNvSpPr txBox="1">
            <a:spLocks/>
          </p:cNvSpPr>
          <p:nvPr/>
        </p:nvSpPr>
        <p:spPr>
          <a:xfrm>
            <a:off x="3011606" y="6520328"/>
            <a:ext cx="6168789" cy="30855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ctr">
              <a:lnSpc>
                <a:spcPct val="100000"/>
              </a:lnSpc>
            </a:pPr>
            <a:r>
              <a:rPr lang="en-US" altLang="ja-JP" sz="1200" dirty="0">
                <a:solidFill>
                  <a:srgbClr val="C00000"/>
                </a:solidFill>
              </a:rPr>
              <a:t>Associated code = </a:t>
            </a:r>
            <a:r>
              <a:rPr lang="en-NZ" altLang="ja-JP" sz="1200" dirty="0">
                <a:solidFill>
                  <a:srgbClr val="C00000"/>
                </a:solidFill>
              </a:rPr>
              <a:t>5.3 - Drug Source (Two Stage Nested Design Example)</a:t>
            </a:r>
            <a:endParaRPr lang="en-US" altLang="ja-JP" sz="1200" b="1" i="1" dirty="0">
              <a:solidFill>
                <a:srgbClr val="C00000"/>
              </a:solidFill>
            </a:endParaRPr>
          </a:p>
        </p:txBody>
      </p:sp>
      <p:sp>
        <p:nvSpPr>
          <p:cNvPr id="20" name="Text Placeholder 5">
            <a:extLst>
              <a:ext uri="{FF2B5EF4-FFF2-40B4-BE49-F238E27FC236}">
                <a16:creationId xmlns:a16="http://schemas.microsoft.com/office/drawing/2014/main" id="{40B5F946-3388-2CDF-CF32-83474F9BF913}"/>
              </a:ext>
            </a:extLst>
          </p:cNvPr>
          <p:cNvSpPr txBox="1">
            <a:spLocks/>
          </p:cNvSpPr>
          <p:nvPr/>
        </p:nvSpPr>
        <p:spPr>
          <a:xfrm>
            <a:off x="418458" y="1006751"/>
            <a:ext cx="5894348" cy="504967"/>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1800" b="1" dirty="0">
                <a:solidFill>
                  <a:schemeClr val="tx1"/>
                </a:solidFill>
              </a:rPr>
              <a:t>Test of Factor A effects using the </a:t>
            </a:r>
            <a:r>
              <a:rPr lang="en-NZ" altLang="ja-JP" sz="1800" b="1" dirty="0" err="1">
                <a:solidFill>
                  <a:schemeClr val="tx1"/>
                </a:solidFill>
              </a:rPr>
              <a:t>aov</a:t>
            </a:r>
            <a:r>
              <a:rPr lang="en-NZ" altLang="ja-JP" sz="1800" b="1" dirty="0">
                <a:solidFill>
                  <a:schemeClr val="tx1"/>
                </a:solidFill>
              </a:rPr>
              <a:t>() command </a:t>
            </a:r>
            <a:r>
              <a:rPr lang="en-NZ" altLang="ja-JP" sz="1800" dirty="0">
                <a:solidFill>
                  <a:srgbClr val="C00000"/>
                </a:solidFill>
                <a:sym typeface="Wingdings" panose="05000000000000000000" pitchFamily="2" charset="2"/>
              </a:rPr>
              <a:t></a:t>
            </a:r>
            <a:endParaRPr lang="en-NZ" altLang="ja-JP" sz="1800" dirty="0">
              <a:solidFill>
                <a:srgbClr val="C00000"/>
              </a:solidFill>
            </a:endParaRPr>
          </a:p>
        </p:txBody>
      </p:sp>
      <p:pic>
        <p:nvPicPr>
          <p:cNvPr id="4" name="Picture 3">
            <a:extLst>
              <a:ext uri="{FF2B5EF4-FFF2-40B4-BE49-F238E27FC236}">
                <a16:creationId xmlns:a16="http://schemas.microsoft.com/office/drawing/2014/main" id="{744DC287-46F2-2B9A-71C0-99A03A64F4CF}"/>
              </a:ext>
            </a:extLst>
          </p:cNvPr>
          <p:cNvPicPr>
            <a:picLocks noChangeAspect="1"/>
          </p:cNvPicPr>
          <p:nvPr/>
        </p:nvPicPr>
        <p:blipFill>
          <a:blip r:embed="rId2"/>
          <a:stretch>
            <a:fillRect/>
          </a:stretch>
        </p:blipFill>
        <p:spPr>
          <a:xfrm>
            <a:off x="591402" y="1511717"/>
            <a:ext cx="6976703" cy="1002901"/>
          </a:xfrm>
          <a:prstGeom prst="rect">
            <a:avLst/>
          </a:prstGeom>
        </p:spPr>
      </p:pic>
      <p:pic>
        <p:nvPicPr>
          <p:cNvPr id="7" name="Picture 6">
            <a:extLst>
              <a:ext uri="{FF2B5EF4-FFF2-40B4-BE49-F238E27FC236}">
                <a16:creationId xmlns:a16="http://schemas.microsoft.com/office/drawing/2014/main" id="{F2530843-2B6A-951E-3880-EE008DF29DE1}"/>
              </a:ext>
            </a:extLst>
          </p:cNvPr>
          <p:cNvPicPr>
            <a:picLocks noChangeAspect="1"/>
          </p:cNvPicPr>
          <p:nvPr/>
        </p:nvPicPr>
        <p:blipFill>
          <a:blip r:embed="rId3"/>
          <a:stretch>
            <a:fillRect/>
          </a:stretch>
        </p:blipFill>
        <p:spPr>
          <a:xfrm>
            <a:off x="703997" y="2717248"/>
            <a:ext cx="6997648" cy="1281546"/>
          </a:xfrm>
          <a:prstGeom prst="rect">
            <a:avLst/>
          </a:prstGeom>
        </p:spPr>
      </p:pic>
      <p:sp>
        <p:nvSpPr>
          <p:cNvPr id="14" name="Text Placeholder 5">
            <a:extLst>
              <a:ext uri="{FF2B5EF4-FFF2-40B4-BE49-F238E27FC236}">
                <a16:creationId xmlns:a16="http://schemas.microsoft.com/office/drawing/2014/main" id="{3F0C5515-1562-33D8-DE40-96145B5D820B}"/>
              </a:ext>
            </a:extLst>
          </p:cNvPr>
          <p:cNvSpPr txBox="1">
            <a:spLocks/>
          </p:cNvSpPr>
          <p:nvPr/>
        </p:nvSpPr>
        <p:spPr>
          <a:xfrm>
            <a:off x="5709313" y="2178401"/>
            <a:ext cx="6168789" cy="3672848"/>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285750" indent="-285750">
              <a:lnSpc>
                <a:spcPct val="100000"/>
              </a:lnSpc>
              <a:buFont typeface="Arial" panose="020B0604020202020204" pitchFamily="34" charset="0"/>
              <a:buChar char="•"/>
            </a:pPr>
            <a:r>
              <a:rPr lang="en-NZ" altLang="ja-JP" sz="1800" dirty="0">
                <a:solidFill>
                  <a:srgbClr val="0070C0"/>
                </a:solidFill>
              </a:rPr>
              <a:t>The first table is an ANOVA table for the fixed effect of Drug. </a:t>
            </a:r>
          </a:p>
          <a:p>
            <a:pPr marL="285750" indent="-285750">
              <a:lnSpc>
                <a:spcPct val="100000"/>
              </a:lnSpc>
              <a:buFont typeface="Arial" panose="020B0604020202020204" pitchFamily="34" charset="0"/>
              <a:buChar char="•"/>
            </a:pPr>
            <a:endParaRPr lang="en-NZ" altLang="ja-JP" sz="1800" dirty="0">
              <a:solidFill>
                <a:srgbClr val="0070C0"/>
              </a:solidFill>
            </a:endParaRPr>
          </a:p>
          <a:p>
            <a:pPr marL="285750" indent="-285750">
              <a:lnSpc>
                <a:spcPct val="100000"/>
              </a:lnSpc>
              <a:buFont typeface="Arial" panose="020B0604020202020204" pitchFamily="34" charset="0"/>
              <a:buChar char="•"/>
            </a:pPr>
            <a:r>
              <a:rPr lang="en-NZ" altLang="ja-JP" sz="1800" dirty="0">
                <a:solidFill>
                  <a:srgbClr val="0070C0"/>
                </a:solidFill>
              </a:rPr>
              <a:t>This is essentially a one-way ANOVA of Drug using just six observations, which are the means for each of the six suppliers.  This explains the (2,3) </a:t>
            </a:r>
            <a:r>
              <a:rPr lang="en-NZ" altLang="ja-JP" sz="1800" dirty="0" err="1">
                <a:solidFill>
                  <a:srgbClr val="0070C0"/>
                </a:solidFill>
              </a:rPr>
              <a:t>df</a:t>
            </a:r>
            <a:r>
              <a:rPr lang="en-NZ" altLang="ja-JP" sz="1800" dirty="0">
                <a:solidFill>
                  <a:srgbClr val="0070C0"/>
                </a:solidFill>
              </a:rPr>
              <a:t>. </a:t>
            </a:r>
          </a:p>
          <a:p>
            <a:pPr marL="285750" indent="-285750">
              <a:lnSpc>
                <a:spcPct val="100000"/>
              </a:lnSpc>
              <a:buFont typeface="Arial" panose="020B0604020202020204" pitchFamily="34" charset="0"/>
              <a:buChar char="•"/>
            </a:pPr>
            <a:endParaRPr lang="en-NZ" altLang="ja-JP" sz="1800" dirty="0">
              <a:solidFill>
                <a:srgbClr val="0070C0"/>
              </a:solidFill>
            </a:endParaRPr>
          </a:p>
          <a:p>
            <a:pPr marL="285750" indent="-285750">
              <a:lnSpc>
                <a:spcPct val="100000"/>
              </a:lnSpc>
              <a:buFont typeface="Arial" panose="020B0604020202020204" pitchFamily="34" charset="0"/>
              <a:buChar char="•"/>
            </a:pPr>
            <a:r>
              <a:rPr lang="en-NZ" altLang="ja-JP" sz="1800" dirty="0">
                <a:solidFill>
                  <a:srgbClr val="0070C0"/>
                </a:solidFill>
              </a:rPr>
              <a:t>It is done this way because we want to know how much variability there is among drugs after the supplier effect has been allowed for.</a:t>
            </a:r>
          </a:p>
          <a:p>
            <a:pPr marL="285750" indent="-285750">
              <a:lnSpc>
                <a:spcPct val="100000"/>
              </a:lnSpc>
              <a:buFont typeface="Arial" panose="020B0604020202020204" pitchFamily="34" charset="0"/>
              <a:buChar char="•"/>
            </a:pPr>
            <a:endParaRPr lang="en-NZ" altLang="ja-JP" sz="1800" dirty="0">
              <a:solidFill>
                <a:srgbClr val="0070C0"/>
              </a:solidFill>
            </a:endParaRPr>
          </a:p>
          <a:p>
            <a:pPr marL="285750" indent="-285750">
              <a:lnSpc>
                <a:spcPct val="100000"/>
              </a:lnSpc>
              <a:buFont typeface="Arial" panose="020B0604020202020204" pitchFamily="34" charset="0"/>
              <a:buChar char="•"/>
            </a:pPr>
            <a:r>
              <a:rPr lang="en-NZ" altLang="ja-JP" sz="1800" dirty="0">
                <a:solidFill>
                  <a:srgbClr val="0070C0"/>
                </a:solidFill>
              </a:rPr>
              <a:t>F-value = 1.48,  p-value = 0.357</a:t>
            </a:r>
            <a:br>
              <a:rPr lang="en-NZ" altLang="ja-JP" sz="1800" dirty="0">
                <a:solidFill>
                  <a:srgbClr val="0070C0"/>
                </a:solidFill>
              </a:rPr>
            </a:br>
            <a:r>
              <a:rPr lang="en-NZ" altLang="ja-JP" sz="1800" dirty="0">
                <a:solidFill>
                  <a:srgbClr val="0070C0"/>
                </a:solidFill>
              </a:rPr>
              <a:t>Same as before</a:t>
            </a:r>
            <a:br>
              <a:rPr lang="en-NZ" altLang="ja-JP" sz="1800" dirty="0">
                <a:solidFill>
                  <a:srgbClr val="0070C0"/>
                </a:solidFill>
              </a:rPr>
            </a:br>
            <a:r>
              <a:rPr lang="en-NZ" altLang="ja-JP" sz="1800" dirty="0">
                <a:solidFill>
                  <a:srgbClr val="0070C0"/>
                </a:solidFill>
              </a:rPr>
              <a:t>No evidence against the null hypothesis</a:t>
            </a:r>
          </a:p>
        </p:txBody>
      </p:sp>
      <p:cxnSp>
        <p:nvCxnSpPr>
          <p:cNvPr id="12" name="Straight Arrow Connector 11">
            <a:extLst>
              <a:ext uri="{FF2B5EF4-FFF2-40B4-BE49-F238E27FC236}">
                <a16:creationId xmlns:a16="http://schemas.microsoft.com/office/drawing/2014/main" id="{D4B2EA40-9787-05C8-CE8F-13B217D8C673}"/>
              </a:ext>
            </a:extLst>
          </p:cNvPr>
          <p:cNvCxnSpPr>
            <a:cxnSpLocks/>
            <a:stCxn id="13" idx="6"/>
          </p:cNvCxnSpPr>
          <p:nvPr/>
        </p:nvCxnSpPr>
        <p:spPr>
          <a:xfrm>
            <a:off x="4339988" y="3114632"/>
            <a:ext cx="1473958" cy="192152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3" name="Oval 12">
            <a:extLst>
              <a:ext uri="{FF2B5EF4-FFF2-40B4-BE49-F238E27FC236}">
                <a16:creationId xmlns:a16="http://schemas.microsoft.com/office/drawing/2014/main" id="{5B16616C-D59E-4266-FAFA-4B0CD9B49A7D}"/>
              </a:ext>
            </a:extLst>
          </p:cNvPr>
          <p:cNvSpPr/>
          <p:nvPr/>
        </p:nvSpPr>
        <p:spPr>
          <a:xfrm>
            <a:off x="3011606" y="2958080"/>
            <a:ext cx="1328382" cy="313104"/>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15" name="Footer Placeholder 2">
            <a:extLst>
              <a:ext uri="{FF2B5EF4-FFF2-40B4-BE49-F238E27FC236}">
                <a16:creationId xmlns:a16="http://schemas.microsoft.com/office/drawing/2014/main" id="{3049377B-B6E1-5E57-AC4F-0A03B28A5CBF}"/>
              </a:ext>
            </a:extLst>
          </p:cNvPr>
          <p:cNvSpPr txBox="1">
            <a:spLocks/>
          </p:cNvSpPr>
          <p:nvPr/>
        </p:nvSpPr>
        <p:spPr>
          <a:xfrm>
            <a:off x="7397088" y="86139"/>
            <a:ext cx="4692278"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600" dirty="0">
                <a:solidFill>
                  <a:srgbClr val="DEDDDD"/>
                </a:solidFill>
                <a:latin typeface="Gidole"/>
                <a:ea typeface="游ゴシック" panose="020B0400000000000000" pitchFamily="34" charset="-128"/>
              </a:rPr>
              <a:t>5</a:t>
            </a:r>
            <a:r>
              <a:rPr kumimoji="1" lang="en-US" altLang="ja-JP"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rPr>
              <a:t>.3 – Computational Example 2-Stage Nested Design</a:t>
            </a:r>
            <a:endParaRPr kumimoji="1" lang="ja-JP" altLang="en-US"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endParaRPr>
          </a:p>
        </p:txBody>
      </p:sp>
      <p:pic>
        <p:nvPicPr>
          <p:cNvPr id="3" name="Picture 2">
            <a:extLst>
              <a:ext uri="{FF2B5EF4-FFF2-40B4-BE49-F238E27FC236}">
                <a16:creationId xmlns:a16="http://schemas.microsoft.com/office/drawing/2014/main" id="{F3A896F0-F7A7-B46C-0D9A-9DA329BBA709}"/>
              </a:ext>
            </a:extLst>
          </p:cNvPr>
          <p:cNvPicPr>
            <a:picLocks noChangeAspect="1"/>
          </p:cNvPicPr>
          <p:nvPr/>
        </p:nvPicPr>
        <p:blipFill>
          <a:blip r:embed="rId4"/>
          <a:stretch>
            <a:fillRect/>
          </a:stretch>
        </p:blipFill>
        <p:spPr>
          <a:xfrm>
            <a:off x="636719" y="1461427"/>
            <a:ext cx="6168789" cy="447675"/>
          </a:xfrm>
          <a:prstGeom prst="rect">
            <a:avLst/>
          </a:prstGeom>
        </p:spPr>
      </p:pic>
      <p:graphicFrame>
        <p:nvGraphicFramePr>
          <p:cNvPr id="2" name="Table 1">
            <a:extLst>
              <a:ext uri="{FF2B5EF4-FFF2-40B4-BE49-F238E27FC236}">
                <a16:creationId xmlns:a16="http://schemas.microsoft.com/office/drawing/2014/main" id="{B066240D-3E66-206A-02D3-EDC32F0B5492}"/>
              </a:ext>
            </a:extLst>
          </p:cNvPr>
          <p:cNvGraphicFramePr>
            <a:graphicFrameLocks noGrp="1"/>
          </p:cNvGraphicFramePr>
          <p:nvPr>
            <p:extLst>
              <p:ext uri="{D42A27DB-BD31-4B8C-83A1-F6EECF244321}">
                <p14:modId xmlns:p14="http://schemas.microsoft.com/office/powerpoint/2010/main" val="3955771103"/>
              </p:ext>
            </p:extLst>
          </p:nvPr>
        </p:nvGraphicFramePr>
        <p:xfrm>
          <a:off x="677662" y="4314605"/>
          <a:ext cx="3211776" cy="1317110"/>
        </p:xfrm>
        <a:graphic>
          <a:graphicData uri="http://schemas.openxmlformats.org/drawingml/2006/table">
            <a:tbl>
              <a:tblPr/>
              <a:tblGrid>
                <a:gridCol w="535296">
                  <a:extLst>
                    <a:ext uri="{9D8B030D-6E8A-4147-A177-3AD203B41FA5}">
                      <a16:colId xmlns:a16="http://schemas.microsoft.com/office/drawing/2014/main" val="2236848807"/>
                    </a:ext>
                  </a:extLst>
                </a:gridCol>
                <a:gridCol w="535296">
                  <a:extLst>
                    <a:ext uri="{9D8B030D-6E8A-4147-A177-3AD203B41FA5}">
                      <a16:colId xmlns:a16="http://schemas.microsoft.com/office/drawing/2014/main" val="354497925"/>
                    </a:ext>
                  </a:extLst>
                </a:gridCol>
                <a:gridCol w="535296">
                  <a:extLst>
                    <a:ext uri="{9D8B030D-6E8A-4147-A177-3AD203B41FA5}">
                      <a16:colId xmlns:a16="http://schemas.microsoft.com/office/drawing/2014/main" val="1572798933"/>
                    </a:ext>
                  </a:extLst>
                </a:gridCol>
                <a:gridCol w="535296">
                  <a:extLst>
                    <a:ext uri="{9D8B030D-6E8A-4147-A177-3AD203B41FA5}">
                      <a16:colId xmlns:a16="http://schemas.microsoft.com/office/drawing/2014/main" val="2601595116"/>
                    </a:ext>
                  </a:extLst>
                </a:gridCol>
                <a:gridCol w="535296">
                  <a:extLst>
                    <a:ext uri="{9D8B030D-6E8A-4147-A177-3AD203B41FA5}">
                      <a16:colId xmlns:a16="http://schemas.microsoft.com/office/drawing/2014/main" val="995286170"/>
                    </a:ext>
                  </a:extLst>
                </a:gridCol>
                <a:gridCol w="535296">
                  <a:extLst>
                    <a:ext uri="{9D8B030D-6E8A-4147-A177-3AD203B41FA5}">
                      <a16:colId xmlns:a16="http://schemas.microsoft.com/office/drawing/2014/main" val="1267173872"/>
                    </a:ext>
                  </a:extLst>
                </a:gridCol>
              </a:tblGrid>
              <a:tr h="185270">
                <a:tc gridSpan="2">
                  <a:txBody>
                    <a:bodyPr/>
                    <a:lstStyle/>
                    <a:p>
                      <a:pPr algn="ctr" fontAlgn="ctr"/>
                      <a:r>
                        <a:rPr lang="en-NZ" sz="1000" b="1" i="0" u="none" strike="noStrike" dirty="0">
                          <a:solidFill>
                            <a:srgbClr val="FFFFFF"/>
                          </a:solidFill>
                          <a:effectLst/>
                          <a:latin typeface="Calibri" panose="020F0502020204030204" pitchFamily="34" charset="0"/>
                        </a:rPr>
                        <a:t>Drug X</a:t>
                      </a:r>
                    </a:p>
                  </a:txBody>
                  <a:tcPr marL="53089" marR="53089" marT="26545" marB="26545"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2060"/>
                    </a:solidFill>
                  </a:tcPr>
                </a:tc>
                <a:tc hMerge="1">
                  <a:txBody>
                    <a:bodyPr/>
                    <a:lstStyle/>
                    <a:p>
                      <a:endParaRPr lang="en-NZ"/>
                    </a:p>
                  </a:txBody>
                  <a:tcPr/>
                </a:tc>
                <a:tc gridSpan="2">
                  <a:txBody>
                    <a:bodyPr/>
                    <a:lstStyle/>
                    <a:p>
                      <a:pPr algn="ctr" fontAlgn="ctr"/>
                      <a:r>
                        <a:rPr lang="en-NZ" sz="1000" b="1" i="0" u="none" strike="noStrike" dirty="0">
                          <a:solidFill>
                            <a:srgbClr val="FFFFFF"/>
                          </a:solidFill>
                          <a:effectLst/>
                          <a:latin typeface="Calibri" panose="020F0502020204030204" pitchFamily="34" charset="0"/>
                        </a:rPr>
                        <a:t>Drug Y</a:t>
                      </a:r>
                    </a:p>
                  </a:txBody>
                  <a:tcPr marL="53089" marR="53089" marT="26545" marB="26545"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00000"/>
                    </a:solidFill>
                  </a:tcPr>
                </a:tc>
                <a:tc hMerge="1">
                  <a:txBody>
                    <a:bodyPr/>
                    <a:lstStyle/>
                    <a:p>
                      <a:endParaRPr lang="en-NZ"/>
                    </a:p>
                  </a:txBody>
                  <a:tcPr/>
                </a:tc>
                <a:tc gridSpan="2">
                  <a:txBody>
                    <a:bodyPr/>
                    <a:lstStyle/>
                    <a:p>
                      <a:pPr algn="ctr" fontAlgn="ctr"/>
                      <a:r>
                        <a:rPr lang="en-NZ" sz="1000" b="1" i="0" u="none" strike="noStrike" dirty="0">
                          <a:solidFill>
                            <a:srgbClr val="FFFFFF"/>
                          </a:solidFill>
                          <a:effectLst/>
                          <a:latin typeface="Calibri" panose="020F0502020204030204" pitchFamily="34" charset="0"/>
                        </a:rPr>
                        <a:t>Drug Z</a:t>
                      </a:r>
                    </a:p>
                  </a:txBody>
                  <a:tcPr marL="53089" marR="53089" marT="26545" marB="26545"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B050"/>
                    </a:solidFill>
                  </a:tcPr>
                </a:tc>
                <a:tc hMerge="1">
                  <a:txBody>
                    <a:bodyPr/>
                    <a:lstStyle/>
                    <a:p>
                      <a:endParaRPr lang="en-NZ"/>
                    </a:p>
                  </a:txBody>
                  <a:tcPr/>
                </a:tc>
                <a:extLst>
                  <a:ext uri="{0D108BD9-81ED-4DB2-BD59-A6C34878D82A}">
                    <a16:rowId xmlns:a16="http://schemas.microsoft.com/office/drawing/2014/main" val="1365287633"/>
                  </a:ext>
                </a:extLst>
              </a:tr>
              <a:tr h="185270">
                <a:tc>
                  <a:txBody>
                    <a:bodyPr/>
                    <a:lstStyle/>
                    <a:p>
                      <a:pPr algn="ctr" fontAlgn="ctr"/>
                      <a:r>
                        <a:rPr lang="en-NZ" sz="1000" b="1" i="0" u="none" strike="noStrike">
                          <a:solidFill>
                            <a:srgbClr val="FFFFFF"/>
                          </a:solidFill>
                          <a:effectLst/>
                          <a:latin typeface="Calibri" panose="020F0502020204030204" pitchFamily="34" charset="0"/>
                        </a:rPr>
                        <a:t>SA</a:t>
                      </a:r>
                    </a:p>
                  </a:txBody>
                  <a:tcPr marL="5530" marR="5530" marT="553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2060"/>
                    </a:solidFill>
                  </a:tcPr>
                </a:tc>
                <a:tc>
                  <a:txBody>
                    <a:bodyPr/>
                    <a:lstStyle/>
                    <a:p>
                      <a:pPr algn="ctr" fontAlgn="ctr"/>
                      <a:r>
                        <a:rPr lang="en-NZ" sz="1000" b="1" i="0" u="none" strike="noStrike">
                          <a:solidFill>
                            <a:srgbClr val="FFFFFF"/>
                          </a:solidFill>
                          <a:effectLst/>
                          <a:latin typeface="Calibri" panose="020F0502020204030204" pitchFamily="34" charset="0"/>
                        </a:rPr>
                        <a:t>SB</a:t>
                      </a:r>
                    </a:p>
                  </a:txBody>
                  <a:tcPr marL="5530" marR="5530" marT="553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2060"/>
                    </a:solidFill>
                  </a:tcPr>
                </a:tc>
                <a:tc>
                  <a:txBody>
                    <a:bodyPr/>
                    <a:lstStyle/>
                    <a:p>
                      <a:pPr algn="ctr" fontAlgn="ctr"/>
                      <a:r>
                        <a:rPr lang="en-NZ" sz="1000" b="1" i="0" u="none" strike="noStrike">
                          <a:solidFill>
                            <a:srgbClr val="FFFFFF"/>
                          </a:solidFill>
                          <a:effectLst/>
                          <a:latin typeface="Calibri" panose="020F0502020204030204" pitchFamily="34" charset="0"/>
                        </a:rPr>
                        <a:t>SC</a:t>
                      </a:r>
                    </a:p>
                  </a:txBody>
                  <a:tcPr marL="5530" marR="5530" marT="553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00000"/>
                    </a:solidFill>
                  </a:tcPr>
                </a:tc>
                <a:tc>
                  <a:txBody>
                    <a:bodyPr/>
                    <a:lstStyle/>
                    <a:p>
                      <a:pPr algn="ctr" fontAlgn="ctr"/>
                      <a:r>
                        <a:rPr lang="en-NZ" sz="1000" b="1" i="0" u="none" strike="noStrike">
                          <a:solidFill>
                            <a:srgbClr val="FFFFFF"/>
                          </a:solidFill>
                          <a:effectLst/>
                          <a:latin typeface="Calibri" panose="020F0502020204030204" pitchFamily="34" charset="0"/>
                        </a:rPr>
                        <a:t>SD</a:t>
                      </a:r>
                    </a:p>
                  </a:txBody>
                  <a:tcPr marL="5530" marR="5530" marT="553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00000"/>
                    </a:solidFill>
                  </a:tcPr>
                </a:tc>
                <a:tc>
                  <a:txBody>
                    <a:bodyPr/>
                    <a:lstStyle/>
                    <a:p>
                      <a:pPr algn="ctr" fontAlgn="ctr"/>
                      <a:r>
                        <a:rPr lang="en-NZ" sz="1000" b="1" i="0" u="none" strike="noStrike">
                          <a:solidFill>
                            <a:srgbClr val="FFFFFF"/>
                          </a:solidFill>
                          <a:effectLst/>
                          <a:latin typeface="Calibri" panose="020F0502020204030204" pitchFamily="34" charset="0"/>
                        </a:rPr>
                        <a:t>SE</a:t>
                      </a:r>
                    </a:p>
                  </a:txBody>
                  <a:tcPr marL="5530" marR="5530" marT="553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B050"/>
                    </a:solidFill>
                  </a:tcPr>
                </a:tc>
                <a:tc>
                  <a:txBody>
                    <a:bodyPr/>
                    <a:lstStyle/>
                    <a:p>
                      <a:pPr algn="ctr" fontAlgn="ctr"/>
                      <a:r>
                        <a:rPr lang="en-NZ" sz="1000" b="1" i="0" u="none" strike="noStrike">
                          <a:solidFill>
                            <a:srgbClr val="FFFFFF"/>
                          </a:solidFill>
                          <a:effectLst/>
                          <a:latin typeface="Calibri" panose="020F0502020204030204" pitchFamily="34" charset="0"/>
                        </a:rPr>
                        <a:t>SF</a:t>
                      </a:r>
                    </a:p>
                  </a:txBody>
                  <a:tcPr marL="5530" marR="5530" marT="553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B050"/>
                    </a:solidFill>
                  </a:tcPr>
                </a:tc>
                <a:extLst>
                  <a:ext uri="{0D108BD9-81ED-4DB2-BD59-A6C34878D82A}">
                    <a16:rowId xmlns:a16="http://schemas.microsoft.com/office/drawing/2014/main" val="1895998256"/>
                  </a:ext>
                </a:extLst>
              </a:tr>
              <a:tr h="185270">
                <a:tc>
                  <a:txBody>
                    <a:bodyPr/>
                    <a:lstStyle/>
                    <a:p>
                      <a:pPr algn="ctr" fontAlgn="ctr"/>
                      <a:r>
                        <a:rPr lang="en-NZ" sz="1000" b="0" i="0" u="none" strike="noStrike" dirty="0">
                          <a:solidFill>
                            <a:srgbClr val="000000"/>
                          </a:solidFill>
                          <a:effectLst/>
                          <a:latin typeface="Calibri" panose="020F0502020204030204" pitchFamily="34" charset="0"/>
                        </a:rPr>
                        <a:t>21</a:t>
                      </a:r>
                    </a:p>
                  </a:txBody>
                  <a:tcPr marL="5530" marR="5530" marT="553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000" b="0" i="0" u="none" strike="noStrike" dirty="0">
                          <a:solidFill>
                            <a:srgbClr val="000000"/>
                          </a:solidFill>
                          <a:effectLst/>
                          <a:latin typeface="Calibri" panose="020F0502020204030204" pitchFamily="34" charset="0"/>
                        </a:rPr>
                        <a:t>15</a:t>
                      </a:r>
                    </a:p>
                  </a:txBody>
                  <a:tcPr marL="5530" marR="5530" marT="553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000" b="0" i="0" u="none" strike="noStrike" dirty="0">
                          <a:solidFill>
                            <a:srgbClr val="000000"/>
                          </a:solidFill>
                          <a:effectLst/>
                          <a:latin typeface="Calibri" panose="020F0502020204030204" pitchFamily="34" charset="0"/>
                        </a:rPr>
                        <a:t>14</a:t>
                      </a:r>
                    </a:p>
                  </a:txBody>
                  <a:tcPr marL="5530" marR="5530" marT="553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ctr"/>
                      <a:r>
                        <a:rPr lang="en-NZ" sz="1000" b="0" i="0" u="none" strike="noStrike">
                          <a:solidFill>
                            <a:srgbClr val="000000"/>
                          </a:solidFill>
                          <a:effectLst/>
                          <a:latin typeface="Calibri" panose="020F0502020204030204" pitchFamily="34" charset="0"/>
                        </a:rPr>
                        <a:t>6</a:t>
                      </a:r>
                    </a:p>
                  </a:txBody>
                  <a:tcPr marL="5530" marR="5530" marT="553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ctr"/>
                      <a:r>
                        <a:rPr lang="en-NZ" sz="1000" b="0" i="0" u="none" strike="noStrike">
                          <a:solidFill>
                            <a:srgbClr val="000000"/>
                          </a:solidFill>
                          <a:effectLst/>
                          <a:latin typeface="Calibri" panose="020F0502020204030204" pitchFamily="34" charset="0"/>
                        </a:rPr>
                        <a:t>17</a:t>
                      </a:r>
                    </a:p>
                  </a:txBody>
                  <a:tcPr marL="5530" marR="5530" marT="553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2EFDA"/>
                    </a:solidFill>
                  </a:tcPr>
                </a:tc>
                <a:tc>
                  <a:txBody>
                    <a:bodyPr/>
                    <a:lstStyle/>
                    <a:p>
                      <a:pPr algn="ctr" fontAlgn="ctr"/>
                      <a:r>
                        <a:rPr lang="en-NZ" sz="1000" b="0" i="0" u="none" strike="noStrike">
                          <a:solidFill>
                            <a:srgbClr val="000000"/>
                          </a:solidFill>
                          <a:effectLst/>
                          <a:latin typeface="Calibri" panose="020F0502020204030204" pitchFamily="34" charset="0"/>
                        </a:rPr>
                        <a:t>7</a:t>
                      </a:r>
                    </a:p>
                  </a:txBody>
                  <a:tcPr marL="5530" marR="5530" marT="553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2EFDA"/>
                    </a:solidFill>
                  </a:tcPr>
                </a:tc>
                <a:extLst>
                  <a:ext uri="{0D108BD9-81ED-4DB2-BD59-A6C34878D82A}">
                    <a16:rowId xmlns:a16="http://schemas.microsoft.com/office/drawing/2014/main" val="892919926"/>
                  </a:ext>
                </a:extLst>
              </a:tr>
              <a:tr h="185270">
                <a:tc>
                  <a:txBody>
                    <a:bodyPr/>
                    <a:lstStyle/>
                    <a:p>
                      <a:pPr algn="ctr" fontAlgn="ctr"/>
                      <a:r>
                        <a:rPr lang="en-NZ" sz="1000" b="0" i="0" u="none" strike="noStrike">
                          <a:solidFill>
                            <a:srgbClr val="000000"/>
                          </a:solidFill>
                          <a:effectLst/>
                          <a:latin typeface="Calibri" panose="020F0502020204030204" pitchFamily="34" charset="0"/>
                        </a:rPr>
                        <a:t>33</a:t>
                      </a:r>
                    </a:p>
                  </a:txBody>
                  <a:tcPr marL="5530" marR="5530" marT="553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000" b="0" i="0" u="none" strike="noStrike" dirty="0">
                          <a:solidFill>
                            <a:srgbClr val="000000"/>
                          </a:solidFill>
                          <a:effectLst/>
                          <a:latin typeface="Calibri" panose="020F0502020204030204" pitchFamily="34" charset="0"/>
                        </a:rPr>
                        <a:t>18</a:t>
                      </a:r>
                    </a:p>
                  </a:txBody>
                  <a:tcPr marL="5530" marR="5530" marT="553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000" b="0" i="0" u="none" strike="noStrike" dirty="0">
                          <a:solidFill>
                            <a:srgbClr val="000000"/>
                          </a:solidFill>
                          <a:effectLst/>
                          <a:latin typeface="Calibri" panose="020F0502020204030204" pitchFamily="34" charset="0"/>
                        </a:rPr>
                        <a:t>9</a:t>
                      </a:r>
                    </a:p>
                  </a:txBody>
                  <a:tcPr marL="5530" marR="5530" marT="553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ctr"/>
                      <a:r>
                        <a:rPr lang="en-NZ" sz="1000" b="0" i="0" u="none" strike="noStrike" dirty="0">
                          <a:solidFill>
                            <a:srgbClr val="000000"/>
                          </a:solidFill>
                          <a:effectLst/>
                          <a:latin typeface="Calibri" panose="020F0502020204030204" pitchFamily="34" charset="0"/>
                        </a:rPr>
                        <a:t>13</a:t>
                      </a:r>
                    </a:p>
                  </a:txBody>
                  <a:tcPr marL="5530" marR="5530" marT="553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ctr"/>
                      <a:r>
                        <a:rPr lang="en-NZ" sz="1000" b="0" i="0" u="none" strike="noStrike">
                          <a:solidFill>
                            <a:srgbClr val="000000"/>
                          </a:solidFill>
                          <a:effectLst/>
                          <a:latin typeface="Calibri" panose="020F0502020204030204" pitchFamily="34" charset="0"/>
                        </a:rPr>
                        <a:t>25</a:t>
                      </a:r>
                    </a:p>
                  </a:txBody>
                  <a:tcPr marL="5530" marR="5530" marT="553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2EFDA"/>
                    </a:solidFill>
                  </a:tcPr>
                </a:tc>
                <a:tc>
                  <a:txBody>
                    <a:bodyPr/>
                    <a:lstStyle/>
                    <a:p>
                      <a:pPr algn="ctr" fontAlgn="ctr"/>
                      <a:r>
                        <a:rPr lang="en-NZ" sz="1000" b="0" i="0" u="none" strike="noStrike">
                          <a:solidFill>
                            <a:srgbClr val="000000"/>
                          </a:solidFill>
                          <a:effectLst/>
                          <a:latin typeface="Calibri" panose="020F0502020204030204" pitchFamily="34" charset="0"/>
                        </a:rPr>
                        <a:t>1</a:t>
                      </a:r>
                    </a:p>
                  </a:txBody>
                  <a:tcPr marL="5530" marR="5530" marT="553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2EFDA"/>
                    </a:solidFill>
                  </a:tcPr>
                </a:tc>
                <a:extLst>
                  <a:ext uri="{0D108BD9-81ED-4DB2-BD59-A6C34878D82A}">
                    <a16:rowId xmlns:a16="http://schemas.microsoft.com/office/drawing/2014/main" val="3575611715"/>
                  </a:ext>
                </a:extLst>
              </a:tr>
              <a:tr h="185270">
                <a:tc>
                  <a:txBody>
                    <a:bodyPr/>
                    <a:lstStyle/>
                    <a:p>
                      <a:pPr algn="ctr" fontAlgn="ctr"/>
                      <a:r>
                        <a:rPr lang="en-NZ" sz="1000" b="0" i="0" u="none" strike="noStrike">
                          <a:solidFill>
                            <a:srgbClr val="000000"/>
                          </a:solidFill>
                          <a:effectLst/>
                          <a:latin typeface="Calibri" panose="020F0502020204030204" pitchFamily="34" charset="0"/>
                        </a:rPr>
                        <a:t>18</a:t>
                      </a:r>
                    </a:p>
                  </a:txBody>
                  <a:tcPr marL="5530" marR="5530" marT="553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000" b="0" i="0" u="none" strike="noStrike">
                          <a:solidFill>
                            <a:srgbClr val="000000"/>
                          </a:solidFill>
                          <a:effectLst/>
                          <a:latin typeface="Calibri" panose="020F0502020204030204" pitchFamily="34" charset="0"/>
                        </a:rPr>
                        <a:t>34</a:t>
                      </a:r>
                    </a:p>
                  </a:txBody>
                  <a:tcPr marL="5530" marR="5530" marT="553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000" b="0" i="0" u="none" strike="noStrike">
                          <a:solidFill>
                            <a:srgbClr val="000000"/>
                          </a:solidFill>
                          <a:effectLst/>
                          <a:latin typeface="Calibri" panose="020F0502020204030204" pitchFamily="34" charset="0"/>
                        </a:rPr>
                        <a:t>11</a:t>
                      </a:r>
                    </a:p>
                  </a:txBody>
                  <a:tcPr marL="5530" marR="5530" marT="553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ctr"/>
                      <a:r>
                        <a:rPr lang="en-NZ" sz="1000" b="0" i="0" u="none" strike="noStrike" dirty="0">
                          <a:solidFill>
                            <a:srgbClr val="000000"/>
                          </a:solidFill>
                          <a:effectLst/>
                          <a:latin typeface="Calibri" panose="020F0502020204030204" pitchFamily="34" charset="0"/>
                        </a:rPr>
                        <a:t>13</a:t>
                      </a:r>
                    </a:p>
                  </a:txBody>
                  <a:tcPr marL="5530" marR="5530" marT="553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ctr"/>
                      <a:r>
                        <a:rPr lang="en-NZ" sz="1000" b="0" i="0" u="none" strike="noStrike" dirty="0">
                          <a:solidFill>
                            <a:srgbClr val="000000"/>
                          </a:solidFill>
                          <a:effectLst/>
                          <a:latin typeface="Calibri" panose="020F0502020204030204" pitchFamily="34" charset="0"/>
                        </a:rPr>
                        <a:t>20</a:t>
                      </a:r>
                    </a:p>
                  </a:txBody>
                  <a:tcPr marL="5530" marR="5530" marT="553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2EFDA"/>
                    </a:solidFill>
                  </a:tcPr>
                </a:tc>
                <a:tc>
                  <a:txBody>
                    <a:bodyPr/>
                    <a:lstStyle/>
                    <a:p>
                      <a:pPr algn="ctr" fontAlgn="ctr"/>
                      <a:r>
                        <a:rPr lang="en-NZ" sz="1000" b="0" i="0" u="none" strike="noStrike" dirty="0">
                          <a:solidFill>
                            <a:srgbClr val="000000"/>
                          </a:solidFill>
                          <a:effectLst/>
                          <a:latin typeface="Calibri" panose="020F0502020204030204" pitchFamily="34" charset="0"/>
                        </a:rPr>
                        <a:t>4</a:t>
                      </a:r>
                    </a:p>
                  </a:txBody>
                  <a:tcPr marL="5530" marR="5530" marT="553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2EFDA"/>
                    </a:solidFill>
                  </a:tcPr>
                </a:tc>
                <a:extLst>
                  <a:ext uri="{0D108BD9-81ED-4DB2-BD59-A6C34878D82A}">
                    <a16:rowId xmlns:a16="http://schemas.microsoft.com/office/drawing/2014/main" val="147681632"/>
                  </a:ext>
                </a:extLst>
              </a:tr>
              <a:tr h="185270">
                <a:tc>
                  <a:txBody>
                    <a:bodyPr/>
                    <a:lstStyle/>
                    <a:p>
                      <a:pPr algn="ctr" fontAlgn="ctr"/>
                      <a:r>
                        <a:rPr lang="en-NZ" sz="1000" b="0" i="0" u="none" strike="noStrike">
                          <a:solidFill>
                            <a:srgbClr val="000000"/>
                          </a:solidFill>
                          <a:effectLst/>
                          <a:latin typeface="Calibri" panose="020F0502020204030204" pitchFamily="34" charset="0"/>
                        </a:rPr>
                        <a:t>14</a:t>
                      </a:r>
                    </a:p>
                  </a:txBody>
                  <a:tcPr marL="5530" marR="5530" marT="553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000" b="0" i="0" u="none" strike="noStrike">
                          <a:solidFill>
                            <a:srgbClr val="000000"/>
                          </a:solidFill>
                          <a:effectLst/>
                          <a:latin typeface="Calibri" panose="020F0502020204030204" pitchFamily="34" charset="0"/>
                        </a:rPr>
                        <a:t>23</a:t>
                      </a:r>
                    </a:p>
                  </a:txBody>
                  <a:tcPr marL="5530" marR="5530" marT="553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000" b="0" i="0" u="none" strike="noStrike">
                          <a:solidFill>
                            <a:srgbClr val="000000"/>
                          </a:solidFill>
                          <a:effectLst/>
                          <a:latin typeface="Calibri" panose="020F0502020204030204" pitchFamily="34" charset="0"/>
                        </a:rPr>
                        <a:t>22</a:t>
                      </a:r>
                    </a:p>
                  </a:txBody>
                  <a:tcPr marL="5530" marR="5530" marT="553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ctr"/>
                      <a:r>
                        <a:rPr lang="en-NZ" sz="1000" b="0" i="0" u="none" strike="noStrike">
                          <a:solidFill>
                            <a:srgbClr val="000000"/>
                          </a:solidFill>
                          <a:effectLst/>
                          <a:latin typeface="Calibri" panose="020F0502020204030204" pitchFamily="34" charset="0"/>
                        </a:rPr>
                        <a:t>21</a:t>
                      </a:r>
                    </a:p>
                  </a:txBody>
                  <a:tcPr marL="5530" marR="5530" marT="553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ctr"/>
                      <a:r>
                        <a:rPr lang="en-NZ" sz="1000" b="0" i="0" u="none" strike="noStrike" dirty="0">
                          <a:solidFill>
                            <a:srgbClr val="000000"/>
                          </a:solidFill>
                          <a:effectLst/>
                          <a:latin typeface="Calibri" panose="020F0502020204030204" pitchFamily="34" charset="0"/>
                        </a:rPr>
                        <a:t>18</a:t>
                      </a:r>
                    </a:p>
                  </a:txBody>
                  <a:tcPr marL="5530" marR="5530" marT="553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2EFDA"/>
                    </a:solidFill>
                  </a:tcPr>
                </a:tc>
                <a:tc>
                  <a:txBody>
                    <a:bodyPr/>
                    <a:lstStyle/>
                    <a:p>
                      <a:pPr algn="ctr" fontAlgn="ctr"/>
                      <a:r>
                        <a:rPr lang="en-NZ" sz="1000" b="0" i="0" u="none" strike="noStrike" dirty="0">
                          <a:solidFill>
                            <a:srgbClr val="000000"/>
                          </a:solidFill>
                          <a:effectLst/>
                          <a:latin typeface="Calibri" panose="020F0502020204030204" pitchFamily="34" charset="0"/>
                        </a:rPr>
                        <a:t>16</a:t>
                      </a:r>
                    </a:p>
                  </a:txBody>
                  <a:tcPr marL="5530" marR="5530" marT="553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2EFDA"/>
                    </a:solidFill>
                  </a:tcPr>
                </a:tc>
                <a:extLst>
                  <a:ext uri="{0D108BD9-81ED-4DB2-BD59-A6C34878D82A}">
                    <a16:rowId xmlns:a16="http://schemas.microsoft.com/office/drawing/2014/main" val="1113397755"/>
                  </a:ext>
                </a:extLst>
              </a:tr>
              <a:tr h="185270">
                <a:tc>
                  <a:txBody>
                    <a:bodyPr/>
                    <a:lstStyle/>
                    <a:p>
                      <a:pPr algn="ctr" fontAlgn="ctr"/>
                      <a:r>
                        <a:rPr lang="en-NZ" sz="1000" b="0" i="0" u="none" strike="noStrike">
                          <a:solidFill>
                            <a:srgbClr val="000000"/>
                          </a:solidFill>
                          <a:effectLst/>
                          <a:latin typeface="Calibri" panose="020F0502020204030204" pitchFamily="34" charset="0"/>
                        </a:rPr>
                        <a:t>27</a:t>
                      </a:r>
                    </a:p>
                  </a:txBody>
                  <a:tcPr marL="5530" marR="5530" marT="553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000" b="0" i="0" u="none" strike="noStrike">
                          <a:solidFill>
                            <a:srgbClr val="000000"/>
                          </a:solidFill>
                          <a:effectLst/>
                          <a:latin typeface="Calibri" panose="020F0502020204030204" pitchFamily="34" charset="0"/>
                        </a:rPr>
                        <a:t>26</a:t>
                      </a:r>
                    </a:p>
                  </a:txBody>
                  <a:tcPr marL="5530" marR="5530" marT="553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000" b="0" i="0" u="none" strike="noStrike">
                          <a:solidFill>
                            <a:srgbClr val="000000"/>
                          </a:solidFill>
                          <a:effectLst/>
                          <a:latin typeface="Calibri" panose="020F0502020204030204" pitchFamily="34" charset="0"/>
                        </a:rPr>
                        <a:t>5</a:t>
                      </a:r>
                    </a:p>
                  </a:txBody>
                  <a:tcPr marL="5530" marR="5530" marT="553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ctr"/>
                      <a:r>
                        <a:rPr lang="en-NZ" sz="1000" b="0" i="0" u="none" strike="noStrike">
                          <a:solidFill>
                            <a:srgbClr val="000000"/>
                          </a:solidFill>
                          <a:effectLst/>
                          <a:latin typeface="Calibri" panose="020F0502020204030204" pitchFamily="34" charset="0"/>
                        </a:rPr>
                        <a:t>18</a:t>
                      </a:r>
                    </a:p>
                  </a:txBody>
                  <a:tcPr marL="5530" marR="5530" marT="553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fontAlgn="ctr"/>
                      <a:r>
                        <a:rPr lang="en-NZ" sz="1000" b="0" i="0" u="none" strike="noStrike">
                          <a:solidFill>
                            <a:srgbClr val="000000"/>
                          </a:solidFill>
                          <a:effectLst/>
                          <a:latin typeface="Calibri" panose="020F0502020204030204" pitchFamily="34" charset="0"/>
                        </a:rPr>
                        <a:t>31</a:t>
                      </a:r>
                    </a:p>
                  </a:txBody>
                  <a:tcPr marL="5530" marR="5530" marT="553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2EFDA"/>
                    </a:solidFill>
                  </a:tcPr>
                </a:tc>
                <a:tc>
                  <a:txBody>
                    <a:bodyPr/>
                    <a:lstStyle/>
                    <a:p>
                      <a:pPr algn="ctr" fontAlgn="ctr"/>
                      <a:r>
                        <a:rPr lang="en-NZ" sz="1000" b="0" i="0" u="none" strike="noStrike" dirty="0">
                          <a:solidFill>
                            <a:srgbClr val="000000"/>
                          </a:solidFill>
                          <a:effectLst/>
                          <a:latin typeface="Calibri" panose="020F0502020204030204" pitchFamily="34" charset="0"/>
                        </a:rPr>
                        <a:t>10</a:t>
                      </a:r>
                    </a:p>
                  </a:txBody>
                  <a:tcPr marL="5530" marR="5530" marT="553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2EFDA"/>
                    </a:solidFill>
                  </a:tcPr>
                </a:tc>
                <a:extLst>
                  <a:ext uri="{0D108BD9-81ED-4DB2-BD59-A6C34878D82A}">
                    <a16:rowId xmlns:a16="http://schemas.microsoft.com/office/drawing/2014/main" val="1541001415"/>
                  </a:ext>
                </a:extLst>
              </a:tr>
            </a:tbl>
          </a:graphicData>
        </a:graphic>
      </p:graphicFrame>
      <p:graphicFrame>
        <p:nvGraphicFramePr>
          <p:cNvPr id="6" name="Table 5">
            <a:extLst>
              <a:ext uri="{FF2B5EF4-FFF2-40B4-BE49-F238E27FC236}">
                <a16:creationId xmlns:a16="http://schemas.microsoft.com/office/drawing/2014/main" id="{8B68EE07-BCDD-6089-BAD7-E78EF76335D2}"/>
              </a:ext>
            </a:extLst>
          </p:cNvPr>
          <p:cNvGraphicFramePr>
            <a:graphicFrameLocks noGrp="1"/>
          </p:cNvGraphicFramePr>
          <p:nvPr>
            <p:extLst>
              <p:ext uri="{D42A27DB-BD31-4B8C-83A1-F6EECF244321}">
                <p14:modId xmlns:p14="http://schemas.microsoft.com/office/powerpoint/2010/main" val="160329848"/>
              </p:ext>
            </p:extLst>
          </p:nvPr>
        </p:nvGraphicFramePr>
        <p:xfrm>
          <a:off x="677662" y="5951070"/>
          <a:ext cx="1828800" cy="571500"/>
        </p:xfrm>
        <a:graphic>
          <a:graphicData uri="http://schemas.openxmlformats.org/drawingml/2006/table">
            <a:tbl>
              <a:tblPr/>
              <a:tblGrid>
                <a:gridCol w="609600">
                  <a:extLst>
                    <a:ext uri="{9D8B030D-6E8A-4147-A177-3AD203B41FA5}">
                      <a16:colId xmlns:a16="http://schemas.microsoft.com/office/drawing/2014/main" val="2638961872"/>
                    </a:ext>
                  </a:extLst>
                </a:gridCol>
                <a:gridCol w="609600">
                  <a:extLst>
                    <a:ext uri="{9D8B030D-6E8A-4147-A177-3AD203B41FA5}">
                      <a16:colId xmlns:a16="http://schemas.microsoft.com/office/drawing/2014/main" val="2580716561"/>
                    </a:ext>
                  </a:extLst>
                </a:gridCol>
                <a:gridCol w="609600">
                  <a:extLst>
                    <a:ext uri="{9D8B030D-6E8A-4147-A177-3AD203B41FA5}">
                      <a16:colId xmlns:a16="http://schemas.microsoft.com/office/drawing/2014/main" val="2971517386"/>
                    </a:ext>
                  </a:extLst>
                </a:gridCol>
              </a:tblGrid>
              <a:tr h="190500">
                <a:tc>
                  <a:txBody>
                    <a:bodyPr/>
                    <a:lstStyle/>
                    <a:p>
                      <a:pPr algn="ctr" rtl="0" fontAlgn="ctr"/>
                      <a:r>
                        <a:rPr lang="en-NZ" sz="1000" b="1" i="0" u="none" strike="noStrike">
                          <a:solidFill>
                            <a:srgbClr val="FFFFFF"/>
                          </a:solidFill>
                          <a:effectLst/>
                          <a:latin typeface="Calibri" panose="020F0502020204030204" pitchFamily="34" charset="0"/>
                        </a:rPr>
                        <a:t>Drug X</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2060"/>
                    </a:solidFill>
                  </a:tcPr>
                </a:tc>
                <a:tc>
                  <a:txBody>
                    <a:bodyPr/>
                    <a:lstStyle/>
                    <a:p>
                      <a:pPr algn="ctr" rtl="0" fontAlgn="ctr"/>
                      <a:r>
                        <a:rPr lang="en-NZ" sz="1000" b="1" i="0" u="none" strike="noStrike">
                          <a:solidFill>
                            <a:srgbClr val="FFFFFF"/>
                          </a:solidFill>
                          <a:effectLst/>
                          <a:latin typeface="Calibri" panose="020F0502020204030204" pitchFamily="34" charset="0"/>
                        </a:rPr>
                        <a:t>Drug Y</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00000"/>
                    </a:solidFill>
                  </a:tcPr>
                </a:tc>
                <a:tc>
                  <a:txBody>
                    <a:bodyPr/>
                    <a:lstStyle/>
                    <a:p>
                      <a:pPr algn="ctr" rtl="0" fontAlgn="ctr"/>
                      <a:r>
                        <a:rPr lang="en-NZ" sz="1000" b="1" i="0" u="none" strike="noStrike">
                          <a:solidFill>
                            <a:srgbClr val="FFFFFF"/>
                          </a:solidFill>
                          <a:effectLst/>
                          <a:latin typeface="Calibri" panose="020F0502020204030204" pitchFamily="34" charset="0"/>
                        </a:rPr>
                        <a:t>Drug Z</a:t>
                      </a:r>
                    </a:p>
                  </a:txBody>
                  <a:tcPr marL="9525" marR="9525" marT="9525" marB="0" anchor="ctr">
                    <a:lnL w="6350" cap="flat" cmpd="sng" algn="ctr">
                      <a:solidFill>
                        <a:srgbClr val="FFFFFF"/>
                      </a:solidFill>
                      <a:prstDash val="solid"/>
                      <a:round/>
                      <a:headEnd type="none" w="med" len="med"/>
                      <a:tailEnd type="none" w="med" len="med"/>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B050"/>
                    </a:solidFill>
                  </a:tcPr>
                </a:tc>
                <a:extLst>
                  <a:ext uri="{0D108BD9-81ED-4DB2-BD59-A6C34878D82A}">
                    <a16:rowId xmlns:a16="http://schemas.microsoft.com/office/drawing/2014/main" val="214357590"/>
                  </a:ext>
                </a:extLst>
              </a:tr>
              <a:tr h="190500">
                <a:tc>
                  <a:txBody>
                    <a:bodyPr/>
                    <a:lstStyle/>
                    <a:p>
                      <a:pPr algn="ctr" rtl="0" fontAlgn="ctr"/>
                      <a:r>
                        <a:rPr lang="en-NZ" sz="1000" b="0" i="0" u="none" strike="noStrike" dirty="0">
                          <a:solidFill>
                            <a:srgbClr val="000000"/>
                          </a:solidFill>
                          <a:effectLst/>
                          <a:latin typeface="Calibri" panose="020F0502020204030204" pitchFamily="34" charset="0"/>
                        </a:rPr>
                        <a:t>22.6</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rtl="0" fontAlgn="ctr"/>
                      <a:r>
                        <a:rPr lang="en-NZ" sz="1000" b="0" i="0" u="none" strike="noStrike">
                          <a:solidFill>
                            <a:srgbClr val="000000"/>
                          </a:solidFill>
                          <a:effectLst/>
                          <a:latin typeface="Calibri" panose="020F0502020204030204" pitchFamily="34" charset="0"/>
                        </a:rPr>
                        <a:t>12.2</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rtl="0" fontAlgn="ctr"/>
                      <a:r>
                        <a:rPr lang="en-NZ" sz="1000" b="0" i="0" u="none" strike="noStrike">
                          <a:solidFill>
                            <a:srgbClr val="000000"/>
                          </a:solidFill>
                          <a:effectLst/>
                          <a:latin typeface="Calibri" panose="020F0502020204030204" pitchFamily="34" charset="0"/>
                        </a:rPr>
                        <a:t>22.2</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2EFDA"/>
                    </a:solidFill>
                  </a:tcPr>
                </a:tc>
                <a:extLst>
                  <a:ext uri="{0D108BD9-81ED-4DB2-BD59-A6C34878D82A}">
                    <a16:rowId xmlns:a16="http://schemas.microsoft.com/office/drawing/2014/main" val="312312014"/>
                  </a:ext>
                </a:extLst>
              </a:tr>
              <a:tr h="190500">
                <a:tc>
                  <a:txBody>
                    <a:bodyPr/>
                    <a:lstStyle/>
                    <a:p>
                      <a:pPr algn="ctr" rtl="0" fontAlgn="ctr"/>
                      <a:r>
                        <a:rPr lang="en-NZ" sz="1000" b="0" i="0" u="none" strike="noStrike">
                          <a:solidFill>
                            <a:srgbClr val="000000"/>
                          </a:solidFill>
                          <a:effectLst/>
                          <a:latin typeface="Calibri" panose="020F0502020204030204" pitchFamily="34" charset="0"/>
                        </a:rPr>
                        <a:t>23.2</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rtl="0" fontAlgn="ctr"/>
                      <a:r>
                        <a:rPr lang="en-NZ" sz="1000" b="0" i="0" u="none" strike="noStrike">
                          <a:solidFill>
                            <a:srgbClr val="000000"/>
                          </a:solidFill>
                          <a:effectLst/>
                          <a:latin typeface="Calibri" panose="020F0502020204030204" pitchFamily="34" charset="0"/>
                        </a:rPr>
                        <a:t>14.2</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E4D6"/>
                    </a:solidFill>
                  </a:tcPr>
                </a:tc>
                <a:tc>
                  <a:txBody>
                    <a:bodyPr/>
                    <a:lstStyle/>
                    <a:p>
                      <a:pPr algn="ctr" rtl="0" fontAlgn="ctr"/>
                      <a:r>
                        <a:rPr lang="en-NZ" sz="1000" b="0" i="0" u="none" strike="noStrike" dirty="0">
                          <a:solidFill>
                            <a:srgbClr val="000000"/>
                          </a:solidFill>
                          <a:effectLst/>
                          <a:latin typeface="Calibri" panose="020F0502020204030204" pitchFamily="34" charset="0"/>
                        </a:rPr>
                        <a:t>7.6</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2EFDA"/>
                    </a:solidFill>
                  </a:tcPr>
                </a:tc>
                <a:extLst>
                  <a:ext uri="{0D108BD9-81ED-4DB2-BD59-A6C34878D82A}">
                    <a16:rowId xmlns:a16="http://schemas.microsoft.com/office/drawing/2014/main" val="1224959687"/>
                  </a:ext>
                </a:extLst>
              </a:tr>
            </a:tbl>
          </a:graphicData>
        </a:graphic>
      </p:graphicFrame>
      <mc:AlternateContent xmlns:mc="http://schemas.openxmlformats.org/markup-compatibility/2006" xmlns:a14="http://schemas.microsoft.com/office/drawing/2010/main">
        <mc:Choice Requires="a14">
          <p:sp>
            <p:nvSpPr>
              <p:cNvPr id="8" name="Text Placeholder 5">
                <a:extLst>
                  <a:ext uri="{FF2B5EF4-FFF2-40B4-BE49-F238E27FC236}">
                    <a16:creationId xmlns:a16="http://schemas.microsoft.com/office/drawing/2014/main" id="{09E873CE-3E0A-DCAB-4B55-A90C37F9B94C}"/>
                  </a:ext>
                </a:extLst>
              </p:cNvPr>
              <p:cNvSpPr txBox="1">
                <a:spLocks/>
              </p:cNvSpPr>
              <p:nvPr/>
            </p:nvSpPr>
            <p:spPr>
              <a:xfrm>
                <a:off x="2606769" y="5781340"/>
                <a:ext cx="3619967" cy="849398"/>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ctr">
                  <a:lnSpc>
                    <a:spcPct val="100000"/>
                  </a:lnSpc>
                </a:pPr>
                <a:r>
                  <a:rPr lang="en-NZ" altLang="ja-JP" sz="1400" b="0" dirty="0">
                    <a:solidFill>
                      <a:schemeClr val="bg2">
                        <a:lumMod val="50000"/>
                      </a:schemeClr>
                    </a:solidFill>
                  </a:rPr>
                  <a:t>One way ANOVA with  </a:t>
                </a:r>
                <a14:m>
                  <m:oMath xmlns:m="http://schemas.openxmlformats.org/officeDocument/2006/math">
                    <m:r>
                      <a:rPr lang="en-NZ" altLang="ja-JP" sz="1400" b="0" i="1" smtClean="0">
                        <a:solidFill>
                          <a:schemeClr val="bg2">
                            <a:lumMod val="50000"/>
                          </a:schemeClr>
                        </a:solidFill>
                        <a:latin typeface="Cambria Math" panose="02040503050406030204" pitchFamily="18" charset="0"/>
                      </a:rPr>
                      <m:t>𝑘</m:t>
                    </m:r>
                    <m:r>
                      <a:rPr lang="en-NZ" altLang="ja-JP" sz="1400" b="0" i="1" smtClean="0">
                        <a:solidFill>
                          <a:schemeClr val="bg2">
                            <a:lumMod val="50000"/>
                          </a:schemeClr>
                        </a:solidFill>
                        <a:latin typeface="Cambria Math" panose="02040503050406030204" pitchFamily="18" charset="0"/>
                      </a:rPr>
                      <m:t>=3,   </m:t>
                    </m:r>
                    <m:r>
                      <a:rPr lang="en-NZ" altLang="ja-JP" sz="1400" b="0" i="1" smtClean="0">
                        <a:solidFill>
                          <a:schemeClr val="bg2">
                            <a:lumMod val="50000"/>
                          </a:schemeClr>
                        </a:solidFill>
                        <a:latin typeface="Cambria Math" panose="02040503050406030204" pitchFamily="18" charset="0"/>
                      </a:rPr>
                      <m:t>𝑁</m:t>
                    </m:r>
                    <m:r>
                      <a:rPr lang="en-NZ" altLang="ja-JP" sz="1400" b="0" i="1" smtClean="0">
                        <a:solidFill>
                          <a:schemeClr val="bg2">
                            <a:lumMod val="50000"/>
                          </a:schemeClr>
                        </a:solidFill>
                        <a:latin typeface="Cambria Math" panose="02040503050406030204" pitchFamily="18" charset="0"/>
                      </a:rPr>
                      <m:t>=6</m:t>
                    </m:r>
                  </m:oMath>
                </a14:m>
                <a:endParaRPr lang="en-NZ" altLang="ja-JP" sz="1400" b="0" dirty="0">
                  <a:solidFill>
                    <a:schemeClr val="bg2">
                      <a:lumMod val="50000"/>
                    </a:schemeClr>
                  </a:solidFill>
                </a:endParaRPr>
              </a:p>
              <a:p>
                <a:pPr>
                  <a:lnSpc>
                    <a:spcPct val="100000"/>
                  </a:lnSpc>
                </a:pPr>
                <a14:m>
                  <m:oMathPara xmlns:m="http://schemas.openxmlformats.org/officeDocument/2006/math">
                    <m:oMathParaPr>
                      <m:jc m:val="centerGroup"/>
                    </m:oMathParaPr>
                    <m:oMath xmlns:m="http://schemas.openxmlformats.org/officeDocument/2006/math">
                      <m:r>
                        <a:rPr lang="en-NZ" altLang="ja-JP" sz="1400" b="0" i="1" smtClean="0">
                          <a:solidFill>
                            <a:schemeClr val="bg2">
                              <a:lumMod val="50000"/>
                            </a:schemeClr>
                          </a:solidFill>
                          <a:latin typeface="Cambria Math" panose="02040503050406030204" pitchFamily="18" charset="0"/>
                        </a:rPr>
                        <m:t>𝐹</m:t>
                      </m:r>
                      <m:r>
                        <a:rPr lang="en-NZ" altLang="ja-JP" sz="1400" b="0" i="1" smtClean="0">
                          <a:solidFill>
                            <a:schemeClr val="bg2">
                              <a:lumMod val="50000"/>
                            </a:schemeClr>
                          </a:solidFill>
                          <a:latin typeface="Cambria Math" panose="02040503050406030204" pitchFamily="18" charset="0"/>
                        </a:rPr>
                        <m:t> = </m:t>
                      </m:r>
                      <m:f>
                        <m:fPr>
                          <m:ctrlPr>
                            <a:rPr lang="en-NZ" altLang="ja-JP" sz="1400" b="0" i="1" smtClean="0">
                              <a:solidFill>
                                <a:schemeClr val="bg2">
                                  <a:lumMod val="50000"/>
                                </a:schemeClr>
                              </a:solidFill>
                              <a:latin typeface="Cambria Math" panose="02040503050406030204" pitchFamily="18" charset="0"/>
                            </a:rPr>
                          </m:ctrlPr>
                        </m:fPr>
                        <m:num>
                          <m:r>
                            <a:rPr lang="en-NZ" altLang="ja-JP" sz="1400" b="0" i="1" smtClean="0">
                              <a:solidFill>
                                <a:schemeClr val="bg2">
                                  <a:lumMod val="50000"/>
                                </a:schemeClr>
                              </a:solidFill>
                              <a:latin typeface="Cambria Math" panose="02040503050406030204" pitchFamily="18" charset="0"/>
                            </a:rPr>
                            <m:t>𝑀𝑆𝑇</m:t>
                          </m:r>
                        </m:num>
                        <m:den>
                          <m:r>
                            <a:rPr lang="en-NZ" altLang="ja-JP" sz="1400" b="0" i="1" smtClean="0">
                              <a:solidFill>
                                <a:schemeClr val="bg2">
                                  <a:lumMod val="50000"/>
                                </a:schemeClr>
                              </a:solidFill>
                              <a:latin typeface="Cambria Math" panose="02040503050406030204" pitchFamily="18" charset="0"/>
                            </a:rPr>
                            <m:t>𝑀𝑆𝐸</m:t>
                          </m:r>
                        </m:den>
                      </m:f>
                      <m:r>
                        <a:rPr lang="en-NZ" altLang="ja-JP" sz="1400" b="0" i="1" smtClean="0">
                          <a:solidFill>
                            <a:schemeClr val="bg2">
                              <a:lumMod val="50000"/>
                            </a:schemeClr>
                          </a:solidFill>
                          <a:latin typeface="Cambria Math" panose="02040503050406030204" pitchFamily="18" charset="0"/>
                        </a:rPr>
                        <m:t> = </m:t>
                      </m:r>
                      <m:f>
                        <m:fPr>
                          <m:ctrlPr>
                            <a:rPr lang="en-NZ" altLang="ja-JP" sz="1400" b="0" i="1" smtClean="0">
                              <a:solidFill>
                                <a:schemeClr val="bg2">
                                  <a:lumMod val="50000"/>
                                </a:schemeClr>
                              </a:solidFill>
                              <a:latin typeface="Cambria Math" panose="02040503050406030204" pitchFamily="18" charset="0"/>
                            </a:rPr>
                          </m:ctrlPr>
                        </m:fPr>
                        <m:num>
                          <m:f>
                            <m:fPr>
                              <m:type m:val="lin"/>
                              <m:ctrlPr>
                                <a:rPr lang="en-NZ" altLang="ja-JP" sz="1400" b="0" i="1" smtClean="0">
                                  <a:solidFill>
                                    <a:schemeClr val="bg2">
                                      <a:lumMod val="50000"/>
                                    </a:schemeClr>
                                  </a:solidFill>
                                  <a:latin typeface="Cambria Math" panose="02040503050406030204" pitchFamily="18" charset="0"/>
                                </a:rPr>
                              </m:ctrlPr>
                            </m:fPr>
                            <m:num>
                              <m:r>
                                <a:rPr lang="en-NZ" altLang="ja-JP" sz="1400" b="0" i="1" smtClean="0">
                                  <a:solidFill>
                                    <a:schemeClr val="bg2">
                                      <a:lumMod val="50000"/>
                                    </a:schemeClr>
                                  </a:solidFill>
                                  <a:latin typeface="Cambria Math" panose="02040503050406030204" pitchFamily="18" charset="0"/>
                                </a:rPr>
                                <m:t>𝑆𝑆𝑇</m:t>
                              </m:r>
                            </m:num>
                            <m:den>
                              <m:r>
                                <a:rPr lang="en-NZ" altLang="ja-JP" sz="1400" b="0" i="1" smtClean="0">
                                  <a:solidFill>
                                    <a:schemeClr val="bg2">
                                      <a:lumMod val="50000"/>
                                    </a:schemeClr>
                                  </a:solidFill>
                                  <a:latin typeface="Cambria Math" panose="02040503050406030204" pitchFamily="18" charset="0"/>
                                </a:rPr>
                                <m:t>(</m:t>
                              </m:r>
                              <m:r>
                                <a:rPr lang="en-NZ" altLang="ja-JP" sz="1400" b="0" i="1" smtClean="0">
                                  <a:solidFill>
                                    <a:schemeClr val="bg2">
                                      <a:lumMod val="50000"/>
                                    </a:schemeClr>
                                  </a:solidFill>
                                  <a:latin typeface="Cambria Math" panose="02040503050406030204" pitchFamily="18" charset="0"/>
                                </a:rPr>
                                <m:t>𝑘</m:t>
                              </m:r>
                              <m:r>
                                <a:rPr lang="en-NZ" altLang="ja-JP" sz="1400" b="0" i="1" smtClean="0">
                                  <a:solidFill>
                                    <a:schemeClr val="bg2">
                                      <a:lumMod val="50000"/>
                                    </a:schemeClr>
                                  </a:solidFill>
                                  <a:latin typeface="Cambria Math" panose="02040503050406030204" pitchFamily="18" charset="0"/>
                                </a:rPr>
                                <m:t>−1)</m:t>
                              </m:r>
                            </m:den>
                          </m:f>
                        </m:num>
                        <m:den>
                          <m:f>
                            <m:fPr>
                              <m:type m:val="lin"/>
                              <m:ctrlPr>
                                <a:rPr lang="en-NZ" altLang="ja-JP" sz="1400" b="0" i="1" smtClean="0">
                                  <a:solidFill>
                                    <a:schemeClr val="bg2">
                                      <a:lumMod val="50000"/>
                                    </a:schemeClr>
                                  </a:solidFill>
                                  <a:latin typeface="Cambria Math" panose="02040503050406030204" pitchFamily="18" charset="0"/>
                                </a:rPr>
                              </m:ctrlPr>
                            </m:fPr>
                            <m:num>
                              <m:r>
                                <a:rPr lang="en-NZ" altLang="ja-JP" sz="1400" b="0" i="1" smtClean="0">
                                  <a:solidFill>
                                    <a:schemeClr val="bg2">
                                      <a:lumMod val="50000"/>
                                    </a:schemeClr>
                                  </a:solidFill>
                                  <a:latin typeface="Cambria Math" panose="02040503050406030204" pitchFamily="18" charset="0"/>
                                </a:rPr>
                                <m:t>𝑆𝑆𝐸</m:t>
                              </m:r>
                            </m:num>
                            <m:den>
                              <m:r>
                                <a:rPr lang="en-NZ" altLang="ja-JP" sz="1400" b="0" i="1" smtClean="0">
                                  <a:solidFill>
                                    <a:schemeClr val="bg2">
                                      <a:lumMod val="50000"/>
                                    </a:schemeClr>
                                  </a:solidFill>
                                  <a:latin typeface="Cambria Math" panose="02040503050406030204" pitchFamily="18" charset="0"/>
                                </a:rPr>
                                <m:t>(</m:t>
                              </m:r>
                              <m:r>
                                <a:rPr lang="en-NZ" altLang="ja-JP" sz="1400" b="0" i="1" smtClean="0">
                                  <a:solidFill>
                                    <a:schemeClr val="bg2">
                                      <a:lumMod val="50000"/>
                                    </a:schemeClr>
                                  </a:solidFill>
                                  <a:latin typeface="Cambria Math" panose="02040503050406030204" pitchFamily="18" charset="0"/>
                                </a:rPr>
                                <m:t>𝑁</m:t>
                              </m:r>
                              <m:r>
                                <a:rPr lang="en-NZ" altLang="ja-JP" sz="1400" b="0" i="1" smtClean="0">
                                  <a:solidFill>
                                    <a:schemeClr val="bg2">
                                      <a:lumMod val="50000"/>
                                    </a:schemeClr>
                                  </a:solidFill>
                                  <a:latin typeface="Cambria Math" panose="02040503050406030204" pitchFamily="18" charset="0"/>
                                </a:rPr>
                                <m:t>−</m:t>
                              </m:r>
                              <m:r>
                                <a:rPr lang="en-NZ" altLang="ja-JP" sz="1400" b="0" i="1" smtClean="0">
                                  <a:solidFill>
                                    <a:schemeClr val="bg2">
                                      <a:lumMod val="50000"/>
                                    </a:schemeClr>
                                  </a:solidFill>
                                  <a:latin typeface="Cambria Math" panose="02040503050406030204" pitchFamily="18" charset="0"/>
                                </a:rPr>
                                <m:t>𝑘</m:t>
                              </m:r>
                              <m:r>
                                <a:rPr lang="en-NZ" altLang="ja-JP" sz="1400" b="0" i="1" smtClean="0">
                                  <a:solidFill>
                                    <a:schemeClr val="bg2">
                                      <a:lumMod val="50000"/>
                                    </a:schemeClr>
                                  </a:solidFill>
                                  <a:latin typeface="Cambria Math" panose="02040503050406030204" pitchFamily="18" charset="0"/>
                                </a:rPr>
                                <m:t>)</m:t>
                              </m:r>
                            </m:den>
                          </m:f>
                        </m:den>
                      </m:f>
                      <m:r>
                        <a:rPr lang="en-NZ" altLang="ja-JP" sz="1400" b="0" i="1" smtClean="0">
                          <a:solidFill>
                            <a:schemeClr val="bg2">
                              <a:lumMod val="50000"/>
                            </a:schemeClr>
                          </a:solidFill>
                          <a:latin typeface="Cambria Math" panose="02040503050406030204" pitchFamily="18" charset="0"/>
                        </a:rPr>
                        <m:t> = </m:t>
                      </m:r>
                      <m:f>
                        <m:fPr>
                          <m:ctrlPr>
                            <a:rPr lang="en-NZ" altLang="ja-JP" sz="1400" i="1">
                              <a:solidFill>
                                <a:schemeClr val="bg2">
                                  <a:lumMod val="50000"/>
                                </a:schemeClr>
                              </a:solidFill>
                              <a:latin typeface="Cambria Math" panose="02040503050406030204" pitchFamily="18" charset="0"/>
                            </a:rPr>
                          </m:ctrlPr>
                        </m:fPr>
                        <m:num>
                          <m:f>
                            <m:fPr>
                              <m:type m:val="lin"/>
                              <m:ctrlPr>
                                <a:rPr lang="en-NZ" altLang="ja-JP" sz="1400" i="1">
                                  <a:solidFill>
                                    <a:schemeClr val="bg2">
                                      <a:lumMod val="50000"/>
                                    </a:schemeClr>
                                  </a:solidFill>
                                  <a:latin typeface="Cambria Math" panose="02040503050406030204" pitchFamily="18" charset="0"/>
                                </a:rPr>
                              </m:ctrlPr>
                            </m:fPr>
                            <m:num>
                              <m:r>
                                <a:rPr lang="en-NZ" altLang="ja-JP" sz="1400" i="1">
                                  <a:solidFill>
                                    <a:schemeClr val="bg2">
                                      <a:lumMod val="50000"/>
                                    </a:schemeClr>
                                  </a:solidFill>
                                  <a:latin typeface="Cambria Math" panose="02040503050406030204" pitchFamily="18" charset="0"/>
                                </a:rPr>
                                <m:t>𝑆𝑆𝑇</m:t>
                              </m:r>
                            </m:num>
                            <m:den>
                              <m:r>
                                <a:rPr lang="en-NZ" altLang="ja-JP" sz="1400" b="0" i="1" smtClean="0">
                                  <a:solidFill>
                                    <a:schemeClr val="bg2">
                                      <a:lumMod val="50000"/>
                                    </a:schemeClr>
                                  </a:solidFill>
                                  <a:latin typeface="Cambria Math" panose="02040503050406030204" pitchFamily="18" charset="0"/>
                                </a:rPr>
                                <m:t> 2</m:t>
                              </m:r>
                            </m:den>
                          </m:f>
                        </m:num>
                        <m:den>
                          <m:f>
                            <m:fPr>
                              <m:type m:val="lin"/>
                              <m:ctrlPr>
                                <a:rPr lang="en-NZ" altLang="ja-JP" sz="1400" i="1">
                                  <a:solidFill>
                                    <a:schemeClr val="bg2">
                                      <a:lumMod val="50000"/>
                                    </a:schemeClr>
                                  </a:solidFill>
                                  <a:latin typeface="Cambria Math" panose="02040503050406030204" pitchFamily="18" charset="0"/>
                                </a:rPr>
                              </m:ctrlPr>
                            </m:fPr>
                            <m:num>
                              <m:r>
                                <a:rPr lang="en-NZ" altLang="ja-JP" sz="1400" i="1">
                                  <a:solidFill>
                                    <a:schemeClr val="bg2">
                                      <a:lumMod val="50000"/>
                                    </a:schemeClr>
                                  </a:solidFill>
                                  <a:latin typeface="Cambria Math" panose="02040503050406030204" pitchFamily="18" charset="0"/>
                                </a:rPr>
                                <m:t>𝑆𝑆𝐸</m:t>
                              </m:r>
                            </m:num>
                            <m:den>
                              <m:r>
                                <a:rPr lang="en-NZ" altLang="ja-JP" sz="1400" b="0" i="1" smtClean="0">
                                  <a:solidFill>
                                    <a:schemeClr val="bg2">
                                      <a:lumMod val="50000"/>
                                    </a:schemeClr>
                                  </a:solidFill>
                                  <a:latin typeface="Cambria Math" panose="02040503050406030204" pitchFamily="18" charset="0"/>
                                </a:rPr>
                                <m:t> 3</m:t>
                              </m:r>
                            </m:den>
                          </m:f>
                        </m:den>
                      </m:f>
                    </m:oMath>
                  </m:oMathPara>
                </a14:m>
                <a:endParaRPr lang="en-NZ" altLang="ja-JP" sz="1400" dirty="0">
                  <a:solidFill>
                    <a:schemeClr val="bg2">
                      <a:lumMod val="50000"/>
                    </a:schemeClr>
                  </a:solidFill>
                </a:endParaRPr>
              </a:p>
            </p:txBody>
          </p:sp>
        </mc:Choice>
        <mc:Fallback xmlns="">
          <p:sp>
            <p:nvSpPr>
              <p:cNvPr id="8" name="Text Placeholder 5">
                <a:extLst>
                  <a:ext uri="{FF2B5EF4-FFF2-40B4-BE49-F238E27FC236}">
                    <a16:creationId xmlns:a16="http://schemas.microsoft.com/office/drawing/2014/main" id="{09E873CE-3E0A-DCAB-4B55-A90C37F9B94C}"/>
                  </a:ext>
                </a:extLst>
              </p:cNvPr>
              <p:cNvSpPr txBox="1">
                <a:spLocks noRot="1" noChangeAspect="1" noMove="1" noResize="1" noEditPoints="1" noAdjustHandles="1" noChangeArrowheads="1" noChangeShapeType="1" noTextEdit="1"/>
              </p:cNvSpPr>
              <p:nvPr/>
            </p:nvSpPr>
            <p:spPr>
              <a:xfrm>
                <a:off x="2606769" y="5781340"/>
                <a:ext cx="3619967" cy="849398"/>
              </a:xfrm>
              <a:prstGeom prst="rect">
                <a:avLst/>
              </a:prstGeom>
              <a:blipFill>
                <a:blip r:embed="rId5"/>
                <a:stretch>
                  <a:fillRect t="-10000" r="-2192" b="-45000"/>
                </a:stretch>
              </a:blipFill>
            </p:spPr>
            <p:txBody>
              <a:bodyPr/>
              <a:lstStyle/>
              <a:p>
                <a:r>
                  <a:rPr lang="en-NZ">
                    <a:noFill/>
                  </a:rPr>
                  <a:t> </a:t>
                </a:r>
              </a:p>
            </p:txBody>
          </p:sp>
        </mc:Fallback>
      </mc:AlternateContent>
      <p:cxnSp>
        <p:nvCxnSpPr>
          <p:cNvPr id="16" name="Straight Arrow Connector 15">
            <a:extLst>
              <a:ext uri="{FF2B5EF4-FFF2-40B4-BE49-F238E27FC236}">
                <a16:creationId xmlns:a16="http://schemas.microsoft.com/office/drawing/2014/main" id="{6B57A436-95AE-8A37-132E-EE9F0C2ACA37}"/>
              </a:ext>
            </a:extLst>
          </p:cNvPr>
          <p:cNvCxnSpPr>
            <a:cxnSpLocks/>
          </p:cNvCxnSpPr>
          <p:nvPr/>
        </p:nvCxnSpPr>
        <p:spPr>
          <a:xfrm>
            <a:off x="1695680" y="5631715"/>
            <a:ext cx="0" cy="35247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44805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3" grpId="0" animBg="1"/>
      <p:bldP spid="8"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44DC287-46F2-2B9A-71C0-99A03A64F4CF}"/>
              </a:ext>
            </a:extLst>
          </p:cNvPr>
          <p:cNvPicPr>
            <a:picLocks noChangeAspect="1"/>
          </p:cNvPicPr>
          <p:nvPr/>
        </p:nvPicPr>
        <p:blipFill>
          <a:blip r:embed="rId2"/>
          <a:stretch>
            <a:fillRect/>
          </a:stretch>
        </p:blipFill>
        <p:spPr>
          <a:xfrm>
            <a:off x="591402" y="1511717"/>
            <a:ext cx="6682855" cy="1002901"/>
          </a:xfrm>
          <a:prstGeom prst="rect">
            <a:avLst/>
          </a:prstGeom>
        </p:spPr>
      </p:pic>
      <p:pic>
        <p:nvPicPr>
          <p:cNvPr id="26" name="Picture 25">
            <a:extLst>
              <a:ext uri="{FF2B5EF4-FFF2-40B4-BE49-F238E27FC236}">
                <a16:creationId xmlns:a16="http://schemas.microsoft.com/office/drawing/2014/main" id="{BB51E010-D319-162E-D931-29FFE717E6AB}"/>
              </a:ext>
            </a:extLst>
          </p:cNvPr>
          <p:cNvPicPr>
            <a:picLocks noChangeAspect="1"/>
          </p:cNvPicPr>
          <p:nvPr/>
        </p:nvPicPr>
        <p:blipFill>
          <a:blip r:embed="rId3"/>
          <a:stretch>
            <a:fillRect/>
          </a:stretch>
        </p:blipFill>
        <p:spPr>
          <a:xfrm>
            <a:off x="636719" y="1461427"/>
            <a:ext cx="6168789" cy="447675"/>
          </a:xfrm>
          <a:prstGeom prst="rect">
            <a:avLst/>
          </a:prstGeom>
        </p:spPr>
      </p:pic>
      <p:sp>
        <p:nvSpPr>
          <p:cNvPr id="10" name="Slide Number Placeholder 3">
            <a:extLst>
              <a:ext uri="{FF2B5EF4-FFF2-40B4-BE49-F238E27FC236}">
                <a16:creationId xmlns:a16="http://schemas.microsoft.com/office/drawing/2014/main" id="{B0C9041D-77F0-4656-90D4-0E84B7AC6B27}"/>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54AD89C-DF1E-4948-B597-5DD47B34A9CA}" type="slidenum">
              <a:rPr kumimoji="1" lang="ja-JP" altLang="en-US" sz="4000" b="0" i="0" u="none" strike="noStrike" kern="1200" cap="none" spc="0" normalizeH="0" baseline="0" noProof="0" smtClean="0">
                <a:ln>
                  <a:noFill/>
                </a:ln>
                <a:solidFill>
                  <a:srgbClr val="575454">
                    <a:lumMod val="20000"/>
                    <a:lumOff val="80000"/>
                  </a:srgbClr>
                </a:solidFill>
                <a:effectLst/>
                <a:uLnTx/>
                <a:uFillTx/>
                <a:latin typeface="Coo Hew"/>
                <a:ea typeface="游ゴシック" panose="020B0400000000000000"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28</a:t>
            </a:fld>
            <a:endParaRPr kumimoji="1" lang="ja-JP" altLang="en-US" sz="4000" b="0" i="0" u="none" strike="noStrike" kern="1200" cap="none" spc="0" normalizeH="0" baseline="0" noProof="0" dirty="0">
              <a:ln>
                <a:noFill/>
              </a:ln>
              <a:solidFill>
                <a:srgbClr val="575454">
                  <a:lumMod val="20000"/>
                  <a:lumOff val="80000"/>
                </a:srgbClr>
              </a:solidFill>
              <a:effectLst/>
              <a:uLnTx/>
              <a:uFillTx/>
              <a:latin typeface="Coo Hew"/>
              <a:ea typeface="游ゴシック" panose="020B0400000000000000" pitchFamily="34" charset="-128"/>
              <a:cs typeface="+mn-cs"/>
            </a:endParaRPr>
          </a:p>
        </p:txBody>
      </p:sp>
      <p:sp>
        <p:nvSpPr>
          <p:cNvPr id="21" name="Title 6">
            <a:extLst>
              <a:ext uri="{FF2B5EF4-FFF2-40B4-BE49-F238E27FC236}">
                <a16:creationId xmlns:a16="http://schemas.microsoft.com/office/drawing/2014/main" id="{7C963C88-6E6E-2444-9663-776716CBAA9D}"/>
              </a:ext>
            </a:extLst>
          </p:cNvPr>
          <p:cNvSpPr txBox="1">
            <a:spLocks/>
          </p:cNvSpPr>
          <p:nvPr/>
        </p:nvSpPr>
        <p:spPr>
          <a:xfrm>
            <a:off x="251224" y="237833"/>
            <a:ext cx="9411391" cy="607201"/>
          </a:xfrm>
          <a:prstGeom prst="rect">
            <a:avLst/>
          </a:prstGeom>
        </p:spPr>
        <p:txBody>
          <a:bodyPr anchor="t">
            <a:normAutofit/>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pPr marL="0" marR="0" lvl="0" indent="0" algn="l" defTabSz="914324" rtl="0" eaLnBrk="1" fontAlgn="auto" latinLnBrk="0" hangingPunct="1">
              <a:lnSpc>
                <a:spcPct val="90000"/>
              </a:lnSpc>
              <a:spcBef>
                <a:spcPct val="0"/>
              </a:spcBef>
              <a:spcAft>
                <a:spcPts val="0"/>
              </a:spcAft>
              <a:buClrTx/>
              <a:buSzTx/>
              <a:buFontTx/>
              <a:buNone/>
              <a:tabLst/>
              <a:defRPr/>
            </a:pPr>
            <a:r>
              <a:rPr lang="en-US" altLang="ja-JP" b="1" u="sng" dirty="0">
                <a:solidFill>
                  <a:prstClr val="black"/>
                </a:solidFill>
                <a:latin typeface="Calibri" panose="020F0502020204030204"/>
                <a:ea typeface="游ゴシック Light" panose="020B0300000000000000" pitchFamily="34" charset="-128"/>
              </a:rPr>
              <a:t>5</a:t>
            </a:r>
            <a:r>
              <a:rPr kumimoji="1" lang="en-US" altLang="ja-JP"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rPr>
              <a:t>.3a – Drug Sourcing Example:</a:t>
            </a:r>
            <a:endParaRPr kumimoji="1" lang="ja-JP" altLang="en-US"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endParaRPr>
          </a:p>
        </p:txBody>
      </p:sp>
      <p:sp>
        <p:nvSpPr>
          <p:cNvPr id="11" name="Text Placeholder 5">
            <a:extLst>
              <a:ext uri="{FF2B5EF4-FFF2-40B4-BE49-F238E27FC236}">
                <a16:creationId xmlns:a16="http://schemas.microsoft.com/office/drawing/2014/main" id="{7B5CEE78-46DE-D327-3299-AC3CD2863429}"/>
              </a:ext>
            </a:extLst>
          </p:cNvPr>
          <p:cNvSpPr txBox="1">
            <a:spLocks/>
          </p:cNvSpPr>
          <p:nvPr/>
        </p:nvSpPr>
        <p:spPr>
          <a:xfrm>
            <a:off x="3011606" y="6520328"/>
            <a:ext cx="6168789" cy="30855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ctr">
              <a:lnSpc>
                <a:spcPct val="100000"/>
              </a:lnSpc>
            </a:pPr>
            <a:r>
              <a:rPr lang="en-US" altLang="ja-JP" sz="1200" dirty="0">
                <a:solidFill>
                  <a:srgbClr val="C00000"/>
                </a:solidFill>
              </a:rPr>
              <a:t>Associated code = </a:t>
            </a:r>
            <a:r>
              <a:rPr lang="en-NZ" altLang="ja-JP" sz="1200" dirty="0">
                <a:solidFill>
                  <a:srgbClr val="C00000"/>
                </a:solidFill>
              </a:rPr>
              <a:t>5.3 - Drug Source (Two Stage Nested Design Example)</a:t>
            </a:r>
            <a:endParaRPr lang="en-US" altLang="ja-JP" sz="1200" b="1" i="1" dirty="0">
              <a:solidFill>
                <a:srgbClr val="C00000"/>
              </a:solidFill>
            </a:endParaRPr>
          </a:p>
        </p:txBody>
      </p:sp>
      <p:sp>
        <p:nvSpPr>
          <p:cNvPr id="20" name="Text Placeholder 5">
            <a:extLst>
              <a:ext uri="{FF2B5EF4-FFF2-40B4-BE49-F238E27FC236}">
                <a16:creationId xmlns:a16="http://schemas.microsoft.com/office/drawing/2014/main" id="{40B5F946-3388-2CDF-CF32-83474F9BF913}"/>
              </a:ext>
            </a:extLst>
          </p:cNvPr>
          <p:cNvSpPr txBox="1">
            <a:spLocks/>
          </p:cNvSpPr>
          <p:nvPr/>
        </p:nvSpPr>
        <p:spPr>
          <a:xfrm>
            <a:off x="418458" y="1006751"/>
            <a:ext cx="6270052" cy="504967"/>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1800" b="1" dirty="0">
                <a:solidFill>
                  <a:schemeClr val="tx1"/>
                </a:solidFill>
              </a:rPr>
              <a:t>Calculating proportion of variance using the </a:t>
            </a:r>
            <a:r>
              <a:rPr lang="en-NZ" altLang="ja-JP" sz="1800" b="1" dirty="0" err="1">
                <a:solidFill>
                  <a:schemeClr val="tx1"/>
                </a:solidFill>
              </a:rPr>
              <a:t>aov</a:t>
            </a:r>
            <a:r>
              <a:rPr lang="en-NZ" altLang="ja-JP" sz="1800" b="1" dirty="0">
                <a:solidFill>
                  <a:schemeClr val="tx1"/>
                </a:solidFill>
              </a:rPr>
              <a:t>() command </a:t>
            </a:r>
            <a:r>
              <a:rPr lang="en-NZ" altLang="ja-JP" sz="1800" dirty="0">
                <a:solidFill>
                  <a:srgbClr val="C00000"/>
                </a:solidFill>
                <a:sym typeface="Wingdings" panose="05000000000000000000" pitchFamily="2" charset="2"/>
              </a:rPr>
              <a:t></a:t>
            </a:r>
            <a:endParaRPr lang="en-NZ" altLang="ja-JP" sz="1800" dirty="0">
              <a:solidFill>
                <a:srgbClr val="C00000"/>
              </a:solidFill>
            </a:endParaRPr>
          </a:p>
        </p:txBody>
      </p:sp>
      <p:pic>
        <p:nvPicPr>
          <p:cNvPr id="7" name="Picture 6">
            <a:extLst>
              <a:ext uri="{FF2B5EF4-FFF2-40B4-BE49-F238E27FC236}">
                <a16:creationId xmlns:a16="http://schemas.microsoft.com/office/drawing/2014/main" id="{F2530843-2B6A-951E-3880-EE008DF29DE1}"/>
              </a:ext>
            </a:extLst>
          </p:cNvPr>
          <p:cNvPicPr>
            <a:picLocks noChangeAspect="1"/>
          </p:cNvPicPr>
          <p:nvPr/>
        </p:nvPicPr>
        <p:blipFill>
          <a:blip r:embed="rId4"/>
          <a:stretch>
            <a:fillRect/>
          </a:stretch>
        </p:blipFill>
        <p:spPr>
          <a:xfrm>
            <a:off x="703997" y="2717248"/>
            <a:ext cx="6997648" cy="1281546"/>
          </a:xfrm>
          <a:prstGeom prst="rect">
            <a:avLst/>
          </a:prstGeom>
        </p:spPr>
      </p:pic>
      <mc:AlternateContent xmlns:mc="http://schemas.openxmlformats.org/markup-compatibility/2006" xmlns:a14="http://schemas.microsoft.com/office/drawing/2010/main">
        <mc:Choice Requires="a14">
          <p:sp>
            <p:nvSpPr>
              <p:cNvPr id="14" name="Text Placeholder 5">
                <a:extLst>
                  <a:ext uri="{FF2B5EF4-FFF2-40B4-BE49-F238E27FC236}">
                    <a16:creationId xmlns:a16="http://schemas.microsoft.com/office/drawing/2014/main" id="{3F0C5515-1562-33D8-DE40-96145B5D820B}"/>
                  </a:ext>
                </a:extLst>
              </p:cNvPr>
              <p:cNvSpPr txBox="1">
                <a:spLocks/>
              </p:cNvSpPr>
              <p:nvPr/>
            </p:nvSpPr>
            <p:spPr>
              <a:xfrm>
                <a:off x="6688511" y="1282891"/>
                <a:ext cx="5122460" cy="1689908"/>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285750" indent="-285750">
                  <a:lnSpc>
                    <a:spcPct val="100000"/>
                  </a:lnSpc>
                  <a:buFont typeface="Arial" panose="020B0604020202020204" pitchFamily="34" charset="0"/>
                  <a:buChar char="•"/>
                </a:pPr>
                <a14:m>
                  <m:oMath xmlns:m="http://schemas.openxmlformats.org/officeDocument/2006/math">
                    <m:r>
                      <a:rPr lang="en-NZ" altLang="ja-JP" sz="1800" b="0" i="1" smtClean="0">
                        <a:solidFill>
                          <a:srgbClr val="0070C0"/>
                        </a:solidFill>
                        <a:latin typeface="Cambria Math" panose="02040503050406030204" pitchFamily="18" charset="0"/>
                      </a:rPr>
                      <m:t>𝑀</m:t>
                    </m:r>
                    <m:sSub>
                      <m:sSubPr>
                        <m:ctrlPr>
                          <a:rPr lang="en-NZ" altLang="ja-JP" sz="1800" b="0" i="1" smtClean="0">
                            <a:solidFill>
                              <a:srgbClr val="0070C0"/>
                            </a:solidFill>
                            <a:latin typeface="Cambria Math" panose="02040503050406030204" pitchFamily="18" charset="0"/>
                          </a:rPr>
                        </m:ctrlPr>
                      </m:sSubPr>
                      <m:e>
                        <m:r>
                          <a:rPr lang="en-NZ" altLang="ja-JP" sz="1800" b="0" i="1" smtClean="0">
                            <a:solidFill>
                              <a:srgbClr val="0070C0"/>
                            </a:solidFill>
                            <a:latin typeface="Cambria Math" panose="02040503050406030204" pitchFamily="18" charset="0"/>
                          </a:rPr>
                          <m:t>𝑆</m:t>
                        </m:r>
                      </m:e>
                      <m:sub>
                        <m:r>
                          <a:rPr lang="en-NZ" altLang="ja-JP" sz="1800" b="0" i="1" smtClean="0">
                            <a:solidFill>
                              <a:srgbClr val="0070C0"/>
                            </a:solidFill>
                            <a:latin typeface="Cambria Math" panose="02040503050406030204" pitchFamily="18" charset="0"/>
                          </a:rPr>
                          <m:t>𝐴</m:t>
                        </m:r>
                      </m:sub>
                    </m:sSub>
                    <m:r>
                      <a:rPr lang="en-NZ" altLang="ja-JP" sz="1800" b="0" i="1" smtClean="0">
                        <a:solidFill>
                          <a:srgbClr val="0070C0"/>
                        </a:solidFill>
                        <a:latin typeface="Cambria Math" panose="02040503050406030204" pitchFamily="18" charset="0"/>
                      </a:rPr>
                      <m:t>= </m:t>
                    </m:r>
                    <m:sSup>
                      <m:sSupPr>
                        <m:ctrlPr>
                          <a:rPr lang="en-NZ" altLang="ja-JP" sz="1800" b="0" i="1" smtClean="0">
                            <a:solidFill>
                              <a:srgbClr val="0070C0"/>
                            </a:solidFill>
                            <a:latin typeface="Cambria Math" panose="02040503050406030204" pitchFamily="18" charset="0"/>
                          </a:rPr>
                        </m:ctrlPr>
                      </m:sSupPr>
                      <m:e>
                        <m:acc>
                          <m:accPr>
                            <m:chr m:val="̂"/>
                            <m:ctrlPr>
                              <a:rPr lang="en-NZ" altLang="ja-JP" sz="1800" b="0" i="1" smtClean="0">
                                <a:solidFill>
                                  <a:srgbClr val="0070C0"/>
                                </a:solidFill>
                                <a:latin typeface="Cambria Math" panose="02040503050406030204" pitchFamily="18" charset="0"/>
                              </a:rPr>
                            </m:ctrlPr>
                          </m:accPr>
                          <m:e>
                            <m:r>
                              <a:rPr lang="en-NZ" altLang="ja-JP" sz="1800" b="0" i="1" smtClean="0">
                                <a:solidFill>
                                  <a:srgbClr val="0070C0"/>
                                </a:solidFill>
                                <a:latin typeface="Cambria Math" panose="02040503050406030204" pitchFamily="18" charset="0"/>
                              </a:rPr>
                              <m:t>𝜎</m:t>
                            </m:r>
                          </m:e>
                        </m:acc>
                      </m:e>
                      <m:sup>
                        <m:r>
                          <a:rPr lang="en-NZ" altLang="ja-JP" sz="1800" b="0" i="1" smtClean="0">
                            <a:solidFill>
                              <a:srgbClr val="0070C0"/>
                            </a:solidFill>
                            <a:latin typeface="Cambria Math" panose="02040503050406030204" pitchFamily="18" charset="0"/>
                          </a:rPr>
                          <m:t>2</m:t>
                        </m:r>
                      </m:sup>
                    </m:sSup>
                    <m:r>
                      <a:rPr lang="en-NZ" sz="1800" i="1">
                        <a:solidFill>
                          <a:srgbClr val="0070C0"/>
                        </a:solidFill>
                        <a:latin typeface="Cambria Math" panose="02040503050406030204" pitchFamily="18" charset="0"/>
                      </a:rPr>
                      <m:t>+  </m:t>
                    </m:r>
                    <m:r>
                      <a:rPr lang="en-NZ" sz="1800" i="1">
                        <a:solidFill>
                          <a:srgbClr val="0070C0"/>
                        </a:solidFill>
                        <a:latin typeface="Cambria Math" panose="02040503050406030204" pitchFamily="18" charset="0"/>
                      </a:rPr>
                      <m:t>𝑛</m:t>
                    </m:r>
                    <m:sSubSup>
                      <m:sSubSupPr>
                        <m:ctrlPr>
                          <a:rPr lang="en-NZ" altLang="ja-JP" sz="1800" b="0" i="1" smtClean="0">
                            <a:solidFill>
                              <a:srgbClr val="0070C0"/>
                            </a:solidFill>
                            <a:latin typeface="Cambria Math" panose="02040503050406030204" pitchFamily="18" charset="0"/>
                          </a:rPr>
                        </m:ctrlPr>
                      </m:sSubSupPr>
                      <m:e>
                        <m:r>
                          <a:rPr lang="en-NZ" altLang="ja-JP" sz="1800" b="0" i="1" smtClean="0">
                            <a:solidFill>
                              <a:srgbClr val="0070C0"/>
                            </a:solidFill>
                            <a:latin typeface="Cambria Math" panose="02040503050406030204" pitchFamily="18" charset="0"/>
                          </a:rPr>
                          <m:t> </m:t>
                        </m:r>
                        <m:acc>
                          <m:accPr>
                            <m:chr m:val="̂"/>
                            <m:ctrlPr>
                              <a:rPr lang="en-NZ" altLang="ja-JP" sz="1800" i="1">
                                <a:solidFill>
                                  <a:srgbClr val="0070C0"/>
                                </a:solidFill>
                                <a:latin typeface="Cambria Math" panose="02040503050406030204" pitchFamily="18" charset="0"/>
                              </a:rPr>
                            </m:ctrlPr>
                          </m:accPr>
                          <m:e>
                            <m:r>
                              <a:rPr lang="en-NZ" altLang="ja-JP" sz="1800" i="1">
                                <a:solidFill>
                                  <a:srgbClr val="0070C0"/>
                                </a:solidFill>
                                <a:latin typeface="Cambria Math" panose="02040503050406030204" pitchFamily="18" charset="0"/>
                              </a:rPr>
                              <m:t>𝜎</m:t>
                            </m:r>
                          </m:e>
                        </m:acc>
                      </m:e>
                      <m:sub>
                        <m:r>
                          <a:rPr lang="en-NZ" altLang="ja-JP" sz="1800" b="0" i="1" smtClean="0">
                            <a:solidFill>
                              <a:srgbClr val="0070C0"/>
                            </a:solidFill>
                            <a:latin typeface="Cambria Math" panose="02040503050406030204" pitchFamily="18" charset="0"/>
                          </a:rPr>
                          <m:t>𝐵</m:t>
                        </m:r>
                      </m:sub>
                      <m:sup>
                        <m:r>
                          <a:rPr lang="en-NZ" altLang="ja-JP" sz="1800" i="1">
                            <a:solidFill>
                              <a:srgbClr val="0070C0"/>
                            </a:solidFill>
                            <a:latin typeface="Cambria Math" panose="02040503050406030204" pitchFamily="18" charset="0"/>
                          </a:rPr>
                          <m:t>2</m:t>
                        </m:r>
                      </m:sup>
                    </m:sSubSup>
                    <m:r>
                      <a:rPr lang="en-NZ" sz="1800" i="1">
                        <a:solidFill>
                          <a:srgbClr val="0070C0"/>
                        </a:solidFill>
                        <a:latin typeface="Cambria Math" panose="02040503050406030204" pitchFamily="18" charset="0"/>
                      </a:rPr>
                      <m:t>+  </m:t>
                    </m:r>
                    <m:r>
                      <a:rPr lang="en-NZ" sz="1800" i="1">
                        <a:solidFill>
                          <a:srgbClr val="0070C0"/>
                        </a:solidFill>
                        <a:latin typeface="Cambria Math" panose="02040503050406030204" pitchFamily="18" charset="0"/>
                      </a:rPr>
                      <m:t>𝑏𝑛</m:t>
                    </m:r>
                    <m:r>
                      <a:rPr lang="en-NZ" sz="1800" i="1">
                        <a:solidFill>
                          <a:srgbClr val="0070C0"/>
                        </a:solidFill>
                        <a:latin typeface="Cambria Math" panose="02040503050406030204" pitchFamily="18" charset="0"/>
                      </a:rPr>
                      <m:t> </m:t>
                    </m:r>
                    <m:r>
                      <a:rPr lang="en-NZ" sz="1800" i="1">
                        <a:solidFill>
                          <a:srgbClr val="0070C0"/>
                        </a:solidFill>
                        <a:latin typeface="Cambria Math" panose="02040503050406030204" pitchFamily="18" charset="0"/>
                      </a:rPr>
                      <m:t>𝑣</m:t>
                    </m:r>
                    <m:d>
                      <m:dPr>
                        <m:ctrlPr>
                          <a:rPr lang="en-NZ" sz="1800" i="1">
                            <a:solidFill>
                              <a:srgbClr val="0070C0"/>
                            </a:solidFill>
                            <a:latin typeface="Cambria Math" panose="02040503050406030204" pitchFamily="18" charset="0"/>
                          </a:rPr>
                        </m:ctrlPr>
                      </m:dPr>
                      <m:e>
                        <m:acc>
                          <m:accPr>
                            <m:chr m:val="̂"/>
                            <m:ctrlPr>
                              <a:rPr lang="en-NZ" altLang="ja-JP" sz="1800" b="0" i="1" smtClean="0">
                                <a:solidFill>
                                  <a:srgbClr val="0070C0"/>
                                </a:solidFill>
                                <a:latin typeface="Cambria Math" panose="02040503050406030204" pitchFamily="18" charset="0"/>
                              </a:rPr>
                            </m:ctrlPr>
                          </m:accPr>
                          <m:e>
                            <m:r>
                              <a:rPr lang="en-NZ" altLang="ja-JP" sz="1800" b="0" i="1" smtClean="0">
                                <a:solidFill>
                                  <a:srgbClr val="0070C0"/>
                                </a:solidFill>
                                <a:latin typeface="Cambria Math" panose="02040503050406030204" pitchFamily="18" charset="0"/>
                              </a:rPr>
                              <m:t>𝛼</m:t>
                            </m:r>
                          </m:e>
                        </m:acc>
                      </m:e>
                    </m:d>
                    <m:r>
                      <a:rPr lang="en-NZ" sz="1800" b="0" i="1" smtClean="0">
                        <a:solidFill>
                          <a:srgbClr val="0070C0"/>
                        </a:solidFill>
                        <a:latin typeface="Cambria Math" panose="02040503050406030204" pitchFamily="18" charset="0"/>
                      </a:rPr>
                      <m:t> =  268.3</m:t>
                    </m:r>
                  </m:oMath>
                </a14:m>
                <a:endParaRPr lang="en-NZ" sz="1800" b="0" dirty="0">
                  <a:solidFill>
                    <a:srgbClr val="0070C0"/>
                  </a:solidFill>
                </a:endParaRPr>
              </a:p>
              <a:p>
                <a:pPr marL="285750" indent="-285750">
                  <a:lnSpc>
                    <a:spcPct val="100000"/>
                  </a:lnSpc>
                  <a:buFont typeface="Arial" panose="020B0604020202020204" pitchFamily="34" charset="0"/>
                  <a:buChar char="•"/>
                </a:pPr>
                <a:endParaRPr lang="en-NZ" altLang="ja-JP" sz="1800" dirty="0">
                  <a:solidFill>
                    <a:srgbClr val="0070C0"/>
                  </a:solidFill>
                </a:endParaRPr>
              </a:p>
              <a:p>
                <a:pPr marL="285750" indent="-285750">
                  <a:lnSpc>
                    <a:spcPct val="100000"/>
                  </a:lnSpc>
                  <a:buFont typeface="Arial" panose="020B0604020202020204" pitchFamily="34" charset="0"/>
                  <a:buChar char="•"/>
                </a:pPr>
                <a14:m>
                  <m:oMath xmlns:m="http://schemas.openxmlformats.org/officeDocument/2006/math">
                    <m:r>
                      <a:rPr lang="en-NZ" altLang="ja-JP" sz="1800" b="0" i="1" smtClean="0">
                        <a:solidFill>
                          <a:srgbClr val="0070C0"/>
                        </a:solidFill>
                        <a:latin typeface="Cambria Math" panose="02040503050406030204" pitchFamily="18" charset="0"/>
                      </a:rPr>
                      <m:t>𝑀</m:t>
                    </m:r>
                    <m:sSub>
                      <m:sSubPr>
                        <m:ctrlPr>
                          <a:rPr lang="en-NZ" altLang="ja-JP" sz="1800" b="0" i="1" smtClean="0">
                            <a:solidFill>
                              <a:srgbClr val="0070C0"/>
                            </a:solidFill>
                            <a:latin typeface="Cambria Math" panose="02040503050406030204" pitchFamily="18" charset="0"/>
                          </a:rPr>
                        </m:ctrlPr>
                      </m:sSubPr>
                      <m:e>
                        <m:r>
                          <a:rPr lang="en-NZ" altLang="ja-JP" sz="1800" b="0" i="1" smtClean="0">
                            <a:solidFill>
                              <a:srgbClr val="0070C0"/>
                            </a:solidFill>
                            <a:latin typeface="Cambria Math" panose="02040503050406030204" pitchFamily="18" charset="0"/>
                          </a:rPr>
                          <m:t>𝑆</m:t>
                        </m:r>
                      </m:e>
                      <m:sub>
                        <m:r>
                          <a:rPr lang="en-NZ" altLang="ja-JP" sz="1800" b="0" i="1" smtClean="0">
                            <a:solidFill>
                              <a:srgbClr val="0070C0"/>
                            </a:solidFill>
                            <a:latin typeface="Cambria Math" panose="02040503050406030204" pitchFamily="18" charset="0"/>
                          </a:rPr>
                          <m:t>𝐵</m:t>
                        </m:r>
                        <m:d>
                          <m:dPr>
                            <m:ctrlPr>
                              <a:rPr lang="en-NZ" altLang="ja-JP" sz="1800" b="0" i="1" smtClean="0">
                                <a:solidFill>
                                  <a:srgbClr val="0070C0"/>
                                </a:solidFill>
                                <a:latin typeface="Cambria Math" panose="02040503050406030204" pitchFamily="18" charset="0"/>
                              </a:rPr>
                            </m:ctrlPr>
                          </m:dPr>
                          <m:e>
                            <m:r>
                              <a:rPr lang="en-NZ" altLang="ja-JP" sz="1800" b="0" i="1" smtClean="0">
                                <a:solidFill>
                                  <a:srgbClr val="0070C0"/>
                                </a:solidFill>
                                <a:latin typeface="Cambria Math" panose="02040503050406030204" pitchFamily="18" charset="0"/>
                              </a:rPr>
                              <m:t>𝐴</m:t>
                            </m:r>
                          </m:e>
                        </m:d>
                      </m:sub>
                    </m:sSub>
                    <m:r>
                      <a:rPr lang="en-NZ" altLang="ja-JP" sz="1800" b="0" i="1" smtClean="0">
                        <a:solidFill>
                          <a:srgbClr val="0070C0"/>
                        </a:solidFill>
                        <a:latin typeface="Cambria Math" panose="02040503050406030204" pitchFamily="18" charset="0"/>
                      </a:rPr>
                      <m:t>  = </m:t>
                    </m:r>
                    <m:sSup>
                      <m:sSupPr>
                        <m:ctrlPr>
                          <a:rPr lang="en-NZ" altLang="ja-JP" sz="1800" i="1">
                            <a:solidFill>
                              <a:srgbClr val="0070C0"/>
                            </a:solidFill>
                            <a:latin typeface="Cambria Math" panose="02040503050406030204" pitchFamily="18" charset="0"/>
                          </a:rPr>
                        </m:ctrlPr>
                      </m:sSupPr>
                      <m:e>
                        <m:acc>
                          <m:accPr>
                            <m:chr m:val="̂"/>
                            <m:ctrlPr>
                              <a:rPr lang="en-NZ" altLang="ja-JP" sz="1800" i="1">
                                <a:solidFill>
                                  <a:srgbClr val="0070C0"/>
                                </a:solidFill>
                                <a:latin typeface="Cambria Math" panose="02040503050406030204" pitchFamily="18" charset="0"/>
                              </a:rPr>
                            </m:ctrlPr>
                          </m:accPr>
                          <m:e>
                            <m:r>
                              <a:rPr lang="en-NZ" altLang="ja-JP" sz="1800" b="0" i="1" smtClean="0">
                                <a:solidFill>
                                  <a:srgbClr val="0070C0"/>
                                </a:solidFill>
                                <a:latin typeface="Cambria Math" panose="02040503050406030204" pitchFamily="18" charset="0"/>
                              </a:rPr>
                              <m:t> </m:t>
                            </m:r>
                            <m:r>
                              <a:rPr lang="en-NZ" altLang="ja-JP" sz="1800" i="1">
                                <a:solidFill>
                                  <a:srgbClr val="0070C0"/>
                                </a:solidFill>
                                <a:latin typeface="Cambria Math" panose="02040503050406030204" pitchFamily="18" charset="0"/>
                              </a:rPr>
                              <m:t>𝜎</m:t>
                            </m:r>
                          </m:e>
                        </m:acc>
                      </m:e>
                      <m:sup>
                        <m:r>
                          <a:rPr lang="en-NZ" altLang="ja-JP" sz="1800" i="1">
                            <a:solidFill>
                              <a:srgbClr val="0070C0"/>
                            </a:solidFill>
                            <a:latin typeface="Cambria Math" panose="02040503050406030204" pitchFamily="18" charset="0"/>
                          </a:rPr>
                          <m:t>2</m:t>
                        </m:r>
                      </m:sup>
                    </m:sSup>
                    <m:r>
                      <a:rPr lang="en-NZ" sz="1800" i="1">
                        <a:solidFill>
                          <a:srgbClr val="0070C0"/>
                        </a:solidFill>
                        <a:latin typeface="Cambria Math" panose="02040503050406030204" pitchFamily="18" charset="0"/>
                      </a:rPr>
                      <m:t>+  </m:t>
                    </m:r>
                    <m:r>
                      <a:rPr lang="en-NZ" sz="1800" i="1">
                        <a:solidFill>
                          <a:srgbClr val="0070C0"/>
                        </a:solidFill>
                        <a:latin typeface="Cambria Math" panose="02040503050406030204" pitchFamily="18" charset="0"/>
                      </a:rPr>
                      <m:t>𝑛</m:t>
                    </m:r>
                    <m:sSubSup>
                      <m:sSubSupPr>
                        <m:ctrlPr>
                          <a:rPr lang="en-NZ" altLang="ja-JP" sz="1800" i="1">
                            <a:solidFill>
                              <a:srgbClr val="0070C0"/>
                            </a:solidFill>
                            <a:latin typeface="Cambria Math" panose="02040503050406030204" pitchFamily="18" charset="0"/>
                          </a:rPr>
                        </m:ctrlPr>
                      </m:sSubSupPr>
                      <m:e>
                        <m:r>
                          <a:rPr lang="en-NZ" altLang="ja-JP" sz="1800" i="1">
                            <a:solidFill>
                              <a:srgbClr val="0070C0"/>
                            </a:solidFill>
                            <a:latin typeface="Cambria Math" panose="02040503050406030204" pitchFamily="18" charset="0"/>
                          </a:rPr>
                          <m:t> </m:t>
                        </m:r>
                        <m:acc>
                          <m:accPr>
                            <m:chr m:val="̂"/>
                            <m:ctrlPr>
                              <a:rPr lang="en-NZ" altLang="ja-JP" sz="1800" i="1">
                                <a:solidFill>
                                  <a:srgbClr val="0070C0"/>
                                </a:solidFill>
                                <a:latin typeface="Cambria Math" panose="02040503050406030204" pitchFamily="18" charset="0"/>
                              </a:rPr>
                            </m:ctrlPr>
                          </m:accPr>
                          <m:e>
                            <m:r>
                              <a:rPr lang="en-NZ" altLang="ja-JP" sz="1800" i="1">
                                <a:solidFill>
                                  <a:srgbClr val="0070C0"/>
                                </a:solidFill>
                                <a:latin typeface="Cambria Math" panose="02040503050406030204" pitchFamily="18" charset="0"/>
                              </a:rPr>
                              <m:t>𝜎</m:t>
                            </m:r>
                          </m:e>
                        </m:acc>
                      </m:e>
                      <m:sub>
                        <m:r>
                          <a:rPr lang="en-NZ" altLang="ja-JP" sz="1800" i="1">
                            <a:solidFill>
                              <a:srgbClr val="0070C0"/>
                            </a:solidFill>
                            <a:latin typeface="Cambria Math" panose="02040503050406030204" pitchFamily="18" charset="0"/>
                          </a:rPr>
                          <m:t>𝐵</m:t>
                        </m:r>
                      </m:sub>
                      <m:sup>
                        <m:r>
                          <a:rPr lang="en-NZ" altLang="ja-JP" sz="1800" i="1">
                            <a:solidFill>
                              <a:srgbClr val="0070C0"/>
                            </a:solidFill>
                            <a:latin typeface="Cambria Math" panose="02040503050406030204" pitchFamily="18" charset="0"/>
                          </a:rPr>
                          <m:t>2</m:t>
                        </m:r>
                      </m:sup>
                    </m:sSubSup>
                    <m:r>
                      <a:rPr lang="en-NZ" altLang="ja-JP" sz="1800" b="0" i="1" smtClean="0">
                        <a:solidFill>
                          <a:srgbClr val="0070C0"/>
                        </a:solidFill>
                        <a:latin typeface="Cambria Math" panose="02040503050406030204" pitchFamily="18" charset="0"/>
                      </a:rPr>
                      <m:t>  =   181.3</m:t>
                    </m:r>
                  </m:oMath>
                </a14:m>
                <a:endParaRPr lang="en-NZ" altLang="ja-JP" sz="1800" dirty="0">
                  <a:solidFill>
                    <a:srgbClr val="0070C0"/>
                  </a:solidFill>
                </a:endParaRPr>
              </a:p>
              <a:p>
                <a:pPr>
                  <a:lnSpc>
                    <a:spcPct val="100000"/>
                  </a:lnSpc>
                </a:pPr>
                <a:endParaRPr lang="en-NZ" altLang="ja-JP" sz="1800" dirty="0">
                  <a:solidFill>
                    <a:srgbClr val="0070C0"/>
                  </a:solidFill>
                </a:endParaRPr>
              </a:p>
              <a:p>
                <a:pPr marL="285750" indent="-285750">
                  <a:lnSpc>
                    <a:spcPct val="100000"/>
                  </a:lnSpc>
                  <a:buFont typeface="Arial" panose="020B0604020202020204" pitchFamily="34" charset="0"/>
                  <a:buChar char="•"/>
                </a:pPr>
                <a14:m>
                  <m:oMath xmlns:m="http://schemas.openxmlformats.org/officeDocument/2006/math">
                    <m:r>
                      <a:rPr lang="en-NZ" altLang="ja-JP" sz="1800" i="1">
                        <a:solidFill>
                          <a:srgbClr val="0070C0"/>
                        </a:solidFill>
                        <a:latin typeface="Cambria Math" panose="02040503050406030204" pitchFamily="18" charset="0"/>
                      </a:rPr>
                      <m:t>𝑀</m:t>
                    </m:r>
                    <m:r>
                      <a:rPr lang="en-NZ" altLang="ja-JP" sz="1800" b="0" i="1" smtClean="0">
                        <a:solidFill>
                          <a:srgbClr val="0070C0"/>
                        </a:solidFill>
                        <a:latin typeface="Cambria Math" panose="02040503050406030204" pitchFamily="18" charset="0"/>
                      </a:rPr>
                      <m:t>𝑆𝐸</m:t>
                    </m:r>
                    <m:r>
                      <a:rPr lang="en-NZ" altLang="ja-JP" sz="1800" i="1">
                        <a:solidFill>
                          <a:srgbClr val="0070C0"/>
                        </a:solidFill>
                        <a:latin typeface="Cambria Math" panose="02040503050406030204" pitchFamily="18" charset="0"/>
                      </a:rPr>
                      <m:t>  = </m:t>
                    </m:r>
                    <m:sSup>
                      <m:sSupPr>
                        <m:ctrlPr>
                          <a:rPr lang="en-NZ" altLang="ja-JP" sz="1800" i="1">
                            <a:solidFill>
                              <a:srgbClr val="0070C0"/>
                            </a:solidFill>
                            <a:latin typeface="Cambria Math" panose="02040503050406030204" pitchFamily="18" charset="0"/>
                          </a:rPr>
                        </m:ctrlPr>
                      </m:sSupPr>
                      <m:e>
                        <m:acc>
                          <m:accPr>
                            <m:chr m:val="̂"/>
                            <m:ctrlPr>
                              <a:rPr lang="en-NZ" altLang="ja-JP" sz="1800" i="1">
                                <a:solidFill>
                                  <a:srgbClr val="0070C0"/>
                                </a:solidFill>
                                <a:latin typeface="Cambria Math" panose="02040503050406030204" pitchFamily="18" charset="0"/>
                              </a:rPr>
                            </m:ctrlPr>
                          </m:accPr>
                          <m:e>
                            <m:r>
                              <a:rPr lang="en-NZ" altLang="ja-JP" sz="1800" i="1">
                                <a:solidFill>
                                  <a:srgbClr val="0070C0"/>
                                </a:solidFill>
                                <a:latin typeface="Cambria Math" panose="02040503050406030204" pitchFamily="18" charset="0"/>
                              </a:rPr>
                              <m:t> </m:t>
                            </m:r>
                            <m:r>
                              <a:rPr lang="en-NZ" altLang="ja-JP" sz="1800" i="1">
                                <a:solidFill>
                                  <a:srgbClr val="0070C0"/>
                                </a:solidFill>
                                <a:latin typeface="Cambria Math" panose="02040503050406030204" pitchFamily="18" charset="0"/>
                              </a:rPr>
                              <m:t>𝜎</m:t>
                            </m:r>
                          </m:e>
                        </m:acc>
                      </m:e>
                      <m:sup>
                        <m:r>
                          <a:rPr lang="en-NZ" altLang="ja-JP" sz="1800" i="1">
                            <a:solidFill>
                              <a:srgbClr val="0070C0"/>
                            </a:solidFill>
                            <a:latin typeface="Cambria Math" panose="02040503050406030204" pitchFamily="18" charset="0"/>
                          </a:rPr>
                          <m:t>2</m:t>
                        </m:r>
                      </m:sup>
                    </m:sSup>
                    <m:r>
                      <a:rPr lang="en-NZ" altLang="ja-JP" sz="1800" b="0" i="1" smtClean="0">
                        <a:solidFill>
                          <a:srgbClr val="0070C0"/>
                        </a:solidFill>
                        <a:latin typeface="Cambria Math" panose="02040503050406030204" pitchFamily="18" charset="0"/>
                      </a:rPr>
                      <m:t> </m:t>
                    </m:r>
                    <m:r>
                      <a:rPr lang="en-NZ" altLang="ja-JP" sz="1800" i="1">
                        <a:solidFill>
                          <a:srgbClr val="0070C0"/>
                        </a:solidFill>
                        <a:latin typeface="Cambria Math" panose="02040503050406030204" pitchFamily="18" charset="0"/>
                      </a:rPr>
                      <m:t>=   </m:t>
                    </m:r>
                    <m:r>
                      <a:rPr lang="en-NZ" altLang="ja-JP" sz="1800" b="0" i="1" smtClean="0">
                        <a:solidFill>
                          <a:srgbClr val="0070C0"/>
                        </a:solidFill>
                        <a:latin typeface="Cambria Math" panose="02040503050406030204" pitchFamily="18" charset="0"/>
                      </a:rPr>
                      <m:t>41.9</m:t>
                    </m:r>
                  </m:oMath>
                </a14:m>
                <a:endParaRPr lang="en-NZ" altLang="ja-JP" sz="1800" dirty="0">
                  <a:solidFill>
                    <a:srgbClr val="0070C0"/>
                  </a:solidFill>
                </a:endParaRPr>
              </a:p>
            </p:txBody>
          </p:sp>
        </mc:Choice>
        <mc:Fallback xmlns="">
          <p:sp>
            <p:nvSpPr>
              <p:cNvPr id="14" name="Text Placeholder 5">
                <a:extLst>
                  <a:ext uri="{FF2B5EF4-FFF2-40B4-BE49-F238E27FC236}">
                    <a16:creationId xmlns:a16="http://schemas.microsoft.com/office/drawing/2014/main" id="{3F0C5515-1562-33D8-DE40-96145B5D820B}"/>
                  </a:ext>
                </a:extLst>
              </p:cNvPr>
              <p:cNvSpPr txBox="1">
                <a:spLocks noRot="1" noChangeAspect="1" noMove="1" noResize="1" noEditPoints="1" noAdjustHandles="1" noChangeArrowheads="1" noChangeShapeType="1" noTextEdit="1"/>
              </p:cNvSpPr>
              <p:nvPr/>
            </p:nvSpPr>
            <p:spPr>
              <a:xfrm>
                <a:off x="6688511" y="1282891"/>
                <a:ext cx="5122460" cy="1689908"/>
              </a:xfrm>
              <a:prstGeom prst="rect">
                <a:avLst/>
              </a:prstGeom>
              <a:blipFill>
                <a:blip r:embed="rId5"/>
                <a:stretch>
                  <a:fillRect l="-714" t="-1079"/>
                </a:stretch>
              </a:blipFill>
            </p:spPr>
            <p:txBody>
              <a:bodyPr/>
              <a:lstStyle/>
              <a:p>
                <a:r>
                  <a:rPr lang="en-NZ">
                    <a:noFill/>
                  </a:rPr>
                  <a:t> </a:t>
                </a:r>
              </a:p>
            </p:txBody>
          </p:sp>
        </mc:Fallback>
      </mc:AlternateContent>
      <p:cxnSp>
        <p:nvCxnSpPr>
          <p:cNvPr id="18" name="Straight Arrow Connector 17">
            <a:extLst>
              <a:ext uri="{FF2B5EF4-FFF2-40B4-BE49-F238E27FC236}">
                <a16:creationId xmlns:a16="http://schemas.microsoft.com/office/drawing/2014/main" id="{147275CD-760E-92E0-A1E1-A2B19CE52DE4}"/>
              </a:ext>
            </a:extLst>
          </p:cNvPr>
          <p:cNvCxnSpPr>
            <a:cxnSpLocks/>
            <a:stCxn id="22" idx="7"/>
          </p:cNvCxnSpPr>
          <p:nvPr/>
        </p:nvCxnSpPr>
        <p:spPr>
          <a:xfrm flipV="1">
            <a:off x="3024135" y="1511717"/>
            <a:ext cx="3664375" cy="1527676"/>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2" name="Oval 21">
            <a:extLst>
              <a:ext uri="{FF2B5EF4-FFF2-40B4-BE49-F238E27FC236}">
                <a16:creationId xmlns:a16="http://schemas.microsoft.com/office/drawing/2014/main" id="{61146E17-3A5D-4FFF-C9F9-AAE2A6031494}"/>
              </a:ext>
            </a:extLst>
          </p:cNvPr>
          <p:cNvSpPr/>
          <p:nvPr/>
        </p:nvSpPr>
        <p:spPr>
          <a:xfrm>
            <a:off x="2360136" y="3006927"/>
            <a:ext cx="777923" cy="221692"/>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23" name="Oval 22">
            <a:extLst>
              <a:ext uri="{FF2B5EF4-FFF2-40B4-BE49-F238E27FC236}">
                <a16:creationId xmlns:a16="http://schemas.microsoft.com/office/drawing/2014/main" id="{45416305-5232-2ACA-B280-EEBA806D9A88}"/>
              </a:ext>
            </a:extLst>
          </p:cNvPr>
          <p:cNvSpPr/>
          <p:nvPr/>
        </p:nvSpPr>
        <p:spPr>
          <a:xfrm>
            <a:off x="2360135" y="3186555"/>
            <a:ext cx="777923" cy="221692"/>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p>
        </p:txBody>
      </p:sp>
      <p:cxnSp>
        <p:nvCxnSpPr>
          <p:cNvPr id="24" name="Straight Arrow Connector 23">
            <a:extLst>
              <a:ext uri="{FF2B5EF4-FFF2-40B4-BE49-F238E27FC236}">
                <a16:creationId xmlns:a16="http://schemas.microsoft.com/office/drawing/2014/main" id="{AF67F786-163D-62C5-29C7-03D63D0F2D32}"/>
              </a:ext>
            </a:extLst>
          </p:cNvPr>
          <p:cNvCxnSpPr>
            <a:cxnSpLocks/>
          </p:cNvCxnSpPr>
          <p:nvPr/>
        </p:nvCxnSpPr>
        <p:spPr>
          <a:xfrm flipV="1">
            <a:off x="3138058" y="2088107"/>
            <a:ext cx="3550452" cy="1195665"/>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7" name="Oval 26">
            <a:extLst>
              <a:ext uri="{FF2B5EF4-FFF2-40B4-BE49-F238E27FC236}">
                <a16:creationId xmlns:a16="http://schemas.microsoft.com/office/drawing/2014/main" id="{A9DBF466-A351-747B-5042-FD5497EDB2AB}"/>
              </a:ext>
            </a:extLst>
          </p:cNvPr>
          <p:cNvSpPr/>
          <p:nvPr/>
        </p:nvSpPr>
        <p:spPr>
          <a:xfrm>
            <a:off x="2400151" y="3760883"/>
            <a:ext cx="777923" cy="221692"/>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p>
        </p:txBody>
      </p:sp>
      <p:cxnSp>
        <p:nvCxnSpPr>
          <p:cNvPr id="28" name="Straight Arrow Connector 27">
            <a:extLst>
              <a:ext uri="{FF2B5EF4-FFF2-40B4-BE49-F238E27FC236}">
                <a16:creationId xmlns:a16="http://schemas.microsoft.com/office/drawing/2014/main" id="{804BB0CF-5DCD-AF94-44E3-30447C924C52}"/>
              </a:ext>
            </a:extLst>
          </p:cNvPr>
          <p:cNvCxnSpPr>
            <a:cxnSpLocks/>
          </p:cNvCxnSpPr>
          <p:nvPr/>
        </p:nvCxnSpPr>
        <p:spPr>
          <a:xfrm flipV="1">
            <a:off x="3178074" y="2576554"/>
            <a:ext cx="3510436" cy="1281546"/>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9" name="Text Placeholder 5">
            <a:extLst>
              <a:ext uri="{FF2B5EF4-FFF2-40B4-BE49-F238E27FC236}">
                <a16:creationId xmlns:a16="http://schemas.microsoft.com/office/drawing/2014/main" id="{16F2E182-D496-59A5-475E-3D5947A7EDBB}"/>
              </a:ext>
            </a:extLst>
          </p:cNvPr>
          <p:cNvSpPr txBox="1">
            <a:spLocks/>
          </p:cNvSpPr>
          <p:nvPr/>
        </p:nvSpPr>
        <p:spPr>
          <a:xfrm>
            <a:off x="11246341" y="1877564"/>
            <a:ext cx="769723" cy="316388"/>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lang="en-NZ" altLang="ja-JP" sz="1800" i="1" dirty="0">
                <a:solidFill>
                  <a:schemeClr val="bg2">
                    <a:lumMod val="50000"/>
                  </a:schemeClr>
                </a:solidFill>
                <a:latin typeface="Calibri" panose="020F0502020204030204"/>
                <a:ea typeface="游ゴシック" panose="020B0400000000000000" pitchFamily="34" charset="-128"/>
              </a:rPr>
              <a:t>n = 5</a:t>
            </a:r>
            <a:endParaRPr kumimoji="1" lang="en-NZ" altLang="ja-JP" sz="1800" b="1" i="1" u="none" strike="noStrike" kern="1200" cap="none" spc="0" normalizeH="0" baseline="0" noProof="0" dirty="0">
              <a:ln>
                <a:noFill/>
              </a:ln>
              <a:solidFill>
                <a:schemeClr val="bg2">
                  <a:lumMod val="50000"/>
                </a:schemeClr>
              </a:solidFill>
              <a:effectLst/>
              <a:uLnTx/>
              <a:uFillTx/>
              <a:latin typeface="Calibri" panose="020F0502020204030204"/>
              <a:ea typeface="游ゴシック" panose="020B0400000000000000" pitchFamily="34" charset="-128"/>
              <a:cs typeface="+mn-cs"/>
            </a:endParaRPr>
          </a:p>
        </p:txBody>
      </p:sp>
      <p:sp>
        <p:nvSpPr>
          <p:cNvPr id="30" name="Text Placeholder 5">
            <a:extLst>
              <a:ext uri="{FF2B5EF4-FFF2-40B4-BE49-F238E27FC236}">
                <a16:creationId xmlns:a16="http://schemas.microsoft.com/office/drawing/2014/main" id="{4C302B52-925D-2840-62A3-9285BD25B520}"/>
              </a:ext>
            </a:extLst>
          </p:cNvPr>
          <p:cNvSpPr txBox="1">
            <a:spLocks/>
          </p:cNvSpPr>
          <p:nvPr/>
        </p:nvSpPr>
        <p:spPr>
          <a:xfrm>
            <a:off x="11280189" y="1281514"/>
            <a:ext cx="769723" cy="316388"/>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lang="en-NZ" altLang="ja-JP" sz="1800" i="1" dirty="0">
                <a:solidFill>
                  <a:schemeClr val="bg2">
                    <a:lumMod val="50000"/>
                  </a:schemeClr>
                </a:solidFill>
                <a:latin typeface="Calibri" panose="020F0502020204030204"/>
                <a:ea typeface="游ゴシック" panose="020B0400000000000000" pitchFamily="34" charset="-128"/>
              </a:rPr>
              <a:t>b = 2</a:t>
            </a:r>
            <a:endParaRPr kumimoji="1" lang="en-NZ" altLang="ja-JP" sz="1800" b="1" i="1" u="none" strike="noStrike" kern="1200" cap="none" spc="0" normalizeH="0" baseline="0" noProof="0" dirty="0">
              <a:ln>
                <a:noFill/>
              </a:ln>
              <a:solidFill>
                <a:schemeClr val="bg2">
                  <a:lumMod val="50000"/>
                </a:schemeClr>
              </a:solidFill>
              <a:effectLst/>
              <a:uLnTx/>
              <a:uFillTx/>
              <a:latin typeface="Calibri" panose="020F0502020204030204"/>
              <a:ea typeface="游ゴシック" panose="020B0400000000000000" pitchFamily="34" charset="-128"/>
              <a:cs typeface="+mn-cs"/>
            </a:endParaRPr>
          </a:p>
        </p:txBody>
      </p:sp>
      <p:sp>
        <p:nvSpPr>
          <p:cNvPr id="25" name="Footer Placeholder 2">
            <a:extLst>
              <a:ext uri="{FF2B5EF4-FFF2-40B4-BE49-F238E27FC236}">
                <a16:creationId xmlns:a16="http://schemas.microsoft.com/office/drawing/2014/main" id="{C5F6BC7F-791E-AF6D-5EFD-C3EE567ECAD3}"/>
              </a:ext>
            </a:extLst>
          </p:cNvPr>
          <p:cNvSpPr txBox="1">
            <a:spLocks/>
          </p:cNvSpPr>
          <p:nvPr/>
        </p:nvSpPr>
        <p:spPr>
          <a:xfrm>
            <a:off x="7397088" y="86139"/>
            <a:ext cx="4692278"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600" dirty="0">
                <a:solidFill>
                  <a:srgbClr val="DEDDDD"/>
                </a:solidFill>
                <a:latin typeface="Gidole"/>
                <a:ea typeface="游ゴシック" panose="020B0400000000000000" pitchFamily="34" charset="-128"/>
              </a:rPr>
              <a:t>5</a:t>
            </a:r>
            <a:r>
              <a:rPr kumimoji="1" lang="en-US" altLang="ja-JP"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rPr>
              <a:t>.3 – Computational Example 2-Stage Nested Design</a:t>
            </a:r>
            <a:endParaRPr kumimoji="1" lang="ja-JP" altLang="en-US"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endParaRPr>
          </a:p>
        </p:txBody>
      </p:sp>
      <mc:AlternateContent xmlns:mc="http://schemas.openxmlformats.org/markup-compatibility/2006" xmlns:a14="http://schemas.microsoft.com/office/drawing/2010/main">
        <mc:Choice Requires="a14">
          <p:sp>
            <p:nvSpPr>
              <p:cNvPr id="2" name="Text Placeholder 5">
                <a:extLst>
                  <a:ext uri="{FF2B5EF4-FFF2-40B4-BE49-F238E27FC236}">
                    <a16:creationId xmlns:a16="http://schemas.microsoft.com/office/drawing/2014/main" id="{6370144E-6994-E48B-5C82-9CC2B61E30A0}"/>
                  </a:ext>
                </a:extLst>
              </p:cNvPr>
              <p:cNvSpPr txBox="1">
                <a:spLocks/>
              </p:cNvSpPr>
              <p:nvPr/>
            </p:nvSpPr>
            <p:spPr>
              <a:xfrm>
                <a:off x="6688510" y="3016068"/>
                <a:ext cx="4881721" cy="788358"/>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285750" indent="-285750">
                  <a:lnSpc>
                    <a:spcPct val="100000"/>
                  </a:lnSpc>
                  <a:buFont typeface="Arial" panose="020B0604020202020204" pitchFamily="34" charset="0"/>
                  <a:buChar char="•"/>
                </a:pPr>
                <a:r>
                  <a:rPr lang="en-NZ" altLang="ja-JP" sz="1800" dirty="0">
                    <a:solidFill>
                      <a:srgbClr val="0070C0"/>
                    </a:solidFill>
                  </a:rPr>
                  <a:t>Rearranging the 2</a:t>
                </a:r>
                <a:r>
                  <a:rPr lang="en-NZ" altLang="ja-JP" sz="1800" baseline="30000" dirty="0">
                    <a:solidFill>
                      <a:srgbClr val="0070C0"/>
                    </a:solidFill>
                  </a:rPr>
                  <a:t>nd</a:t>
                </a:r>
                <a:r>
                  <a:rPr lang="en-NZ" altLang="ja-JP" sz="1800" dirty="0">
                    <a:solidFill>
                      <a:srgbClr val="0070C0"/>
                    </a:solidFill>
                  </a:rPr>
                  <a:t> equation for </a:t>
                </a:r>
                <a14:m>
                  <m:oMath xmlns:m="http://schemas.openxmlformats.org/officeDocument/2006/math">
                    <m:sSubSup>
                      <m:sSubSupPr>
                        <m:ctrlPr>
                          <a:rPr lang="en-NZ" altLang="ja-JP" sz="1800" i="1">
                            <a:solidFill>
                              <a:srgbClr val="0070C0"/>
                            </a:solidFill>
                            <a:latin typeface="Cambria Math" panose="02040503050406030204" pitchFamily="18" charset="0"/>
                          </a:rPr>
                        </m:ctrlPr>
                      </m:sSubSupPr>
                      <m:e>
                        <m:r>
                          <a:rPr lang="en-NZ" altLang="ja-JP" sz="1800" i="1">
                            <a:solidFill>
                              <a:srgbClr val="0070C0"/>
                            </a:solidFill>
                            <a:latin typeface="Cambria Math" panose="02040503050406030204" pitchFamily="18" charset="0"/>
                          </a:rPr>
                          <m:t> </m:t>
                        </m:r>
                        <m:acc>
                          <m:accPr>
                            <m:chr m:val="̂"/>
                            <m:ctrlPr>
                              <a:rPr lang="en-NZ" altLang="ja-JP" sz="1800" i="1">
                                <a:solidFill>
                                  <a:srgbClr val="0070C0"/>
                                </a:solidFill>
                                <a:latin typeface="Cambria Math" panose="02040503050406030204" pitchFamily="18" charset="0"/>
                              </a:rPr>
                            </m:ctrlPr>
                          </m:accPr>
                          <m:e>
                            <m:r>
                              <a:rPr lang="en-NZ" altLang="ja-JP" sz="1800" i="1">
                                <a:solidFill>
                                  <a:srgbClr val="0070C0"/>
                                </a:solidFill>
                                <a:latin typeface="Cambria Math" panose="02040503050406030204" pitchFamily="18" charset="0"/>
                              </a:rPr>
                              <m:t>𝜎</m:t>
                            </m:r>
                          </m:e>
                        </m:acc>
                      </m:e>
                      <m:sub>
                        <m:r>
                          <a:rPr lang="en-NZ" altLang="ja-JP" sz="1800" i="1">
                            <a:solidFill>
                              <a:srgbClr val="0070C0"/>
                            </a:solidFill>
                            <a:latin typeface="Cambria Math" panose="02040503050406030204" pitchFamily="18" charset="0"/>
                          </a:rPr>
                          <m:t>𝐵</m:t>
                        </m:r>
                      </m:sub>
                      <m:sup>
                        <m:r>
                          <a:rPr lang="en-NZ" altLang="ja-JP" sz="1800" i="1">
                            <a:solidFill>
                              <a:srgbClr val="0070C0"/>
                            </a:solidFill>
                            <a:latin typeface="Cambria Math" panose="02040503050406030204" pitchFamily="18" charset="0"/>
                          </a:rPr>
                          <m:t>2</m:t>
                        </m:r>
                      </m:sup>
                    </m:sSubSup>
                    <m:r>
                      <a:rPr lang="en-NZ" altLang="ja-JP" sz="1800" i="1">
                        <a:solidFill>
                          <a:srgbClr val="0070C0"/>
                        </a:solidFill>
                        <a:latin typeface="Cambria Math" panose="02040503050406030204" pitchFamily="18" charset="0"/>
                      </a:rPr>
                      <m:t> </m:t>
                    </m:r>
                  </m:oMath>
                </a14:m>
                <a:r>
                  <a:rPr lang="en-NZ" altLang="ja-JP" sz="1800" dirty="0">
                    <a:solidFill>
                      <a:srgbClr val="0070C0"/>
                    </a:solidFill>
                  </a:rPr>
                  <a:t>gives</a:t>
                </a:r>
                <a:br>
                  <a:rPr lang="en-NZ" altLang="ja-JP" sz="1800" dirty="0">
                    <a:solidFill>
                      <a:srgbClr val="0070C0"/>
                    </a:solidFill>
                  </a:rPr>
                </a:br>
                <a14:m>
                  <m:oMath xmlns:m="http://schemas.openxmlformats.org/officeDocument/2006/math">
                    <m:sSubSup>
                      <m:sSubSupPr>
                        <m:ctrlPr>
                          <a:rPr lang="en-NZ" altLang="ja-JP" sz="1800" i="1">
                            <a:solidFill>
                              <a:srgbClr val="0070C0"/>
                            </a:solidFill>
                            <a:latin typeface="Cambria Math" panose="02040503050406030204" pitchFamily="18" charset="0"/>
                          </a:rPr>
                        </m:ctrlPr>
                      </m:sSubSupPr>
                      <m:e>
                        <m:r>
                          <a:rPr lang="en-NZ" altLang="ja-JP" sz="1800" i="1">
                            <a:solidFill>
                              <a:srgbClr val="0070C0"/>
                            </a:solidFill>
                            <a:latin typeface="Cambria Math" panose="02040503050406030204" pitchFamily="18" charset="0"/>
                          </a:rPr>
                          <m:t> </m:t>
                        </m:r>
                        <m:acc>
                          <m:accPr>
                            <m:chr m:val="̂"/>
                            <m:ctrlPr>
                              <a:rPr lang="en-NZ" altLang="ja-JP" sz="1800" i="1">
                                <a:solidFill>
                                  <a:srgbClr val="0070C0"/>
                                </a:solidFill>
                                <a:latin typeface="Cambria Math" panose="02040503050406030204" pitchFamily="18" charset="0"/>
                              </a:rPr>
                            </m:ctrlPr>
                          </m:accPr>
                          <m:e>
                            <m:r>
                              <a:rPr lang="en-NZ" altLang="ja-JP" sz="1800" i="1">
                                <a:solidFill>
                                  <a:srgbClr val="0070C0"/>
                                </a:solidFill>
                                <a:latin typeface="Cambria Math" panose="02040503050406030204" pitchFamily="18" charset="0"/>
                              </a:rPr>
                              <m:t>𝜎</m:t>
                            </m:r>
                          </m:e>
                        </m:acc>
                      </m:e>
                      <m:sub>
                        <m:r>
                          <a:rPr lang="en-NZ" altLang="ja-JP" sz="1800" i="1">
                            <a:solidFill>
                              <a:srgbClr val="0070C0"/>
                            </a:solidFill>
                            <a:latin typeface="Cambria Math" panose="02040503050406030204" pitchFamily="18" charset="0"/>
                          </a:rPr>
                          <m:t>𝐵</m:t>
                        </m:r>
                      </m:sub>
                      <m:sup>
                        <m:r>
                          <a:rPr lang="en-NZ" altLang="ja-JP" sz="1800" i="1">
                            <a:solidFill>
                              <a:srgbClr val="0070C0"/>
                            </a:solidFill>
                            <a:latin typeface="Cambria Math" panose="02040503050406030204" pitchFamily="18" charset="0"/>
                          </a:rPr>
                          <m:t>2</m:t>
                        </m:r>
                      </m:sup>
                    </m:sSubSup>
                    <m:r>
                      <a:rPr lang="en-NZ" altLang="ja-JP" sz="1800" b="0" i="1" smtClean="0">
                        <a:solidFill>
                          <a:srgbClr val="0070C0"/>
                        </a:solidFill>
                        <a:latin typeface="Cambria Math" panose="02040503050406030204" pitchFamily="18" charset="0"/>
                      </a:rPr>
                      <m:t> =27.88</m:t>
                    </m:r>
                  </m:oMath>
                </a14:m>
                <a:r>
                  <a:rPr lang="en-NZ" altLang="ja-JP" sz="1800" dirty="0">
                    <a:solidFill>
                      <a:srgbClr val="0070C0"/>
                    </a:solidFill>
                  </a:rPr>
                  <a:t> </a:t>
                </a:r>
              </a:p>
            </p:txBody>
          </p:sp>
        </mc:Choice>
        <mc:Fallback xmlns="">
          <p:sp>
            <p:nvSpPr>
              <p:cNvPr id="2" name="Text Placeholder 5">
                <a:extLst>
                  <a:ext uri="{FF2B5EF4-FFF2-40B4-BE49-F238E27FC236}">
                    <a16:creationId xmlns:a16="http://schemas.microsoft.com/office/drawing/2014/main" id="{6370144E-6994-E48B-5C82-9CC2B61E30A0}"/>
                  </a:ext>
                </a:extLst>
              </p:cNvPr>
              <p:cNvSpPr txBox="1">
                <a:spLocks noRot="1" noChangeAspect="1" noMove="1" noResize="1" noEditPoints="1" noAdjustHandles="1" noChangeArrowheads="1" noChangeShapeType="1" noTextEdit="1"/>
              </p:cNvSpPr>
              <p:nvPr/>
            </p:nvSpPr>
            <p:spPr>
              <a:xfrm>
                <a:off x="6688510" y="3016068"/>
                <a:ext cx="4881721" cy="788358"/>
              </a:xfrm>
              <a:prstGeom prst="rect">
                <a:avLst/>
              </a:prstGeom>
              <a:blipFill>
                <a:blip r:embed="rId6"/>
                <a:stretch>
                  <a:fillRect l="-749" t="-3876"/>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graphicFrame>
            <p:nvGraphicFramePr>
              <p:cNvPr id="5" name="Table 2">
                <a:extLst>
                  <a:ext uri="{FF2B5EF4-FFF2-40B4-BE49-F238E27FC236}">
                    <a16:creationId xmlns:a16="http://schemas.microsoft.com/office/drawing/2014/main" id="{B87202A3-431E-8334-EFBF-7B88A8CEA9DD}"/>
                  </a:ext>
                </a:extLst>
              </p:cNvPr>
              <p:cNvGraphicFramePr>
                <a:graphicFrameLocks noGrp="1"/>
              </p:cNvGraphicFramePr>
              <p:nvPr>
                <p:extLst>
                  <p:ext uri="{D42A27DB-BD31-4B8C-83A1-F6EECF244321}">
                    <p14:modId xmlns:p14="http://schemas.microsoft.com/office/powerpoint/2010/main" val="3824938611"/>
                  </p:ext>
                </p:extLst>
              </p:nvPr>
            </p:nvGraphicFramePr>
            <p:xfrm>
              <a:off x="163772" y="4189790"/>
              <a:ext cx="6428098" cy="1854200"/>
            </p:xfrm>
            <a:graphic>
              <a:graphicData uri="http://schemas.openxmlformats.org/drawingml/2006/table">
                <a:tbl>
                  <a:tblPr firstRow="1" bandRow="1">
                    <a:tableStyleId>{5C22544A-7EE6-4342-B048-85BDC9FD1C3A}</a:tableStyleId>
                  </a:tblPr>
                  <a:tblGrid>
                    <a:gridCol w="708671">
                      <a:extLst>
                        <a:ext uri="{9D8B030D-6E8A-4147-A177-3AD203B41FA5}">
                          <a16:colId xmlns:a16="http://schemas.microsoft.com/office/drawing/2014/main" val="4198110682"/>
                        </a:ext>
                      </a:extLst>
                    </a:gridCol>
                    <a:gridCol w="647182">
                      <a:extLst>
                        <a:ext uri="{9D8B030D-6E8A-4147-A177-3AD203B41FA5}">
                          <a16:colId xmlns:a16="http://schemas.microsoft.com/office/drawing/2014/main" val="292302729"/>
                        </a:ext>
                      </a:extLst>
                    </a:gridCol>
                    <a:gridCol w="526194">
                      <a:extLst>
                        <a:ext uri="{9D8B030D-6E8A-4147-A177-3AD203B41FA5}">
                          <a16:colId xmlns:a16="http://schemas.microsoft.com/office/drawing/2014/main" val="126256495"/>
                        </a:ext>
                      </a:extLst>
                    </a:gridCol>
                    <a:gridCol w="1791904">
                      <a:extLst>
                        <a:ext uri="{9D8B030D-6E8A-4147-A177-3AD203B41FA5}">
                          <a16:colId xmlns:a16="http://schemas.microsoft.com/office/drawing/2014/main" val="477450593"/>
                        </a:ext>
                      </a:extLst>
                    </a:gridCol>
                    <a:gridCol w="1704299">
                      <a:extLst>
                        <a:ext uri="{9D8B030D-6E8A-4147-A177-3AD203B41FA5}">
                          <a16:colId xmlns:a16="http://schemas.microsoft.com/office/drawing/2014/main" val="3785429377"/>
                        </a:ext>
                      </a:extLst>
                    </a:gridCol>
                    <a:gridCol w="1049848">
                      <a:extLst>
                        <a:ext uri="{9D8B030D-6E8A-4147-A177-3AD203B41FA5}">
                          <a16:colId xmlns:a16="http://schemas.microsoft.com/office/drawing/2014/main" val="1101540161"/>
                        </a:ext>
                      </a:extLst>
                    </a:gridCol>
                  </a:tblGrid>
                  <a:tr h="370840">
                    <a:tc>
                      <a:txBody>
                        <a:bodyPr/>
                        <a:lstStyle/>
                        <a:p>
                          <a:pPr algn="ctr"/>
                          <a:r>
                            <a:rPr lang="en-NZ" sz="1200" dirty="0"/>
                            <a:t>Source</a:t>
                          </a:r>
                        </a:p>
                      </a:txBody>
                      <a:tcPr anchor="ctr"/>
                    </a:tc>
                    <a:tc>
                      <a:txBody>
                        <a:bodyPr/>
                        <a:lstStyle/>
                        <a:p>
                          <a:pPr algn="ctr"/>
                          <a:r>
                            <a:rPr lang="en-NZ" sz="1200" dirty="0" err="1"/>
                            <a:t>df</a:t>
                          </a:r>
                          <a:endParaRPr lang="en-NZ" sz="1200" dirty="0"/>
                        </a:p>
                      </a:txBody>
                      <a:tcPr anchor="ctr"/>
                    </a:tc>
                    <a:tc>
                      <a:txBody>
                        <a:bodyPr/>
                        <a:lstStyle/>
                        <a:p>
                          <a:pPr algn="ctr"/>
                          <a:r>
                            <a:rPr lang="en-NZ" sz="1200" dirty="0"/>
                            <a:t>SS</a:t>
                          </a:r>
                        </a:p>
                      </a:txBody>
                      <a:tcPr anchor="ctr"/>
                    </a:tc>
                    <a:tc>
                      <a:txBody>
                        <a:bodyPr/>
                        <a:lstStyle/>
                        <a:p>
                          <a:pPr algn="ctr"/>
                          <a:r>
                            <a:rPr lang="en-NZ" sz="1200" dirty="0"/>
                            <a:t>Mean Square</a:t>
                          </a:r>
                        </a:p>
                      </a:txBody>
                      <a:tcPr anchor="ctr"/>
                    </a:tc>
                    <a:tc>
                      <a:txBody>
                        <a:bodyPr/>
                        <a:lstStyle/>
                        <a:p>
                          <a:pPr algn="ctr"/>
                          <a:r>
                            <a:rPr lang="en-NZ" sz="1200" dirty="0"/>
                            <a:t>E [ Mean Squares ]</a:t>
                          </a:r>
                        </a:p>
                      </a:txBody>
                      <a:tcPr anchor="ctr"/>
                    </a:tc>
                    <a:tc>
                      <a:txBody>
                        <a:bodyPr/>
                        <a:lstStyle/>
                        <a:p>
                          <a:pPr algn="ctr"/>
                          <a:r>
                            <a:rPr lang="en-NZ" sz="1200" dirty="0"/>
                            <a:t>F-Statistic</a:t>
                          </a:r>
                        </a:p>
                      </a:txBody>
                      <a:tcPr anchor="ctr"/>
                    </a:tc>
                    <a:extLst>
                      <a:ext uri="{0D108BD9-81ED-4DB2-BD59-A6C34878D82A}">
                        <a16:rowId xmlns:a16="http://schemas.microsoft.com/office/drawing/2014/main" val="3666350365"/>
                      </a:ext>
                    </a:extLst>
                  </a:tr>
                  <a:tr h="370840">
                    <a:tc>
                      <a:txBody>
                        <a:bodyPr/>
                        <a:lstStyle/>
                        <a:p>
                          <a:pPr algn="ctr"/>
                          <a:r>
                            <a:rPr lang="en-NZ" sz="1200" dirty="0"/>
                            <a:t>Total</a:t>
                          </a:r>
                        </a:p>
                      </a:txBody>
                      <a:tcPr anchor="ctr"/>
                    </a:tc>
                    <a:tc>
                      <a:txBody>
                        <a:bodyPr/>
                        <a:lstStyle/>
                        <a:p>
                          <a:pPr algn="ctr"/>
                          <a:r>
                            <a:rPr lang="en-NZ" sz="1200" dirty="0"/>
                            <a:t>abn-1</a:t>
                          </a:r>
                        </a:p>
                      </a:txBody>
                      <a:tcPr anchor="ctr"/>
                    </a:tc>
                    <a:tc>
                      <a:txBody>
                        <a:bodyPr/>
                        <a:lstStyle/>
                        <a:p>
                          <a:pPr algn="ctr"/>
                          <a:r>
                            <a:rPr lang="en-NZ" sz="1200" dirty="0"/>
                            <a:t>TSS</a:t>
                          </a:r>
                        </a:p>
                      </a:txBody>
                      <a:tcPr anchor="ctr"/>
                    </a:tc>
                    <a:tc>
                      <a:txBody>
                        <a:bodyPr/>
                        <a:lstStyle/>
                        <a:p>
                          <a:pPr algn="ctr"/>
                          <a:endParaRPr lang="en-NZ" sz="1200" dirty="0"/>
                        </a:p>
                      </a:txBody>
                      <a:tcPr anchor="ctr"/>
                    </a:tc>
                    <a:tc>
                      <a:txBody>
                        <a:bodyPr/>
                        <a:lstStyle/>
                        <a:p>
                          <a:pPr algn="ctr"/>
                          <a:endParaRPr lang="en-NZ" sz="1200" dirty="0"/>
                        </a:p>
                      </a:txBody>
                      <a:tcPr anchor="ctr"/>
                    </a:tc>
                    <a:tc>
                      <a:txBody>
                        <a:bodyPr/>
                        <a:lstStyle/>
                        <a:p>
                          <a:pPr algn="ctr"/>
                          <a:endParaRPr lang="en-NZ" sz="1200" dirty="0"/>
                        </a:p>
                      </a:txBody>
                      <a:tcPr anchor="ctr"/>
                    </a:tc>
                    <a:extLst>
                      <a:ext uri="{0D108BD9-81ED-4DB2-BD59-A6C34878D82A}">
                        <a16:rowId xmlns:a16="http://schemas.microsoft.com/office/drawing/2014/main" val="3341485952"/>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NZ" sz="1200" dirty="0"/>
                            <a:t>A</a:t>
                          </a:r>
                        </a:p>
                      </a:txBody>
                      <a:tcPr anchor="ctr"/>
                    </a:tc>
                    <a:tc>
                      <a:txBody>
                        <a:bodyPr/>
                        <a:lstStyle/>
                        <a:p>
                          <a:pPr algn="ctr"/>
                          <a:r>
                            <a:rPr lang="en-NZ" sz="1200" dirty="0"/>
                            <a:t>a-1</a:t>
                          </a:r>
                        </a:p>
                      </a:txBody>
                      <a:tcPr anchor="ctr"/>
                    </a:tc>
                    <a:tc>
                      <a:txBody>
                        <a:bodyPr/>
                        <a:lstStyle/>
                        <a:p>
                          <a:pPr algn="ctr"/>
                          <a:r>
                            <a:rPr lang="en-NZ" sz="1200" dirty="0"/>
                            <a:t>SS</a:t>
                          </a:r>
                          <a:r>
                            <a:rPr lang="en-NZ" sz="1200" baseline="-25000" dirty="0"/>
                            <a:t>A</a:t>
                          </a:r>
                          <a:endParaRPr lang="en-NZ" sz="1200" dirty="0"/>
                        </a:p>
                      </a:txBody>
                      <a:tcPr anchor="ctr"/>
                    </a:tc>
                    <a:tc>
                      <a:txBody>
                        <a:bodyPr/>
                        <a:lstStyle/>
                        <a:p>
                          <a:pPr algn="ctr"/>
                          <a:r>
                            <a:rPr lang="en-NZ" sz="1200" dirty="0"/>
                            <a:t>MS</a:t>
                          </a:r>
                          <a:r>
                            <a:rPr lang="en-NZ" sz="1200" baseline="-25000" dirty="0"/>
                            <a:t>A</a:t>
                          </a:r>
                          <a:r>
                            <a:rPr lang="en-NZ" sz="1200" dirty="0"/>
                            <a:t> = SS</a:t>
                          </a:r>
                          <a:r>
                            <a:rPr lang="en-NZ" sz="1200" baseline="-25000" dirty="0"/>
                            <a:t>A</a:t>
                          </a:r>
                          <a:r>
                            <a:rPr lang="en-NZ" sz="1200" dirty="0"/>
                            <a:t> / (a-1)</a:t>
                          </a:r>
                        </a:p>
                      </a:txBody>
                      <a:tcPr anchor="ctr"/>
                    </a:tc>
                    <a:tc>
                      <a:txBody>
                        <a:bodyPr/>
                        <a:lstStyle/>
                        <a:p>
                          <a:pPr algn="ctr"/>
                          <a14:m>
                            <m:oMathPara xmlns:m="http://schemas.openxmlformats.org/officeDocument/2006/math">
                              <m:oMathParaPr>
                                <m:jc m:val="centerGroup"/>
                              </m:oMathParaPr>
                              <m:oMath xmlns:m="http://schemas.openxmlformats.org/officeDocument/2006/math">
                                <m:sSup>
                                  <m:sSupPr>
                                    <m:ctrlPr>
                                      <a:rPr lang="en-NZ" sz="1200" b="0" i="1" smtClean="0">
                                        <a:latin typeface="Cambria Math" panose="02040503050406030204" pitchFamily="18" charset="0"/>
                                      </a:rPr>
                                    </m:ctrlPr>
                                  </m:sSupPr>
                                  <m:e>
                                    <m:r>
                                      <a:rPr lang="en-NZ" sz="1200" b="0" i="1" smtClean="0">
                                        <a:latin typeface="Cambria Math" panose="02040503050406030204" pitchFamily="18" charset="0"/>
                                      </a:rPr>
                                      <m:t>𝜎</m:t>
                                    </m:r>
                                  </m:e>
                                  <m:sup>
                                    <m:r>
                                      <a:rPr lang="en-NZ" sz="1200" b="0" i="1" smtClean="0">
                                        <a:latin typeface="Cambria Math" panose="02040503050406030204" pitchFamily="18" charset="0"/>
                                      </a:rPr>
                                      <m:t>2</m:t>
                                    </m:r>
                                  </m:sup>
                                </m:sSup>
                                <m:r>
                                  <a:rPr lang="en-NZ" sz="1200" b="0" i="1" smtClean="0">
                                    <a:latin typeface="Cambria Math" panose="02040503050406030204" pitchFamily="18" charset="0"/>
                                  </a:rPr>
                                  <m:t>+  </m:t>
                                </m:r>
                                <m:r>
                                  <a:rPr lang="en-NZ" sz="1200" b="0" i="1" smtClean="0">
                                    <a:latin typeface="Cambria Math" panose="02040503050406030204" pitchFamily="18" charset="0"/>
                                  </a:rPr>
                                  <m:t>𝑛</m:t>
                                </m:r>
                                <m:r>
                                  <a:rPr lang="en-NZ" sz="1200" b="0" i="1" smtClean="0">
                                    <a:latin typeface="Cambria Math" panose="02040503050406030204" pitchFamily="18" charset="0"/>
                                  </a:rPr>
                                  <m:t> </m:t>
                                </m:r>
                                <m:sSubSup>
                                  <m:sSubSupPr>
                                    <m:ctrlPr>
                                      <a:rPr lang="en-NZ" sz="1200" b="0" i="1" smtClean="0">
                                        <a:latin typeface="Cambria Math" panose="02040503050406030204" pitchFamily="18" charset="0"/>
                                      </a:rPr>
                                    </m:ctrlPr>
                                  </m:sSubSupPr>
                                  <m:e>
                                    <m:r>
                                      <a:rPr lang="en-NZ" sz="1200" b="0" i="1" smtClean="0">
                                        <a:latin typeface="Cambria Math" panose="02040503050406030204" pitchFamily="18" charset="0"/>
                                      </a:rPr>
                                      <m:t>𝜎</m:t>
                                    </m:r>
                                  </m:e>
                                  <m:sub>
                                    <m:r>
                                      <a:rPr lang="en-NZ" sz="1200" b="0" i="1" smtClean="0">
                                        <a:latin typeface="Cambria Math" panose="02040503050406030204" pitchFamily="18" charset="0"/>
                                      </a:rPr>
                                      <m:t>𝐵</m:t>
                                    </m:r>
                                  </m:sub>
                                  <m:sup>
                                    <m:r>
                                      <a:rPr lang="en-NZ" sz="1200" b="0" i="1" smtClean="0">
                                        <a:latin typeface="Cambria Math" panose="02040503050406030204" pitchFamily="18" charset="0"/>
                                      </a:rPr>
                                      <m:t>2</m:t>
                                    </m:r>
                                  </m:sup>
                                </m:sSubSup>
                                <m:r>
                                  <a:rPr lang="en-NZ" sz="1200" b="0" i="1" smtClean="0">
                                    <a:latin typeface="Cambria Math" panose="02040503050406030204" pitchFamily="18" charset="0"/>
                                  </a:rPr>
                                  <m:t> +  </m:t>
                                </m:r>
                                <m:r>
                                  <a:rPr lang="en-NZ" sz="1200" b="0" i="1" smtClean="0">
                                    <a:latin typeface="Cambria Math" panose="02040503050406030204" pitchFamily="18" charset="0"/>
                                  </a:rPr>
                                  <m:t>𝑏𝑛</m:t>
                                </m:r>
                                <m:r>
                                  <a:rPr lang="en-NZ" sz="1200" b="0" i="1" smtClean="0">
                                    <a:latin typeface="Cambria Math" panose="02040503050406030204" pitchFamily="18" charset="0"/>
                                  </a:rPr>
                                  <m:t> </m:t>
                                </m:r>
                                <m:r>
                                  <a:rPr lang="en-NZ" sz="1200" b="0" i="1" smtClean="0">
                                    <a:latin typeface="Cambria Math" panose="02040503050406030204" pitchFamily="18" charset="0"/>
                                  </a:rPr>
                                  <m:t>𝑣</m:t>
                                </m:r>
                                <m:d>
                                  <m:dPr>
                                    <m:ctrlPr>
                                      <a:rPr lang="en-NZ" sz="1200" b="0" i="1" smtClean="0">
                                        <a:latin typeface="Cambria Math" panose="02040503050406030204" pitchFamily="18" charset="0"/>
                                      </a:rPr>
                                    </m:ctrlPr>
                                  </m:dPr>
                                  <m:e>
                                    <m:r>
                                      <a:rPr lang="en-NZ" sz="1200" b="0" i="1" smtClean="0">
                                        <a:latin typeface="Cambria Math" panose="02040503050406030204" pitchFamily="18" charset="0"/>
                                      </a:rPr>
                                      <m:t>𝛼</m:t>
                                    </m:r>
                                  </m:e>
                                </m:d>
                              </m:oMath>
                            </m:oMathPara>
                          </a14:m>
                          <a:endParaRPr lang="en-NZ" sz="1200" dirty="0"/>
                        </a:p>
                      </a:txBody>
                      <a:tcPr anchor="ctr"/>
                    </a:tc>
                    <a:tc>
                      <a:txBody>
                        <a:bodyPr/>
                        <a:lstStyle/>
                        <a:p>
                          <a:pPr algn="ctr"/>
                          <a:r>
                            <a:rPr lang="en-NZ" sz="1200" dirty="0"/>
                            <a:t>MS</a:t>
                          </a:r>
                          <a:r>
                            <a:rPr lang="en-NZ" sz="1200" baseline="-25000" dirty="0"/>
                            <a:t>A</a:t>
                          </a:r>
                          <a:r>
                            <a:rPr lang="en-NZ" sz="1200" dirty="0"/>
                            <a:t> / MS</a:t>
                          </a:r>
                          <a:r>
                            <a:rPr lang="en-NZ" sz="1200" baseline="-25000" dirty="0"/>
                            <a:t>B(A)</a:t>
                          </a:r>
                          <a:endParaRPr lang="en-NZ" sz="1200" dirty="0"/>
                        </a:p>
                      </a:txBody>
                      <a:tcPr anchor="ctr"/>
                    </a:tc>
                    <a:extLst>
                      <a:ext uri="{0D108BD9-81ED-4DB2-BD59-A6C34878D82A}">
                        <a16:rowId xmlns:a16="http://schemas.microsoft.com/office/drawing/2014/main" val="443198030"/>
                      </a:ext>
                    </a:extLst>
                  </a:tr>
                  <a:tr h="370840">
                    <a:tc>
                      <a:txBody>
                        <a:bodyPr/>
                        <a:lstStyle/>
                        <a:p>
                          <a:pPr algn="ctr"/>
                          <a:r>
                            <a:rPr lang="en-NZ" sz="1200" dirty="0"/>
                            <a:t>B(A)</a:t>
                          </a:r>
                        </a:p>
                      </a:txBody>
                      <a:tcPr anchor="ctr"/>
                    </a:tc>
                    <a:tc>
                      <a:txBody>
                        <a:bodyPr/>
                        <a:lstStyle/>
                        <a:p>
                          <a:pPr algn="ctr"/>
                          <a:r>
                            <a:rPr lang="en-NZ" sz="1200" dirty="0"/>
                            <a:t>a(b-1)</a:t>
                          </a:r>
                        </a:p>
                      </a:txBody>
                      <a:tcPr anchor="ctr"/>
                    </a:tc>
                    <a:tc>
                      <a:txBody>
                        <a:bodyPr/>
                        <a:lstStyle/>
                        <a:p>
                          <a:pPr algn="ctr"/>
                          <a:r>
                            <a:rPr lang="en-NZ" sz="1200" dirty="0"/>
                            <a:t>SS</a:t>
                          </a:r>
                          <a:r>
                            <a:rPr lang="en-NZ" sz="1200" baseline="-25000" dirty="0"/>
                            <a:t>B(A)</a:t>
                          </a:r>
                          <a:endParaRPr lang="en-NZ" sz="1200" dirty="0"/>
                        </a:p>
                      </a:txBody>
                      <a:tcPr anchor="ctr"/>
                    </a:tc>
                    <a:tc>
                      <a:txBody>
                        <a:bodyPr/>
                        <a:lstStyle/>
                        <a:p>
                          <a:pPr algn="ctr"/>
                          <a:r>
                            <a:rPr lang="en-NZ" sz="1200" dirty="0"/>
                            <a:t>MS</a:t>
                          </a:r>
                          <a:r>
                            <a:rPr lang="en-NZ" sz="1200" baseline="-25000" dirty="0"/>
                            <a:t>B(A)</a:t>
                          </a:r>
                          <a:r>
                            <a:rPr lang="en-NZ" sz="1200" dirty="0"/>
                            <a:t> = SS</a:t>
                          </a:r>
                          <a:r>
                            <a:rPr lang="en-NZ" sz="1200" baseline="-25000" dirty="0"/>
                            <a:t>B(A)</a:t>
                          </a:r>
                          <a:r>
                            <a:rPr lang="en-NZ" sz="1200" dirty="0"/>
                            <a:t> / [ a(b-1) ]</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p>
                                  <m:sSupPr>
                                    <m:ctrlPr>
                                      <a:rPr lang="en-NZ" sz="1200" b="0" i="1" smtClean="0">
                                        <a:latin typeface="Cambria Math" panose="02040503050406030204" pitchFamily="18" charset="0"/>
                                      </a:rPr>
                                    </m:ctrlPr>
                                  </m:sSupPr>
                                  <m:e>
                                    <m:r>
                                      <a:rPr lang="en-NZ" sz="1200" b="0" i="1" smtClean="0">
                                        <a:latin typeface="Cambria Math" panose="02040503050406030204" pitchFamily="18" charset="0"/>
                                      </a:rPr>
                                      <m:t>𝜎</m:t>
                                    </m:r>
                                  </m:e>
                                  <m:sup>
                                    <m:r>
                                      <a:rPr lang="en-NZ" sz="1200" b="0" i="1" smtClean="0">
                                        <a:latin typeface="Cambria Math" panose="02040503050406030204" pitchFamily="18" charset="0"/>
                                      </a:rPr>
                                      <m:t>2</m:t>
                                    </m:r>
                                  </m:sup>
                                </m:sSup>
                                <m:r>
                                  <a:rPr lang="en-NZ" sz="1200" b="0" i="1" smtClean="0">
                                    <a:latin typeface="Cambria Math" panose="02040503050406030204" pitchFamily="18" charset="0"/>
                                  </a:rPr>
                                  <m:t>+  </m:t>
                                </m:r>
                                <m:r>
                                  <a:rPr lang="en-NZ" sz="1200" b="0" i="1" smtClean="0">
                                    <a:latin typeface="Cambria Math" panose="02040503050406030204" pitchFamily="18" charset="0"/>
                                  </a:rPr>
                                  <m:t>𝑛</m:t>
                                </m:r>
                                <m:r>
                                  <a:rPr lang="en-NZ" sz="1200" b="0" i="1" smtClean="0">
                                    <a:latin typeface="Cambria Math" panose="02040503050406030204" pitchFamily="18" charset="0"/>
                                  </a:rPr>
                                  <m:t> </m:t>
                                </m:r>
                                <m:sSubSup>
                                  <m:sSubSupPr>
                                    <m:ctrlPr>
                                      <a:rPr lang="en-NZ" sz="1200" b="0" i="1" smtClean="0">
                                        <a:latin typeface="Cambria Math" panose="02040503050406030204" pitchFamily="18" charset="0"/>
                                      </a:rPr>
                                    </m:ctrlPr>
                                  </m:sSubSupPr>
                                  <m:e>
                                    <m:r>
                                      <a:rPr lang="en-NZ" sz="1200" b="0" i="1" smtClean="0">
                                        <a:latin typeface="Cambria Math" panose="02040503050406030204" pitchFamily="18" charset="0"/>
                                      </a:rPr>
                                      <m:t>𝜎</m:t>
                                    </m:r>
                                  </m:e>
                                  <m:sub>
                                    <m:r>
                                      <a:rPr lang="en-NZ" sz="1200" b="0" i="1" smtClean="0">
                                        <a:latin typeface="Cambria Math" panose="02040503050406030204" pitchFamily="18" charset="0"/>
                                      </a:rPr>
                                      <m:t>𝐵</m:t>
                                    </m:r>
                                  </m:sub>
                                  <m:sup>
                                    <m:r>
                                      <a:rPr lang="en-NZ" sz="1200" b="0" i="1" smtClean="0">
                                        <a:latin typeface="Cambria Math" panose="02040503050406030204" pitchFamily="18" charset="0"/>
                                      </a:rPr>
                                      <m:t>2</m:t>
                                    </m:r>
                                  </m:sup>
                                </m:sSubSup>
                              </m:oMath>
                            </m:oMathPara>
                          </a14:m>
                          <a:endParaRPr lang="en-NZ" sz="1200" dirty="0"/>
                        </a:p>
                      </a:txBody>
                      <a:tcPr anchor="ctr"/>
                    </a:tc>
                    <a:tc>
                      <a:txBody>
                        <a:bodyPr/>
                        <a:lstStyle/>
                        <a:p>
                          <a:pPr algn="ctr"/>
                          <a:r>
                            <a:rPr lang="en-NZ" sz="1200" dirty="0"/>
                            <a:t>MS</a:t>
                          </a:r>
                          <a:r>
                            <a:rPr lang="en-NZ" sz="1200" baseline="-25000" dirty="0"/>
                            <a:t>B(A)</a:t>
                          </a:r>
                          <a:r>
                            <a:rPr lang="en-NZ" sz="1200" dirty="0"/>
                            <a:t> / MSE</a:t>
                          </a:r>
                        </a:p>
                      </a:txBody>
                      <a:tcPr anchor="ctr"/>
                    </a:tc>
                    <a:extLst>
                      <a:ext uri="{0D108BD9-81ED-4DB2-BD59-A6C34878D82A}">
                        <a16:rowId xmlns:a16="http://schemas.microsoft.com/office/drawing/2014/main" val="3427382577"/>
                      </a:ext>
                    </a:extLst>
                  </a:tr>
                  <a:tr h="370840">
                    <a:tc>
                      <a:txBody>
                        <a:bodyPr/>
                        <a:lstStyle/>
                        <a:p>
                          <a:pPr algn="ctr"/>
                          <a:r>
                            <a:rPr lang="en-NZ" sz="1200" dirty="0"/>
                            <a:t>Residual</a:t>
                          </a:r>
                        </a:p>
                      </a:txBody>
                      <a:tcPr anchor="ctr"/>
                    </a:tc>
                    <a:tc>
                      <a:txBody>
                        <a:bodyPr/>
                        <a:lstStyle/>
                        <a:p>
                          <a:pPr algn="ctr"/>
                          <a:r>
                            <a:rPr lang="en-NZ" sz="1200" dirty="0"/>
                            <a:t>ab(n-1)</a:t>
                          </a:r>
                        </a:p>
                      </a:txBody>
                      <a:tcPr anchor="ctr"/>
                    </a:tc>
                    <a:tc>
                      <a:txBody>
                        <a:bodyPr/>
                        <a:lstStyle/>
                        <a:p>
                          <a:pPr algn="ctr"/>
                          <a:r>
                            <a:rPr lang="en-NZ" sz="1200" dirty="0"/>
                            <a:t>SSE</a:t>
                          </a:r>
                        </a:p>
                      </a:txBody>
                      <a:tcPr anchor="ctr"/>
                    </a:tc>
                    <a:tc>
                      <a:txBody>
                        <a:bodyPr/>
                        <a:lstStyle/>
                        <a:p>
                          <a:pPr algn="ctr"/>
                          <a:r>
                            <a:rPr lang="en-NZ" sz="1200" dirty="0"/>
                            <a:t>MSE = SSE / [ ab(n-1) ]</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p>
                                  <m:sSupPr>
                                    <m:ctrlPr>
                                      <a:rPr lang="en-NZ" sz="1200" b="0" i="1" smtClean="0">
                                        <a:latin typeface="Cambria Math" panose="02040503050406030204" pitchFamily="18" charset="0"/>
                                      </a:rPr>
                                    </m:ctrlPr>
                                  </m:sSupPr>
                                  <m:e>
                                    <m:r>
                                      <a:rPr lang="en-NZ" sz="1200" b="0" i="1" smtClean="0">
                                        <a:latin typeface="Cambria Math" panose="02040503050406030204" pitchFamily="18" charset="0"/>
                                      </a:rPr>
                                      <m:t>𝜎</m:t>
                                    </m:r>
                                  </m:e>
                                  <m:sup>
                                    <m:r>
                                      <a:rPr lang="en-NZ" sz="1200" b="0" i="1" smtClean="0">
                                        <a:latin typeface="Cambria Math" panose="02040503050406030204" pitchFamily="18" charset="0"/>
                                      </a:rPr>
                                      <m:t>2</m:t>
                                    </m:r>
                                  </m:sup>
                                </m:sSup>
                              </m:oMath>
                            </m:oMathPara>
                          </a14:m>
                          <a:endParaRPr lang="en-NZ" sz="1200" dirty="0"/>
                        </a:p>
                      </a:txBody>
                      <a:tcPr anchor="ctr"/>
                    </a:tc>
                    <a:tc>
                      <a:txBody>
                        <a:bodyPr/>
                        <a:lstStyle/>
                        <a:p>
                          <a:pPr algn="ctr"/>
                          <a:endParaRPr lang="en-NZ" sz="1200" dirty="0"/>
                        </a:p>
                      </a:txBody>
                      <a:tcPr anchor="ctr"/>
                    </a:tc>
                    <a:extLst>
                      <a:ext uri="{0D108BD9-81ED-4DB2-BD59-A6C34878D82A}">
                        <a16:rowId xmlns:a16="http://schemas.microsoft.com/office/drawing/2014/main" val="3328376915"/>
                      </a:ext>
                    </a:extLst>
                  </a:tr>
                </a:tbl>
              </a:graphicData>
            </a:graphic>
          </p:graphicFrame>
        </mc:Choice>
        <mc:Fallback xmlns="">
          <p:graphicFrame>
            <p:nvGraphicFramePr>
              <p:cNvPr id="5" name="Table 2">
                <a:extLst>
                  <a:ext uri="{FF2B5EF4-FFF2-40B4-BE49-F238E27FC236}">
                    <a16:creationId xmlns:a16="http://schemas.microsoft.com/office/drawing/2014/main" id="{B87202A3-431E-8334-EFBF-7B88A8CEA9DD}"/>
                  </a:ext>
                </a:extLst>
              </p:cNvPr>
              <p:cNvGraphicFramePr>
                <a:graphicFrameLocks noGrp="1"/>
              </p:cNvGraphicFramePr>
              <p:nvPr>
                <p:extLst>
                  <p:ext uri="{D42A27DB-BD31-4B8C-83A1-F6EECF244321}">
                    <p14:modId xmlns:p14="http://schemas.microsoft.com/office/powerpoint/2010/main" val="3824938611"/>
                  </p:ext>
                </p:extLst>
              </p:nvPr>
            </p:nvGraphicFramePr>
            <p:xfrm>
              <a:off x="163772" y="4189790"/>
              <a:ext cx="6428098" cy="1854200"/>
            </p:xfrm>
            <a:graphic>
              <a:graphicData uri="http://schemas.openxmlformats.org/drawingml/2006/table">
                <a:tbl>
                  <a:tblPr firstRow="1" bandRow="1">
                    <a:tableStyleId>{5C22544A-7EE6-4342-B048-85BDC9FD1C3A}</a:tableStyleId>
                  </a:tblPr>
                  <a:tblGrid>
                    <a:gridCol w="708671">
                      <a:extLst>
                        <a:ext uri="{9D8B030D-6E8A-4147-A177-3AD203B41FA5}">
                          <a16:colId xmlns:a16="http://schemas.microsoft.com/office/drawing/2014/main" val="4198110682"/>
                        </a:ext>
                      </a:extLst>
                    </a:gridCol>
                    <a:gridCol w="647182">
                      <a:extLst>
                        <a:ext uri="{9D8B030D-6E8A-4147-A177-3AD203B41FA5}">
                          <a16:colId xmlns:a16="http://schemas.microsoft.com/office/drawing/2014/main" val="292302729"/>
                        </a:ext>
                      </a:extLst>
                    </a:gridCol>
                    <a:gridCol w="526194">
                      <a:extLst>
                        <a:ext uri="{9D8B030D-6E8A-4147-A177-3AD203B41FA5}">
                          <a16:colId xmlns:a16="http://schemas.microsoft.com/office/drawing/2014/main" val="126256495"/>
                        </a:ext>
                      </a:extLst>
                    </a:gridCol>
                    <a:gridCol w="1791904">
                      <a:extLst>
                        <a:ext uri="{9D8B030D-6E8A-4147-A177-3AD203B41FA5}">
                          <a16:colId xmlns:a16="http://schemas.microsoft.com/office/drawing/2014/main" val="477450593"/>
                        </a:ext>
                      </a:extLst>
                    </a:gridCol>
                    <a:gridCol w="1704299">
                      <a:extLst>
                        <a:ext uri="{9D8B030D-6E8A-4147-A177-3AD203B41FA5}">
                          <a16:colId xmlns:a16="http://schemas.microsoft.com/office/drawing/2014/main" val="3785429377"/>
                        </a:ext>
                      </a:extLst>
                    </a:gridCol>
                    <a:gridCol w="1049848">
                      <a:extLst>
                        <a:ext uri="{9D8B030D-6E8A-4147-A177-3AD203B41FA5}">
                          <a16:colId xmlns:a16="http://schemas.microsoft.com/office/drawing/2014/main" val="1101540161"/>
                        </a:ext>
                      </a:extLst>
                    </a:gridCol>
                  </a:tblGrid>
                  <a:tr h="370840">
                    <a:tc>
                      <a:txBody>
                        <a:bodyPr/>
                        <a:lstStyle/>
                        <a:p>
                          <a:pPr algn="ctr"/>
                          <a:r>
                            <a:rPr lang="en-NZ" sz="1200" dirty="0"/>
                            <a:t>Source</a:t>
                          </a:r>
                        </a:p>
                      </a:txBody>
                      <a:tcPr anchor="ctr"/>
                    </a:tc>
                    <a:tc>
                      <a:txBody>
                        <a:bodyPr/>
                        <a:lstStyle/>
                        <a:p>
                          <a:pPr algn="ctr"/>
                          <a:r>
                            <a:rPr lang="en-NZ" sz="1200" dirty="0" err="1"/>
                            <a:t>df</a:t>
                          </a:r>
                          <a:endParaRPr lang="en-NZ" sz="1200" dirty="0"/>
                        </a:p>
                      </a:txBody>
                      <a:tcPr anchor="ctr"/>
                    </a:tc>
                    <a:tc>
                      <a:txBody>
                        <a:bodyPr/>
                        <a:lstStyle/>
                        <a:p>
                          <a:pPr algn="ctr"/>
                          <a:r>
                            <a:rPr lang="en-NZ" sz="1200" dirty="0"/>
                            <a:t>SS</a:t>
                          </a:r>
                        </a:p>
                      </a:txBody>
                      <a:tcPr anchor="ctr"/>
                    </a:tc>
                    <a:tc>
                      <a:txBody>
                        <a:bodyPr/>
                        <a:lstStyle/>
                        <a:p>
                          <a:pPr algn="ctr"/>
                          <a:r>
                            <a:rPr lang="en-NZ" sz="1200" dirty="0"/>
                            <a:t>Mean Square</a:t>
                          </a:r>
                        </a:p>
                      </a:txBody>
                      <a:tcPr anchor="ctr"/>
                    </a:tc>
                    <a:tc>
                      <a:txBody>
                        <a:bodyPr/>
                        <a:lstStyle/>
                        <a:p>
                          <a:pPr algn="ctr"/>
                          <a:r>
                            <a:rPr lang="en-NZ" sz="1200" dirty="0"/>
                            <a:t>E [ Mean Squares ]</a:t>
                          </a:r>
                        </a:p>
                      </a:txBody>
                      <a:tcPr anchor="ctr"/>
                    </a:tc>
                    <a:tc>
                      <a:txBody>
                        <a:bodyPr/>
                        <a:lstStyle/>
                        <a:p>
                          <a:pPr algn="ctr"/>
                          <a:r>
                            <a:rPr lang="en-NZ" sz="1200" dirty="0"/>
                            <a:t>F-Statistic</a:t>
                          </a:r>
                        </a:p>
                      </a:txBody>
                      <a:tcPr anchor="ctr"/>
                    </a:tc>
                    <a:extLst>
                      <a:ext uri="{0D108BD9-81ED-4DB2-BD59-A6C34878D82A}">
                        <a16:rowId xmlns:a16="http://schemas.microsoft.com/office/drawing/2014/main" val="3666350365"/>
                      </a:ext>
                    </a:extLst>
                  </a:tr>
                  <a:tr h="370840">
                    <a:tc>
                      <a:txBody>
                        <a:bodyPr/>
                        <a:lstStyle/>
                        <a:p>
                          <a:pPr algn="ctr"/>
                          <a:r>
                            <a:rPr lang="en-NZ" sz="1200" dirty="0"/>
                            <a:t>Total</a:t>
                          </a:r>
                        </a:p>
                      </a:txBody>
                      <a:tcPr anchor="ctr"/>
                    </a:tc>
                    <a:tc>
                      <a:txBody>
                        <a:bodyPr/>
                        <a:lstStyle/>
                        <a:p>
                          <a:pPr algn="ctr"/>
                          <a:r>
                            <a:rPr lang="en-NZ" sz="1200" dirty="0"/>
                            <a:t>abn-1</a:t>
                          </a:r>
                        </a:p>
                      </a:txBody>
                      <a:tcPr anchor="ctr"/>
                    </a:tc>
                    <a:tc>
                      <a:txBody>
                        <a:bodyPr/>
                        <a:lstStyle/>
                        <a:p>
                          <a:pPr algn="ctr"/>
                          <a:r>
                            <a:rPr lang="en-NZ" sz="1200" dirty="0"/>
                            <a:t>TSS</a:t>
                          </a:r>
                        </a:p>
                      </a:txBody>
                      <a:tcPr anchor="ctr"/>
                    </a:tc>
                    <a:tc>
                      <a:txBody>
                        <a:bodyPr/>
                        <a:lstStyle/>
                        <a:p>
                          <a:pPr algn="ctr"/>
                          <a:endParaRPr lang="en-NZ" sz="1200" dirty="0"/>
                        </a:p>
                      </a:txBody>
                      <a:tcPr anchor="ctr"/>
                    </a:tc>
                    <a:tc>
                      <a:txBody>
                        <a:bodyPr/>
                        <a:lstStyle/>
                        <a:p>
                          <a:pPr algn="ctr"/>
                          <a:endParaRPr lang="en-NZ" sz="1200" dirty="0"/>
                        </a:p>
                      </a:txBody>
                      <a:tcPr anchor="ctr"/>
                    </a:tc>
                    <a:tc>
                      <a:txBody>
                        <a:bodyPr/>
                        <a:lstStyle/>
                        <a:p>
                          <a:pPr algn="ctr"/>
                          <a:endParaRPr lang="en-NZ" sz="1200" dirty="0"/>
                        </a:p>
                      </a:txBody>
                      <a:tcPr anchor="ctr"/>
                    </a:tc>
                    <a:extLst>
                      <a:ext uri="{0D108BD9-81ED-4DB2-BD59-A6C34878D82A}">
                        <a16:rowId xmlns:a16="http://schemas.microsoft.com/office/drawing/2014/main" val="3341485952"/>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NZ" sz="1200" dirty="0"/>
                            <a:t>A</a:t>
                          </a:r>
                        </a:p>
                      </a:txBody>
                      <a:tcPr anchor="ctr"/>
                    </a:tc>
                    <a:tc>
                      <a:txBody>
                        <a:bodyPr/>
                        <a:lstStyle/>
                        <a:p>
                          <a:pPr algn="ctr"/>
                          <a:r>
                            <a:rPr lang="en-NZ" sz="1200" dirty="0"/>
                            <a:t>a-1</a:t>
                          </a:r>
                        </a:p>
                      </a:txBody>
                      <a:tcPr anchor="ctr"/>
                    </a:tc>
                    <a:tc>
                      <a:txBody>
                        <a:bodyPr/>
                        <a:lstStyle/>
                        <a:p>
                          <a:pPr algn="ctr"/>
                          <a:r>
                            <a:rPr lang="en-NZ" sz="1200" dirty="0"/>
                            <a:t>SS</a:t>
                          </a:r>
                          <a:r>
                            <a:rPr lang="en-NZ" sz="1200" baseline="-25000" dirty="0"/>
                            <a:t>A</a:t>
                          </a:r>
                          <a:endParaRPr lang="en-NZ" sz="1200" dirty="0"/>
                        </a:p>
                      </a:txBody>
                      <a:tcPr anchor="ctr"/>
                    </a:tc>
                    <a:tc>
                      <a:txBody>
                        <a:bodyPr/>
                        <a:lstStyle/>
                        <a:p>
                          <a:pPr algn="ctr"/>
                          <a:r>
                            <a:rPr lang="en-NZ" sz="1200" dirty="0"/>
                            <a:t>MS</a:t>
                          </a:r>
                          <a:r>
                            <a:rPr lang="en-NZ" sz="1200" baseline="-25000" dirty="0"/>
                            <a:t>A</a:t>
                          </a:r>
                          <a:r>
                            <a:rPr lang="en-NZ" sz="1200" dirty="0"/>
                            <a:t> = SS</a:t>
                          </a:r>
                          <a:r>
                            <a:rPr lang="en-NZ" sz="1200" baseline="-25000" dirty="0"/>
                            <a:t>A</a:t>
                          </a:r>
                          <a:r>
                            <a:rPr lang="en-NZ" sz="1200" dirty="0"/>
                            <a:t> / (a-1)</a:t>
                          </a:r>
                        </a:p>
                      </a:txBody>
                      <a:tcPr anchor="ctr"/>
                    </a:tc>
                    <a:tc>
                      <a:txBody>
                        <a:bodyPr/>
                        <a:lstStyle/>
                        <a:p>
                          <a:endParaRPr lang="en-US"/>
                        </a:p>
                      </a:txBody>
                      <a:tcPr anchor="ctr">
                        <a:blipFill>
                          <a:blip r:embed="rId7"/>
                          <a:stretch>
                            <a:fillRect l="-216071" t="-201639" r="-62857" b="-203279"/>
                          </a:stretch>
                        </a:blipFill>
                      </a:tcPr>
                    </a:tc>
                    <a:tc>
                      <a:txBody>
                        <a:bodyPr/>
                        <a:lstStyle/>
                        <a:p>
                          <a:pPr algn="ctr"/>
                          <a:r>
                            <a:rPr lang="en-NZ" sz="1200" dirty="0"/>
                            <a:t>MS</a:t>
                          </a:r>
                          <a:r>
                            <a:rPr lang="en-NZ" sz="1200" baseline="-25000" dirty="0"/>
                            <a:t>A</a:t>
                          </a:r>
                          <a:r>
                            <a:rPr lang="en-NZ" sz="1200" dirty="0"/>
                            <a:t> / MS</a:t>
                          </a:r>
                          <a:r>
                            <a:rPr lang="en-NZ" sz="1200" baseline="-25000" dirty="0"/>
                            <a:t>B(A)</a:t>
                          </a:r>
                          <a:endParaRPr lang="en-NZ" sz="1200" dirty="0"/>
                        </a:p>
                      </a:txBody>
                      <a:tcPr anchor="ctr"/>
                    </a:tc>
                    <a:extLst>
                      <a:ext uri="{0D108BD9-81ED-4DB2-BD59-A6C34878D82A}">
                        <a16:rowId xmlns:a16="http://schemas.microsoft.com/office/drawing/2014/main" val="443198030"/>
                      </a:ext>
                    </a:extLst>
                  </a:tr>
                  <a:tr h="370840">
                    <a:tc>
                      <a:txBody>
                        <a:bodyPr/>
                        <a:lstStyle/>
                        <a:p>
                          <a:pPr algn="ctr"/>
                          <a:r>
                            <a:rPr lang="en-NZ" sz="1200" dirty="0"/>
                            <a:t>B(A)</a:t>
                          </a:r>
                        </a:p>
                      </a:txBody>
                      <a:tcPr anchor="ctr"/>
                    </a:tc>
                    <a:tc>
                      <a:txBody>
                        <a:bodyPr/>
                        <a:lstStyle/>
                        <a:p>
                          <a:pPr algn="ctr"/>
                          <a:r>
                            <a:rPr lang="en-NZ" sz="1200" dirty="0"/>
                            <a:t>a(b-1)</a:t>
                          </a:r>
                        </a:p>
                      </a:txBody>
                      <a:tcPr anchor="ctr"/>
                    </a:tc>
                    <a:tc>
                      <a:txBody>
                        <a:bodyPr/>
                        <a:lstStyle/>
                        <a:p>
                          <a:pPr algn="ctr"/>
                          <a:r>
                            <a:rPr lang="en-NZ" sz="1200" dirty="0"/>
                            <a:t>SS</a:t>
                          </a:r>
                          <a:r>
                            <a:rPr lang="en-NZ" sz="1200" baseline="-25000" dirty="0"/>
                            <a:t>B(A)</a:t>
                          </a:r>
                          <a:endParaRPr lang="en-NZ" sz="1200" dirty="0"/>
                        </a:p>
                      </a:txBody>
                      <a:tcPr anchor="ctr"/>
                    </a:tc>
                    <a:tc>
                      <a:txBody>
                        <a:bodyPr/>
                        <a:lstStyle/>
                        <a:p>
                          <a:pPr algn="ctr"/>
                          <a:r>
                            <a:rPr lang="en-NZ" sz="1200" dirty="0"/>
                            <a:t>MS</a:t>
                          </a:r>
                          <a:r>
                            <a:rPr lang="en-NZ" sz="1200" baseline="-25000" dirty="0"/>
                            <a:t>B(A)</a:t>
                          </a:r>
                          <a:r>
                            <a:rPr lang="en-NZ" sz="1200" dirty="0"/>
                            <a:t> = SS</a:t>
                          </a:r>
                          <a:r>
                            <a:rPr lang="en-NZ" sz="1200" baseline="-25000" dirty="0"/>
                            <a:t>B(A)</a:t>
                          </a:r>
                          <a:r>
                            <a:rPr lang="en-NZ" sz="1200" dirty="0"/>
                            <a:t> / [ a(b-1) ]</a:t>
                          </a:r>
                        </a:p>
                      </a:txBody>
                      <a:tcPr anchor="ctr"/>
                    </a:tc>
                    <a:tc>
                      <a:txBody>
                        <a:bodyPr/>
                        <a:lstStyle/>
                        <a:p>
                          <a:endParaRPr lang="en-US"/>
                        </a:p>
                      </a:txBody>
                      <a:tcPr anchor="ctr">
                        <a:blipFill>
                          <a:blip r:embed="rId7"/>
                          <a:stretch>
                            <a:fillRect l="-216071" t="-301639" r="-62857" b="-103279"/>
                          </a:stretch>
                        </a:blipFill>
                      </a:tcPr>
                    </a:tc>
                    <a:tc>
                      <a:txBody>
                        <a:bodyPr/>
                        <a:lstStyle/>
                        <a:p>
                          <a:pPr algn="ctr"/>
                          <a:r>
                            <a:rPr lang="en-NZ" sz="1200" dirty="0"/>
                            <a:t>MS</a:t>
                          </a:r>
                          <a:r>
                            <a:rPr lang="en-NZ" sz="1200" baseline="-25000" dirty="0"/>
                            <a:t>B(A)</a:t>
                          </a:r>
                          <a:r>
                            <a:rPr lang="en-NZ" sz="1200" dirty="0"/>
                            <a:t> / MSE</a:t>
                          </a:r>
                        </a:p>
                      </a:txBody>
                      <a:tcPr anchor="ctr"/>
                    </a:tc>
                    <a:extLst>
                      <a:ext uri="{0D108BD9-81ED-4DB2-BD59-A6C34878D82A}">
                        <a16:rowId xmlns:a16="http://schemas.microsoft.com/office/drawing/2014/main" val="3427382577"/>
                      </a:ext>
                    </a:extLst>
                  </a:tr>
                  <a:tr h="370840">
                    <a:tc>
                      <a:txBody>
                        <a:bodyPr/>
                        <a:lstStyle/>
                        <a:p>
                          <a:pPr algn="ctr"/>
                          <a:r>
                            <a:rPr lang="en-NZ" sz="1200" dirty="0"/>
                            <a:t>Residual</a:t>
                          </a:r>
                        </a:p>
                      </a:txBody>
                      <a:tcPr anchor="ctr"/>
                    </a:tc>
                    <a:tc>
                      <a:txBody>
                        <a:bodyPr/>
                        <a:lstStyle/>
                        <a:p>
                          <a:pPr algn="ctr"/>
                          <a:r>
                            <a:rPr lang="en-NZ" sz="1200" dirty="0"/>
                            <a:t>ab(n-1)</a:t>
                          </a:r>
                        </a:p>
                      </a:txBody>
                      <a:tcPr anchor="ctr"/>
                    </a:tc>
                    <a:tc>
                      <a:txBody>
                        <a:bodyPr/>
                        <a:lstStyle/>
                        <a:p>
                          <a:pPr algn="ctr"/>
                          <a:r>
                            <a:rPr lang="en-NZ" sz="1200" dirty="0"/>
                            <a:t>SSE</a:t>
                          </a:r>
                        </a:p>
                      </a:txBody>
                      <a:tcPr anchor="ctr"/>
                    </a:tc>
                    <a:tc>
                      <a:txBody>
                        <a:bodyPr/>
                        <a:lstStyle/>
                        <a:p>
                          <a:pPr algn="ctr"/>
                          <a:r>
                            <a:rPr lang="en-NZ" sz="1200" dirty="0"/>
                            <a:t>MSE = SSE / [ ab(n-1) ]</a:t>
                          </a:r>
                        </a:p>
                      </a:txBody>
                      <a:tcPr anchor="ctr"/>
                    </a:tc>
                    <a:tc>
                      <a:txBody>
                        <a:bodyPr/>
                        <a:lstStyle/>
                        <a:p>
                          <a:endParaRPr lang="en-US"/>
                        </a:p>
                      </a:txBody>
                      <a:tcPr anchor="ctr">
                        <a:blipFill>
                          <a:blip r:embed="rId7"/>
                          <a:stretch>
                            <a:fillRect l="-216071" t="-401639" r="-62857" b="-3279"/>
                          </a:stretch>
                        </a:blipFill>
                      </a:tcPr>
                    </a:tc>
                    <a:tc>
                      <a:txBody>
                        <a:bodyPr/>
                        <a:lstStyle/>
                        <a:p>
                          <a:pPr algn="ctr"/>
                          <a:endParaRPr lang="en-NZ" sz="1200" dirty="0"/>
                        </a:p>
                      </a:txBody>
                      <a:tcPr anchor="ctr"/>
                    </a:tc>
                    <a:extLst>
                      <a:ext uri="{0D108BD9-81ED-4DB2-BD59-A6C34878D82A}">
                        <a16:rowId xmlns:a16="http://schemas.microsoft.com/office/drawing/2014/main" val="3328376915"/>
                      </a:ext>
                    </a:extLst>
                  </a:tr>
                </a:tbl>
              </a:graphicData>
            </a:graphic>
          </p:graphicFrame>
        </mc:Fallback>
      </mc:AlternateContent>
      <mc:AlternateContent xmlns:mc="http://schemas.openxmlformats.org/markup-compatibility/2006" xmlns:a14="http://schemas.microsoft.com/office/drawing/2010/main">
        <mc:Choice Requires="a14">
          <p:sp>
            <p:nvSpPr>
              <p:cNvPr id="6" name="Text Placeholder 5">
                <a:extLst>
                  <a:ext uri="{FF2B5EF4-FFF2-40B4-BE49-F238E27FC236}">
                    <a16:creationId xmlns:a16="http://schemas.microsoft.com/office/drawing/2014/main" id="{9178BF22-144E-EC90-0016-8F17BFF7C54A}"/>
                  </a:ext>
                </a:extLst>
              </p:cNvPr>
              <p:cNvSpPr txBox="1">
                <a:spLocks/>
              </p:cNvSpPr>
              <p:nvPr/>
            </p:nvSpPr>
            <p:spPr>
              <a:xfrm>
                <a:off x="6688510" y="3945637"/>
                <a:ext cx="4881721" cy="2431388"/>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285750" indent="-285750">
                  <a:lnSpc>
                    <a:spcPct val="100000"/>
                  </a:lnSpc>
                  <a:buFont typeface="Arial" panose="020B0604020202020204" pitchFamily="34" charset="0"/>
                  <a:buChar char="•"/>
                </a:pPr>
                <a:r>
                  <a:rPr lang="en-NZ" altLang="ja-JP" sz="1800" dirty="0">
                    <a:solidFill>
                      <a:srgbClr val="0070C0"/>
                    </a:solidFill>
                  </a:rPr>
                  <a:t>% of variation (after allowing for Drug) due to Supplier</a:t>
                </a:r>
              </a:p>
              <a:p>
                <a:pPr algn="ctr">
                  <a:lnSpc>
                    <a:spcPct val="100000"/>
                  </a:lnSpc>
                </a:pPr>
                <a:r>
                  <a:rPr lang="en-NZ" altLang="ja-JP" sz="1800" b="1" i="1" dirty="0">
                    <a:solidFill>
                      <a:srgbClr val="0070C0"/>
                    </a:solidFill>
                  </a:rPr>
                  <a:t> </a:t>
                </a:r>
                <a14:m>
                  <m:oMath xmlns:m="http://schemas.openxmlformats.org/officeDocument/2006/math">
                    <m:f>
                      <m:fPr>
                        <m:ctrlPr>
                          <a:rPr lang="en-NZ" altLang="ja-JP" sz="1800" b="1" i="1">
                            <a:solidFill>
                              <a:srgbClr val="0070C0"/>
                            </a:solidFill>
                            <a:latin typeface="Cambria Math" panose="02040503050406030204" pitchFamily="18" charset="0"/>
                          </a:rPr>
                        </m:ctrlPr>
                      </m:fPr>
                      <m:num>
                        <m:sSubSup>
                          <m:sSubSupPr>
                            <m:ctrlPr>
                              <a:rPr lang="en-NZ" altLang="ja-JP" sz="1800" b="1" i="1">
                                <a:solidFill>
                                  <a:srgbClr val="0070C0"/>
                                </a:solidFill>
                                <a:latin typeface="Cambria Math" panose="02040503050406030204" pitchFamily="18" charset="0"/>
                              </a:rPr>
                            </m:ctrlPr>
                          </m:sSubSupPr>
                          <m:e>
                            <m:acc>
                              <m:accPr>
                                <m:chr m:val="̂"/>
                                <m:ctrlPr>
                                  <a:rPr lang="en-NZ" altLang="ja-JP" sz="1800" b="1" i="1">
                                    <a:solidFill>
                                      <a:srgbClr val="0070C0"/>
                                    </a:solidFill>
                                    <a:latin typeface="Cambria Math" panose="02040503050406030204" pitchFamily="18" charset="0"/>
                                  </a:rPr>
                                </m:ctrlPr>
                              </m:accPr>
                              <m:e>
                                <m:r>
                                  <a:rPr lang="en-NZ" altLang="ja-JP" sz="1800" b="1" i="1">
                                    <a:solidFill>
                                      <a:srgbClr val="0070C0"/>
                                    </a:solidFill>
                                    <a:latin typeface="Cambria Math" panose="02040503050406030204" pitchFamily="18" charset="0"/>
                                  </a:rPr>
                                  <m:t>𝝈</m:t>
                                </m:r>
                              </m:e>
                            </m:acc>
                          </m:e>
                          <m:sub>
                            <m:r>
                              <a:rPr lang="en-NZ" altLang="ja-JP" sz="1800" b="1" i="1">
                                <a:solidFill>
                                  <a:srgbClr val="0070C0"/>
                                </a:solidFill>
                                <a:latin typeface="Cambria Math" panose="02040503050406030204" pitchFamily="18" charset="0"/>
                              </a:rPr>
                              <m:t>𝑩</m:t>
                            </m:r>
                          </m:sub>
                          <m:sup>
                            <m:r>
                              <a:rPr lang="en-NZ" altLang="ja-JP" sz="1800" b="1" i="1">
                                <a:solidFill>
                                  <a:srgbClr val="0070C0"/>
                                </a:solidFill>
                                <a:latin typeface="Cambria Math" panose="02040503050406030204" pitchFamily="18" charset="0"/>
                              </a:rPr>
                              <m:t>𝟐</m:t>
                            </m:r>
                          </m:sup>
                        </m:sSubSup>
                      </m:num>
                      <m:den>
                        <m:sSubSup>
                          <m:sSubSupPr>
                            <m:ctrlPr>
                              <a:rPr lang="en-NZ" altLang="ja-JP" sz="1800" b="1" i="1">
                                <a:solidFill>
                                  <a:srgbClr val="0070C0"/>
                                </a:solidFill>
                                <a:latin typeface="Cambria Math" panose="02040503050406030204" pitchFamily="18" charset="0"/>
                              </a:rPr>
                            </m:ctrlPr>
                          </m:sSubSupPr>
                          <m:e>
                            <m:acc>
                              <m:accPr>
                                <m:chr m:val="̂"/>
                                <m:ctrlPr>
                                  <a:rPr lang="en-NZ" altLang="ja-JP" sz="1800" b="1" i="1">
                                    <a:solidFill>
                                      <a:srgbClr val="0070C0"/>
                                    </a:solidFill>
                                    <a:latin typeface="Cambria Math" panose="02040503050406030204" pitchFamily="18" charset="0"/>
                                  </a:rPr>
                                </m:ctrlPr>
                              </m:accPr>
                              <m:e>
                                <m:r>
                                  <a:rPr lang="en-NZ" altLang="ja-JP" sz="1800" b="1" i="1">
                                    <a:solidFill>
                                      <a:srgbClr val="0070C0"/>
                                    </a:solidFill>
                                    <a:latin typeface="Cambria Math" panose="02040503050406030204" pitchFamily="18" charset="0"/>
                                  </a:rPr>
                                  <m:t>𝝈</m:t>
                                </m:r>
                              </m:e>
                            </m:acc>
                          </m:e>
                          <m:sub>
                            <m:r>
                              <a:rPr lang="en-NZ" altLang="ja-JP" sz="1800" b="1" i="1">
                                <a:solidFill>
                                  <a:srgbClr val="0070C0"/>
                                </a:solidFill>
                                <a:latin typeface="Cambria Math" panose="02040503050406030204" pitchFamily="18" charset="0"/>
                              </a:rPr>
                              <m:t>𝑩</m:t>
                            </m:r>
                          </m:sub>
                          <m:sup>
                            <m:r>
                              <a:rPr lang="en-NZ" altLang="ja-JP" sz="1800" b="1" i="1">
                                <a:solidFill>
                                  <a:srgbClr val="0070C0"/>
                                </a:solidFill>
                                <a:latin typeface="Cambria Math" panose="02040503050406030204" pitchFamily="18" charset="0"/>
                              </a:rPr>
                              <m:t>𝟐</m:t>
                            </m:r>
                          </m:sup>
                        </m:sSubSup>
                        <m:r>
                          <a:rPr lang="en-NZ" altLang="ja-JP" sz="1800" b="1" i="1">
                            <a:solidFill>
                              <a:srgbClr val="0070C0"/>
                            </a:solidFill>
                            <a:latin typeface="Cambria Math" panose="02040503050406030204" pitchFamily="18" charset="0"/>
                          </a:rPr>
                          <m:t> +  </m:t>
                        </m:r>
                        <m:sSup>
                          <m:sSupPr>
                            <m:ctrlPr>
                              <a:rPr lang="en-NZ" altLang="ja-JP" sz="1800" b="1" i="1">
                                <a:solidFill>
                                  <a:srgbClr val="0070C0"/>
                                </a:solidFill>
                                <a:latin typeface="Cambria Math" panose="02040503050406030204" pitchFamily="18" charset="0"/>
                              </a:rPr>
                            </m:ctrlPr>
                          </m:sSupPr>
                          <m:e>
                            <m:acc>
                              <m:accPr>
                                <m:chr m:val="̂"/>
                                <m:ctrlPr>
                                  <a:rPr lang="en-NZ" altLang="ja-JP" sz="1800" b="1" i="1">
                                    <a:solidFill>
                                      <a:srgbClr val="0070C0"/>
                                    </a:solidFill>
                                    <a:latin typeface="Cambria Math" panose="02040503050406030204" pitchFamily="18" charset="0"/>
                                  </a:rPr>
                                </m:ctrlPr>
                              </m:accPr>
                              <m:e>
                                <m:r>
                                  <a:rPr lang="en-NZ" altLang="ja-JP" sz="1800" b="1" i="1">
                                    <a:solidFill>
                                      <a:srgbClr val="0070C0"/>
                                    </a:solidFill>
                                    <a:latin typeface="Cambria Math" panose="02040503050406030204" pitchFamily="18" charset="0"/>
                                  </a:rPr>
                                  <m:t>𝝈</m:t>
                                </m:r>
                              </m:e>
                            </m:acc>
                          </m:e>
                          <m:sup>
                            <m:r>
                              <a:rPr lang="en-NZ" altLang="ja-JP" sz="1800" b="1" i="1">
                                <a:solidFill>
                                  <a:srgbClr val="0070C0"/>
                                </a:solidFill>
                                <a:latin typeface="Cambria Math" panose="02040503050406030204" pitchFamily="18" charset="0"/>
                              </a:rPr>
                              <m:t>𝟐</m:t>
                            </m:r>
                          </m:sup>
                        </m:sSup>
                      </m:den>
                    </m:f>
                    <m:r>
                      <a:rPr lang="en-NZ" altLang="ja-JP" sz="1800" b="1" i="1">
                        <a:solidFill>
                          <a:srgbClr val="0070C0"/>
                        </a:solidFill>
                        <a:latin typeface="Cambria Math" panose="02040503050406030204" pitchFamily="18" charset="0"/>
                      </a:rPr>
                      <m:t> =  </m:t>
                    </m:r>
                    <m:f>
                      <m:fPr>
                        <m:ctrlPr>
                          <a:rPr lang="en-NZ" altLang="ja-JP" sz="1800" i="1" smtClean="0">
                            <a:solidFill>
                              <a:srgbClr val="0070C0"/>
                            </a:solidFill>
                            <a:latin typeface="Cambria Math" panose="02040503050406030204" pitchFamily="18" charset="0"/>
                          </a:rPr>
                        </m:ctrlPr>
                      </m:fPr>
                      <m:num>
                        <m:r>
                          <a:rPr lang="en-NZ" altLang="ja-JP" sz="1800" b="0" i="1">
                            <a:solidFill>
                              <a:srgbClr val="0070C0"/>
                            </a:solidFill>
                            <a:latin typeface="Cambria Math" panose="02040503050406030204" pitchFamily="18" charset="0"/>
                          </a:rPr>
                          <m:t>27.8</m:t>
                        </m:r>
                        <m:r>
                          <a:rPr lang="en-NZ" altLang="ja-JP" sz="1800" b="0" i="1" smtClean="0">
                            <a:solidFill>
                              <a:srgbClr val="0070C0"/>
                            </a:solidFill>
                            <a:latin typeface="Cambria Math" panose="02040503050406030204" pitchFamily="18" charset="0"/>
                          </a:rPr>
                          <m:t>8</m:t>
                        </m:r>
                      </m:num>
                      <m:den>
                        <m:r>
                          <a:rPr lang="en-NZ" altLang="ja-JP" sz="1800" b="0" i="1">
                            <a:solidFill>
                              <a:srgbClr val="0070C0"/>
                            </a:solidFill>
                            <a:latin typeface="Cambria Math" panose="02040503050406030204" pitchFamily="18" charset="0"/>
                          </a:rPr>
                          <m:t>27.8</m:t>
                        </m:r>
                        <m:r>
                          <a:rPr lang="en-NZ" altLang="ja-JP" sz="1800" b="0" i="1" smtClean="0">
                            <a:solidFill>
                              <a:srgbClr val="0070C0"/>
                            </a:solidFill>
                            <a:latin typeface="Cambria Math" panose="02040503050406030204" pitchFamily="18" charset="0"/>
                          </a:rPr>
                          <m:t>8 + </m:t>
                        </m:r>
                        <m:r>
                          <a:rPr lang="en-NZ" altLang="ja-JP" sz="1800" b="0" i="1">
                            <a:solidFill>
                              <a:srgbClr val="0070C0"/>
                            </a:solidFill>
                            <a:latin typeface="Cambria Math" panose="02040503050406030204" pitchFamily="18" charset="0"/>
                          </a:rPr>
                          <m:t>41.9</m:t>
                        </m:r>
                        <m:r>
                          <m:rPr>
                            <m:nor/>
                          </m:rPr>
                          <a:rPr lang="en-NZ" altLang="ja-JP" sz="1800" dirty="0">
                            <a:solidFill>
                              <a:srgbClr val="0070C0"/>
                            </a:solidFill>
                          </a:rPr>
                          <m:t> </m:t>
                        </m:r>
                      </m:den>
                    </m:f>
                    <m:r>
                      <a:rPr lang="en-NZ" altLang="ja-JP" sz="1800" b="0" i="1" smtClean="0">
                        <a:solidFill>
                          <a:srgbClr val="0070C0"/>
                        </a:solidFill>
                        <a:latin typeface="Cambria Math" panose="02040503050406030204" pitchFamily="18" charset="0"/>
                      </a:rPr>
                      <m:t> =</m:t>
                    </m:r>
                    <m:r>
                      <a:rPr lang="en-NZ" altLang="ja-JP" sz="1800" b="0" i="1">
                        <a:solidFill>
                          <a:srgbClr val="0070C0"/>
                        </a:solidFill>
                        <a:latin typeface="Cambria Math" panose="02040503050406030204" pitchFamily="18" charset="0"/>
                      </a:rPr>
                      <m:t>39.9</m:t>
                    </m:r>
                    <m:r>
                      <a:rPr lang="en-NZ" altLang="ja-JP" sz="1800" b="1" i="1">
                        <a:solidFill>
                          <a:srgbClr val="0070C0"/>
                        </a:solidFill>
                        <a:latin typeface="Cambria Math" panose="02040503050406030204" pitchFamily="18" charset="0"/>
                      </a:rPr>
                      <m:t>%</m:t>
                    </m:r>
                  </m:oMath>
                </a14:m>
                <a:endParaRPr lang="en-NZ" altLang="ja-JP" sz="1800" b="1" i="1" dirty="0">
                  <a:solidFill>
                    <a:srgbClr val="0070C0"/>
                  </a:solidFill>
                </a:endParaRPr>
              </a:p>
              <a:p>
                <a:pPr algn="ctr">
                  <a:lnSpc>
                    <a:spcPct val="100000"/>
                  </a:lnSpc>
                </a:pPr>
                <a:endParaRPr lang="en-NZ" altLang="ja-JP" sz="1800" b="1" i="1" dirty="0">
                  <a:solidFill>
                    <a:srgbClr val="0070C0"/>
                  </a:solidFill>
                </a:endParaRPr>
              </a:p>
              <a:p>
                <a:pPr marL="285750" indent="-285750">
                  <a:lnSpc>
                    <a:spcPct val="100000"/>
                  </a:lnSpc>
                  <a:buFont typeface="Arial" panose="020B0604020202020204" pitchFamily="34" charset="0"/>
                  <a:buChar char="•"/>
                </a:pPr>
                <a:r>
                  <a:rPr lang="en-NZ" altLang="ja-JP" sz="1800" dirty="0">
                    <a:solidFill>
                      <a:srgbClr val="0070C0"/>
                    </a:solidFill>
                  </a:rPr>
                  <a:t>% of variation (after allowing for Drug) due to unexplained residual variation</a:t>
                </a:r>
              </a:p>
              <a:p>
                <a:pPr algn="ctr">
                  <a:lnSpc>
                    <a:spcPct val="100000"/>
                  </a:lnSpc>
                </a:pPr>
                <a:r>
                  <a:rPr lang="en-NZ" altLang="ja-JP" sz="1800" b="1" i="1" dirty="0">
                    <a:solidFill>
                      <a:srgbClr val="0070C0"/>
                    </a:solidFill>
                  </a:rPr>
                  <a:t> </a:t>
                </a:r>
                <a14:m>
                  <m:oMath xmlns:m="http://schemas.openxmlformats.org/officeDocument/2006/math">
                    <m:f>
                      <m:fPr>
                        <m:ctrlPr>
                          <a:rPr lang="en-NZ" altLang="ja-JP" sz="1800" b="1" i="1">
                            <a:solidFill>
                              <a:srgbClr val="0070C0"/>
                            </a:solidFill>
                            <a:latin typeface="Cambria Math" panose="02040503050406030204" pitchFamily="18" charset="0"/>
                          </a:rPr>
                        </m:ctrlPr>
                      </m:fPr>
                      <m:num>
                        <m:sSup>
                          <m:sSupPr>
                            <m:ctrlPr>
                              <a:rPr lang="en-NZ" altLang="ja-JP" sz="1800" b="1" i="1">
                                <a:solidFill>
                                  <a:srgbClr val="0070C0"/>
                                </a:solidFill>
                                <a:latin typeface="Cambria Math" panose="02040503050406030204" pitchFamily="18" charset="0"/>
                              </a:rPr>
                            </m:ctrlPr>
                          </m:sSupPr>
                          <m:e>
                            <m:acc>
                              <m:accPr>
                                <m:chr m:val="̂"/>
                                <m:ctrlPr>
                                  <a:rPr lang="en-NZ" altLang="ja-JP" sz="1800" b="1" i="1">
                                    <a:solidFill>
                                      <a:srgbClr val="0070C0"/>
                                    </a:solidFill>
                                    <a:latin typeface="Cambria Math" panose="02040503050406030204" pitchFamily="18" charset="0"/>
                                  </a:rPr>
                                </m:ctrlPr>
                              </m:accPr>
                              <m:e>
                                <m:r>
                                  <a:rPr lang="en-NZ" altLang="ja-JP" sz="1800" b="1" i="1">
                                    <a:solidFill>
                                      <a:srgbClr val="0070C0"/>
                                    </a:solidFill>
                                    <a:latin typeface="Cambria Math" panose="02040503050406030204" pitchFamily="18" charset="0"/>
                                  </a:rPr>
                                  <m:t>𝝈</m:t>
                                </m:r>
                              </m:e>
                            </m:acc>
                          </m:e>
                          <m:sup>
                            <m:r>
                              <a:rPr lang="en-NZ" altLang="ja-JP" sz="1800" b="1" i="1">
                                <a:solidFill>
                                  <a:srgbClr val="0070C0"/>
                                </a:solidFill>
                                <a:latin typeface="Cambria Math" panose="02040503050406030204" pitchFamily="18" charset="0"/>
                              </a:rPr>
                              <m:t>𝟐</m:t>
                            </m:r>
                          </m:sup>
                        </m:sSup>
                      </m:num>
                      <m:den>
                        <m:sSubSup>
                          <m:sSubSupPr>
                            <m:ctrlPr>
                              <a:rPr lang="en-NZ" altLang="ja-JP" sz="1800" b="1" i="1">
                                <a:solidFill>
                                  <a:srgbClr val="0070C0"/>
                                </a:solidFill>
                                <a:latin typeface="Cambria Math" panose="02040503050406030204" pitchFamily="18" charset="0"/>
                              </a:rPr>
                            </m:ctrlPr>
                          </m:sSubSupPr>
                          <m:e>
                            <m:acc>
                              <m:accPr>
                                <m:chr m:val="̂"/>
                                <m:ctrlPr>
                                  <a:rPr lang="en-NZ" altLang="ja-JP" sz="1800" b="1" i="1">
                                    <a:solidFill>
                                      <a:srgbClr val="0070C0"/>
                                    </a:solidFill>
                                    <a:latin typeface="Cambria Math" panose="02040503050406030204" pitchFamily="18" charset="0"/>
                                  </a:rPr>
                                </m:ctrlPr>
                              </m:accPr>
                              <m:e>
                                <m:r>
                                  <a:rPr lang="en-NZ" altLang="ja-JP" sz="1800" b="1" i="1">
                                    <a:solidFill>
                                      <a:srgbClr val="0070C0"/>
                                    </a:solidFill>
                                    <a:latin typeface="Cambria Math" panose="02040503050406030204" pitchFamily="18" charset="0"/>
                                  </a:rPr>
                                  <m:t>𝝈</m:t>
                                </m:r>
                              </m:e>
                            </m:acc>
                          </m:e>
                          <m:sub>
                            <m:r>
                              <a:rPr lang="en-NZ" altLang="ja-JP" sz="1800" b="1" i="1">
                                <a:solidFill>
                                  <a:srgbClr val="0070C0"/>
                                </a:solidFill>
                                <a:latin typeface="Cambria Math" panose="02040503050406030204" pitchFamily="18" charset="0"/>
                              </a:rPr>
                              <m:t>𝑩</m:t>
                            </m:r>
                          </m:sub>
                          <m:sup>
                            <m:r>
                              <a:rPr lang="en-NZ" altLang="ja-JP" sz="1800" b="1" i="1">
                                <a:solidFill>
                                  <a:srgbClr val="0070C0"/>
                                </a:solidFill>
                                <a:latin typeface="Cambria Math" panose="02040503050406030204" pitchFamily="18" charset="0"/>
                              </a:rPr>
                              <m:t>𝟐</m:t>
                            </m:r>
                          </m:sup>
                        </m:sSubSup>
                        <m:r>
                          <a:rPr lang="en-NZ" altLang="ja-JP" sz="1800" b="1" i="1">
                            <a:solidFill>
                              <a:srgbClr val="0070C0"/>
                            </a:solidFill>
                            <a:latin typeface="Cambria Math" panose="02040503050406030204" pitchFamily="18" charset="0"/>
                          </a:rPr>
                          <m:t> +  </m:t>
                        </m:r>
                        <m:sSup>
                          <m:sSupPr>
                            <m:ctrlPr>
                              <a:rPr lang="en-NZ" altLang="ja-JP" sz="1800" b="1" i="1">
                                <a:solidFill>
                                  <a:srgbClr val="0070C0"/>
                                </a:solidFill>
                                <a:latin typeface="Cambria Math" panose="02040503050406030204" pitchFamily="18" charset="0"/>
                              </a:rPr>
                            </m:ctrlPr>
                          </m:sSupPr>
                          <m:e>
                            <m:acc>
                              <m:accPr>
                                <m:chr m:val="̂"/>
                                <m:ctrlPr>
                                  <a:rPr lang="en-NZ" altLang="ja-JP" sz="1800" b="1" i="1">
                                    <a:solidFill>
                                      <a:srgbClr val="0070C0"/>
                                    </a:solidFill>
                                    <a:latin typeface="Cambria Math" panose="02040503050406030204" pitchFamily="18" charset="0"/>
                                  </a:rPr>
                                </m:ctrlPr>
                              </m:accPr>
                              <m:e>
                                <m:r>
                                  <a:rPr lang="en-NZ" altLang="ja-JP" sz="1800" b="1" i="1">
                                    <a:solidFill>
                                      <a:srgbClr val="0070C0"/>
                                    </a:solidFill>
                                    <a:latin typeface="Cambria Math" panose="02040503050406030204" pitchFamily="18" charset="0"/>
                                  </a:rPr>
                                  <m:t>𝝈</m:t>
                                </m:r>
                              </m:e>
                            </m:acc>
                          </m:e>
                          <m:sup>
                            <m:r>
                              <a:rPr lang="en-NZ" altLang="ja-JP" sz="1800" b="1" i="1">
                                <a:solidFill>
                                  <a:srgbClr val="0070C0"/>
                                </a:solidFill>
                                <a:latin typeface="Cambria Math" panose="02040503050406030204" pitchFamily="18" charset="0"/>
                              </a:rPr>
                              <m:t>𝟐</m:t>
                            </m:r>
                          </m:sup>
                        </m:sSup>
                      </m:den>
                    </m:f>
                    <m:r>
                      <a:rPr lang="en-NZ" altLang="ja-JP" sz="1800" b="1" i="1">
                        <a:solidFill>
                          <a:srgbClr val="0070C0"/>
                        </a:solidFill>
                        <a:latin typeface="Cambria Math" panose="02040503050406030204" pitchFamily="18" charset="0"/>
                      </a:rPr>
                      <m:t>  = </m:t>
                    </m:r>
                    <m:f>
                      <m:fPr>
                        <m:ctrlPr>
                          <a:rPr lang="en-NZ" altLang="ja-JP" sz="1800" i="1">
                            <a:solidFill>
                              <a:srgbClr val="0070C0"/>
                            </a:solidFill>
                            <a:latin typeface="Cambria Math" panose="02040503050406030204" pitchFamily="18" charset="0"/>
                          </a:rPr>
                        </m:ctrlPr>
                      </m:fPr>
                      <m:num>
                        <m:r>
                          <a:rPr lang="en-NZ" altLang="ja-JP" sz="1800" b="0" i="1" smtClean="0">
                            <a:solidFill>
                              <a:srgbClr val="0070C0"/>
                            </a:solidFill>
                            <a:latin typeface="Cambria Math" panose="02040503050406030204" pitchFamily="18" charset="0"/>
                          </a:rPr>
                          <m:t>41.9</m:t>
                        </m:r>
                      </m:num>
                      <m:den>
                        <m:r>
                          <a:rPr lang="en-NZ" altLang="ja-JP" sz="1800" i="1">
                            <a:solidFill>
                              <a:srgbClr val="0070C0"/>
                            </a:solidFill>
                            <a:latin typeface="Cambria Math" panose="02040503050406030204" pitchFamily="18" charset="0"/>
                          </a:rPr>
                          <m:t>27.8</m:t>
                        </m:r>
                        <m:r>
                          <a:rPr lang="en-NZ" altLang="ja-JP" sz="1800" b="0" i="1" smtClean="0">
                            <a:solidFill>
                              <a:srgbClr val="0070C0"/>
                            </a:solidFill>
                            <a:latin typeface="Cambria Math" panose="02040503050406030204" pitchFamily="18" charset="0"/>
                          </a:rPr>
                          <m:t>8</m:t>
                        </m:r>
                        <m:r>
                          <a:rPr lang="en-NZ" altLang="ja-JP" sz="1800" i="1">
                            <a:solidFill>
                              <a:srgbClr val="0070C0"/>
                            </a:solidFill>
                            <a:latin typeface="Cambria Math" panose="02040503050406030204" pitchFamily="18" charset="0"/>
                          </a:rPr>
                          <m:t> + 41.9</m:t>
                        </m:r>
                      </m:den>
                    </m:f>
                    <m:r>
                      <a:rPr lang="en-NZ" altLang="ja-JP" sz="1800" i="1">
                        <a:solidFill>
                          <a:srgbClr val="0070C0"/>
                        </a:solidFill>
                        <a:latin typeface="Cambria Math" panose="02040503050406030204" pitchFamily="18" charset="0"/>
                      </a:rPr>
                      <m:t> =   </m:t>
                    </m:r>
                    <m:r>
                      <a:rPr lang="en-NZ" altLang="ja-JP" sz="1800" b="0" i="1" smtClean="0">
                        <a:solidFill>
                          <a:srgbClr val="0070C0"/>
                        </a:solidFill>
                        <a:latin typeface="Cambria Math" panose="02040503050406030204" pitchFamily="18" charset="0"/>
                      </a:rPr>
                      <m:t>60.1</m:t>
                    </m:r>
                    <m:r>
                      <a:rPr lang="en-NZ" altLang="ja-JP" sz="1800" i="1">
                        <a:solidFill>
                          <a:srgbClr val="0070C0"/>
                        </a:solidFill>
                        <a:latin typeface="Cambria Math" panose="02040503050406030204" pitchFamily="18" charset="0"/>
                      </a:rPr>
                      <m:t>%</m:t>
                    </m:r>
                  </m:oMath>
                </a14:m>
                <a:endParaRPr lang="en-NZ" altLang="ja-JP" sz="1800" dirty="0">
                  <a:solidFill>
                    <a:srgbClr val="0070C0"/>
                  </a:solidFill>
                </a:endParaRPr>
              </a:p>
              <a:p>
                <a:pPr algn="ctr">
                  <a:lnSpc>
                    <a:spcPct val="100000"/>
                  </a:lnSpc>
                </a:pPr>
                <a:endParaRPr lang="en-NZ" altLang="ja-JP" sz="1800" b="1" i="1" dirty="0">
                  <a:solidFill>
                    <a:srgbClr val="0070C0"/>
                  </a:solidFill>
                </a:endParaRPr>
              </a:p>
              <a:p>
                <a:pPr marL="285750" indent="-285750">
                  <a:lnSpc>
                    <a:spcPct val="100000"/>
                  </a:lnSpc>
                  <a:buFont typeface="Arial" panose="020B0604020202020204" pitchFamily="34" charset="0"/>
                  <a:buChar char="•"/>
                </a:pPr>
                <a:endParaRPr lang="en-NZ" altLang="ja-JP" sz="1800" dirty="0">
                  <a:solidFill>
                    <a:srgbClr val="0070C0"/>
                  </a:solidFill>
                </a:endParaRPr>
              </a:p>
            </p:txBody>
          </p:sp>
        </mc:Choice>
        <mc:Fallback xmlns="">
          <p:sp>
            <p:nvSpPr>
              <p:cNvPr id="6" name="Text Placeholder 5">
                <a:extLst>
                  <a:ext uri="{FF2B5EF4-FFF2-40B4-BE49-F238E27FC236}">
                    <a16:creationId xmlns:a16="http://schemas.microsoft.com/office/drawing/2014/main" id="{9178BF22-144E-EC90-0016-8F17BFF7C54A}"/>
                  </a:ext>
                </a:extLst>
              </p:cNvPr>
              <p:cNvSpPr txBox="1">
                <a:spLocks noRot="1" noChangeAspect="1" noMove="1" noResize="1" noEditPoints="1" noAdjustHandles="1" noChangeArrowheads="1" noChangeShapeType="1" noTextEdit="1"/>
              </p:cNvSpPr>
              <p:nvPr/>
            </p:nvSpPr>
            <p:spPr>
              <a:xfrm>
                <a:off x="6688510" y="3945637"/>
                <a:ext cx="4881721" cy="2431388"/>
              </a:xfrm>
              <a:prstGeom prst="rect">
                <a:avLst/>
              </a:prstGeom>
              <a:blipFill>
                <a:blip r:embed="rId8"/>
                <a:stretch>
                  <a:fillRect l="-749" t="-1253"/>
                </a:stretch>
              </a:blipFill>
            </p:spPr>
            <p:txBody>
              <a:bodyPr/>
              <a:lstStyle/>
              <a:p>
                <a:r>
                  <a:rPr lang="en-NZ">
                    <a:noFill/>
                  </a:rPr>
                  <a:t> </a:t>
                </a:r>
              </a:p>
            </p:txBody>
          </p:sp>
        </mc:Fallback>
      </mc:AlternateContent>
    </p:spTree>
    <p:extLst>
      <p:ext uri="{BB962C8B-B14F-4D97-AF65-F5344CB8AC3E}">
        <p14:creationId xmlns:p14="http://schemas.microsoft.com/office/powerpoint/2010/main" val="21274162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2"/>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3"/>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7"/>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8"/>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4"/>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0"/>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9"/>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2"/>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22" grpId="0" animBg="1"/>
      <p:bldP spid="23" grpId="0" animBg="1"/>
      <p:bldP spid="27" grpId="0" animBg="1"/>
      <p:bldP spid="29" grpId="0"/>
      <p:bldP spid="30" grpId="0"/>
      <p:bldP spid="2" grpId="0"/>
      <p:bldP spid="6" grpId="0"/>
    </p:bldLst>
  </p:timing>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1" name="Rectangle 70">
            <a:extLst>
              <a:ext uri="{FF2B5EF4-FFF2-40B4-BE49-F238E27FC236}">
                <a16:creationId xmlns:a16="http://schemas.microsoft.com/office/drawing/2014/main" id="{AB8C311F-7253-4AED-9701-7FC0708C4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030" name="Rectangle 72">
            <a:extLst>
              <a:ext uri="{FF2B5EF4-FFF2-40B4-BE49-F238E27FC236}">
                <a16:creationId xmlns:a16="http://schemas.microsoft.com/office/drawing/2014/main" id="{FD073016-B734-483B-8953-5BADEE1451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38600" y="0"/>
            <a:ext cx="8157458" cy="6858000"/>
          </a:xfrm>
          <a:prstGeom prst="rect">
            <a:avLst/>
          </a:prstGeom>
          <a:gradFill>
            <a:gsLst>
              <a:gs pos="2000">
                <a:schemeClr val="accent1"/>
              </a:gs>
              <a:gs pos="78000">
                <a:schemeClr val="accent1">
                  <a:lumMod val="50000"/>
                </a:schemeClr>
              </a:gs>
              <a:gs pos="100000">
                <a:srgbClr val="000000">
                  <a:alpha val="85000"/>
                </a:srgb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031" name="Rectangle 74">
            <a:extLst>
              <a:ext uri="{FF2B5EF4-FFF2-40B4-BE49-F238E27FC236}">
                <a16:creationId xmlns:a16="http://schemas.microsoft.com/office/drawing/2014/main" id="{90A7EAB6-59D3-4325-8DE6-E0CA4009CE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4537" y="1839884"/>
            <a:ext cx="8157460" cy="5017687"/>
          </a:xfrm>
          <a:prstGeom prst="rect">
            <a:avLst/>
          </a:prstGeom>
          <a:gradFill>
            <a:gsLst>
              <a:gs pos="0">
                <a:schemeClr val="accent1">
                  <a:lumMod val="60000"/>
                  <a:lumOff val="40000"/>
                  <a:alpha val="30000"/>
                </a:schemeClr>
              </a:gs>
              <a:gs pos="100000">
                <a:srgbClr val="000000">
                  <a:alpha val="44000"/>
                </a:srgbClr>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032" name="Rectangle 76">
            <a:extLst>
              <a:ext uri="{FF2B5EF4-FFF2-40B4-BE49-F238E27FC236}">
                <a16:creationId xmlns:a16="http://schemas.microsoft.com/office/drawing/2014/main" id="{A8D57A06-A426-446D-B02C-A2DC6B62E4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063179" y="-33131"/>
            <a:ext cx="6857999" cy="6923403"/>
          </a:xfrm>
          <a:prstGeom prst="rect">
            <a:avLst/>
          </a:prstGeom>
          <a:gradFill>
            <a:gsLst>
              <a:gs pos="56000">
                <a:schemeClr val="accent1">
                  <a:lumMod val="60000"/>
                  <a:lumOff val="40000"/>
                  <a:alpha val="0"/>
                </a:schemeClr>
              </a:gs>
              <a:gs pos="100000">
                <a:schemeClr val="accent1"/>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9" name="TextBox 8">
            <a:extLst>
              <a:ext uri="{FF2B5EF4-FFF2-40B4-BE49-F238E27FC236}">
                <a16:creationId xmlns:a16="http://schemas.microsoft.com/office/drawing/2014/main" id="{7F14062D-E1C1-4F63-B0FD-D013BDA5782B}"/>
              </a:ext>
            </a:extLst>
          </p:cNvPr>
          <p:cNvSpPr txBox="1"/>
          <p:nvPr/>
        </p:nvSpPr>
        <p:spPr>
          <a:xfrm>
            <a:off x="43707" y="2844225"/>
            <a:ext cx="12104586" cy="1477328"/>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NZ" sz="4500" b="1" dirty="0">
                <a:solidFill>
                  <a:srgbClr val="FFC000"/>
                </a:solidFill>
                <a:latin typeface="Calibri" panose="020F0502020204030204"/>
              </a:rPr>
              <a:t>5</a:t>
            </a:r>
            <a:r>
              <a:rPr kumimoji="0" lang="en-NZ" sz="4500" b="1" i="0" u="none" strike="noStrike" kern="1200" cap="none" spc="0" normalizeH="0" baseline="0" noProof="0" dirty="0">
                <a:ln>
                  <a:noFill/>
                </a:ln>
                <a:solidFill>
                  <a:srgbClr val="FFC000"/>
                </a:solidFill>
                <a:effectLst/>
                <a:uLnTx/>
                <a:uFillTx/>
                <a:latin typeface="Calibri" panose="020F0502020204030204"/>
                <a:ea typeface="+mn-ea"/>
                <a:cs typeface="+mn-cs"/>
              </a:rPr>
              <a:t>.4 – Mixed Effects Model for a </a:t>
            </a:r>
            <a:br>
              <a:rPr kumimoji="0" lang="en-NZ" sz="4500" b="1" i="0" u="none" strike="noStrike" kern="1200" cap="none" spc="0" normalizeH="0" baseline="0" noProof="0" dirty="0">
                <a:ln>
                  <a:noFill/>
                </a:ln>
                <a:solidFill>
                  <a:srgbClr val="FFC000"/>
                </a:solidFill>
                <a:effectLst/>
                <a:uLnTx/>
                <a:uFillTx/>
                <a:latin typeface="Calibri" panose="020F0502020204030204"/>
                <a:ea typeface="+mn-ea"/>
                <a:cs typeface="+mn-cs"/>
              </a:rPr>
            </a:br>
            <a:r>
              <a:rPr kumimoji="0" lang="en-NZ" sz="4500" b="1" i="0" u="none" strike="noStrike" kern="1200" cap="none" spc="0" normalizeH="0" baseline="0" noProof="0" dirty="0">
                <a:ln>
                  <a:noFill/>
                </a:ln>
                <a:solidFill>
                  <a:srgbClr val="FFC000"/>
                </a:solidFill>
                <a:effectLst/>
                <a:uLnTx/>
                <a:uFillTx/>
                <a:latin typeface="Calibri" panose="020F0502020204030204"/>
                <a:ea typeface="+mn-ea"/>
                <a:cs typeface="+mn-cs"/>
              </a:rPr>
              <a:t>Three-Stage Nested Design</a:t>
            </a:r>
          </a:p>
        </p:txBody>
      </p:sp>
      <p:pic>
        <p:nvPicPr>
          <p:cNvPr id="10" name="Picture 2" descr="Te Herenga Waka—Victoria University of Wellington | Universities New  Zealand - Te Pōkai Tara">
            <a:extLst>
              <a:ext uri="{FF2B5EF4-FFF2-40B4-BE49-F238E27FC236}">
                <a16:creationId xmlns:a16="http://schemas.microsoft.com/office/drawing/2014/main" id="{078A8151-9BD3-4B62-8210-A87BCD0941E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116733"/>
            <a:ext cx="2185386" cy="7412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846716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2">
            <a:extLst>
              <a:ext uri="{FF2B5EF4-FFF2-40B4-BE49-F238E27FC236}">
                <a16:creationId xmlns:a16="http://schemas.microsoft.com/office/drawing/2014/main" id="{FCA3135E-12FE-4808-B68B-466D5B0EBCB1}"/>
              </a:ext>
            </a:extLst>
          </p:cNvPr>
          <p:cNvSpPr txBox="1">
            <a:spLocks/>
          </p:cNvSpPr>
          <p:nvPr/>
        </p:nvSpPr>
        <p:spPr>
          <a:xfrm>
            <a:off x="8775510" y="86139"/>
            <a:ext cx="3313855"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rPr>
              <a:t>5.4 – 3-Stage Nested Design</a:t>
            </a:r>
            <a:endParaRPr kumimoji="1" lang="ja-JP" altLang="en-US"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endParaRPr>
          </a:p>
        </p:txBody>
      </p:sp>
      <p:sp>
        <p:nvSpPr>
          <p:cNvPr id="5" name="Title 6">
            <a:extLst>
              <a:ext uri="{FF2B5EF4-FFF2-40B4-BE49-F238E27FC236}">
                <a16:creationId xmlns:a16="http://schemas.microsoft.com/office/drawing/2014/main" id="{2BD5844C-C201-4666-ADB9-681CBA48DCC1}"/>
              </a:ext>
            </a:extLst>
          </p:cNvPr>
          <p:cNvSpPr txBox="1">
            <a:spLocks/>
          </p:cNvSpPr>
          <p:nvPr/>
        </p:nvSpPr>
        <p:spPr>
          <a:xfrm>
            <a:off x="251224" y="237833"/>
            <a:ext cx="9411391" cy="607201"/>
          </a:xfrm>
          <a:prstGeom prst="rect">
            <a:avLst/>
          </a:prstGeom>
        </p:spPr>
        <p:txBody>
          <a:bodyPr anchor="t">
            <a:normAutofit fontScale="85000" lnSpcReduction="10000"/>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pPr marL="0" marR="0" lvl="0" indent="0" algn="l" defTabSz="914324" rtl="0" eaLnBrk="1" fontAlgn="auto" latinLnBrk="0" hangingPunct="1">
              <a:lnSpc>
                <a:spcPct val="90000"/>
              </a:lnSpc>
              <a:spcBef>
                <a:spcPct val="0"/>
              </a:spcBef>
              <a:spcAft>
                <a:spcPts val="0"/>
              </a:spcAft>
              <a:buClrTx/>
              <a:buSzTx/>
              <a:buFontTx/>
              <a:buNone/>
              <a:tabLst/>
              <a:defRPr/>
            </a:pPr>
            <a:r>
              <a:rPr kumimoji="1" lang="en-US" altLang="ja-JP"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rPr>
              <a:t>5.4a – </a:t>
            </a:r>
            <a:r>
              <a:rPr lang="en-US" altLang="ja-JP" b="1" u="sng" dirty="0">
                <a:solidFill>
                  <a:prstClr val="black"/>
                </a:solidFill>
                <a:latin typeface="Calibri" panose="020F0502020204030204"/>
                <a:ea typeface="游ゴシック Light" panose="020B0300000000000000" pitchFamily="34" charset="-128"/>
              </a:rPr>
              <a:t>Mixed</a:t>
            </a:r>
            <a:r>
              <a:rPr kumimoji="1" lang="en-US" altLang="ja-JP"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rPr>
              <a:t> Effects Model for a 3-Stage Nested Design:</a:t>
            </a:r>
            <a:endParaRPr kumimoji="1" lang="ja-JP" altLang="en-US"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endParaRPr>
          </a:p>
        </p:txBody>
      </p:sp>
      <p:sp>
        <p:nvSpPr>
          <p:cNvPr id="10" name="Slide Number Placeholder 3">
            <a:extLst>
              <a:ext uri="{FF2B5EF4-FFF2-40B4-BE49-F238E27FC236}">
                <a16:creationId xmlns:a16="http://schemas.microsoft.com/office/drawing/2014/main" id="{B0C9041D-77F0-4656-90D4-0E84B7AC6B27}"/>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54AD89C-DF1E-4948-B597-5DD47B34A9CA}" type="slidenum">
              <a:rPr kumimoji="1" lang="ja-JP" altLang="en-US" sz="4000" b="0" i="0" u="none" strike="noStrike" kern="1200" cap="none" spc="0" normalizeH="0" baseline="0" noProof="0" smtClean="0">
                <a:ln>
                  <a:noFill/>
                </a:ln>
                <a:solidFill>
                  <a:srgbClr val="575454">
                    <a:lumMod val="20000"/>
                    <a:lumOff val="80000"/>
                  </a:srgbClr>
                </a:solidFill>
                <a:effectLst/>
                <a:uLnTx/>
                <a:uFillTx/>
                <a:latin typeface="Coo Hew"/>
                <a:ea typeface="游ゴシック" panose="020B0400000000000000"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30</a:t>
            </a:fld>
            <a:endParaRPr kumimoji="1" lang="ja-JP" altLang="en-US" sz="4000" b="0" i="0" u="none" strike="noStrike" kern="1200" cap="none" spc="0" normalizeH="0" baseline="0" noProof="0" dirty="0">
              <a:ln>
                <a:noFill/>
              </a:ln>
              <a:solidFill>
                <a:srgbClr val="575454">
                  <a:lumMod val="20000"/>
                  <a:lumOff val="80000"/>
                </a:srgbClr>
              </a:solidFill>
              <a:effectLst/>
              <a:uLnTx/>
              <a:uFillTx/>
              <a:latin typeface="Coo Hew"/>
              <a:ea typeface="游ゴシック" panose="020B0400000000000000" pitchFamily="34" charset="-128"/>
              <a:cs typeface="+mn-cs"/>
            </a:endParaRPr>
          </a:p>
        </p:txBody>
      </p:sp>
      <p:sp>
        <p:nvSpPr>
          <p:cNvPr id="11" name="Text Placeholder 5">
            <a:extLst>
              <a:ext uri="{FF2B5EF4-FFF2-40B4-BE49-F238E27FC236}">
                <a16:creationId xmlns:a16="http://schemas.microsoft.com/office/drawing/2014/main" id="{C67FD996-886D-F16A-C1CE-1BD052717B7A}"/>
              </a:ext>
            </a:extLst>
          </p:cNvPr>
          <p:cNvSpPr txBox="1">
            <a:spLocks/>
          </p:cNvSpPr>
          <p:nvPr/>
        </p:nvSpPr>
        <p:spPr>
          <a:xfrm>
            <a:off x="312362" y="871036"/>
            <a:ext cx="11777003" cy="1222600"/>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Suppose we have a response variable </a:t>
            </a:r>
            <a:r>
              <a:rPr kumimoji="1" lang="en-NZ" altLang="ja-JP" sz="18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Y</a:t>
            </a:r>
            <a:r>
              <a:rPr kumimoji="1" lang="en-NZ"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which is modelled as a function of</a:t>
            </a:r>
          </a:p>
          <a:p>
            <a:pPr marL="971493" marR="0" lvl="1" indent="-285750" algn="just" defTabSz="914324" rtl="0" eaLnBrk="1" fontAlgn="auto" latinLnBrk="0" hangingPunct="1">
              <a:lnSpc>
                <a:spcPct val="100000"/>
              </a:lnSpc>
              <a:spcBef>
                <a:spcPts val="0"/>
              </a:spcBef>
              <a:spcAft>
                <a:spcPts val="0"/>
              </a:spcAft>
              <a:buClrTx/>
              <a:buSzTx/>
              <a:buFontTx/>
              <a:buChar char="-"/>
              <a:tabLst/>
              <a:defRPr/>
            </a:pPr>
            <a:r>
              <a:rPr kumimoji="1" lang="en-NZ"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 factor </a:t>
            </a:r>
            <a:r>
              <a:rPr kumimoji="1" lang="en-NZ" altLang="ja-JP" sz="18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a:t>
            </a:r>
            <a:r>
              <a:rPr kumimoji="1" lang="en-NZ"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with </a:t>
            </a:r>
            <a:r>
              <a:rPr kumimoji="1" lang="en-NZ" altLang="ja-JP" sz="1800" b="1" i="1" u="none" strike="noStrike" kern="1200" cap="none" spc="0" normalizeH="0" baseline="0" noProof="0" dirty="0" err="1">
                <a:ln>
                  <a:noFill/>
                </a:ln>
                <a:solidFill>
                  <a:prstClr val="black"/>
                </a:solidFill>
                <a:effectLst/>
                <a:uLnTx/>
                <a:uFillTx/>
                <a:latin typeface="Calibri" panose="020F0502020204030204"/>
                <a:ea typeface="游ゴシック" panose="020B0400000000000000" pitchFamily="34" charset="-128"/>
                <a:cs typeface="+mn-cs"/>
              </a:rPr>
              <a:t>i</a:t>
            </a:r>
            <a:r>
              <a:rPr kumimoji="1" lang="en-NZ" altLang="ja-JP" sz="18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 1, … , a </a:t>
            </a:r>
            <a:r>
              <a:rPr kumimoji="1" lang="en-NZ"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levels </a:t>
            </a:r>
          </a:p>
          <a:p>
            <a:pPr marL="971493" marR="0" lvl="1" indent="-285750" algn="just" defTabSz="914324" rtl="0" eaLnBrk="1" fontAlgn="auto" latinLnBrk="0" hangingPunct="1">
              <a:lnSpc>
                <a:spcPct val="100000"/>
              </a:lnSpc>
              <a:spcBef>
                <a:spcPts val="0"/>
              </a:spcBef>
              <a:spcAft>
                <a:spcPts val="0"/>
              </a:spcAft>
              <a:buClrTx/>
              <a:buSzTx/>
              <a:buFontTx/>
              <a:buChar char="-"/>
              <a:tabLst/>
              <a:defRPr/>
            </a:pPr>
            <a:r>
              <a:rPr kumimoji="1" lang="en-NZ"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 factor </a:t>
            </a:r>
            <a:r>
              <a:rPr kumimoji="1" lang="en-NZ" altLang="ja-JP" sz="18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B</a:t>
            </a:r>
            <a:r>
              <a:rPr kumimoji="1" lang="en-NZ"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with </a:t>
            </a:r>
            <a:r>
              <a:rPr kumimoji="1" lang="en-NZ" altLang="ja-JP" sz="18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b </a:t>
            </a:r>
            <a:r>
              <a:rPr kumimoji="1" lang="en-NZ"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randomly selected levels nested in factor </a:t>
            </a:r>
            <a:r>
              <a:rPr kumimoji="1" lang="en-NZ" altLang="ja-JP" sz="18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a:t>
            </a:r>
          </a:p>
          <a:p>
            <a:pPr marL="971493" lvl="1" indent="-285750" algn="just">
              <a:lnSpc>
                <a:spcPct val="100000"/>
              </a:lnSpc>
              <a:spcBef>
                <a:spcPts val="0"/>
              </a:spcBef>
              <a:buFontTx/>
              <a:buChar char="-"/>
              <a:defRPr/>
            </a:pPr>
            <a:r>
              <a:rPr kumimoji="1" lang="en-NZ"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 factor </a:t>
            </a:r>
            <a:r>
              <a:rPr lang="en-NZ" altLang="ja-JP" sz="1800" b="1" i="1" dirty="0">
                <a:solidFill>
                  <a:prstClr val="black"/>
                </a:solidFill>
                <a:latin typeface="Calibri" panose="020F0502020204030204"/>
                <a:ea typeface="游ゴシック" panose="020B0400000000000000" pitchFamily="34" charset="-128"/>
              </a:rPr>
              <a:t>C</a:t>
            </a:r>
            <a:r>
              <a:rPr kumimoji="1" lang="en-NZ"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with </a:t>
            </a:r>
            <a:r>
              <a:rPr kumimoji="1" lang="en-NZ" altLang="ja-JP" sz="18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c </a:t>
            </a:r>
            <a:r>
              <a:rPr kumimoji="1" lang="en-NZ"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randomly selected levels nested in factor </a:t>
            </a:r>
            <a:r>
              <a:rPr lang="en-NZ" altLang="ja-JP" sz="1800" b="1" i="1" dirty="0">
                <a:solidFill>
                  <a:prstClr val="black"/>
                </a:solidFill>
                <a:latin typeface="Calibri" panose="020F0502020204030204"/>
                <a:ea typeface="游ゴシック" panose="020B0400000000000000" pitchFamily="34" charset="-128"/>
              </a:rPr>
              <a:t>B</a:t>
            </a:r>
            <a:endParaRPr kumimoji="1" lang="en-NZ" altLang="ja-JP" sz="18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p:txBody>
      </p:sp>
      <p:sp>
        <p:nvSpPr>
          <p:cNvPr id="17" name="Text Placeholder 5">
            <a:extLst>
              <a:ext uri="{FF2B5EF4-FFF2-40B4-BE49-F238E27FC236}">
                <a16:creationId xmlns:a16="http://schemas.microsoft.com/office/drawing/2014/main" id="{DB67ABBD-EBE5-54A6-7329-9352FBDFC6FD}"/>
              </a:ext>
            </a:extLst>
          </p:cNvPr>
          <p:cNvSpPr txBox="1">
            <a:spLocks/>
          </p:cNvSpPr>
          <p:nvPr/>
        </p:nvSpPr>
        <p:spPr>
          <a:xfrm>
            <a:off x="251224" y="2508258"/>
            <a:ext cx="11777003" cy="41301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We take a balanced sample of </a:t>
            </a:r>
            <a:r>
              <a:rPr kumimoji="1" lang="en-NZ" altLang="ja-JP" sz="18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N</a:t>
            </a:r>
            <a:r>
              <a:rPr kumimoji="1" lang="en-NZ"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observations with </a:t>
            </a:r>
            <a:r>
              <a:rPr kumimoji="1" lang="en-NZ" altLang="ja-JP" sz="18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n</a:t>
            </a:r>
            <a:r>
              <a:rPr kumimoji="1" lang="en-NZ"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observations in each cell. The </a:t>
            </a:r>
            <a:r>
              <a:rPr lang="en-NZ" altLang="ja-JP" sz="1800" b="1" i="1" dirty="0">
                <a:solidFill>
                  <a:prstClr val="black"/>
                </a:solidFill>
                <a:latin typeface="Calibri" panose="020F0502020204030204"/>
                <a:ea typeface="游ゴシック" panose="020B0400000000000000" pitchFamily="34" charset="-128"/>
              </a:rPr>
              <a:t>m</a:t>
            </a:r>
            <a:r>
              <a:rPr kumimoji="1" lang="en-NZ" altLang="ja-JP" sz="1800" b="1" i="1" u="none" strike="noStrike" kern="1200" cap="none" spc="0" normalizeH="0" baseline="30000" noProof="0" dirty="0" err="1">
                <a:ln>
                  <a:noFill/>
                </a:ln>
                <a:solidFill>
                  <a:prstClr val="black"/>
                </a:solidFill>
                <a:effectLst/>
                <a:uLnTx/>
                <a:uFillTx/>
                <a:latin typeface="Calibri" panose="020F0502020204030204"/>
                <a:ea typeface="游ゴシック" panose="020B0400000000000000" pitchFamily="34" charset="-128"/>
                <a:cs typeface="+mn-cs"/>
              </a:rPr>
              <a:t>th</a:t>
            </a:r>
            <a:r>
              <a:rPr kumimoji="1" lang="en-NZ" altLang="ja-JP" sz="18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a:t>
            </a:r>
            <a:r>
              <a:rPr kumimoji="1" lang="en-NZ"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element in cell </a:t>
            </a:r>
            <a:r>
              <a:rPr kumimoji="1" lang="en-NZ" altLang="ja-JP" sz="18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t>
            </a:r>
            <a:r>
              <a:rPr kumimoji="1" lang="en-NZ" altLang="ja-JP" sz="1800" b="1" i="1" u="none" strike="noStrike" kern="1200" cap="none" spc="0" normalizeH="0" baseline="0" noProof="0" dirty="0" err="1">
                <a:ln>
                  <a:noFill/>
                </a:ln>
                <a:solidFill>
                  <a:prstClr val="black"/>
                </a:solidFill>
                <a:effectLst/>
                <a:uLnTx/>
                <a:uFillTx/>
                <a:latin typeface="Calibri" panose="020F0502020204030204"/>
                <a:ea typeface="游ゴシック" panose="020B0400000000000000" pitchFamily="34" charset="-128"/>
                <a:cs typeface="+mn-cs"/>
              </a:rPr>
              <a:t>i,j,k</a:t>
            </a:r>
            <a:r>
              <a:rPr kumimoji="1" lang="en-NZ" altLang="ja-JP" sz="18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t>
            </a:r>
            <a:r>
              <a:rPr kumimoji="1" lang="en-NZ"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is modelled as:</a:t>
            </a:r>
          </a:p>
        </p:txBody>
      </p:sp>
      <mc:AlternateContent xmlns:mc="http://schemas.openxmlformats.org/markup-compatibility/2006" xmlns:a14="http://schemas.microsoft.com/office/drawing/2010/main">
        <mc:Choice Requires="a14">
          <p:sp>
            <p:nvSpPr>
              <p:cNvPr id="18" name="Text Placeholder 5">
                <a:extLst>
                  <a:ext uri="{FF2B5EF4-FFF2-40B4-BE49-F238E27FC236}">
                    <a16:creationId xmlns:a16="http://schemas.microsoft.com/office/drawing/2014/main" id="{0CEEAE7C-8B5C-49C1-DECF-ABDEC6F5C6BE}"/>
                  </a:ext>
                </a:extLst>
              </p:cNvPr>
              <p:cNvSpPr txBox="1">
                <a:spLocks/>
              </p:cNvSpPr>
              <p:nvPr/>
            </p:nvSpPr>
            <p:spPr>
              <a:xfrm>
                <a:off x="2480913" y="2940053"/>
                <a:ext cx="7107899" cy="47495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14:m>
                  <m:oMathPara xmlns:m="http://schemas.openxmlformats.org/officeDocument/2006/math">
                    <m:oMathParaPr>
                      <m:jc m:val="centerGroup"/>
                    </m:oMathParaPr>
                    <m:oMath xmlns:m="http://schemas.openxmlformats.org/officeDocument/2006/math">
                      <m:sSub>
                        <m:sSubPr>
                          <m:ctrlP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ctrlPr>
                        </m:sSubPr>
                        <m:e>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𝒀</m:t>
                          </m:r>
                        </m:e>
                        <m:sub>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𝒊𝒋𝒌𝒎</m:t>
                          </m:r>
                        </m:sub>
                      </m:sSub>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   =     </m:t>
                      </m:r>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𝝁</m:t>
                      </m:r>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  +   </m:t>
                      </m:r>
                      <m:sSub>
                        <m:sSubPr>
                          <m:ctrlP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ctrlPr>
                        </m:sSubPr>
                        <m:e>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𝜶</m:t>
                          </m:r>
                        </m:e>
                        <m:sub>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𝒊</m:t>
                          </m:r>
                        </m:sub>
                      </m:sSub>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  +   </m:t>
                      </m:r>
                      <m:sSub>
                        <m:sSubPr>
                          <m:ctrlP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ctrlPr>
                        </m:sSubPr>
                        <m:e>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𝑩</m:t>
                          </m:r>
                        </m:e>
                        <m:sub>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𝒋</m:t>
                          </m:r>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m:t>
                          </m:r>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𝒊</m:t>
                          </m:r>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m:t>
                          </m:r>
                        </m:sub>
                      </m:sSub>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  +    </m:t>
                      </m:r>
                      <m:sSub>
                        <m:sSubPr>
                          <m:ctrlP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ctrlPr>
                        </m:sSubPr>
                        <m:e>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𝑪</m:t>
                          </m:r>
                        </m:e>
                        <m:sub>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𝒌</m:t>
                          </m:r>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m:t>
                          </m:r>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𝒊𝒋</m:t>
                          </m:r>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m:t>
                          </m:r>
                        </m:sub>
                      </m:sSub>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   +   </m:t>
                      </m:r>
                      <m:sSub>
                        <m:sSubPr>
                          <m:ctrlP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ctrlPr>
                        </m:sSubPr>
                        <m:e>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𝝐</m:t>
                          </m:r>
                        </m:e>
                        <m:sub>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𝒎</m:t>
                          </m:r>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m:t>
                          </m:r>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𝒊𝒋𝒌</m:t>
                          </m:r>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m:t>
                          </m:r>
                        </m:sub>
                      </m:sSub>
                    </m:oMath>
                  </m:oMathPara>
                </a14:m>
                <a:endParaRPr kumimoji="1" lang="en-NZ" altLang="ja-JP" sz="1800" b="1" i="0"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800" b="1"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mc:Choice>
        <mc:Fallback xmlns="">
          <p:sp>
            <p:nvSpPr>
              <p:cNvPr id="18" name="Text Placeholder 5">
                <a:extLst>
                  <a:ext uri="{FF2B5EF4-FFF2-40B4-BE49-F238E27FC236}">
                    <a16:creationId xmlns:a16="http://schemas.microsoft.com/office/drawing/2014/main" id="{0CEEAE7C-8B5C-49C1-DECF-ABDEC6F5C6BE}"/>
                  </a:ext>
                </a:extLst>
              </p:cNvPr>
              <p:cNvSpPr txBox="1">
                <a:spLocks noRot="1" noChangeAspect="1" noMove="1" noResize="1" noEditPoints="1" noAdjustHandles="1" noChangeArrowheads="1" noChangeShapeType="1" noTextEdit="1"/>
              </p:cNvSpPr>
              <p:nvPr/>
            </p:nvSpPr>
            <p:spPr>
              <a:xfrm>
                <a:off x="2480913" y="2940053"/>
                <a:ext cx="7107899" cy="474953"/>
              </a:xfrm>
              <a:prstGeom prst="rect">
                <a:avLst/>
              </a:prstGeom>
              <a:blipFill>
                <a:blip r:embed="rId2"/>
                <a:stretch>
                  <a:fillRect/>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20" name="Text Placeholder 5">
                <a:extLst>
                  <a:ext uri="{FF2B5EF4-FFF2-40B4-BE49-F238E27FC236}">
                    <a16:creationId xmlns:a16="http://schemas.microsoft.com/office/drawing/2014/main" id="{91689025-3833-257B-1DD1-73CCD6DF11F5}"/>
                  </a:ext>
                </a:extLst>
              </p:cNvPr>
              <p:cNvSpPr txBox="1">
                <a:spLocks/>
              </p:cNvSpPr>
              <p:nvPr/>
            </p:nvSpPr>
            <p:spPr>
              <a:xfrm>
                <a:off x="469578" y="3434612"/>
                <a:ext cx="4867734" cy="1318675"/>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l-GR" altLang="ja-JP" sz="16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μ</a:t>
                </a:r>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is the population mean</a:t>
                </a:r>
                <a:endParaRPr kumimoji="1" lang="en-NZ" altLang="ja-JP" sz="16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14:m>
                  <m:oMath xmlns:m="http://schemas.openxmlformats.org/officeDocument/2006/math">
                    <m:sSub>
                      <m:sSubPr>
                        <m:ctrl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𝜶</m:t>
                        </m:r>
                      </m:e>
                      <m:sub>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𝒊</m:t>
                        </m:r>
                      </m:sub>
                    </m:sSub>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sSub>
                      <m:sSubPr>
                        <m:ctrl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𝝁</m:t>
                        </m:r>
                      </m:e>
                      <m:sub>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𝒊</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sub>
                    </m:sSub>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 −</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𝝁</m:t>
                    </m:r>
                  </m:oMath>
                </a14:m>
                <a:r>
                  <a:rPr kumimoji="1" lang="en-NZ" altLang="ja-JP" sz="16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a:t>
                </a:r>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is the effect of the </a:t>
                </a:r>
                <a:r>
                  <a:rPr kumimoji="1" lang="en-NZ" altLang="ja-JP" sz="1600" b="1" i="1" u="none" strike="noStrike" kern="1200" cap="none" spc="0" normalizeH="0" baseline="0" noProof="0" dirty="0" err="1">
                    <a:ln>
                      <a:noFill/>
                    </a:ln>
                    <a:solidFill>
                      <a:prstClr val="black"/>
                    </a:solidFill>
                    <a:effectLst/>
                    <a:uLnTx/>
                    <a:uFillTx/>
                    <a:latin typeface="Calibri" panose="020F0502020204030204"/>
                    <a:ea typeface="游ゴシック" panose="020B0400000000000000" pitchFamily="34" charset="-128"/>
                    <a:cs typeface="+mn-cs"/>
                  </a:rPr>
                  <a:t>i</a:t>
                </a:r>
                <a:r>
                  <a:rPr kumimoji="1" lang="en-NZ" altLang="ja-JP" sz="1600" b="1" i="1" u="none" strike="noStrike" kern="1200" cap="none" spc="0" normalizeH="0" baseline="30000" noProof="0" dirty="0" err="1">
                    <a:ln>
                      <a:noFill/>
                    </a:ln>
                    <a:solidFill>
                      <a:prstClr val="black"/>
                    </a:solidFill>
                    <a:effectLst/>
                    <a:uLnTx/>
                    <a:uFillTx/>
                    <a:latin typeface="Calibri" panose="020F0502020204030204"/>
                    <a:ea typeface="游ゴシック" panose="020B0400000000000000" pitchFamily="34" charset="-128"/>
                    <a:cs typeface="+mn-cs"/>
                  </a:rPr>
                  <a:t>th</a:t>
                </a:r>
                <a:r>
                  <a:rPr kumimoji="1" lang="en-NZ" altLang="ja-JP" sz="1600" b="0" i="1" u="none" strike="noStrike" kern="1200" cap="none" spc="0" normalizeH="0" baseline="-25000" noProof="0" dirty="0">
                    <a:ln>
                      <a:noFill/>
                    </a:ln>
                    <a:solidFill>
                      <a:prstClr val="black"/>
                    </a:solidFill>
                    <a:effectLst/>
                    <a:uLnTx/>
                    <a:uFillTx/>
                    <a:latin typeface="Calibri" panose="020F0502020204030204"/>
                    <a:ea typeface="游ゴシック" panose="020B0400000000000000" pitchFamily="34" charset="-128"/>
                    <a:cs typeface="+mn-cs"/>
                  </a:rPr>
                  <a:t> </a:t>
                </a:r>
                <a:r>
                  <a:rPr kumimoji="1" lang="en-NZ" altLang="ja-JP" sz="1600" b="0"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a:t>
                </a:r>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level of factor </a:t>
                </a:r>
                <a:r>
                  <a:rPr kumimoji="1" lang="en-NZ" altLang="ja-JP" sz="16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a:t>
                </a: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14:m>
                  <m:oMathPara xmlns:m="http://schemas.openxmlformats.org/officeDocument/2006/math">
                    <m:oMathParaPr>
                      <m:jc m:val="left"/>
                    </m:oMathParaPr>
                    <m:oMath xmlns:m="http://schemas.openxmlformats.org/officeDocument/2006/math">
                      <m:sSub>
                        <m:sSubPr>
                          <m:ctrl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𝑩</m:t>
                          </m:r>
                        </m:e>
                        <m:sub>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𝒋</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𝒊</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sub>
                      </m:sSub>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 ~ </m:t>
                      </m:r>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𝑵</m:t>
                      </m:r>
                      <m:d>
                        <m:dPr>
                          <m:ctrlP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ctrlPr>
                        </m:dPr>
                        <m:e>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𝟎</m:t>
                          </m:r>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 </m:t>
                          </m:r>
                          <m:sSubSup>
                            <m:sSubSupPr>
                              <m:ctrl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SupPr>
                            <m:e>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𝝈</m:t>
                              </m:r>
                            </m:e>
                            <m:sub>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𝑩</m:t>
                              </m:r>
                            </m:sub>
                            <m:sup>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𝟐</m:t>
                              </m:r>
                            </m:sup>
                          </m:sSubSup>
                        </m:e>
                      </m:d>
                    </m:oMath>
                  </m:oMathPara>
                </a14:m>
                <a:endPar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a:p>
                <a:pPr lvl="0" algn="just">
                  <a:lnSpc>
                    <a:spcPct val="100000"/>
                  </a:lnSpc>
                  <a:defRPr/>
                </a:pPr>
                <a14:m>
                  <m:oMathPara xmlns:m="http://schemas.openxmlformats.org/officeDocument/2006/math">
                    <m:oMathParaPr>
                      <m:jc m:val="left"/>
                    </m:oMathParaPr>
                    <m:oMath xmlns:m="http://schemas.openxmlformats.org/officeDocument/2006/math">
                      <m:sSub>
                        <m:sSubPr>
                          <m:ctrlPr>
                            <a:rPr lang="en-NZ" altLang="ja-JP" sz="1600" b="1" i="1">
                              <a:solidFill>
                                <a:prstClr val="black"/>
                              </a:solidFill>
                              <a:latin typeface="Cambria Math" panose="02040503050406030204" pitchFamily="18" charset="0"/>
                            </a:rPr>
                          </m:ctrlPr>
                        </m:sSubPr>
                        <m:e>
                          <m:r>
                            <a:rPr lang="en-NZ" altLang="ja-JP" sz="1600" b="1" i="1" smtClean="0">
                              <a:solidFill>
                                <a:prstClr val="black"/>
                              </a:solidFill>
                              <a:latin typeface="Cambria Math" panose="02040503050406030204" pitchFamily="18" charset="0"/>
                            </a:rPr>
                            <m:t>𝑪</m:t>
                          </m:r>
                        </m:e>
                        <m:sub>
                          <m:r>
                            <a:rPr lang="en-NZ" altLang="ja-JP" sz="1600" b="1" i="1" smtClean="0">
                              <a:solidFill>
                                <a:prstClr val="black"/>
                              </a:solidFill>
                              <a:latin typeface="Cambria Math" panose="02040503050406030204" pitchFamily="18" charset="0"/>
                            </a:rPr>
                            <m:t>𝒌</m:t>
                          </m:r>
                          <m:r>
                            <a:rPr lang="en-NZ" altLang="ja-JP" sz="1600" b="1" i="1">
                              <a:solidFill>
                                <a:prstClr val="black"/>
                              </a:solidFill>
                              <a:latin typeface="Cambria Math" panose="02040503050406030204" pitchFamily="18" charset="0"/>
                            </a:rPr>
                            <m:t>(</m:t>
                          </m:r>
                          <m:r>
                            <a:rPr lang="en-NZ" altLang="ja-JP" sz="1600" b="1" i="1">
                              <a:solidFill>
                                <a:prstClr val="black"/>
                              </a:solidFill>
                              <a:latin typeface="Cambria Math" panose="02040503050406030204" pitchFamily="18" charset="0"/>
                            </a:rPr>
                            <m:t>𝒊𝒋</m:t>
                          </m:r>
                          <m:r>
                            <a:rPr lang="en-NZ" altLang="ja-JP" sz="1600" b="1" i="1">
                              <a:solidFill>
                                <a:prstClr val="black"/>
                              </a:solidFill>
                              <a:latin typeface="Cambria Math" panose="02040503050406030204" pitchFamily="18" charset="0"/>
                            </a:rPr>
                            <m:t>)</m:t>
                          </m:r>
                        </m:sub>
                      </m:sSub>
                      <m:r>
                        <a:rPr lang="en-NZ" altLang="ja-JP" sz="1600" b="1" i="1">
                          <a:solidFill>
                            <a:prstClr val="black"/>
                          </a:solidFill>
                          <a:latin typeface="Cambria Math" panose="02040503050406030204" pitchFamily="18" charset="0"/>
                        </a:rPr>
                        <m:t> ~ </m:t>
                      </m:r>
                      <m:r>
                        <a:rPr lang="en-NZ" altLang="ja-JP" sz="1600" b="1" i="1">
                          <a:solidFill>
                            <a:prstClr val="black"/>
                          </a:solidFill>
                          <a:latin typeface="Cambria Math" panose="02040503050406030204" pitchFamily="18" charset="0"/>
                        </a:rPr>
                        <m:t>𝑵</m:t>
                      </m:r>
                      <m:d>
                        <m:dPr>
                          <m:ctrlPr>
                            <a:rPr lang="en-NZ" altLang="ja-JP" sz="1600" b="1" i="1">
                              <a:solidFill>
                                <a:prstClr val="black"/>
                              </a:solidFill>
                              <a:latin typeface="Cambria Math" panose="02040503050406030204" pitchFamily="18" charset="0"/>
                            </a:rPr>
                          </m:ctrlPr>
                        </m:dPr>
                        <m:e>
                          <m:r>
                            <a:rPr lang="en-NZ" altLang="ja-JP" sz="1600" b="1" i="1">
                              <a:solidFill>
                                <a:prstClr val="black"/>
                              </a:solidFill>
                              <a:latin typeface="Cambria Math" panose="02040503050406030204" pitchFamily="18" charset="0"/>
                            </a:rPr>
                            <m:t>𝟎</m:t>
                          </m:r>
                          <m:r>
                            <a:rPr lang="en-NZ" altLang="ja-JP" sz="1600" b="1" i="1">
                              <a:solidFill>
                                <a:prstClr val="black"/>
                              </a:solidFill>
                              <a:latin typeface="Cambria Math" panose="02040503050406030204" pitchFamily="18" charset="0"/>
                            </a:rPr>
                            <m:t>, </m:t>
                          </m:r>
                          <m:sSubSup>
                            <m:sSubSupPr>
                              <m:ctrlPr>
                                <a:rPr lang="en-NZ" altLang="ja-JP" sz="1600" b="1" i="1" smtClean="0">
                                  <a:solidFill>
                                    <a:prstClr val="black"/>
                                  </a:solidFill>
                                  <a:latin typeface="Cambria Math" panose="02040503050406030204" pitchFamily="18" charset="0"/>
                                </a:rPr>
                              </m:ctrlPr>
                            </m:sSubSupPr>
                            <m:e>
                              <m:r>
                                <a:rPr lang="en-NZ" altLang="ja-JP" sz="1600" b="1" i="1">
                                  <a:solidFill>
                                    <a:prstClr val="black"/>
                                  </a:solidFill>
                                  <a:latin typeface="Cambria Math" panose="02040503050406030204" pitchFamily="18" charset="0"/>
                                </a:rPr>
                                <m:t>𝝈</m:t>
                              </m:r>
                            </m:e>
                            <m:sub>
                              <m:r>
                                <a:rPr lang="en-NZ" altLang="ja-JP" sz="1600" b="1" i="1" smtClean="0">
                                  <a:solidFill>
                                    <a:prstClr val="black"/>
                                  </a:solidFill>
                                  <a:latin typeface="Cambria Math" panose="02040503050406030204" pitchFamily="18" charset="0"/>
                                </a:rPr>
                                <m:t>𝑪</m:t>
                              </m:r>
                            </m:sub>
                            <m:sup>
                              <m:r>
                                <a:rPr lang="en-NZ" altLang="ja-JP" sz="1600" b="1" i="1">
                                  <a:solidFill>
                                    <a:prstClr val="black"/>
                                  </a:solidFill>
                                  <a:latin typeface="Cambria Math" panose="02040503050406030204" pitchFamily="18" charset="0"/>
                                </a:rPr>
                                <m:t>𝟐</m:t>
                              </m:r>
                            </m:sup>
                          </m:sSubSup>
                        </m:e>
                      </m:d>
                    </m:oMath>
                  </m:oMathPara>
                </a14:m>
                <a:endPar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14:m>
                  <m:oMathPara xmlns:m="http://schemas.openxmlformats.org/officeDocument/2006/math">
                    <m:oMathParaPr>
                      <m:jc m:val="left"/>
                    </m:oMathParaPr>
                    <m:oMath xmlns:m="http://schemas.openxmlformats.org/officeDocument/2006/math">
                      <m:sSub>
                        <m:sSubPr>
                          <m:ctrlP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𝝐</m:t>
                          </m:r>
                        </m:e>
                        <m:sub>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𝒎</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𝒊𝒋𝒌</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sub>
                      </m:sSub>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 ~ </m:t>
                      </m:r>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𝑵</m:t>
                      </m:r>
                      <m:d>
                        <m:dPr>
                          <m:ctrlP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ctrlPr>
                        </m:dPr>
                        <m:e>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𝟎</m:t>
                          </m:r>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 </m:t>
                          </m:r>
                          <m:sSup>
                            <m:sSupPr>
                              <m:ctrlP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ctrlPr>
                            </m:sSupPr>
                            <m:e>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𝝈</m:t>
                              </m:r>
                            </m:e>
                            <m:sup>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𝟐</m:t>
                              </m:r>
                            </m:sup>
                          </m:sSup>
                        </m:e>
                      </m:d>
                    </m:oMath>
                  </m:oMathPara>
                </a14:m>
                <a:endParaRPr kumimoji="1" lang="en-NZ" altLang="ja-JP" sz="1600" b="0"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mc:Choice>
        <mc:Fallback xmlns="">
          <p:sp>
            <p:nvSpPr>
              <p:cNvPr id="20" name="Text Placeholder 5">
                <a:extLst>
                  <a:ext uri="{FF2B5EF4-FFF2-40B4-BE49-F238E27FC236}">
                    <a16:creationId xmlns:a16="http://schemas.microsoft.com/office/drawing/2014/main" id="{91689025-3833-257B-1DD1-73CCD6DF11F5}"/>
                  </a:ext>
                </a:extLst>
              </p:cNvPr>
              <p:cNvSpPr txBox="1">
                <a:spLocks noRot="1" noChangeAspect="1" noMove="1" noResize="1" noEditPoints="1" noAdjustHandles="1" noChangeArrowheads="1" noChangeShapeType="1" noTextEdit="1"/>
              </p:cNvSpPr>
              <p:nvPr/>
            </p:nvSpPr>
            <p:spPr>
              <a:xfrm>
                <a:off x="469578" y="3434612"/>
                <a:ext cx="4867734" cy="1318675"/>
              </a:xfrm>
              <a:prstGeom prst="rect">
                <a:avLst/>
              </a:prstGeom>
              <a:blipFill>
                <a:blip r:embed="rId3"/>
                <a:stretch>
                  <a:fillRect l="-626" t="-1382" b="-10599"/>
                </a:stretch>
              </a:blipFill>
            </p:spPr>
            <p:txBody>
              <a:bodyPr/>
              <a:lstStyle/>
              <a:p>
                <a:r>
                  <a:rPr lang="en-NZ">
                    <a:noFill/>
                  </a:rPr>
                  <a:t> </a:t>
                </a:r>
              </a:p>
            </p:txBody>
          </p:sp>
        </mc:Fallback>
      </mc:AlternateContent>
      <p:sp>
        <p:nvSpPr>
          <p:cNvPr id="21" name="Text Placeholder 5">
            <a:extLst>
              <a:ext uri="{FF2B5EF4-FFF2-40B4-BE49-F238E27FC236}">
                <a16:creationId xmlns:a16="http://schemas.microsoft.com/office/drawing/2014/main" id="{2A3DBE85-D442-263A-265C-268BCEDF6E09}"/>
              </a:ext>
            </a:extLst>
          </p:cNvPr>
          <p:cNvSpPr txBox="1">
            <a:spLocks/>
          </p:cNvSpPr>
          <p:nvPr/>
        </p:nvSpPr>
        <p:spPr>
          <a:xfrm>
            <a:off x="5788501" y="3475811"/>
            <a:ext cx="4579200" cy="44493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We also have the usual constraints:</a:t>
            </a:r>
            <a:endParaRPr kumimoji="1" lang="en-NZ" altLang="ja-JP" sz="16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a:t>
            </a: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600" b="0"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mc:AlternateContent xmlns:mc="http://schemas.openxmlformats.org/markup-compatibility/2006" xmlns:a14="http://schemas.microsoft.com/office/drawing/2010/main">
        <mc:Choice Requires="a14">
          <p:sp>
            <p:nvSpPr>
              <p:cNvPr id="22" name="Text Placeholder 5">
                <a:extLst>
                  <a:ext uri="{FF2B5EF4-FFF2-40B4-BE49-F238E27FC236}">
                    <a16:creationId xmlns:a16="http://schemas.microsoft.com/office/drawing/2014/main" id="{5D727490-76E6-4F93-6BCD-054E1FDB3D14}"/>
                  </a:ext>
                </a:extLst>
              </p:cNvPr>
              <p:cNvSpPr txBox="1">
                <a:spLocks/>
              </p:cNvSpPr>
              <p:nvPr/>
            </p:nvSpPr>
            <p:spPr>
              <a:xfrm>
                <a:off x="5788501" y="3773261"/>
                <a:ext cx="1405094" cy="44493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14:m>
                  <m:oMath xmlns:m="http://schemas.openxmlformats.org/officeDocument/2006/math">
                    <m:nary>
                      <m:naryPr>
                        <m:chr m:val="∑"/>
                        <m:ctrlP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ctrlPr>
                      </m:naryPr>
                      <m:sub>
                        <m:r>
                          <m:rPr>
                            <m:brk m:alnAt="23"/>
                          </m:rP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𝒊</m:t>
                        </m:r>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m:t>
                        </m:r>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𝟏</m:t>
                        </m:r>
                      </m:sub>
                      <m:sup>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𝒂</m:t>
                        </m:r>
                      </m:sup>
                      <m:e>
                        <m:sSub>
                          <m:sSubPr>
                            <m:ctrlP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ctrlPr>
                          </m:sSubPr>
                          <m:e>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𝜶</m:t>
                            </m:r>
                          </m:e>
                          <m:sub>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𝒊</m:t>
                            </m:r>
                          </m:sub>
                        </m:sSub>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m:t>
                        </m:r>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𝟎</m:t>
                        </m:r>
                      </m:e>
                    </m:nary>
                  </m:oMath>
                </a14:m>
                <a:r>
                  <a:rPr kumimoji="1" lang="en-NZ" altLang="ja-JP" sz="18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a:t>
                </a: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8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800" b="1"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mc:Choice>
        <mc:Fallback xmlns="">
          <p:sp>
            <p:nvSpPr>
              <p:cNvPr id="22" name="Text Placeholder 5">
                <a:extLst>
                  <a:ext uri="{FF2B5EF4-FFF2-40B4-BE49-F238E27FC236}">
                    <a16:creationId xmlns:a16="http://schemas.microsoft.com/office/drawing/2014/main" id="{5D727490-76E6-4F93-6BCD-054E1FDB3D14}"/>
                  </a:ext>
                </a:extLst>
              </p:cNvPr>
              <p:cNvSpPr txBox="1">
                <a:spLocks noRot="1" noChangeAspect="1" noMove="1" noResize="1" noEditPoints="1" noAdjustHandles="1" noChangeArrowheads="1" noChangeShapeType="1" noTextEdit="1"/>
              </p:cNvSpPr>
              <p:nvPr/>
            </p:nvSpPr>
            <p:spPr>
              <a:xfrm>
                <a:off x="5788501" y="3773261"/>
                <a:ext cx="1405094" cy="444936"/>
              </a:xfrm>
              <a:prstGeom prst="rect">
                <a:avLst/>
              </a:prstGeom>
              <a:blipFill>
                <a:blip r:embed="rId4"/>
                <a:stretch>
                  <a:fillRect l="-24348" t="-100000" b="-136986"/>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23" name="Text Placeholder 5">
                <a:extLst>
                  <a:ext uri="{FF2B5EF4-FFF2-40B4-BE49-F238E27FC236}">
                    <a16:creationId xmlns:a16="http://schemas.microsoft.com/office/drawing/2014/main" id="{BAD1F8FD-0A2F-B0BF-ABE5-6232040CC8C5}"/>
                  </a:ext>
                </a:extLst>
              </p:cNvPr>
              <p:cNvSpPr txBox="1">
                <a:spLocks/>
              </p:cNvSpPr>
              <p:nvPr/>
            </p:nvSpPr>
            <p:spPr>
              <a:xfrm>
                <a:off x="7803994" y="3688960"/>
                <a:ext cx="2230812" cy="44493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14:m>
                  <m:oMath xmlns:m="http://schemas.openxmlformats.org/officeDocument/2006/math">
                    <m:f>
                      <m:fPr>
                        <m:ctrlP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ctrlPr>
                      </m:fPr>
                      <m:num>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𝟏</m:t>
                        </m:r>
                      </m:num>
                      <m:den>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𝒂</m:t>
                        </m:r>
                      </m:den>
                    </m:f>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 </m:t>
                    </m:r>
                    <m:nary>
                      <m:naryPr>
                        <m:chr m:val="∑"/>
                        <m:ctrlP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ctrlPr>
                      </m:naryPr>
                      <m:sub>
                        <m:r>
                          <m:rPr>
                            <m:brk m:alnAt="23"/>
                          </m:rP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𝒊</m:t>
                        </m:r>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m:t>
                        </m:r>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𝟏</m:t>
                        </m:r>
                      </m:sub>
                      <m:sup>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𝒂</m:t>
                        </m:r>
                      </m:sup>
                      <m:e>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 </m:t>
                        </m:r>
                        <m:sSub>
                          <m:sSubPr>
                            <m:ctrlP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ctrlPr>
                          </m:sSubPr>
                          <m:e>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𝝁</m:t>
                            </m:r>
                          </m:e>
                          <m:sub>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𝒊</m:t>
                            </m:r>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m:t>
                            </m:r>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rPr>
                              <m:t>∙</m:t>
                            </m:r>
                          </m:sub>
                        </m:sSub>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 = </m:t>
                        </m:r>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𝝁</m:t>
                        </m:r>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 </m:t>
                        </m:r>
                      </m:e>
                    </m:nary>
                  </m:oMath>
                </a14:m>
                <a:r>
                  <a:rPr kumimoji="1" lang="en-NZ" altLang="ja-JP" sz="18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a:t>
                </a: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8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800" b="1"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mc:Choice>
        <mc:Fallback xmlns="">
          <p:sp>
            <p:nvSpPr>
              <p:cNvPr id="23" name="Text Placeholder 5">
                <a:extLst>
                  <a:ext uri="{FF2B5EF4-FFF2-40B4-BE49-F238E27FC236}">
                    <a16:creationId xmlns:a16="http://schemas.microsoft.com/office/drawing/2014/main" id="{BAD1F8FD-0A2F-B0BF-ABE5-6232040CC8C5}"/>
                  </a:ext>
                </a:extLst>
              </p:cNvPr>
              <p:cNvSpPr txBox="1">
                <a:spLocks noRot="1" noChangeAspect="1" noMove="1" noResize="1" noEditPoints="1" noAdjustHandles="1" noChangeArrowheads="1" noChangeShapeType="1" noTextEdit="1"/>
              </p:cNvSpPr>
              <p:nvPr/>
            </p:nvSpPr>
            <p:spPr>
              <a:xfrm>
                <a:off x="7803994" y="3688960"/>
                <a:ext cx="2230812" cy="444936"/>
              </a:xfrm>
              <a:prstGeom prst="rect">
                <a:avLst/>
              </a:prstGeom>
              <a:blipFill>
                <a:blip r:embed="rId5"/>
                <a:stretch>
                  <a:fillRect l="-6284" t="-84932" b="-152055"/>
                </a:stretch>
              </a:blipFill>
            </p:spPr>
            <p:txBody>
              <a:bodyPr/>
              <a:lstStyle/>
              <a:p>
                <a:r>
                  <a:rPr lang="en-NZ">
                    <a:noFill/>
                  </a:rPr>
                  <a:t> </a:t>
                </a:r>
              </a:p>
            </p:txBody>
          </p:sp>
        </mc:Fallback>
      </mc:AlternateContent>
      <p:sp>
        <p:nvSpPr>
          <p:cNvPr id="24" name="Text Placeholder 5">
            <a:extLst>
              <a:ext uri="{FF2B5EF4-FFF2-40B4-BE49-F238E27FC236}">
                <a16:creationId xmlns:a16="http://schemas.microsoft.com/office/drawing/2014/main" id="{DC488C4C-5411-6B3D-EF97-72605FD1DD2E}"/>
              </a:ext>
            </a:extLst>
          </p:cNvPr>
          <p:cNvSpPr txBox="1">
            <a:spLocks/>
          </p:cNvSpPr>
          <p:nvPr/>
        </p:nvSpPr>
        <p:spPr>
          <a:xfrm>
            <a:off x="7193595" y="3793955"/>
            <a:ext cx="465511" cy="365125"/>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8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sym typeface="Wingdings" panose="05000000000000000000" pitchFamily="2" charset="2"/>
              </a:rPr>
              <a:t></a:t>
            </a:r>
            <a:endParaRPr kumimoji="1" lang="en-NZ" altLang="ja-JP" sz="1800" b="1"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p:spTree>
    <p:extLst>
      <p:ext uri="{BB962C8B-B14F-4D97-AF65-F5344CB8AC3E}">
        <p14:creationId xmlns:p14="http://schemas.microsoft.com/office/powerpoint/2010/main" val="38029366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1"/>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18" grpId="0"/>
      <p:bldP spid="20" grpId="0"/>
      <p:bldP spid="21" grpId="0"/>
      <p:bldP spid="22" grpId="0"/>
      <p:bldP spid="23" grpId="0"/>
      <p:bldP spid="24"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descr="Venn diagram&#10;&#10;Description automatically generated with low confidence">
            <a:extLst>
              <a:ext uri="{FF2B5EF4-FFF2-40B4-BE49-F238E27FC236}">
                <a16:creationId xmlns:a16="http://schemas.microsoft.com/office/drawing/2014/main" id="{FAB2B085-5D70-DE9A-60FC-8A20D444681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76580" y="2758744"/>
            <a:ext cx="3776452" cy="1323975"/>
          </a:xfrm>
          <a:prstGeom prst="rect">
            <a:avLst/>
          </a:prstGeom>
        </p:spPr>
      </p:pic>
      <p:pic>
        <p:nvPicPr>
          <p:cNvPr id="5" name="Picture 4" descr="Venn diagram&#10;&#10;Description automatically generated with low confidence">
            <a:extLst>
              <a:ext uri="{FF2B5EF4-FFF2-40B4-BE49-F238E27FC236}">
                <a16:creationId xmlns:a16="http://schemas.microsoft.com/office/drawing/2014/main" id="{81A165B1-06E1-3CE1-1FC6-9575C7F746B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84523" y="2747927"/>
            <a:ext cx="3776452" cy="1323975"/>
          </a:xfrm>
          <a:prstGeom prst="rect">
            <a:avLst/>
          </a:prstGeom>
        </p:spPr>
      </p:pic>
      <p:pic>
        <p:nvPicPr>
          <p:cNvPr id="36" name="Picture 35" descr="Venn diagram&#10;&#10;Description automatically generated with low confidence">
            <a:extLst>
              <a:ext uri="{FF2B5EF4-FFF2-40B4-BE49-F238E27FC236}">
                <a16:creationId xmlns:a16="http://schemas.microsoft.com/office/drawing/2014/main" id="{A78AD4AF-DAB5-3705-382E-1A1A2A17624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35487" y="2781965"/>
            <a:ext cx="3776452" cy="1323975"/>
          </a:xfrm>
          <a:prstGeom prst="rect">
            <a:avLst/>
          </a:prstGeom>
        </p:spPr>
      </p:pic>
      <p:sp>
        <p:nvSpPr>
          <p:cNvPr id="22" name="Slide Number Placeholder 3">
            <a:extLst>
              <a:ext uri="{FF2B5EF4-FFF2-40B4-BE49-F238E27FC236}">
                <a16:creationId xmlns:a16="http://schemas.microsoft.com/office/drawing/2014/main" id="{2A4E77AE-A8F4-4CFE-A7E4-1FE18F612BEC}"/>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54AD89C-DF1E-4948-B597-5DD47B34A9CA}" type="slidenum">
              <a:rPr kumimoji="1" lang="ja-JP" altLang="en-US" sz="4000" b="0" i="0" u="none" strike="noStrike" kern="1200" cap="none" spc="0" normalizeH="0" baseline="0" noProof="0" smtClean="0">
                <a:ln>
                  <a:noFill/>
                </a:ln>
                <a:solidFill>
                  <a:srgbClr val="575454">
                    <a:lumMod val="20000"/>
                    <a:lumOff val="80000"/>
                  </a:srgbClr>
                </a:solidFill>
                <a:effectLst/>
                <a:uLnTx/>
                <a:uFillTx/>
                <a:latin typeface="Coo Hew"/>
                <a:ea typeface="游ゴシック" panose="020B0400000000000000"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31</a:t>
            </a:fld>
            <a:endParaRPr kumimoji="1" lang="ja-JP" altLang="en-US" sz="4000" b="0" i="0" u="none" strike="noStrike" kern="1200" cap="none" spc="0" normalizeH="0" baseline="0" noProof="0" dirty="0">
              <a:ln>
                <a:noFill/>
              </a:ln>
              <a:solidFill>
                <a:srgbClr val="575454">
                  <a:lumMod val="20000"/>
                  <a:lumOff val="80000"/>
                </a:srgbClr>
              </a:solidFill>
              <a:effectLst/>
              <a:uLnTx/>
              <a:uFillTx/>
              <a:latin typeface="Coo Hew"/>
              <a:ea typeface="游ゴシック" panose="020B0400000000000000" pitchFamily="34" charset="-128"/>
              <a:cs typeface="+mn-cs"/>
            </a:endParaRPr>
          </a:p>
        </p:txBody>
      </p:sp>
      <p:cxnSp>
        <p:nvCxnSpPr>
          <p:cNvPr id="3" name="Straight Connector 2">
            <a:extLst>
              <a:ext uri="{FF2B5EF4-FFF2-40B4-BE49-F238E27FC236}">
                <a16:creationId xmlns:a16="http://schemas.microsoft.com/office/drawing/2014/main" id="{3C6821EE-A317-E049-8E5E-F4D8A0FCFDA0}"/>
              </a:ext>
            </a:extLst>
          </p:cNvPr>
          <p:cNvCxnSpPr>
            <a:cxnSpLocks/>
          </p:cNvCxnSpPr>
          <p:nvPr/>
        </p:nvCxnSpPr>
        <p:spPr>
          <a:xfrm>
            <a:off x="1114568" y="4094329"/>
            <a:ext cx="9962865"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Oval 3">
            <a:extLst>
              <a:ext uri="{FF2B5EF4-FFF2-40B4-BE49-F238E27FC236}">
                <a16:creationId xmlns:a16="http://schemas.microsoft.com/office/drawing/2014/main" id="{D433551E-78AB-B4D3-763A-BC455D1D8B1A}"/>
              </a:ext>
            </a:extLst>
          </p:cNvPr>
          <p:cNvSpPr/>
          <p:nvPr/>
        </p:nvSpPr>
        <p:spPr>
          <a:xfrm>
            <a:off x="1448938" y="3928602"/>
            <a:ext cx="286603" cy="28660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NZ"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 name="Oval 19">
            <a:extLst>
              <a:ext uri="{FF2B5EF4-FFF2-40B4-BE49-F238E27FC236}">
                <a16:creationId xmlns:a16="http://schemas.microsoft.com/office/drawing/2014/main" id="{76C023CB-14E6-4370-A9FD-6461C4CDB7E5}"/>
              </a:ext>
            </a:extLst>
          </p:cNvPr>
          <p:cNvSpPr/>
          <p:nvPr/>
        </p:nvSpPr>
        <p:spPr>
          <a:xfrm>
            <a:off x="5329449" y="3928601"/>
            <a:ext cx="286603" cy="28660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NZ"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6" name="Straight Arrow Connector 5">
            <a:extLst>
              <a:ext uri="{FF2B5EF4-FFF2-40B4-BE49-F238E27FC236}">
                <a16:creationId xmlns:a16="http://schemas.microsoft.com/office/drawing/2014/main" id="{BD7B6A4F-569D-955C-161B-7196F86CE059}"/>
              </a:ext>
            </a:extLst>
          </p:cNvPr>
          <p:cNvCxnSpPr>
            <a:cxnSpLocks/>
          </p:cNvCxnSpPr>
          <p:nvPr/>
        </p:nvCxnSpPr>
        <p:spPr>
          <a:xfrm>
            <a:off x="1855313" y="4442242"/>
            <a:ext cx="3617438" cy="492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5" name="Text Placeholder 5">
                <a:extLst>
                  <a:ext uri="{FF2B5EF4-FFF2-40B4-BE49-F238E27FC236}">
                    <a16:creationId xmlns:a16="http://schemas.microsoft.com/office/drawing/2014/main" id="{0DEF057B-7393-208D-3722-9C1B2D677044}"/>
                  </a:ext>
                </a:extLst>
              </p:cNvPr>
              <p:cNvSpPr txBox="1">
                <a:spLocks/>
              </p:cNvSpPr>
              <p:nvPr/>
            </p:nvSpPr>
            <p:spPr>
              <a:xfrm>
                <a:off x="1349775" y="4226778"/>
                <a:ext cx="543636" cy="47495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14:m>
                  <m:oMathPara xmlns:m="http://schemas.openxmlformats.org/officeDocument/2006/math">
                    <m:oMathParaPr>
                      <m:jc m:val="centerGroup"/>
                    </m:oMathParaPr>
                    <m:oMath xmlns:m="http://schemas.openxmlformats.org/officeDocument/2006/math">
                      <m: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𝝁</m:t>
                      </m:r>
                    </m:oMath>
                  </m:oMathPara>
                </a14:m>
                <a:endParaRPr kumimoji="1" lang="en-NZ" altLang="ja-JP" sz="20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20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20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p:txBody>
          </p:sp>
        </mc:Choice>
        <mc:Fallback xmlns="">
          <p:sp>
            <p:nvSpPr>
              <p:cNvPr id="25" name="Text Placeholder 5">
                <a:extLst>
                  <a:ext uri="{FF2B5EF4-FFF2-40B4-BE49-F238E27FC236}">
                    <a16:creationId xmlns:a16="http://schemas.microsoft.com/office/drawing/2014/main" id="{0DEF057B-7393-208D-3722-9C1B2D677044}"/>
                  </a:ext>
                </a:extLst>
              </p:cNvPr>
              <p:cNvSpPr txBox="1">
                <a:spLocks noRot="1" noChangeAspect="1" noMove="1" noResize="1" noEditPoints="1" noAdjustHandles="1" noChangeArrowheads="1" noChangeShapeType="1" noTextEdit="1"/>
              </p:cNvSpPr>
              <p:nvPr/>
            </p:nvSpPr>
            <p:spPr>
              <a:xfrm>
                <a:off x="1349775" y="4226778"/>
                <a:ext cx="543636" cy="474953"/>
              </a:xfrm>
              <a:prstGeom prst="rect">
                <a:avLst/>
              </a:prstGeom>
              <a:blipFill>
                <a:blip r:embed="rId4"/>
                <a:stretch>
                  <a:fillRect/>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26" name="Text Placeholder 5">
                <a:extLst>
                  <a:ext uri="{FF2B5EF4-FFF2-40B4-BE49-F238E27FC236}">
                    <a16:creationId xmlns:a16="http://schemas.microsoft.com/office/drawing/2014/main" id="{75F3BB90-89BC-5219-0CD7-2C7B4D97A5F2}"/>
                  </a:ext>
                </a:extLst>
              </p:cNvPr>
              <p:cNvSpPr txBox="1">
                <a:spLocks/>
              </p:cNvSpPr>
              <p:nvPr/>
            </p:nvSpPr>
            <p:spPr>
              <a:xfrm>
                <a:off x="4981430" y="4548917"/>
                <a:ext cx="982639" cy="453788"/>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14:m>
                  <m:oMathPara xmlns:m="http://schemas.openxmlformats.org/officeDocument/2006/math">
                    <m:oMathParaPr>
                      <m:jc m:val="center"/>
                    </m:oMathParaPr>
                    <m:oMath xmlns:m="http://schemas.openxmlformats.org/officeDocument/2006/math">
                      <m: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𝝁</m:t>
                      </m:r>
                      <m:r>
                        <a:rPr kumimoji="1" lang="en-NZ" altLang="ja-JP" sz="2000" b="1" i="0" u="none" strike="noStrike" kern="1200" cap="none" spc="0" normalizeH="0" baseline="0" noProof="0" smtClean="0">
                          <a:ln>
                            <a:noFill/>
                          </a:ln>
                          <a:solidFill>
                            <a:prstClr val="black"/>
                          </a:solidFill>
                          <a:effectLst/>
                          <a:uLnTx/>
                          <a:uFillTx/>
                          <a:latin typeface="Cambria Math" panose="02040503050406030204" pitchFamily="18" charset="0"/>
                          <a:cs typeface="+mn-cs"/>
                        </a:rPr>
                        <m:t>+</m:t>
                      </m:r>
                      <m:sSub>
                        <m:sSubPr>
                          <m:ctrlP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𝜶</m:t>
                          </m:r>
                        </m:e>
                        <m:sub>
                          <m: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𝒊</m:t>
                          </m:r>
                        </m:sub>
                      </m:sSub>
                    </m:oMath>
                  </m:oMathPara>
                </a14:m>
                <a:br>
                  <a:rPr kumimoji="1" lang="en-NZ" altLang="ja-JP" sz="20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br>
                <a:endParaRPr kumimoji="1" lang="en-NZ" altLang="ja-JP" sz="20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20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p:txBody>
          </p:sp>
        </mc:Choice>
        <mc:Fallback xmlns="">
          <p:sp>
            <p:nvSpPr>
              <p:cNvPr id="26" name="Text Placeholder 5">
                <a:extLst>
                  <a:ext uri="{FF2B5EF4-FFF2-40B4-BE49-F238E27FC236}">
                    <a16:creationId xmlns:a16="http://schemas.microsoft.com/office/drawing/2014/main" id="{75F3BB90-89BC-5219-0CD7-2C7B4D97A5F2}"/>
                  </a:ext>
                </a:extLst>
              </p:cNvPr>
              <p:cNvSpPr txBox="1">
                <a:spLocks noRot="1" noChangeAspect="1" noMove="1" noResize="1" noEditPoints="1" noAdjustHandles="1" noChangeArrowheads="1" noChangeShapeType="1" noTextEdit="1"/>
              </p:cNvSpPr>
              <p:nvPr/>
            </p:nvSpPr>
            <p:spPr>
              <a:xfrm>
                <a:off x="4981430" y="4548917"/>
                <a:ext cx="982639" cy="453788"/>
              </a:xfrm>
              <a:prstGeom prst="rect">
                <a:avLst/>
              </a:prstGeom>
              <a:blipFill>
                <a:blip r:embed="rId5"/>
                <a:stretch>
                  <a:fillRect/>
                </a:stretch>
              </a:blipFill>
            </p:spPr>
            <p:txBody>
              <a:bodyPr/>
              <a:lstStyle/>
              <a:p>
                <a:r>
                  <a:rPr lang="en-NZ">
                    <a:noFill/>
                  </a:rPr>
                  <a:t> </a:t>
                </a:r>
              </a:p>
            </p:txBody>
          </p:sp>
        </mc:Fallback>
      </mc:AlternateContent>
      <p:cxnSp>
        <p:nvCxnSpPr>
          <p:cNvPr id="30" name="Straight Connector 29">
            <a:extLst>
              <a:ext uri="{FF2B5EF4-FFF2-40B4-BE49-F238E27FC236}">
                <a16:creationId xmlns:a16="http://schemas.microsoft.com/office/drawing/2014/main" id="{C936937E-8A93-790E-5B50-ECA6F9CB0A9B}"/>
              </a:ext>
            </a:extLst>
          </p:cNvPr>
          <p:cNvCxnSpPr/>
          <p:nvPr/>
        </p:nvCxnSpPr>
        <p:spPr>
          <a:xfrm>
            <a:off x="6623714" y="3698542"/>
            <a:ext cx="0" cy="395786"/>
          </a:xfrm>
          <a:prstGeom prst="line">
            <a:avLst/>
          </a:prstGeom>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2" name="Text Placeholder 5">
                <a:extLst>
                  <a:ext uri="{FF2B5EF4-FFF2-40B4-BE49-F238E27FC236}">
                    <a16:creationId xmlns:a16="http://schemas.microsoft.com/office/drawing/2014/main" id="{F2858A14-69D9-BAE8-A179-A6351391BD07}"/>
                  </a:ext>
                </a:extLst>
              </p:cNvPr>
              <p:cNvSpPr txBox="1">
                <a:spLocks/>
              </p:cNvSpPr>
              <p:nvPr/>
            </p:nvSpPr>
            <p:spPr>
              <a:xfrm>
                <a:off x="570010" y="1779107"/>
                <a:ext cx="3305954" cy="453789"/>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2000" b="1" i="0" u="none" strike="noStrike" kern="1200" cap="none" spc="0" normalizeH="0" baseline="0" noProof="0" dirty="0">
                    <a:ln>
                      <a:noFill/>
                    </a:ln>
                    <a:solidFill>
                      <a:srgbClr val="0070C0"/>
                    </a:solidFill>
                    <a:effectLst/>
                    <a:uLnTx/>
                    <a:uFillTx/>
                    <a:latin typeface="Calibri" panose="020F0502020204030204"/>
                    <a:ea typeface="游ゴシック" panose="020B0400000000000000" pitchFamily="34" charset="-128"/>
                    <a:cs typeface="+mn-cs"/>
                  </a:rPr>
                  <a:t>Consider modelling </a:t>
                </a:r>
                <a14:m>
                  <m:oMath xmlns:m="http://schemas.openxmlformats.org/officeDocument/2006/math">
                    <m:sSub>
                      <m:sSubPr>
                        <m:ctrlPr>
                          <a:rPr kumimoji="1" lang="en-NZ" altLang="ja-JP" sz="2000" b="1" i="1" u="none" strike="noStrike" kern="1200" cap="none" spc="0" normalizeH="0" baseline="0" noProof="0" smtClean="0">
                            <a:ln>
                              <a:noFill/>
                            </a:ln>
                            <a:solidFill>
                              <a:srgbClr val="0070C0"/>
                            </a:solidFill>
                            <a:effectLst/>
                            <a:uLnTx/>
                            <a:uFillTx/>
                            <a:latin typeface="Cambria Math" panose="02040503050406030204" pitchFamily="18" charset="0"/>
                            <a:cs typeface="+mn-cs"/>
                          </a:rPr>
                        </m:ctrlPr>
                      </m:sSubPr>
                      <m:e>
                        <m:r>
                          <a:rPr kumimoji="1" lang="en-NZ" altLang="ja-JP" sz="2000" b="1" i="1" u="none" strike="noStrike" kern="1200" cap="none" spc="0" normalizeH="0" baseline="0" noProof="0" smtClean="0">
                            <a:ln>
                              <a:noFill/>
                            </a:ln>
                            <a:solidFill>
                              <a:srgbClr val="0070C0"/>
                            </a:solidFill>
                            <a:effectLst/>
                            <a:uLnTx/>
                            <a:uFillTx/>
                            <a:latin typeface="Cambria Math" panose="02040503050406030204" pitchFamily="18" charset="0"/>
                            <a:cs typeface="+mn-cs"/>
                          </a:rPr>
                          <m:t>𝒀</m:t>
                        </m:r>
                      </m:e>
                      <m:sub>
                        <m:r>
                          <a:rPr kumimoji="1" lang="en-NZ" altLang="ja-JP" sz="2000" b="1" i="1" u="none" strike="noStrike" kern="1200" cap="none" spc="0" normalizeH="0" baseline="0" noProof="0" smtClean="0">
                            <a:ln>
                              <a:noFill/>
                            </a:ln>
                            <a:solidFill>
                              <a:srgbClr val="0070C0"/>
                            </a:solidFill>
                            <a:effectLst/>
                            <a:uLnTx/>
                            <a:uFillTx/>
                            <a:latin typeface="Cambria Math" panose="02040503050406030204" pitchFamily="18" charset="0"/>
                            <a:cs typeface="+mn-cs"/>
                          </a:rPr>
                          <m:t>𝒊𝒋𝒌𝒎</m:t>
                        </m:r>
                      </m:sub>
                    </m:sSub>
                  </m:oMath>
                </a14:m>
                <a:endParaRPr kumimoji="1" lang="en-NZ" altLang="ja-JP" sz="20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20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20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p:txBody>
          </p:sp>
        </mc:Choice>
        <mc:Fallback xmlns="">
          <p:sp>
            <p:nvSpPr>
              <p:cNvPr id="32" name="Text Placeholder 5">
                <a:extLst>
                  <a:ext uri="{FF2B5EF4-FFF2-40B4-BE49-F238E27FC236}">
                    <a16:creationId xmlns:a16="http://schemas.microsoft.com/office/drawing/2014/main" id="{F2858A14-69D9-BAE8-A179-A6351391BD07}"/>
                  </a:ext>
                </a:extLst>
              </p:cNvPr>
              <p:cNvSpPr txBox="1">
                <a:spLocks noRot="1" noChangeAspect="1" noMove="1" noResize="1" noEditPoints="1" noAdjustHandles="1" noChangeArrowheads="1" noChangeShapeType="1" noTextEdit="1"/>
              </p:cNvSpPr>
              <p:nvPr/>
            </p:nvSpPr>
            <p:spPr>
              <a:xfrm>
                <a:off x="570010" y="1779107"/>
                <a:ext cx="3305954" cy="453789"/>
              </a:xfrm>
              <a:prstGeom prst="rect">
                <a:avLst/>
              </a:prstGeom>
              <a:blipFill>
                <a:blip r:embed="rId6"/>
                <a:stretch>
                  <a:fillRect t="-6757" b="-13514"/>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33" name="Text Placeholder 5">
                <a:extLst>
                  <a:ext uri="{FF2B5EF4-FFF2-40B4-BE49-F238E27FC236}">
                    <a16:creationId xmlns:a16="http://schemas.microsoft.com/office/drawing/2014/main" id="{9C6DFD2C-B76D-C299-2F43-2D11D0E8B0B7}"/>
                  </a:ext>
                </a:extLst>
              </p:cNvPr>
              <p:cNvSpPr txBox="1">
                <a:spLocks/>
              </p:cNvSpPr>
              <p:nvPr/>
            </p:nvSpPr>
            <p:spPr>
              <a:xfrm>
                <a:off x="2966005" y="4051726"/>
                <a:ext cx="1132980" cy="538640"/>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14:m>
                  <m:oMathPara xmlns:m="http://schemas.openxmlformats.org/officeDocument/2006/math">
                    <m:oMathParaPr>
                      <m:jc m:val="center"/>
                    </m:oMathParaPr>
                    <m:oMath xmlns:m="http://schemas.openxmlformats.org/officeDocument/2006/math">
                      <m:sSub>
                        <m:sSubPr>
                          <m:ctrlP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𝜶</m:t>
                          </m:r>
                        </m:e>
                        <m:sub>
                          <m: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𝒊</m:t>
                          </m:r>
                        </m:sub>
                      </m:sSub>
                      <m: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t>&gt;</m:t>
                      </m:r>
                      <m:r>
                        <a:rPr kumimoji="1" lang="en-NZ" altLang="ja-JP"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𝟎</m:t>
                      </m:r>
                    </m:oMath>
                  </m:oMathPara>
                </a14:m>
                <a:br>
                  <a:rPr kumimoji="1" lang="en-NZ" altLang="ja-JP" sz="20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br>
                <a:endParaRPr kumimoji="1" lang="en-NZ" altLang="ja-JP" sz="20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p:txBody>
          </p:sp>
        </mc:Choice>
        <mc:Fallback xmlns="">
          <p:sp>
            <p:nvSpPr>
              <p:cNvPr id="33" name="Text Placeholder 5">
                <a:extLst>
                  <a:ext uri="{FF2B5EF4-FFF2-40B4-BE49-F238E27FC236}">
                    <a16:creationId xmlns:a16="http://schemas.microsoft.com/office/drawing/2014/main" id="{9C6DFD2C-B76D-C299-2F43-2D11D0E8B0B7}"/>
                  </a:ext>
                </a:extLst>
              </p:cNvPr>
              <p:cNvSpPr txBox="1">
                <a:spLocks noRot="1" noChangeAspect="1" noMove="1" noResize="1" noEditPoints="1" noAdjustHandles="1" noChangeArrowheads="1" noChangeShapeType="1" noTextEdit="1"/>
              </p:cNvSpPr>
              <p:nvPr/>
            </p:nvSpPr>
            <p:spPr>
              <a:xfrm>
                <a:off x="2966005" y="4051726"/>
                <a:ext cx="1132980" cy="538640"/>
              </a:xfrm>
              <a:prstGeom prst="rect">
                <a:avLst/>
              </a:prstGeom>
              <a:blipFill>
                <a:blip r:embed="rId7"/>
                <a:stretch>
                  <a:fillRect/>
                </a:stretch>
              </a:blipFill>
            </p:spPr>
            <p:txBody>
              <a:bodyPr/>
              <a:lstStyle/>
              <a:p>
                <a:r>
                  <a:rPr lang="en-NZ">
                    <a:noFill/>
                  </a:rPr>
                  <a:t> </a:t>
                </a:r>
              </a:p>
            </p:txBody>
          </p:sp>
        </mc:Fallback>
      </mc:AlternateContent>
      <p:sp>
        <p:nvSpPr>
          <p:cNvPr id="40" name="Oval 39">
            <a:extLst>
              <a:ext uri="{FF2B5EF4-FFF2-40B4-BE49-F238E27FC236}">
                <a16:creationId xmlns:a16="http://schemas.microsoft.com/office/drawing/2014/main" id="{ADCC2713-9204-9B91-B72C-C6D54FDE039E}"/>
              </a:ext>
            </a:extLst>
          </p:cNvPr>
          <p:cNvSpPr/>
          <p:nvPr/>
        </p:nvSpPr>
        <p:spPr>
          <a:xfrm>
            <a:off x="6480412" y="3951027"/>
            <a:ext cx="286603" cy="28660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NZ"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mc:AlternateContent xmlns:mc="http://schemas.openxmlformats.org/markup-compatibility/2006" xmlns:a14="http://schemas.microsoft.com/office/drawing/2010/main">
        <mc:Choice Requires="a14">
          <p:sp>
            <p:nvSpPr>
              <p:cNvPr id="47" name="Text Placeholder 5">
                <a:extLst>
                  <a:ext uri="{FF2B5EF4-FFF2-40B4-BE49-F238E27FC236}">
                    <a16:creationId xmlns:a16="http://schemas.microsoft.com/office/drawing/2014/main" id="{B17BB661-69C0-600C-BF7B-39620CA75921}"/>
                  </a:ext>
                </a:extLst>
              </p:cNvPr>
              <p:cNvSpPr txBox="1">
                <a:spLocks/>
              </p:cNvSpPr>
              <p:nvPr/>
            </p:nvSpPr>
            <p:spPr>
              <a:xfrm>
                <a:off x="6054023" y="4322023"/>
                <a:ext cx="1228125" cy="28660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14:m>
                  <m:oMathPara xmlns:m="http://schemas.openxmlformats.org/officeDocument/2006/math">
                    <m:oMathParaPr>
                      <m:jc m:val="center"/>
                    </m:oMathParaPr>
                    <m:oMath xmlns:m="http://schemas.openxmlformats.org/officeDocument/2006/math">
                      <m:r>
                        <a:rPr kumimoji="1" lang="en-NZ" altLang="ja-JP" sz="12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𝝁</m:t>
                      </m:r>
                      <m:r>
                        <a:rPr kumimoji="1" lang="en-NZ" altLang="ja-JP" sz="1200" b="1" i="0" u="none" strike="noStrike" kern="1200" cap="none" spc="0" normalizeH="0" baseline="0" noProof="0" smtClean="0">
                          <a:ln>
                            <a:noFill/>
                          </a:ln>
                          <a:solidFill>
                            <a:prstClr val="black"/>
                          </a:solidFill>
                          <a:effectLst/>
                          <a:uLnTx/>
                          <a:uFillTx/>
                          <a:latin typeface="Cambria Math" panose="02040503050406030204" pitchFamily="18" charset="0"/>
                          <a:cs typeface="+mn-cs"/>
                        </a:rPr>
                        <m:t>+</m:t>
                      </m:r>
                      <m:sSub>
                        <m:sSubPr>
                          <m:ctrlPr>
                            <a:rPr kumimoji="1" lang="en-NZ" altLang="ja-JP" sz="1200" b="1"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1" lang="en-NZ" altLang="ja-JP" sz="12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𝜶</m:t>
                          </m:r>
                        </m:e>
                        <m:sub>
                          <m:r>
                            <a:rPr kumimoji="1" lang="en-NZ" altLang="ja-JP" sz="12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𝒊</m:t>
                          </m:r>
                        </m:sub>
                      </m:sSub>
                      <m:r>
                        <a:rPr kumimoji="1" lang="en-NZ" altLang="ja-JP" sz="1200" b="1"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sSub>
                        <m:sSubPr>
                          <m:ctrlPr>
                            <a:rPr kumimoji="1" lang="en-NZ" altLang="ja-JP" sz="1200" b="1"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1" lang="en-NZ" altLang="ja-JP" sz="12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𝑩</m:t>
                          </m:r>
                        </m:e>
                        <m:sub>
                          <m:r>
                            <a:rPr kumimoji="1" lang="en-NZ" altLang="ja-JP" sz="12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𝒋</m:t>
                          </m:r>
                          <m:r>
                            <a:rPr kumimoji="1" lang="en-NZ" altLang="ja-JP" sz="1200" b="1"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r>
                            <a:rPr kumimoji="1" lang="en-NZ" altLang="ja-JP" sz="12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𝒊</m:t>
                          </m:r>
                          <m:r>
                            <a:rPr kumimoji="1" lang="en-NZ" altLang="ja-JP" sz="1200" b="1"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sub>
                      </m:sSub>
                    </m:oMath>
                  </m:oMathPara>
                </a14:m>
                <a:endParaRPr kumimoji="1" lang="en-NZ" altLang="ja-JP" sz="12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p:txBody>
          </p:sp>
        </mc:Choice>
        <mc:Fallback xmlns="">
          <p:sp>
            <p:nvSpPr>
              <p:cNvPr id="47" name="Text Placeholder 5">
                <a:extLst>
                  <a:ext uri="{FF2B5EF4-FFF2-40B4-BE49-F238E27FC236}">
                    <a16:creationId xmlns:a16="http://schemas.microsoft.com/office/drawing/2014/main" id="{B17BB661-69C0-600C-BF7B-39620CA75921}"/>
                  </a:ext>
                </a:extLst>
              </p:cNvPr>
              <p:cNvSpPr txBox="1">
                <a:spLocks noRot="1" noChangeAspect="1" noMove="1" noResize="1" noEditPoints="1" noAdjustHandles="1" noChangeArrowheads="1" noChangeShapeType="1" noTextEdit="1"/>
              </p:cNvSpPr>
              <p:nvPr/>
            </p:nvSpPr>
            <p:spPr>
              <a:xfrm>
                <a:off x="6054023" y="4322023"/>
                <a:ext cx="1228125" cy="286603"/>
              </a:xfrm>
              <a:prstGeom prst="rect">
                <a:avLst/>
              </a:prstGeom>
              <a:blipFill>
                <a:blip r:embed="rId8"/>
                <a:stretch>
                  <a:fillRect b="-4255"/>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35" name="Text Placeholder 5">
                <a:extLst>
                  <a:ext uri="{FF2B5EF4-FFF2-40B4-BE49-F238E27FC236}">
                    <a16:creationId xmlns:a16="http://schemas.microsoft.com/office/drawing/2014/main" id="{507E413F-BDEE-D35C-5AA3-66AE977C499A}"/>
                  </a:ext>
                </a:extLst>
              </p:cNvPr>
              <p:cNvSpPr txBox="1">
                <a:spLocks/>
              </p:cNvSpPr>
              <p:nvPr/>
            </p:nvSpPr>
            <p:spPr>
              <a:xfrm>
                <a:off x="9162252" y="988681"/>
                <a:ext cx="1865087" cy="1017319"/>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gn="just">
                  <a:lnSpc>
                    <a:spcPct val="100000"/>
                  </a:lnSpc>
                  <a:defRPr/>
                </a:pPr>
                <a14:m>
                  <m:oMathPara xmlns:m="http://schemas.openxmlformats.org/officeDocument/2006/math">
                    <m:oMathParaPr>
                      <m:jc m:val="left"/>
                    </m:oMathParaPr>
                    <m:oMath xmlns:m="http://schemas.openxmlformats.org/officeDocument/2006/math">
                      <m:sSub>
                        <m:sSubPr>
                          <m:ctrlPr>
                            <a:rPr lang="en-NZ" altLang="ja-JP" sz="1600" b="1" i="1">
                              <a:solidFill>
                                <a:prstClr val="black"/>
                              </a:solidFill>
                              <a:latin typeface="Cambria Math" panose="02040503050406030204" pitchFamily="18" charset="0"/>
                            </a:rPr>
                          </m:ctrlPr>
                        </m:sSubPr>
                        <m:e>
                          <m:r>
                            <a:rPr lang="en-NZ" altLang="ja-JP" sz="1600" b="1" i="1">
                              <a:solidFill>
                                <a:prstClr val="black"/>
                              </a:solidFill>
                              <a:latin typeface="Cambria Math" panose="02040503050406030204" pitchFamily="18" charset="0"/>
                            </a:rPr>
                            <m:t>𝑩</m:t>
                          </m:r>
                        </m:e>
                        <m:sub>
                          <m:r>
                            <a:rPr lang="en-NZ" altLang="ja-JP" sz="1600" b="1" i="1">
                              <a:solidFill>
                                <a:prstClr val="black"/>
                              </a:solidFill>
                              <a:latin typeface="Cambria Math" panose="02040503050406030204" pitchFamily="18" charset="0"/>
                            </a:rPr>
                            <m:t>𝒋</m:t>
                          </m:r>
                          <m:r>
                            <a:rPr lang="en-NZ" altLang="ja-JP" sz="1600" b="1" i="1">
                              <a:solidFill>
                                <a:prstClr val="black"/>
                              </a:solidFill>
                              <a:latin typeface="Cambria Math" panose="02040503050406030204" pitchFamily="18" charset="0"/>
                            </a:rPr>
                            <m:t>(</m:t>
                          </m:r>
                          <m:r>
                            <a:rPr lang="en-NZ" altLang="ja-JP" sz="1600" b="1" i="1">
                              <a:solidFill>
                                <a:prstClr val="black"/>
                              </a:solidFill>
                              <a:latin typeface="Cambria Math" panose="02040503050406030204" pitchFamily="18" charset="0"/>
                            </a:rPr>
                            <m:t>𝒊</m:t>
                          </m:r>
                          <m:r>
                            <a:rPr lang="en-NZ" altLang="ja-JP" sz="1600" b="1" i="1">
                              <a:solidFill>
                                <a:prstClr val="black"/>
                              </a:solidFill>
                              <a:latin typeface="Cambria Math" panose="02040503050406030204" pitchFamily="18" charset="0"/>
                            </a:rPr>
                            <m:t>)</m:t>
                          </m:r>
                        </m:sub>
                      </m:sSub>
                      <m:r>
                        <a:rPr lang="en-NZ" altLang="ja-JP" sz="1600" b="1" i="1">
                          <a:solidFill>
                            <a:prstClr val="black"/>
                          </a:solidFill>
                          <a:latin typeface="Cambria Math" panose="02040503050406030204" pitchFamily="18" charset="0"/>
                        </a:rPr>
                        <m:t> ~ </m:t>
                      </m:r>
                      <m:r>
                        <a:rPr lang="en-NZ" altLang="ja-JP" sz="1600" b="1" i="1">
                          <a:solidFill>
                            <a:prstClr val="black"/>
                          </a:solidFill>
                          <a:latin typeface="Cambria Math" panose="02040503050406030204" pitchFamily="18" charset="0"/>
                        </a:rPr>
                        <m:t>𝑵</m:t>
                      </m:r>
                      <m:d>
                        <m:dPr>
                          <m:ctrlPr>
                            <a:rPr lang="en-NZ" altLang="ja-JP" sz="1600" b="1" i="1">
                              <a:solidFill>
                                <a:prstClr val="black"/>
                              </a:solidFill>
                              <a:latin typeface="Cambria Math" panose="02040503050406030204" pitchFamily="18" charset="0"/>
                            </a:rPr>
                          </m:ctrlPr>
                        </m:dPr>
                        <m:e>
                          <m:r>
                            <a:rPr lang="en-NZ" altLang="ja-JP" sz="1600" b="1" i="1">
                              <a:solidFill>
                                <a:prstClr val="black"/>
                              </a:solidFill>
                              <a:latin typeface="Cambria Math" panose="02040503050406030204" pitchFamily="18" charset="0"/>
                            </a:rPr>
                            <m:t>𝟎</m:t>
                          </m:r>
                          <m:r>
                            <a:rPr lang="en-NZ" altLang="ja-JP" sz="1600" b="1" i="1">
                              <a:solidFill>
                                <a:prstClr val="black"/>
                              </a:solidFill>
                              <a:latin typeface="Cambria Math" panose="02040503050406030204" pitchFamily="18" charset="0"/>
                            </a:rPr>
                            <m:t>, </m:t>
                          </m:r>
                          <m:sSubSup>
                            <m:sSubSupPr>
                              <m:ctrlPr>
                                <a:rPr lang="en-NZ" altLang="ja-JP" sz="1600" b="1" i="1">
                                  <a:solidFill>
                                    <a:prstClr val="black"/>
                                  </a:solidFill>
                                  <a:latin typeface="Cambria Math" panose="02040503050406030204" pitchFamily="18" charset="0"/>
                                </a:rPr>
                              </m:ctrlPr>
                            </m:sSubSupPr>
                            <m:e>
                              <m:r>
                                <a:rPr lang="en-NZ" altLang="ja-JP" sz="1600" b="1" i="1">
                                  <a:solidFill>
                                    <a:prstClr val="black"/>
                                  </a:solidFill>
                                  <a:latin typeface="Cambria Math" panose="02040503050406030204" pitchFamily="18" charset="0"/>
                                </a:rPr>
                                <m:t>𝝈</m:t>
                              </m:r>
                            </m:e>
                            <m:sub>
                              <m:r>
                                <a:rPr lang="en-NZ" altLang="ja-JP" sz="1600" b="1" i="1">
                                  <a:solidFill>
                                    <a:prstClr val="black"/>
                                  </a:solidFill>
                                  <a:latin typeface="Cambria Math" panose="02040503050406030204" pitchFamily="18" charset="0"/>
                                </a:rPr>
                                <m:t>𝑩</m:t>
                              </m:r>
                            </m:sub>
                            <m:sup>
                              <m:r>
                                <a:rPr lang="en-NZ" altLang="ja-JP" sz="1600" b="1" i="1">
                                  <a:solidFill>
                                    <a:prstClr val="black"/>
                                  </a:solidFill>
                                  <a:latin typeface="Cambria Math" panose="02040503050406030204" pitchFamily="18" charset="0"/>
                                </a:rPr>
                                <m:t>𝟐</m:t>
                              </m:r>
                            </m:sup>
                          </m:sSubSup>
                        </m:e>
                      </m:d>
                    </m:oMath>
                  </m:oMathPara>
                </a14:m>
                <a:endParaRPr lang="en-NZ" altLang="ja-JP" sz="1600" dirty="0">
                  <a:solidFill>
                    <a:prstClr val="black"/>
                  </a:solidFill>
                </a:endParaRPr>
              </a:p>
              <a:p>
                <a:pPr lvl="0" algn="just">
                  <a:lnSpc>
                    <a:spcPct val="100000"/>
                  </a:lnSpc>
                  <a:defRPr/>
                </a:pPr>
                <a14:m>
                  <m:oMathPara xmlns:m="http://schemas.openxmlformats.org/officeDocument/2006/math">
                    <m:oMathParaPr>
                      <m:jc m:val="left"/>
                    </m:oMathParaPr>
                    <m:oMath xmlns:m="http://schemas.openxmlformats.org/officeDocument/2006/math">
                      <m:sSub>
                        <m:sSubPr>
                          <m:ctrlPr>
                            <a:rPr lang="en-NZ" altLang="ja-JP" sz="1600" b="1" i="1">
                              <a:solidFill>
                                <a:prstClr val="black"/>
                              </a:solidFill>
                              <a:latin typeface="Cambria Math" panose="02040503050406030204" pitchFamily="18" charset="0"/>
                            </a:rPr>
                          </m:ctrlPr>
                        </m:sSubPr>
                        <m:e>
                          <m:r>
                            <a:rPr lang="en-NZ" altLang="ja-JP" sz="1600" b="1" i="1">
                              <a:solidFill>
                                <a:prstClr val="black"/>
                              </a:solidFill>
                              <a:latin typeface="Cambria Math" panose="02040503050406030204" pitchFamily="18" charset="0"/>
                            </a:rPr>
                            <m:t>𝑪</m:t>
                          </m:r>
                        </m:e>
                        <m:sub>
                          <m:r>
                            <a:rPr lang="en-NZ" altLang="ja-JP" sz="1600" b="1" i="1">
                              <a:solidFill>
                                <a:prstClr val="black"/>
                              </a:solidFill>
                              <a:latin typeface="Cambria Math" panose="02040503050406030204" pitchFamily="18" charset="0"/>
                            </a:rPr>
                            <m:t>𝒌</m:t>
                          </m:r>
                          <m:r>
                            <a:rPr lang="en-NZ" altLang="ja-JP" sz="1600" b="1" i="1">
                              <a:solidFill>
                                <a:prstClr val="black"/>
                              </a:solidFill>
                              <a:latin typeface="Cambria Math" panose="02040503050406030204" pitchFamily="18" charset="0"/>
                            </a:rPr>
                            <m:t>(</m:t>
                          </m:r>
                          <m:r>
                            <a:rPr lang="en-NZ" altLang="ja-JP" sz="1600" b="1" i="1">
                              <a:solidFill>
                                <a:prstClr val="black"/>
                              </a:solidFill>
                              <a:latin typeface="Cambria Math" panose="02040503050406030204" pitchFamily="18" charset="0"/>
                            </a:rPr>
                            <m:t>𝒊𝒋</m:t>
                          </m:r>
                          <m:r>
                            <a:rPr lang="en-NZ" altLang="ja-JP" sz="1600" b="1" i="1">
                              <a:solidFill>
                                <a:prstClr val="black"/>
                              </a:solidFill>
                              <a:latin typeface="Cambria Math" panose="02040503050406030204" pitchFamily="18" charset="0"/>
                            </a:rPr>
                            <m:t>)</m:t>
                          </m:r>
                        </m:sub>
                      </m:sSub>
                      <m:r>
                        <a:rPr lang="en-NZ" altLang="ja-JP" sz="1600" b="1" i="1">
                          <a:solidFill>
                            <a:prstClr val="black"/>
                          </a:solidFill>
                          <a:latin typeface="Cambria Math" panose="02040503050406030204" pitchFamily="18" charset="0"/>
                        </a:rPr>
                        <m:t> ~ </m:t>
                      </m:r>
                      <m:r>
                        <a:rPr lang="en-NZ" altLang="ja-JP" sz="1600" b="1" i="1">
                          <a:solidFill>
                            <a:prstClr val="black"/>
                          </a:solidFill>
                          <a:latin typeface="Cambria Math" panose="02040503050406030204" pitchFamily="18" charset="0"/>
                        </a:rPr>
                        <m:t>𝑵</m:t>
                      </m:r>
                      <m:d>
                        <m:dPr>
                          <m:ctrlPr>
                            <a:rPr lang="en-NZ" altLang="ja-JP" sz="1600" b="1" i="1">
                              <a:solidFill>
                                <a:prstClr val="black"/>
                              </a:solidFill>
                              <a:latin typeface="Cambria Math" panose="02040503050406030204" pitchFamily="18" charset="0"/>
                            </a:rPr>
                          </m:ctrlPr>
                        </m:dPr>
                        <m:e>
                          <m:r>
                            <a:rPr lang="en-NZ" altLang="ja-JP" sz="1600" b="1" i="1">
                              <a:solidFill>
                                <a:prstClr val="black"/>
                              </a:solidFill>
                              <a:latin typeface="Cambria Math" panose="02040503050406030204" pitchFamily="18" charset="0"/>
                            </a:rPr>
                            <m:t>𝟎</m:t>
                          </m:r>
                          <m:r>
                            <a:rPr lang="en-NZ" altLang="ja-JP" sz="1600" b="1" i="1">
                              <a:solidFill>
                                <a:prstClr val="black"/>
                              </a:solidFill>
                              <a:latin typeface="Cambria Math" panose="02040503050406030204" pitchFamily="18" charset="0"/>
                            </a:rPr>
                            <m:t>, </m:t>
                          </m:r>
                          <m:sSubSup>
                            <m:sSubSupPr>
                              <m:ctrlPr>
                                <a:rPr lang="en-NZ" altLang="ja-JP" sz="1600" b="1" i="1">
                                  <a:solidFill>
                                    <a:prstClr val="black"/>
                                  </a:solidFill>
                                  <a:latin typeface="Cambria Math" panose="02040503050406030204" pitchFamily="18" charset="0"/>
                                </a:rPr>
                              </m:ctrlPr>
                            </m:sSubSupPr>
                            <m:e>
                              <m:r>
                                <a:rPr lang="en-NZ" altLang="ja-JP" sz="1600" b="1" i="1">
                                  <a:solidFill>
                                    <a:prstClr val="black"/>
                                  </a:solidFill>
                                  <a:latin typeface="Cambria Math" panose="02040503050406030204" pitchFamily="18" charset="0"/>
                                </a:rPr>
                                <m:t>𝝈</m:t>
                              </m:r>
                            </m:e>
                            <m:sub>
                              <m:r>
                                <a:rPr lang="en-NZ" altLang="ja-JP" sz="1600" b="1" i="1">
                                  <a:solidFill>
                                    <a:prstClr val="black"/>
                                  </a:solidFill>
                                  <a:latin typeface="Cambria Math" panose="02040503050406030204" pitchFamily="18" charset="0"/>
                                </a:rPr>
                                <m:t>𝑪</m:t>
                              </m:r>
                            </m:sub>
                            <m:sup>
                              <m:r>
                                <a:rPr lang="en-NZ" altLang="ja-JP" sz="1600" b="1" i="1">
                                  <a:solidFill>
                                    <a:prstClr val="black"/>
                                  </a:solidFill>
                                  <a:latin typeface="Cambria Math" panose="02040503050406030204" pitchFamily="18" charset="0"/>
                                </a:rPr>
                                <m:t>𝟐</m:t>
                              </m:r>
                            </m:sup>
                          </m:sSubSup>
                        </m:e>
                      </m:d>
                    </m:oMath>
                  </m:oMathPara>
                </a14:m>
                <a:endParaRPr lang="en-NZ" altLang="ja-JP" sz="1600" dirty="0">
                  <a:solidFill>
                    <a:prstClr val="black"/>
                  </a:solidFill>
                </a:endParaRPr>
              </a:p>
              <a:p>
                <a:pPr lvl="0" algn="just">
                  <a:lnSpc>
                    <a:spcPct val="100000"/>
                  </a:lnSpc>
                  <a:defRPr/>
                </a:pPr>
                <a14:m>
                  <m:oMathPara xmlns:m="http://schemas.openxmlformats.org/officeDocument/2006/math">
                    <m:oMathParaPr>
                      <m:jc m:val="left"/>
                    </m:oMathParaPr>
                    <m:oMath xmlns:m="http://schemas.openxmlformats.org/officeDocument/2006/math">
                      <m:sSub>
                        <m:sSubPr>
                          <m:ctrlPr>
                            <a:rPr lang="en-NZ" altLang="ja-JP" sz="1600" b="1" i="1">
                              <a:solidFill>
                                <a:prstClr val="black"/>
                              </a:solidFill>
                              <a:latin typeface="Cambria Math" panose="02040503050406030204" pitchFamily="18" charset="0"/>
                            </a:rPr>
                          </m:ctrlPr>
                        </m:sSubPr>
                        <m:e>
                          <m:r>
                            <a:rPr lang="en-NZ" altLang="ja-JP" sz="1600" b="1" i="1">
                              <a:solidFill>
                                <a:prstClr val="black"/>
                              </a:solidFill>
                              <a:latin typeface="Cambria Math" panose="02040503050406030204" pitchFamily="18" charset="0"/>
                            </a:rPr>
                            <m:t>𝝐</m:t>
                          </m:r>
                        </m:e>
                        <m:sub>
                          <m:r>
                            <a:rPr lang="en-NZ" altLang="ja-JP" sz="1600" b="1" i="1">
                              <a:solidFill>
                                <a:prstClr val="black"/>
                              </a:solidFill>
                              <a:latin typeface="Cambria Math" panose="02040503050406030204" pitchFamily="18" charset="0"/>
                            </a:rPr>
                            <m:t>𝒎</m:t>
                          </m:r>
                          <m:r>
                            <a:rPr lang="en-NZ" altLang="ja-JP" sz="1600" b="1" i="1">
                              <a:solidFill>
                                <a:prstClr val="black"/>
                              </a:solidFill>
                              <a:latin typeface="Cambria Math" panose="02040503050406030204" pitchFamily="18" charset="0"/>
                            </a:rPr>
                            <m:t>(</m:t>
                          </m:r>
                          <m:r>
                            <a:rPr lang="en-NZ" altLang="ja-JP" sz="1600" b="1" i="1">
                              <a:solidFill>
                                <a:prstClr val="black"/>
                              </a:solidFill>
                              <a:latin typeface="Cambria Math" panose="02040503050406030204" pitchFamily="18" charset="0"/>
                            </a:rPr>
                            <m:t>𝒊𝒋𝒌</m:t>
                          </m:r>
                          <m:r>
                            <a:rPr lang="en-NZ" altLang="ja-JP" sz="1600" b="1" i="1">
                              <a:solidFill>
                                <a:prstClr val="black"/>
                              </a:solidFill>
                              <a:latin typeface="Cambria Math" panose="02040503050406030204" pitchFamily="18" charset="0"/>
                            </a:rPr>
                            <m:t>)</m:t>
                          </m:r>
                        </m:sub>
                      </m:sSub>
                      <m:r>
                        <a:rPr lang="en-NZ" altLang="ja-JP" sz="1600" b="1" i="1">
                          <a:solidFill>
                            <a:prstClr val="black"/>
                          </a:solidFill>
                          <a:latin typeface="Cambria Math" panose="02040503050406030204" pitchFamily="18" charset="0"/>
                        </a:rPr>
                        <m:t> ~ </m:t>
                      </m:r>
                      <m:r>
                        <a:rPr lang="en-NZ" altLang="ja-JP" sz="1600" b="1" i="1">
                          <a:solidFill>
                            <a:prstClr val="black"/>
                          </a:solidFill>
                          <a:latin typeface="Cambria Math" panose="02040503050406030204" pitchFamily="18" charset="0"/>
                        </a:rPr>
                        <m:t>𝑵</m:t>
                      </m:r>
                      <m:d>
                        <m:dPr>
                          <m:ctrlPr>
                            <a:rPr lang="en-NZ" altLang="ja-JP" sz="1600" b="1" i="1">
                              <a:solidFill>
                                <a:prstClr val="black"/>
                              </a:solidFill>
                              <a:latin typeface="Cambria Math" panose="02040503050406030204" pitchFamily="18" charset="0"/>
                            </a:rPr>
                          </m:ctrlPr>
                        </m:dPr>
                        <m:e>
                          <m:r>
                            <a:rPr lang="en-NZ" altLang="ja-JP" sz="1600" b="1" i="1">
                              <a:solidFill>
                                <a:prstClr val="black"/>
                              </a:solidFill>
                              <a:latin typeface="Cambria Math" panose="02040503050406030204" pitchFamily="18" charset="0"/>
                            </a:rPr>
                            <m:t>𝟎</m:t>
                          </m:r>
                          <m:r>
                            <a:rPr lang="en-NZ" altLang="ja-JP" sz="1600" b="1" i="1">
                              <a:solidFill>
                                <a:prstClr val="black"/>
                              </a:solidFill>
                              <a:latin typeface="Cambria Math" panose="02040503050406030204" pitchFamily="18" charset="0"/>
                            </a:rPr>
                            <m:t>, </m:t>
                          </m:r>
                          <m:sSup>
                            <m:sSupPr>
                              <m:ctrlPr>
                                <a:rPr lang="en-NZ" altLang="ja-JP" sz="1600" b="1" i="1">
                                  <a:solidFill>
                                    <a:prstClr val="black"/>
                                  </a:solidFill>
                                  <a:latin typeface="Cambria Math" panose="02040503050406030204" pitchFamily="18" charset="0"/>
                                </a:rPr>
                              </m:ctrlPr>
                            </m:sSupPr>
                            <m:e>
                              <m:r>
                                <a:rPr lang="en-NZ" altLang="ja-JP" sz="1600" b="1" i="1">
                                  <a:solidFill>
                                    <a:prstClr val="black"/>
                                  </a:solidFill>
                                  <a:latin typeface="Cambria Math" panose="02040503050406030204" pitchFamily="18" charset="0"/>
                                </a:rPr>
                                <m:t>𝝈</m:t>
                              </m:r>
                            </m:e>
                            <m:sup>
                              <m:r>
                                <a:rPr lang="en-NZ" altLang="ja-JP" sz="1600" b="1" i="1">
                                  <a:solidFill>
                                    <a:prstClr val="black"/>
                                  </a:solidFill>
                                  <a:latin typeface="Cambria Math" panose="02040503050406030204" pitchFamily="18" charset="0"/>
                                </a:rPr>
                                <m:t>𝟐</m:t>
                              </m:r>
                            </m:sup>
                          </m:sSup>
                        </m:e>
                      </m:d>
                    </m:oMath>
                  </m:oMathPara>
                </a14:m>
                <a:endParaRPr kumimoji="1" lang="en-NZ" altLang="ja-JP" sz="1600" b="0"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mc:Choice>
        <mc:Fallback xmlns="">
          <p:sp>
            <p:nvSpPr>
              <p:cNvPr id="35" name="Text Placeholder 5">
                <a:extLst>
                  <a:ext uri="{FF2B5EF4-FFF2-40B4-BE49-F238E27FC236}">
                    <a16:creationId xmlns:a16="http://schemas.microsoft.com/office/drawing/2014/main" id="{507E413F-BDEE-D35C-5AA3-66AE977C499A}"/>
                  </a:ext>
                </a:extLst>
              </p:cNvPr>
              <p:cNvSpPr txBox="1">
                <a:spLocks noRot="1" noChangeAspect="1" noMove="1" noResize="1" noEditPoints="1" noAdjustHandles="1" noChangeArrowheads="1" noChangeShapeType="1" noTextEdit="1"/>
              </p:cNvSpPr>
              <p:nvPr/>
            </p:nvSpPr>
            <p:spPr>
              <a:xfrm>
                <a:off x="9162252" y="988681"/>
                <a:ext cx="1865087" cy="1017319"/>
              </a:xfrm>
              <a:prstGeom prst="rect">
                <a:avLst/>
              </a:prstGeom>
              <a:blipFill>
                <a:blip r:embed="rId9"/>
                <a:stretch>
                  <a:fillRect/>
                </a:stretch>
              </a:blipFill>
            </p:spPr>
            <p:txBody>
              <a:bodyPr/>
              <a:lstStyle/>
              <a:p>
                <a:r>
                  <a:rPr lang="en-NZ">
                    <a:noFill/>
                  </a:rPr>
                  <a:t> </a:t>
                </a:r>
              </a:p>
            </p:txBody>
          </p:sp>
        </mc:Fallback>
      </mc:AlternateContent>
      <p:cxnSp>
        <p:nvCxnSpPr>
          <p:cNvPr id="37" name="Straight Connector 36">
            <a:extLst>
              <a:ext uri="{FF2B5EF4-FFF2-40B4-BE49-F238E27FC236}">
                <a16:creationId xmlns:a16="http://schemas.microsoft.com/office/drawing/2014/main" id="{134CFEA9-0856-7F15-07B3-1B1E620C0986}"/>
              </a:ext>
            </a:extLst>
          </p:cNvPr>
          <p:cNvCxnSpPr>
            <a:cxnSpLocks/>
          </p:cNvCxnSpPr>
          <p:nvPr/>
        </p:nvCxnSpPr>
        <p:spPr>
          <a:xfrm>
            <a:off x="7854287" y="3794078"/>
            <a:ext cx="0" cy="311862"/>
          </a:xfrm>
          <a:prstGeom prst="line">
            <a:avLst/>
          </a:prstGeom>
        </p:spPr>
        <p:style>
          <a:lnRef idx="1">
            <a:schemeClr val="accent1"/>
          </a:lnRef>
          <a:fillRef idx="0">
            <a:schemeClr val="accent1"/>
          </a:fillRef>
          <a:effectRef idx="0">
            <a:schemeClr val="accent1"/>
          </a:effectRef>
          <a:fontRef idx="minor">
            <a:schemeClr val="tx1"/>
          </a:fontRef>
        </p:style>
      </p:cxnSp>
      <p:sp>
        <p:nvSpPr>
          <p:cNvPr id="38" name="Oval 37">
            <a:extLst>
              <a:ext uri="{FF2B5EF4-FFF2-40B4-BE49-F238E27FC236}">
                <a16:creationId xmlns:a16="http://schemas.microsoft.com/office/drawing/2014/main" id="{BE69E0CA-414F-6BC2-6B1B-0888572EC144}"/>
              </a:ext>
            </a:extLst>
          </p:cNvPr>
          <p:cNvSpPr/>
          <p:nvPr/>
        </p:nvSpPr>
        <p:spPr>
          <a:xfrm>
            <a:off x="7710985" y="3928600"/>
            <a:ext cx="286603" cy="28660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NZ"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mc:AlternateContent xmlns:mc="http://schemas.openxmlformats.org/markup-compatibility/2006" xmlns:a14="http://schemas.microsoft.com/office/drawing/2010/main">
        <mc:Choice Requires="a14">
          <p:sp>
            <p:nvSpPr>
              <p:cNvPr id="39" name="Text Placeholder 5">
                <a:extLst>
                  <a:ext uri="{FF2B5EF4-FFF2-40B4-BE49-F238E27FC236}">
                    <a16:creationId xmlns:a16="http://schemas.microsoft.com/office/drawing/2014/main" id="{7DAB5208-0265-E8B5-40A2-AEE347353E9D}"/>
                  </a:ext>
                </a:extLst>
              </p:cNvPr>
              <p:cNvSpPr txBox="1">
                <a:spLocks/>
              </p:cNvSpPr>
              <p:nvPr/>
            </p:nvSpPr>
            <p:spPr>
              <a:xfrm>
                <a:off x="8910407" y="3327488"/>
                <a:ext cx="760649" cy="38151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14:m>
                  <m:oMathPara xmlns:m="http://schemas.openxmlformats.org/officeDocument/2006/math">
                    <m:oMathParaPr>
                      <m:jc m:val="centerGroup"/>
                    </m:oMathParaPr>
                    <m:oMath xmlns:m="http://schemas.openxmlformats.org/officeDocument/2006/math">
                      <m:sSub>
                        <m:sSubPr>
                          <m:ctrlPr>
                            <a:rPr kumimoji="1" lang="en-NZ" altLang="ja-JP" sz="2000" b="1" i="1" u="none" strike="noStrike" kern="1200" cap="none" spc="0" normalizeH="0" baseline="0" noProof="0" smtClean="0">
                              <a:ln>
                                <a:noFill/>
                              </a:ln>
                              <a:solidFill>
                                <a:srgbClr val="0070C0"/>
                              </a:solidFill>
                              <a:effectLst/>
                              <a:uLnTx/>
                              <a:uFillTx/>
                              <a:latin typeface="Cambria Math" panose="02040503050406030204" pitchFamily="18" charset="0"/>
                              <a:cs typeface="+mn-cs"/>
                            </a:rPr>
                          </m:ctrlPr>
                        </m:sSubPr>
                        <m:e>
                          <m:r>
                            <a:rPr kumimoji="1" lang="en-NZ" altLang="ja-JP" sz="2000" b="1" i="1" u="none" strike="noStrike" kern="1200" cap="none" spc="0" normalizeH="0" baseline="0" noProof="0" smtClean="0">
                              <a:ln>
                                <a:noFill/>
                              </a:ln>
                              <a:solidFill>
                                <a:srgbClr val="0070C0"/>
                              </a:solidFill>
                              <a:effectLst/>
                              <a:uLnTx/>
                              <a:uFillTx/>
                              <a:latin typeface="Cambria Math" panose="02040503050406030204" pitchFamily="18" charset="0"/>
                              <a:cs typeface="+mn-cs"/>
                            </a:rPr>
                            <m:t>𝒀</m:t>
                          </m:r>
                        </m:e>
                        <m:sub>
                          <m:r>
                            <a:rPr kumimoji="1" lang="en-NZ" altLang="ja-JP" sz="2000" b="1" i="1" u="none" strike="noStrike" kern="1200" cap="none" spc="0" normalizeH="0" baseline="0" noProof="0" smtClean="0">
                              <a:ln>
                                <a:noFill/>
                              </a:ln>
                              <a:solidFill>
                                <a:srgbClr val="0070C0"/>
                              </a:solidFill>
                              <a:effectLst/>
                              <a:uLnTx/>
                              <a:uFillTx/>
                              <a:latin typeface="Cambria Math" panose="02040503050406030204" pitchFamily="18" charset="0"/>
                              <a:cs typeface="+mn-cs"/>
                            </a:rPr>
                            <m:t>𝒊𝒋𝒌𝒎</m:t>
                          </m:r>
                        </m:sub>
                      </m:sSub>
                    </m:oMath>
                  </m:oMathPara>
                </a14:m>
                <a:endParaRPr kumimoji="1" lang="en-NZ" altLang="ja-JP" sz="20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20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20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p:txBody>
          </p:sp>
        </mc:Choice>
        <mc:Fallback xmlns="">
          <p:sp>
            <p:nvSpPr>
              <p:cNvPr id="39" name="Text Placeholder 5">
                <a:extLst>
                  <a:ext uri="{FF2B5EF4-FFF2-40B4-BE49-F238E27FC236}">
                    <a16:creationId xmlns:a16="http://schemas.microsoft.com/office/drawing/2014/main" id="{7DAB5208-0265-E8B5-40A2-AEE347353E9D}"/>
                  </a:ext>
                </a:extLst>
              </p:cNvPr>
              <p:cNvSpPr txBox="1">
                <a:spLocks noRot="1" noChangeAspect="1" noMove="1" noResize="1" noEditPoints="1" noAdjustHandles="1" noChangeArrowheads="1" noChangeShapeType="1" noTextEdit="1"/>
              </p:cNvSpPr>
              <p:nvPr/>
            </p:nvSpPr>
            <p:spPr>
              <a:xfrm>
                <a:off x="8910407" y="3327488"/>
                <a:ext cx="760649" cy="381516"/>
              </a:xfrm>
              <a:prstGeom prst="rect">
                <a:avLst/>
              </a:prstGeom>
              <a:blipFill>
                <a:blip r:embed="rId10"/>
                <a:stretch>
                  <a:fillRect b="-27419"/>
                </a:stretch>
              </a:blipFill>
            </p:spPr>
            <p:txBody>
              <a:bodyPr/>
              <a:lstStyle/>
              <a:p>
                <a:r>
                  <a:rPr lang="en-NZ">
                    <a:noFill/>
                  </a:rPr>
                  <a:t> </a:t>
                </a:r>
              </a:p>
            </p:txBody>
          </p:sp>
        </mc:Fallback>
      </mc:AlternateContent>
      <p:sp>
        <p:nvSpPr>
          <p:cNvPr id="2" name="Footer Placeholder 2">
            <a:extLst>
              <a:ext uri="{FF2B5EF4-FFF2-40B4-BE49-F238E27FC236}">
                <a16:creationId xmlns:a16="http://schemas.microsoft.com/office/drawing/2014/main" id="{3AC0F327-92F1-F614-6D55-12A3A17F8707}"/>
              </a:ext>
            </a:extLst>
          </p:cNvPr>
          <p:cNvSpPr txBox="1">
            <a:spLocks/>
          </p:cNvSpPr>
          <p:nvPr/>
        </p:nvSpPr>
        <p:spPr>
          <a:xfrm>
            <a:off x="8775510" y="86139"/>
            <a:ext cx="3313855"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600" dirty="0">
                <a:solidFill>
                  <a:srgbClr val="DEDDDD"/>
                </a:solidFill>
                <a:latin typeface="Gidole"/>
                <a:ea typeface="游ゴシック" panose="020B0400000000000000" pitchFamily="34" charset="-128"/>
              </a:rPr>
              <a:t>5</a:t>
            </a:r>
            <a:r>
              <a:rPr kumimoji="1" lang="en-US" altLang="ja-JP"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rPr>
              <a:t>.2 – Two Stage Nested Design</a:t>
            </a:r>
            <a:endParaRPr kumimoji="1" lang="ja-JP" altLang="en-US"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endParaRPr>
          </a:p>
        </p:txBody>
      </p:sp>
      <p:sp>
        <p:nvSpPr>
          <p:cNvPr id="9" name="Footer Placeholder 2">
            <a:extLst>
              <a:ext uri="{FF2B5EF4-FFF2-40B4-BE49-F238E27FC236}">
                <a16:creationId xmlns:a16="http://schemas.microsoft.com/office/drawing/2014/main" id="{1C5A2337-E5EF-5658-5025-7249CCF853B1}"/>
              </a:ext>
            </a:extLst>
          </p:cNvPr>
          <p:cNvSpPr txBox="1">
            <a:spLocks/>
          </p:cNvSpPr>
          <p:nvPr/>
        </p:nvSpPr>
        <p:spPr>
          <a:xfrm>
            <a:off x="8775510" y="86139"/>
            <a:ext cx="3313855"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rPr>
              <a:t>5.4 – 3-Stage Nested Design</a:t>
            </a:r>
            <a:endParaRPr kumimoji="1" lang="ja-JP" altLang="en-US"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endParaRPr>
          </a:p>
        </p:txBody>
      </p:sp>
      <p:sp>
        <p:nvSpPr>
          <p:cNvPr id="10" name="Title 6">
            <a:extLst>
              <a:ext uri="{FF2B5EF4-FFF2-40B4-BE49-F238E27FC236}">
                <a16:creationId xmlns:a16="http://schemas.microsoft.com/office/drawing/2014/main" id="{7EF802C2-E15C-BE09-85D4-D3D2D79728C2}"/>
              </a:ext>
            </a:extLst>
          </p:cNvPr>
          <p:cNvSpPr txBox="1">
            <a:spLocks/>
          </p:cNvSpPr>
          <p:nvPr/>
        </p:nvSpPr>
        <p:spPr>
          <a:xfrm>
            <a:off x="251224" y="237833"/>
            <a:ext cx="9411391" cy="607201"/>
          </a:xfrm>
          <a:prstGeom prst="rect">
            <a:avLst/>
          </a:prstGeom>
        </p:spPr>
        <p:txBody>
          <a:bodyPr anchor="t">
            <a:normAutofit fontScale="85000" lnSpcReduction="10000"/>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pPr marL="0" marR="0" lvl="0" indent="0" algn="l" defTabSz="914324" rtl="0" eaLnBrk="1" fontAlgn="auto" latinLnBrk="0" hangingPunct="1">
              <a:lnSpc>
                <a:spcPct val="90000"/>
              </a:lnSpc>
              <a:spcBef>
                <a:spcPct val="0"/>
              </a:spcBef>
              <a:spcAft>
                <a:spcPts val="0"/>
              </a:spcAft>
              <a:buClrTx/>
              <a:buSzTx/>
              <a:buFontTx/>
              <a:buNone/>
              <a:tabLst/>
              <a:defRPr/>
            </a:pPr>
            <a:r>
              <a:rPr kumimoji="1" lang="en-US" altLang="ja-JP"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rPr>
              <a:t>5.4a – </a:t>
            </a:r>
            <a:r>
              <a:rPr lang="en-US" altLang="ja-JP" b="1" u="sng" dirty="0">
                <a:solidFill>
                  <a:prstClr val="black"/>
                </a:solidFill>
                <a:latin typeface="Calibri" panose="020F0502020204030204"/>
                <a:ea typeface="游ゴシック Light" panose="020B0300000000000000" pitchFamily="34" charset="-128"/>
              </a:rPr>
              <a:t>Mixed</a:t>
            </a:r>
            <a:r>
              <a:rPr kumimoji="1" lang="en-US" altLang="ja-JP"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rPr>
              <a:t> Effects Model for a 3-Stage Nested Design:</a:t>
            </a:r>
            <a:endParaRPr kumimoji="1" lang="ja-JP" altLang="en-US"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endParaRPr>
          </a:p>
        </p:txBody>
      </p:sp>
      <mc:AlternateContent xmlns:mc="http://schemas.openxmlformats.org/markup-compatibility/2006" xmlns:a14="http://schemas.microsoft.com/office/drawing/2010/main">
        <mc:Choice Requires="a14">
          <p:sp>
            <p:nvSpPr>
              <p:cNvPr id="11" name="Text Placeholder 5">
                <a:extLst>
                  <a:ext uri="{FF2B5EF4-FFF2-40B4-BE49-F238E27FC236}">
                    <a16:creationId xmlns:a16="http://schemas.microsoft.com/office/drawing/2014/main" id="{F7AB6B44-2F47-621D-8D19-E3C80D7DE783}"/>
                  </a:ext>
                </a:extLst>
              </p:cNvPr>
              <p:cNvSpPr txBox="1">
                <a:spLocks/>
              </p:cNvSpPr>
              <p:nvPr/>
            </p:nvSpPr>
            <p:spPr>
              <a:xfrm>
                <a:off x="2554716" y="999417"/>
                <a:ext cx="7107899" cy="47495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14:m>
                  <m:oMathPara xmlns:m="http://schemas.openxmlformats.org/officeDocument/2006/math">
                    <m:oMathParaPr>
                      <m:jc m:val="centerGroup"/>
                    </m:oMathParaPr>
                    <m:oMath xmlns:m="http://schemas.openxmlformats.org/officeDocument/2006/math">
                      <m:sSub>
                        <m:sSubPr>
                          <m:ctrlP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ctrlPr>
                        </m:sSubPr>
                        <m:e>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𝒀</m:t>
                          </m:r>
                        </m:e>
                        <m:sub>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𝒊𝒋𝒌𝒎</m:t>
                          </m:r>
                        </m:sub>
                      </m:sSub>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   =     </m:t>
                      </m:r>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𝝁</m:t>
                      </m:r>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  +   </m:t>
                      </m:r>
                      <m:sSub>
                        <m:sSubPr>
                          <m:ctrlP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ctrlPr>
                        </m:sSubPr>
                        <m:e>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𝜶</m:t>
                          </m:r>
                        </m:e>
                        <m:sub>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𝒊</m:t>
                          </m:r>
                        </m:sub>
                      </m:sSub>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  +   </m:t>
                      </m:r>
                      <m:sSub>
                        <m:sSubPr>
                          <m:ctrlP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ctrlPr>
                        </m:sSubPr>
                        <m:e>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𝑩</m:t>
                          </m:r>
                        </m:e>
                        <m:sub>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𝒋</m:t>
                          </m:r>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m:t>
                          </m:r>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𝒊</m:t>
                          </m:r>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m:t>
                          </m:r>
                        </m:sub>
                      </m:sSub>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  +    </m:t>
                      </m:r>
                      <m:sSub>
                        <m:sSubPr>
                          <m:ctrlP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ctrlPr>
                        </m:sSubPr>
                        <m:e>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𝑪</m:t>
                          </m:r>
                        </m:e>
                        <m:sub>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𝒌</m:t>
                          </m:r>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m:t>
                          </m:r>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𝒊𝒋</m:t>
                          </m:r>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m:t>
                          </m:r>
                        </m:sub>
                      </m:sSub>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   +   </m:t>
                      </m:r>
                      <m:sSub>
                        <m:sSubPr>
                          <m:ctrlP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ctrlPr>
                        </m:sSubPr>
                        <m:e>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𝝐</m:t>
                          </m:r>
                        </m:e>
                        <m:sub>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𝒎</m:t>
                          </m:r>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m:t>
                          </m:r>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𝒊𝒋𝒌</m:t>
                          </m:r>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m:t>
                          </m:r>
                        </m:sub>
                      </m:sSub>
                    </m:oMath>
                  </m:oMathPara>
                </a14:m>
                <a:endParaRPr kumimoji="1" lang="en-NZ" altLang="ja-JP" sz="1800" b="1" i="0"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800" b="1"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mc:Choice>
        <mc:Fallback xmlns="">
          <p:sp>
            <p:nvSpPr>
              <p:cNvPr id="11" name="Text Placeholder 5">
                <a:extLst>
                  <a:ext uri="{FF2B5EF4-FFF2-40B4-BE49-F238E27FC236}">
                    <a16:creationId xmlns:a16="http://schemas.microsoft.com/office/drawing/2014/main" id="{F7AB6B44-2F47-621D-8D19-E3C80D7DE783}"/>
                  </a:ext>
                </a:extLst>
              </p:cNvPr>
              <p:cNvSpPr txBox="1">
                <a:spLocks noRot="1" noChangeAspect="1" noMove="1" noResize="1" noEditPoints="1" noAdjustHandles="1" noChangeArrowheads="1" noChangeShapeType="1" noTextEdit="1"/>
              </p:cNvSpPr>
              <p:nvPr/>
            </p:nvSpPr>
            <p:spPr>
              <a:xfrm>
                <a:off x="2554716" y="999417"/>
                <a:ext cx="7107899" cy="474953"/>
              </a:xfrm>
              <a:prstGeom prst="rect">
                <a:avLst/>
              </a:prstGeom>
              <a:blipFill>
                <a:blip r:embed="rId11"/>
                <a:stretch>
                  <a:fillRect/>
                </a:stretch>
              </a:blipFill>
            </p:spPr>
            <p:txBody>
              <a:bodyPr/>
              <a:lstStyle/>
              <a:p>
                <a:r>
                  <a:rPr lang="en-NZ">
                    <a:noFill/>
                  </a:rPr>
                  <a:t> </a:t>
                </a:r>
              </a:p>
            </p:txBody>
          </p:sp>
        </mc:Fallback>
      </mc:AlternateContent>
      <p:cxnSp>
        <p:nvCxnSpPr>
          <p:cNvPr id="13" name="Straight Connector 12">
            <a:extLst>
              <a:ext uri="{FF2B5EF4-FFF2-40B4-BE49-F238E27FC236}">
                <a16:creationId xmlns:a16="http://schemas.microsoft.com/office/drawing/2014/main" id="{C35C67CB-9932-D68D-327E-753854D50083}"/>
              </a:ext>
            </a:extLst>
          </p:cNvPr>
          <p:cNvCxnSpPr>
            <a:cxnSpLocks/>
          </p:cNvCxnSpPr>
          <p:nvPr/>
        </p:nvCxnSpPr>
        <p:spPr>
          <a:xfrm>
            <a:off x="8910407" y="3770857"/>
            <a:ext cx="0" cy="311862"/>
          </a:xfrm>
          <a:prstGeom prst="line">
            <a:avLst/>
          </a:prstGeom>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4" name="Text Placeholder 5">
                <a:extLst>
                  <a:ext uri="{FF2B5EF4-FFF2-40B4-BE49-F238E27FC236}">
                    <a16:creationId xmlns:a16="http://schemas.microsoft.com/office/drawing/2014/main" id="{B48349CD-0FE8-BAB5-FAC0-70CE3CE83B8D}"/>
                  </a:ext>
                </a:extLst>
              </p:cNvPr>
              <p:cNvSpPr txBox="1">
                <a:spLocks/>
              </p:cNvSpPr>
              <p:nvPr/>
            </p:nvSpPr>
            <p:spPr>
              <a:xfrm>
                <a:off x="7164413" y="4322023"/>
                <a:ext cx="1857208" cy="28660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14:m>
                  <m:oMathPara xmlns:m="http://schemas.openxmlformats.org/officeDocument/2006/math">
                    <m:oMathParaPr>
                      <m:jc m:val="center"/>
                    </m:oMathParaPr>
                    <m:oMath xmlns:m="http://schemas.openxmlformats.org/officeDocument/2006/math">
                      <m:r>
                        <a:rPr kumimoji="1" lang="en-NZ" altLang="ja-JP" sz="12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𝝁</m:t>
                      </m:r>
                      <m:r>
                        <a:rPr kumimoji="1" lang="en-NZ" altLang="ja-JP" sz="1200" b="1" i="0" u="none" strike="noStrike" kern="1200" cap="none" spc="0" normalizeH="0" baseline="0" noProof="0" smtClean="0">
                          <a:ln>
                            <a:noFill/>
                          </a:ln>
                          <a:solidFill>
                            <a:prstClr val="black"/>
                          </a:solidFill>
                          <a:effectLst/>
                          <a:uLnTx/>
                          <a:uFillTx/>
                          <a:latin typeface="Cambria Math" panose="02040503050406030204" pitchFamily="18" charset="0"/>
                          <a:cs typeface="+mn-cs"/>
                        </a:rPr>
                        <m:t>+</m:t>
                      </m:r>
                      <m:sSub>
                        <m:sSubPr>
                          <m:ctrlPr>
                            <a:rPr kumimoji="1" lang="en-NZ" altLang="ja-JP" sz="1200" b="1"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1" lang="en-NZ" altLang="ja-JP" sz="12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𝜶</m:t>
                          </m:r>
                        </m:e>
                        <m:sub>
                          <m:r>
                            <a:rPr kumimoji="1" lang="en-NZ" altLang="ja-JP" sz="12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𝒊</m:t>
                          </m:r>
                        </m:sub>
                      </m:sSub>
                      <m:r>
                        <a:rPr kumimoji="1" lang="en-NZ" altLang="ja-JP" sz="1200" b="1"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sSub>
                        <m:sSubPr>
                          <m:ctrlPr>
                            <a:rPr kumimoji="1" lang="en-NZ" altLang="ja-JP" sz="1200" b="1"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1" lang="en-NZ" altLang="ja-JP" sz="12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𝑩</m:t>
                          </m:r>
                        </m:e>
                        <m:sub>
                          <m:r>
                            <a:rPr kumimoji="1" lang="en-NZ" altLang="ja-JP" sz="12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𝒋</m:t>
                          </m:r>
                          <m:r>
                            <a:rPr kumimoji="1" lang="en-NZ" altLang="ja-JP" sz="1200" b="1"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r>
                            <a:rPr kumimoji="1" lang="en-NZ" altLang="ja-JP" sz="12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𝒊</m:t>
                          </m:r>
                          <m:r>
                            <a:rPr kumimoji="1" lang="en-NZ" altLang="ja-JP" sz="1200" b="1"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sub>
                      </m:sSub>
                      <m:r>
                        <a:rPr kumimoji="1" lang="en-NZ" altLang="ja-JP" sz="1200" b="1"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sSub>
                        <m:sSubPr>
                          <m:ctrlPr>
                            <a:rPr kumimoji="1" lang="en-NZ" altLang="ja-JP" sz="1200" b="1"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1" lang="en-NZ" altLang="ja-JP" sz="12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𝑪</m:t>
                          </m:r>
                        </m:e>
                        <m:sub>
                          <m:r>
                            <a:rPr kumimoji="1" lang="en-NZ" altLang="ja-JP" sz="12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𝒌</m:t>
                          </m:r>
                          <m:d>
                            <m:dPr>
                              <m:ctrlPr>
                                <a:rPr kumimoji="1" lang="en-NZ" altLang="ja-JP" sz="1200" b="1"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dPr>
                            <m:e>
                              <m:r>
                                <a:rPr kumimoji="1" lang="en-NZ" altLang="ja-JP" sz="12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𝒊𝒋</m:t>
                              </m:r>
                            </m:e>
                          </m:d>
                        </m:sub>
                      </m:sSub>
                    </m:oMath>
                  </m:oMathPara>
                </a14:m>
                <a:endParaRPr kumimoji="1" lang="en-NZ" altLang="ja-JP" sz="12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p:txBody>
          </p:sp>
        </mc:Choice>
        <mc:Fallback xmlns="">
          <p:sp>
            <p:nvSpPr>
              <p:cNvPr id="14" name="Text Placeholder 5">
                <a:extLst>
                  <a:ext uri="{FF2B5EF4-FFF2-40B4-BE49-F238E27FC236}">
                    <a16:creationId xmlns:a16="http://schemas.microsoft.com/office/drawing/2014/main" id="{B48349CD-0FE8-BAB5-FAC0-70CE3CE83B8D}"/>
                  </a:ext>
                </a:extLst>
              </p:cNvPr>
              <p:cNvSpPr txBox="1">
                <a:spLocks noRot="1" noChangeAspect="1" noMove="1" noResize="1" noEditPoints="1" noAdjustHandles="1" noChangeArrowheads="1" noChangeShapeType="1" noTextEdit="1"/>
              </p:cNvSpPr>
              <p:nvPr/>
            </p:nvSpPr>
            <p:spPr>
              <a:xfrm>
                <a:off x="7164413" y="4322023"/>
                <a:ext cx="1857208" cy="286603"/>
              </a:xfrm>
              <a:prstGeom prst="rect">
                <a:avLst/>
              </a:prstGeom>
              <a:blipFill>
                <a:blip r:embed="rId12"/>
                <a:stretch>
                  <a:fillRect b="-4255"/>
                </a:stretch>
              </a:blipFill>
            </p:spPr>
            <p:txBody>
              <a:bodyPr/>
              <a:lstStyle/>
              <a:p>
                <a:r>
                  <a:rPr lang="en-NZ">
                    <a:noFill/>
                  </a:rPr>
                  <a:t> </a:t>
                </a:r>
              </a:p>
            </p:txBody>
          </p:sp>
        </mc:Fallback>
      </mc:AlternateContent>
    </p:spTree>
    <p:extLst>
      <p:ext uri="{BB962C8B-B14F-4D97-AF65-F5344CB8AC3E}">
        <p14:creationId xmlns:p14="http://schemas.microsoft.com/office/powerpoint/2010/main" val="13339751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0"/>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6"/>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0"/>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7"/>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7"/>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8"/>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6"/>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12"/>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39"/>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6" grpId="0"/>
      <p:bldP spid="33" grpId="0"/>
      <p:bldP spid="40" grpId="0" animBg="1"/>
      <p:bldP spid="47" grpId="0"/>
      <p:bldP spid="38" grpId="0" animBg="1"/>
      <p:bldP spid="39" grpId="0"/>
      <p:bldP spid="14"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2">
            <a:extLst>
              <a:ext uri="{FF2B5EF4-FFF2-40B4-BE49-F238E27FC236}">
                <a16:creationId xmlns:a16="http://schemas.microsoft.com/office/drawing/2014/main" id="{FCA3135E-12FE-4808-B68B-466D5B0EBCB1}"/>
              </a:ext>
            </a:extLst>
          </p:cNvPr>
          <p:cNvSpPr txBox="1">
            <a:spLocks/>
          </p:cNvSpPr>
          <p:nvPr/>
        </p:nvSpPr>
        <p:spPr>
          <a:xfrm>
            <a:off x="8775510" y="86139"/>
            <a:ext cx="3313855"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rPr>
              <a:t>5.4 – 3-Stage Nested Design</a:t>
            </a:r>
            <a:endParaRPr kumimoji="1" lang="ja-JP" altLang="en-US"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endParaRPr>
          </a:p>
        </p:txBody>
      </p:sp>
      <p:sp>
        <p:nvSpPr>
          <p:cNvPr id="5" name="Title 6">
            <a:extLst>
              <a:ext uri="{FF2B5EF4-FFF2-40B4-BE49-F238E27FC236}">
                <a16:creationId xmlns:a16="http://schemas.microsoft.com/office/drawing/2014/main" id="{2BD5844C-C201-4666-ADB9-681CBA48DCC1}"/>
              </a:ext>
            </a:extLst>
          </p:cNvPr>
          <p:cNvSpPr txBox="1">
            <a:spLocks/>
          </p:cNvSpPr>
          <p:nvPr/>
        </p:nvSpPr>
        <p:spPr>
          <a:xfrm>
            <a:off x="251224" y="237833"/>
            <a:ext cx="9411391" cy="607201"/>
          </a:xfrm>
          <a:prstGeom prst="rect">
            <a:avLst/>
          </a:prstGeom>
        </p:spPr>
        <p:txBody>
          <a:bodyPr anchor="t">
            <a:normAutofit fontScale="85000" lnSpcReduction="10000"/>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pPr marL="0" marR="0" lvl="0" indent="0" algn="l" defTabSz="914324" rtl="0" eaLnBrk="1" fontAlgn="auto" latinLnBrk="0" hangingPunct="1">
              <a:lnSpc>
                <a:spcPct val="90000"/>
              </a:lnSpc>
              <a:spcBef>
                <a:spcPct val="0"/>
              </a:spcBef>
              <a:spcAft>
                <a:spcPts val="0"/>
              </a:spcAft>
              <a:buClrTx/>
              <a:buSzTx/>
              <a:buFontTx/>
              <a:buNone/>
              <a:tabLst/>
              <a:defRPr/>
            </a:pPr>
            <a:r>
              <a:rPr kumimoji="1" lang="en-US" altLang="ja-JP"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rPr>
              <a:t>5.4a – </a:t>
            </a:r>
            <a:r>
              <a:rPr lang="en-US" altLang="ja-JP" b="1" u="sng" dirty="0">
                <a:solidFill>
                  <a:prstClr val="black"/>
                </a:solidFill>
                <a:latin typeface="Calibri" panose="020F0502020204030204"/>
                <a:ea typeface="游ゴシック Light" panose="020B0300000000000000" pitchFamily="34" charset="-128"/>
              </a:rPr>
              <a:t>Mixed</a:t>
            </a:r>
            <a:r>
              <a:rPr kumimoji="1" lang="en-US" altLang="ja-JP"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rPr>
              <a:t> Effects Model for a 3-Stage Nested Design:</a:t>
            </a:r>
            <a:endParaRPr kumimoji="1" lang="ja-JP" altLang="en-US"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endParaRPr>
          </a:p>
        </p:txBody>
      </p:sp>
      <p:sp>
        <p:nvSpPr>
          <p:cNvPr id="10" name="Slide Number Placeholder 3">
            <a:extLst>
              <a:ext uri="{FF2B5EF4-FFF2-40B4-BE49-F238E27FC236}">
                <a16:creationId xmlns:a16="http://schemas.microsoft.com/office/drawing/2014/main" id="{B0C9041D-77F0-4656-90D4-0E84B7AC6B27}"/>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54AD89C-DF1E-4948-B597-5DD47B34A9CA}" type="slidenum">
              <a:rPr kumimoji="1" lang="ja-JP" altLang="en-US" sz="4000" b="0" i="0" u="none" strike="noStrike" kern="1200" cap="none" spc="0" normalizeH="0" baseline="0" noProof="0" smtClean="0">
                <a:ln>
                  <a:noFill/>
                </a:ln>
                <a:solidFill>
                  <a:srgbClr val="575454">
                    <a:lumMod val="20000"/>
                    <a:lumOff val="80000"/>
                  </a:srgbClr>
                </a:solidFill>
                <a:effectLst/>
                <a:uLnTx/>
                <a:uFillTx/>
                <a:latin typeface="Coo Hew"/>
                <a:ea typeface="游ゴシック" panose="020B0400000000000000"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32</a:t>
            </a:fld>
            <a:endParaRPr kumimoji="1" lang="ja-JP" altLang="en-US" sz="4000" b="0" i="0" u="none" strike="noStrike" kern="1200" cap="none" spc="0" normalizeH="0" baseline="0" noProof="0" dirty="0">
              <a:ln>
                <a:noFill/>
              </a:ln>
              <a:solidFill>
                <a:srgbClr val="575454">
                  <a:lumMod val="20000"/>
                  <a:lumOff val="80000"/>
                </a:srgbClr>
              </a:solidFill>
              <a:effectLst/>
              <a:uLnTx/>
              <a:uFillTx/>
              <a:latin typeface="Coo Hew"/>
              <a:ea typeface="游ゴシック" panose="020B0400000000000000" pitchFamily="34" charset="-128"/>
              <a:cs typeface="+mn-cs"/>
            </a:endParaRPr>
          </a:p>
        </p:txBody>
      </p:sp>
      <p:sp>
        <p:nvSpPr>
          <p:cNvPr id="11" name="Text Placeholder 5">
            <a:extLst>
              <a:ext uri="{FF2B5EF4-FFF2-40B4-BE49-F238E27FC236}">
                <a16:creationId xmlns:a16="http://schemas.microsoft.com/office/drawing/2014/main" id="{C67FD996-886D-F16A-C1CE-1BD052717B7A}"/>
              </a:ext>
            </a:extLst>
          </p:cNvPr>
          <p:cNvSpPr txBox="1">
            <a:spLocks/>
          </p:cNvSpPr>
          <p:nvPr/>
        </p:nvSpPr>
        <p:spPr>
          <a:xfrm>
            <a:off x="312362" y="871036"/>
            <a:ext cx="11777003" cy="1222600"/>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Suppose we have a response variable </a:t>
            </a:r>
            <a:r>
              <a:rPr kumimoji="1" lang="en-NZ" altLang="ja-JP" sz="18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Y</a:t>
            </a:r>
            <a:r>
              <a:rPr kumimoji="1" lang="en-NZ"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which is modelled as a function of</a:t>
            </a:r>
          </a:p>
          <a:p>
            <a:pPr marL="971493" marR="0" lvl="1" indent="-285750" algn="just" defTabSz="914324" rtl="0" eaLnBrk="1" fontAlgn="auto" latinLnBrk="0" hangingPunct="1">
              <a:lnSpc>
                <a:spcPct val="100000"/>
              </a:lnSpc>
              <a:spcBef>
                <a:spcPts val="0"/>
              </a:spcBef>
              <a:spcAft>
                <a:spcPts val="0"/>
              </a:spcAft>
              <a:buClrTx/>
              <a:buSzTx/>
              <a:buFontTx/>
              <a:buChar char="-"/>
              <a:tabLst/>
              <a:defRPr/>
            </a:pPr>
            <a:r>
              <a:rPr kumimoji="1" lang="en-NZ"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 factor </a:t>
            </a:r>
            <a:r>
              <a:rPr kumimoji="1" lang="en-NZ" altLang="ja-JP" sz="18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a:t>
            </a:r>
            <a:r>
              <a:rPr kumimoji="1" lang="en-NZ"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with </a:t>
            </a:r>
            <a:r>
              <a:rPr kumimoji="1" lang="en-NZ" altLang="ja-JP" sz="1800" b="1" i="1" u="none" strike="noStrike" kern="1200" cap="none" spc="0" normalizeH="0" baseline="0" noProof="0" dirty="0" err="1">
                <a:ln>
                  <a:noFill/>
                </a:ln>
                <a:solidFill>
                  <a:prstClr val="black"/>
                </a:solidFill>
                <a:effectLst/>
                <a:uLnTx/>
                <a:uFillTx/>
                <a:latin typeface="Calibri" panose="020F0502020204030204"/>
                <a:ea typeface="游ゴシック" panose="020B0400000000000000" pitchFamily="34" charset="-128"/>
                <a:cs typeface="+mn-cs"/>
              </a:rPr>
              <a:t>i</a:t>
            </a:r>
            <a:r>
              <a:rPr kumimoji="1" lang="en-NZ" altLang="ja-JP" sz="18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 1, … , a </a:t>
            </a:r>
            <a:r>
              <a:rPr kumimoji="1" lang="en-NZ"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levels </a:t>
            </a:r>
          </a:p>
          <a:p>
            <a:pPr marL="971493" marR="0" lvl="1" indent="-285750" algn="just" defTabSz="914324" rtl="0" eaLnBrk="1" fontAlgn="auto" latinLnBrk="0" hangingPunct="1">
              <a:lnSpc>
                <a:spcPct val="100000"/>
              </a:lnSpc>
              <a:spcBef>
                <a:spcPts val="0"/>
              </a:spcBef>
              <a:spcAft>
                <a:spcPts val="0"/>
              </a:spcAft>
              <a:buClrTx/>
              <a:buSzTx/>
              <a:buFontTx/>
              <a:buChar char="-"/>
              <a:tabLst/>
              <a:defRPr/>
            </a:pPr>
            <a:r>
              <a:rPr kumimoji="1" lang="en-NZ"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 factor </a:t>
            </a:r>
            <a:r>
              <a:rPr kumimoji="1" lang="en-NZ" altLang="ja-JP" sz="18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B</a:t>
            </a:r>
            <a:r>
              <a:rPr kumimoji="1" lang="en-NZ"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with </a:t>
            </a:r>
            <a:r>
              <a:rPr kumimoji="1" lang="en-NZ" altLang="ja-JP" sz="18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b </a:t>
            </a:r>
            <a:r>
              <a:rPr kumimoji="1" lang="en-NZ"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randomly selected levels nested in factor </a:t>
            </a:r>
            <a:r>
              <a:rPr kumimoji="1" lang="en-NZ" altLang="ja-JP" sz="18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a:t>
            </a:r>
          </a:p>
          <a:p>
            <a:pPr marL="971493" lvl="1" indent="-285750" algn="just">
              <a:lnSpc>
                <a:spcPct val="100000"/>
              </a:lnSpc>
              <a:spcBef>
                <a:spcPts val="0"/>
              </a:spcBef>
              <a:buFontTx/>
              <a:buChar char="-"/>
              <a:defRPr/>
            </a:pPr>
            <a:r>
              <a:rPr kumimoji="1" lang="en-NZ"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 factor </a:t>
            </a:r>
            <a:r>
              <a:rPr lang="en-NZ" altLang="ja-JP" sz="1800" b="1" i="1" dirty="0">
                <a:solidFill>
                  <a:prstClr val="black"/>
                </a:solidFill>
                <a:latin typeface="Calibri" panose="020F0502020204030204"/>
                <a:ea typeface="游ゴシック" panose="020B0400000000000000" pitchFamily="34" charset="-128"/>
              </a:rPr>
              <a:t>C</a:t>
            </a:r>
            <a:r>
              <a:rPr kumimoji="1" lang="en-NZ"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with </a:t>
            </a:r>
            <a:r>
              <a:rPr kumimoji="1" lang="en-NZ" altLang="ja-JP" sz="18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c </a:t>
            </a:r>
            <a:r>
              <a:rPr kumimoji="1" lang="en-NZ"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randomly selected levels nested in factor </a:t>
            </a:r>
            <a:r>
              <a:rPr lang="en-NZ" altLang="ja-JP" sz="1800" b="1" i="1" dirty="0">
                <a:solidFill>
                  <a:prstClr val="black"/>
                </a:solidFill>
                <a:latin typeface="Calibri" panose="020F0502020204030204"/>
                <a:ea typeface="游ゴシック" panose="020B0400000000000000" pitchFamily="34" charset="-128"/>
              </a:rPr>
              <a:t>B</a:t>
            </a:r>
            <a:endParaRPr kumimoji="1" lang="en-NZ" altLang="ja-JP" sz="18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p:txBody>
      </p:sp>
      <p:sp>
        <p:nvSpPr>
          <p:cNvPr id="17" name="Text Placeholder 5">
            <a:extLst>
              <a:ext uri="{FF2B5EF4-FFF2-40B4-BE49-F238E27FC236}">
                <a16:creationId xmlns:a16="http://schemas.microsoft.com/office/drawing/2014/main" id="{DB67ABBD-EBE5-54A6-7329-9352FBDFC6FD}"/>
              </a:ext>
            </a:extLst>
          </p:cNvPr>
          <p:cNvSpPr txBox="1">
            <a:spLocks/>
          </p:cNvSpPr>
          <p:nvPr/>
        </p:nvSpPr>
        <p:spPr>
          <a:xfrm>
            <a:off x="251224" y="2508258"/>
            <a:ext cx="11777003" cy="41301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We take a balanced sample of </a:t>
            </a:r>
            <a:r>
              <a:rPr kumimoji="1" lang="en-NZ" altLang="ja-JP" sz="18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N</a:t>
            </a:r>
            <a:r>
              <a:rPr kumimoji="1" lang="en-NZ"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observations with </a:t>
            </a:r>
            <a:r>
              <a:rPr kumimoji="1" lang="en-NZ" altLang="ja-JP" sz="18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n</a:t>
            </a:r>
            <a:r>
              <a:rPr kumimoji="1" lang="en-NZ"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observations in each cell. The </a:t>
            </a:r>
            <a:r>
              <a:rPr lang="en-NZ" altLang="ja-JP" sz="1800" b="1" i="1" dirty="0">
                <a:solidFill>
                  <a:prstClr val="black"/>
                </a:solidFill>
                <a:latin typeface="Calibri" panose="020F0502020204030204"/>
                <a:ea typeface="游ゴシック" panose="020B0400000000000000" pitchFamily="34" charset="-128"/>
              </a:rPr>
              <a:t>m</a:t>
            </a:r>
            <a:r>
              <a:rPr kumimoji="1" lang="en-NZ" altLang="ja-JP" sz="1800" b="1" i="1" u="none" strike="noStrike" kern="1200" cap="none" spc="0" normalizeH="0" baseline="30000" noProof="0" dirty="0" err="1">
                <a:ln>
                  <a:noFill/>
                </a:ln>
                <a:solidFill>
                  <a:prstClr val="black"/>
                </a:solidFill>
                <a:effectLst/>
                <a:uLnTx/>
                <a:uFillTx/>
                <a:latin typeface="Calibri" panose="020F0502020204030204"/>
                <a:ea typeface="游ゴシック" panose="020B0400000000000000" pitchFamily="34" charset="-128"/>
                <a:cs typeface="+mn-cs"/>
              </a:rPr>
              <a:t>th</a:t>
            </a:r>
            <a:r>
              <a:rPr kumimoji="1" lang="en-NZ" altLang="ja-JP" sz="18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a:t>
            </a:r>
            <a:r>
              <a:rPr kumimoji="1" lang="en-NZ"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element in cell </a:t>
            </a:r>
            <a:r>
              <a:rPr kumimoji="1" lang="en-NZ" altLang="ja-JP" sz="18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t>
            </a:r>
            <a:r>
              <a:rPr kumimoji="1" lang="en-NZ" altLang="ja-JP" sz="1800" b="1" i="1" u="none" strike="noStrike" kern="1200" cap="none" spc="0" normalizeH="0" baseline="0" noProof="0" dirty="0" err="1">
                <a:ln>
                  <a:noFill/>
                </a:ln>
                <a:solidFill>
                  <a:prstClr val="black"/>
                </a:solidFill>
                <a:effectLst/>
                <a:uLnTx/>
                <a:uFillTx/>
                <a:latin typeface="Calibri" panose="020F0502020204030204"/>
                <a:ea typeface="游ゴシック" panose="020B0400000000000000" pitchFamily="34" charset="-128"/>
                <a:cs typeface="+mn-cs"/>
              </a:rPr>
              <a:t>i,j,k</a:t>
            </a:r>
            <a:r>
              <a:rPr kumimoji="1" lang="en-NZ" altLang="ja-JP" sz="18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t>
            </a:r>
            <a:r>
              <a:rPr kumimoji="1" lang="en-NZ"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is modelled as:</a:t>
            </a:r>
          </a:p>
        </p:txBody>
      </p:sp>
      <mc:AlternateContent xmlns:mc="http://schemas.openxmlformats.org/markup-compatibility/2006" xmlns:a14="http://schemas.microsoft.com/office/drawing/2010/main">
        <mc:Choice Requires="a14">
          <p:sp>
            <p:nvSpPr>
              <p:cNvPr id="18" name="Text Placeholder 5">
                <a:extLst>
                  <a:ext uri="{FF2B5EF4-FFF2-40B4-BE49-F238E27FC236}">
                    <a16:creationId xmlns:a16="http://schemas.microsoft.com/office/drawing/2014/main" id="{0CEEAE7C-8B5C-49C1-DECF-ABDEC6F5C6BE}"/>
                  </a:ext>
                </a:extLst>
              </p:cNvPr>
              <p:cNvSpPr txBox="1">
                <a:spLocks/>
              </p:cNvSpPr>
              <p:nvPr/>
            </p:nvSpPr>
            <p:spPr>
              <a:xfrm>
                <a:off x="2480913" y="2940053"/>
                <a:ext cx="7107899" cy="47495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14:m>
                  <m:oMathPara xmlns:m="http://schemas.openxmlformats.org/officeDocument/2006/math">
                    <m:oMathParaPr>
                      <m:jc m:val="centerGroup"/>
                    </m:oMathParaPr>
                    <m:oMath xmlns:m="http://schemas.openxmlformats.org/officeDocument/2006/math">
                      <m:sSub>
                        <m:sSubPr>
                          <m:ctrlP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ctrlPr>
                        </m:sSubPr>
                        <m:e>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𝒀</m:t>
                          </m:r>
                        </m:e>
                        <m:sub>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𝒊𝒋𝒌𝒎</m:t>
                          </m:r>
                        </m:sub>
                      </m:sSub>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   =     </m:t>
                      </m:r>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𝝁</m:t>
                      </m:r>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  +   </m:t>
                      </m:r>
                      <m:sSub>
                        <m:sSubPr>
                          <m:ctrlP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ctrlPr>
                        </m:sSubPr>
                        <m:e>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𝜶</m:t>
                          </m:r>
                        </m:e>
                        <m:sub>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𝒊</m:t>
                          </m:r>
                        </m:sub>
                      </m:sSub>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  +   </m:t>
                      </m:r>
                      <m:sSub>
                        <m:sSubPr>
                          <m:ctrlP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ctrlPr>
                        </m:sSubPr>
                        <m:e>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𝑩</m:t>
                          </m:r>
                        </m:e>
                        <m:sub>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𝒋</m:t>
                          </m:r>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m:t>
                          </m:r>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𝒊</m:t>
                          </m:r>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m:t>
                          </m:r>
                        </m:sub>
                      </m:sSub>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  +    </m:t>
                      </m:r>
                      <m:sSub>
                        <m:sSubPr>
                          <m:ctrlP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ctrlPr>
                        </m:sSubPr>
                        <m:e>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𝑪</m:t>
                          </m:r>
                        </m:e>
                        <m:sub>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𝒌</m:t>
                          </m:r>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m:t>
                          </m:r>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𝒊𝒋</m:t>
                          </m:r>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m:t>
                          </m:r>
                        </m:sub>
                      </m:sSub>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   +   </m:t>
                      </m:r>
                      <m:sSub>
                        <m:sSubPr>
                          <m:ctrlP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ctrlPr>
                        </m:sSubPr>
                        <m:e>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𝝐</m:t>
                          </m:r>
                        </m:e>
                        <m:sub>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𝒎</m:t>
                          </m:r>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m:t>
                          </m:r>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𝒊𝒋𝒌</m:t>
                          </m:r>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m:t>
                          </m:r>
                        </m:sub>
                      </m:sSub>
                    </m:oMath>
                  </m:oMathPara>
                </a14:m>
                <a:endParaRPr kumimoji="1" lang="en-NZ" altLang="ja-JP" sz="1800" b="1" i="0"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800" b="1"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mc:Choice>
        <mc:Fallback xmlns="">
          <p:sp>
            <p:nvSpPr>
              <p:cNvPr id="18" name="Text Placeholder 5">
                <a:extLst>
                  <a:ext uri="{FF2B5EF4-FFF2-40B4-BE49-F238E27FC236}">
                    <a16:creationId xmlns:a16="http://schemas.microsoft.com/office/drawing/2014/main" id="{0CEEAE7C-8B5C-49C1-DECF-ABDEC6F5C6BE}"/>
                  </a:ext>
                </a:extLst>
              </p:cNvPr>
              <p:cNvSpPr txBox="1">
                <a:spLocks noRot="1" noChangeAspect="1" noMove="1" noResize="1" noEditPoints="1" noAdjustHandles="1" noChangeArrowheads="1" noChangeShapeType="1" noTextEdit="1"/>
              </p:cNvSpPr>
              <p:nvPr/>
            </p:nvSpPr>
            <p:spPr>
              <a:xfrm>
                <a:off x="2480913" y="2940053"/>
                <a:ext cx="7107899" cy="474953"/>
              </a:xfrm>
              <a:prstGeom prst="rect">
                <a:avLst/>
              </a:prstGeom>
              <a:blipFill>
                <a:blip r:embed="rId2"/>
                <a:stretch>
                  <a:fillRect/>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20" name="Text Placeholder 5">
                <a:extLst>
                  <a:ext uri="{FF2B5EF4-FFF2-40B4-BE49-F238E27FC236}">
                    <a16:creationId xmlns:a16="http://schemas.microsoft.com/office/drawing/2014/main" id="{91689025-3833-257B-1DD1-73CCD6DF11F5}"/>
                  </a:ext>
                </a:extLst>
              </p:cNvPr>
              <p:cNvSpPr txBox="1">
                <a:spLocks/>
              </p:cNvSpPr>
              <p:nvPr/>
            </p:nvSpPr>
            <p:spPr>
              <a:xfrm>
                <a:off x="469578" y="3434612"/>
                <a:ext cx="4867734" cy="1318675"/>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l-GR" altLang="ja-JP" sz="16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μ</a:t>
                </a:r>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is the population mean</a:t>
                </a:r>
                <a:endParaRPr kumimoji="1" lang="en-NZ" altLang="ja-JP" sz="16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14:m>
                  <m:oMath xmlns:m="http://schemas.openxmlformats.org/officeDocument/2006/math">
                    <m:sSub>
                      <m:sSubPr>
                        <m:ctrl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𝜶</m:t>
                        </m:r>
                      </m:e>
                      <m:sub>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𝒊</m:t>
                        </m:r>
                      </m:sub>
                    </m:sSub>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sSub>
                      <m:sSubPr>
                        <m:ctrl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𝝁</m:t>
                        </m:r>
                      </m:e>
                      <m:sub>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𝒊</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sub>
                    </m:sSub>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 −</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𝝁</m:t>
                    </m:r>
                  </m:oMath>
                </a14:m>
                <a:r>
                  <a:rPr kumimoji="1" lang="en-NZ" altLang="ja-JP" sz="16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a:t>
                </a:r>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is the effect of the </a:t>
                </a:r>
                <a:r>
                  <a:rPr kumimoji="1" lang="en-NZ" altLang="ja-JP" sz="1600" b="1" i="1" u="none" strike="noStrike" kern="1200" cap="none" spc="0" normalizeH="0" baseline="0" noProof="0" dirty="0" err="1">
                    <a:ln>
                      <a:noFill/>
                    </a:ln>
                    <a:solidFill>
                      <a:prstClr val="black"/>
                    </a:solidFill>
                    <a:effectLst/>
                    <a:uLnTx/>
                    <a:uFillTx/>
                    <a:latin typeface="Calibri" panose="020F0502020204030204"/>
                    <a:ea typeface="游ゴシック" panose="020B0400000000000000" pitchFamily="34" charset="-128"/>
                    <a:cs typeface="+mn-cs"/>
                  </a:rPr>
                  <a:t>i</a:t>
                </a:r>
                <a:r>
                  <a:rPr kumimoji="1" lang="en-NZ" altLang="ja-JP" sz="1600" b="1" i="1" u="none" strike="noStrike" kern="1200" cap="none" spc="0" normalizeH="0" baseline="30000" noProof="0" dirty="0" err="1">
                    <a:ln>
                      <a:noFill/>
                    </a:ln>
                    <a:solidFill>
                      <a:prstClr val="black"/>
                    </a:solidFill>
                    <a:effectLst/>
                    <a:uLnTx/>
                    <a:uFillTx/>
                    <a:latin typeface="Calibri" panose="020F0502020204030204"/>
                    <a:ea typeface="游ゴシック" panose="020B0400000000000000" pitchFamily="34" charset="-128"/>
                    <a:cs typeface="+mn-cs"/>
                  </a:rPr>
                  <a:t>th</a:t>
                </a:r>
                <a:r>
                  <a:rPr kumimoji="1" lang="en-NZ" altLang="ja-JP" sz="1600" b="0" i="1" u="none" strike="noStrike" kern="1200" cap="none" spc="0" normalizeH="0" baseline="-25000" noProof="0" dirty="0">
                    <a:ln>
                      <a:noFill/>
                    </a:ln>
                    <a:solidFill>
                      <a:prstClr val="black"/>
                    </a:solidFill>
                    <a:effectLst/>
                    <a:uLnTx/>
                    <a:uFillTx/>
                    <a:latin typeface="Calibri" panose="020F0502020204030204"/>
                    <a:ea typeface="游ゴシック" panose="020B0400000000000000" pitchFamily="34" charset="-128"/>
                    <a:cs typeface="+mn-cs"/>
                  </a:rPr>
                  <a:t> </a:t>
                </a:r>
                <a:r>
                  <a:rPr kumimoji="1" lang="en-NZ" altLang="ja-JP" sz="1600" b="0"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a:t>
                </a:r>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level of factor </a:t>
                </a:r>
                <a:r>
                  <a:rPr kumimoji="1" lang="en-NZ" altLang="ja-JP" sz="16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a:t>
                </a: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14:m>
                  <m:oMathPara xmlns:m="http://schemas.openxmlformats.org/officeDocument/2006/math">
                    <m:oMathParaPr>
                      <m:jc m:val="left"/>
                    </m:oMathParaPr>
                    <m:oMath xmlns:m="http://schemas.openxmlformats.org/officeDocument/2006/math">
                      <m:sSub>
                        <m:sSubPr>
                          <m:ctrl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𝑩</m:t>
                          </m:r>
                        </m:e>
                        <m:sub>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𝒋</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𝒊</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sub>
                      </m:sSub>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 ~ </m:t>
                      </m:r>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𝑵</m:t>
                      </m:r>
                      <m:d>
                        <m:dPr>
                          <m:ctrlP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ctrlPr>
                        </m:dPr>
                        <m:e>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𝟎</m:t>
                          </m:r>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 </m:t>
                          </m:r>
                          <m:sSubSup>
                            <m:sSubSupPr>
                              <m:ctrl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SupPr>
                            <m:e>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𝝈</m:t>
                              </m:r>
                            </m:e>
                            <m:sub>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𝑩</m:t>
                              </m:r>
                            </m:sub>
                            <m:sup>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𝟐</m:t>
                              </m:r>
                            </m:sup>
                          </m:sSubSup>
                        </m:e>
                      </m:d>
                    </m:oMath>
                  </m:oMathPara>
                </a14:m>
                <a:endPar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a:p>
                <a:pPr lvl="0" algn="just">
                  <a:lnSpc>
                    <a:spcPct val="100000"/>
                  </a:lnSpc>
                  <a:defRPr/>
                </a:pPr>
                <a14:m>
                  <m:oMathPara xmlns:m="http://schemas.openxmlformats.org/officeDocument/2006/math">
                    <m:oMathParaPr>
                      <m:jc m:val="left"/>
                    </m:oMathParaPr>
                    <m:oMath xmlns:m="http://schemas.openxmlformats.org/officeDocument/2006/math">
                      <m:sSub>
                        <m:sSubPr>
                          <m:ctrlPr>
                            <a:rPr lang="en-NZ" altLang="ja-JP" sz="1600" b="1" i="1">
                              <a:solidFill>
                                <a:prstClr val="black"/>
                              </a:solidFill>
                              <a:latin typeface="Cambria Math" panose="02040503050406030204" pitchFamily="18" charset="0"/>
                            </a:rPr>
                          </m:ctrlPr>
                        </m:sSubPr>
                        <m:e>
                          <m:r>
                            <a:rPr lang="en-NZ" altLang="ja-JP" sz="1600" b="1" i="1" smtClean="0">
                              <a:solidFill>
                                <a:prstClr val="black"/>
                              </a:solidFill>
                              <a:latin typeface="Cambria Math" panose="02040503050406030204" pitchFamily="18" charset="0"/>
                            </a:rPr>
                            <m:t>𝑪</m:t>
                          </m:r>
                        </m:e>
                        <m:sub>
                          <m:r>
                            <a:rPr lang="en-NZ" altLang="ja-JP" sz="1600" b="1" i="1" smtClean="0">
                              <a:solidFill>
                                <a:prstClr val="black"/>
                              </a:solidFill>
                              <a:latin typeface="Cambria Math" panose="02040503050406030204" pitchFamily="18" charset="0"/>
                            </a:rPr>
                            <m:t>𝒌</m:t>
                          </m:r>
                          <m:r>
                            <a:rPr lang="en-NZ" altLang="ja-JP" sz="1600" b="1" i="1">
                              <a:solidFill>
                                <a:prstClr val="black"/>
                              </a:solidFill>
                              <a:latin typeface="Cambria Math" panose="02040503050406030204" pitchFamily="18" charset="0"/>
                            </a:rPr>
                            <m:t>(</m:t>
                          </m:r>
                          <m:r>
                            <a:rPr lang="en-NZ" altLang="ja-JP" sz="1600" b="1" i="1">
                              <a:solidFill>
                                <a:prstClr val="black"/>
                              </a:solidFill>
                              <a:latin typeface="Cambria Math" panose="02040503050406030204" pitchFamily="18" charset="0"/>
                            </a:rPr>
                            <m:t>𝒊𝒋</m:t>
                          </m:r>
                          <m:r>
                            <a:rPr lang="en-NZ" altLang="ja-JP" sz="1600" b="1" i="1">
                              <a:solidFill>
                                <a:prstClr val="black"/>
                              </a:solidFill>
                              <a:latin typeface="Cambria Math" panose="02040503050406030204" pitchFamily="18" charset="0"/>
                            </a:rPr>
                            <m:t>)</m:t>
                          </m:r>
                        </m:sub>
                      </m:sSub>
                      <m:r>
                        <a:rPr lang="en-NZ" altLang="ja-JP" sz="1600" b="1" i="1">
                          <a:solidFill>
                            <a:prstClr val="black"/>
                          </a:solidFill>
                          <a:latin typeface="Cambria Math" panose="02040503050406030204" pitchFamily="18" charset="0"/>
                        </a:rPr>
                        <m:t> ~ </m:t>
                      </m:r>
                      <m:r>
                        <a:rPr lang="en-NZ" altLang="ja-JP" sz="1600" b="1" i="1">
                          <a:solidFill>
                            <a:prstClr val="black"/>
                          </a:solidFill>
                          <a:latin typeface="Cambria Math" panose="02040503050406030204" pitchFamily="18" charset="0"/>
                        </a:rPr>
                        <m:t>𝑵</m:t>
                      </m:r>
                      <m:d>
                        <m:dPr>
                          <m:ctrlPr>
                            <a:rPr lang="en-NZ" altLang="ja-JP" sz="1600" b="1" i="1">
                              <a:solidFill>
                                <a:prstClr val="black"/>
                              </a:solidFill>
                              <a:latin typeface="Cambria Math" panose="02040503050406030204" pitchFamily="18" charset="0"/>
                            </a:rPr>
                          </m:ctrlPr>
                        </m:dPr>
                        <m:e>
                          <m:r>
                            <a:rPr lang="en-NZ" altLang="ja-JP" sz="1600" b="1" i="1">
                              <a:solidFill>
                                <a:prstClr val="black"/>
                              </a:solidFill>
                              <a:latin typeface="Cambria Math" panose="02040503050406030204" pitchFamily="18" charset="0"/>
                            </a:rPr>
                            <m:t>𝟎</m:t>
                          </m:r>
                          <m:r>
                            <a:rPr lang="en-NZ" altLang="ja-JP" sz="1600" b="1" i="1">
                              <a:solidFill>
                                <a:prstClr val="black"/>
                              </a:solidFill>
                              <a:latin typeface="Cambria Math" panose="02040503050406030204" pitchFamily="18" charset="0"/>
                            </a:rPr>
                            <m:t>, </m:t>
                          </m:r>
                          <m:sSubSup>
                            <m:sSubSupPr>
                              <m:ctrlPr>
                                <a:rPr lang="en-NZ" altLang="ja-JP" sz="1600" b="1" i="1" smtClean="0">
                                  <a:solidFill>
                                    <a:prstClr val="black"/>
                                  </a:solidFill>
                                  <a:latin typeface="Cambria Math" panose="02040503050406030204" pitchFamily="18" charset="0"/>
                                </a:rPr>
                              </m:ctrlPr>
                            </m:sSubSupPr>
                            <m:e>
                              <m:r>
                                <a:rPr lang="en-NZ" altLang="ja-JP" sz="1600" b="1" i="1">
                                  <a:solidFill>
                                    <a:prstClr val="black"/>
                                  </a:solidFill>
                                  <a:latin typeface="Cambria Math" panose="02040503050406030204" pitchFamily="18" charset="0"/>
                                </a:rPr>
                                <m:t>𝝈</m:t>
                              </m:r>
                            </m:e>
                            <m:sub>
                              <m:r>
                                <a:rPr lang="en-NZ" altLang="ja-JP" sz="1600" b="1" i="1" smtClean="0">
                                  <a:solidFill>
                                    <a:prstClr val="black"/>
                                  </a:solidFill>
                                  <a:latin typeface="Cambria Math" panose="02040503050406030204" pitchFamily="18" charset="0"/>
                                </a:rPr>
                                <m:t>𝑪</m:t>
                              </m:r>
                            </m:sub>
                            <m:sup>
                              <m:r>
                                <a:rPr lang="en-NZ" altLang="ja-JP" sz="1600" b="1" i="1">
                                  <a:solidFill>
                                    <a:prstClr val="black"/>
                                  </a:solidFill>
                                  <a:latin typeface="Cambria Math" panose="02040503050406030204" pitchFamily="18" charset="0"/>
                                </a:rPr>
                                <m:t>𝟐</m:t>
                              </m:r>
                            </m:sup>
                          </m:sSubSup>
                        </m:e>
                      </m:d>
                    </m:oMath>
                  </m:oMathPara>
                </a14:m>
                <a:endPar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14:m>
                  <m:oMathPara xmlns:m="http://schemas.openxmlformats.org/officeDocument/2006/math">
                    <m:oMathParaPr>
                      <m:jc m:val="left"/>
                    </m:oMathParaPr>
                    <m:oMath xmlns:m="http://schemas.openxmlformats.org/officeDocument/2006/math">
                      <m:sSub>
                        <m:sSubPr>
                          <m:ctrlP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𝝐</m:t>
                          </m:r>
                        </m:e>
                        <m:sub>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𝒎</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𝒊𝒋𝒌</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sub>
                      </m:sSub>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 ~ </m:t>
                      </m:r>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𝑵</m:t>
                      </m:r>
                      <m:d>
                        <m:dPr>
                          <m:ctrlP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ctrlPr>
                        </m:dPr>
                        <m:e>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𝟎</m:t>
                          </m:r>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 </m:t>
                          </m:r>
                          <m:sSup>
                            <m:sSupPr>
                              <m:ctrlP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ctrlPr>
                            </m:sSupPr>
                            <m:e>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𝝈</m:t>
                              </m:r>
                            </m:e>
                            <m:sup>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𝟐</m:t>
                              </m:r>
                            </m:sup>
                          </m:sSup>
                        </m:e>
                      </m:d>
                    </m:oMath>
                  </m:oMathPara>
                </a14:m>
                <a:endParaRPr kumimoji="1" lang="en-NZ" altLang="ja-JP" sz="1600" b="0"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mc:Choice>
        <mc:Fallback xmlns="">
          <p:sp>
            <p:nvSpPr>
              <p:cNvPr id="20" name="Text Placeholder 5">
                <a:extLst>
                  <a:ext uri="{FF2B5EF4-FFF2-40B4-BE49-F238E27FC236}">
                    <a16:creationId xmlns:a16="http://schemas.microsoft.com/office/drawing/2014/main" id="{91689025-3833-257B-1DD1-73CCD6DF11F5}"/>
                  </a:ext>
                </a:extLst>
              </p:cNvPr>
              <p:cNvSpPr txBox="1">
                <a:spLocks noRot="1" noChangeAspect="1" noMove="1" noResize="1" noEditPoints="1" noAdjustHandles="1" noChangeArrowheads="1" noChangeShapeType="1" noTextEdit="1"/>
              </p:cNvSpPr>
              <p:nvPr/>
            </p:nvSpPr>
            <p:spPr>
              <a:xfrm>
                <a:off x="469578" y="3434612"/>
                <a:ext cx="4867734" cy="1318675"/>
              </a:xfrm>
              <a:prstGeom prst="rect">
                <a:avLst/>
              </a:prstGeom>
              <a:blipFill>
                <a:blip r:embed="rId3"/>
                <a:stretch>
                  <a:fillRect l="-626" t="-1382" b="-10599"/>
                </a:stretch>
              </a:blipFill>
            </p:spPr>
            <p:txBody>
              <a:bodyPr/>
              <a:lstStyle/>
              <a:p>
                <a:r>
                  <a:rPr lang="en-NZ">
                    <a:noFill/>
                  </a:rPr>
                  <a:t> </a:t>
                </a:r>
              </a:p>
            </p:txBody>
          </p:sp>
        </mc:Fallback>
      </mc:AlternateContent>
      <p:sp>
        <p:nvSpPr>
          <p:cNvPr id="21" name="Text Placeholder 5">
            <a:extLst>
              <a:ext uri="{FF2B5EF4-FFF2-40B4-BE49-F238E27FC236}">
                <a16:creationId xmlns:a16="http://schemas.microsoft.com/office/drawing/2014/main" id="{2A3DBE85-D442-263A-265C-268BCEDF6E09}"/>
              </a:ext>
            </a:extLst>
          </p:cNvPr>
          <p:cNvSpPr txBox="1">
            <a:spLocks/>
          </p:cNvSpPr>
          <p:nvPr/>
        </p:nvSpPr>
        <p:spPr>
          <a:xfrm>
            <a:off x="5788501" y="3475811"/>
            <a:ext cx="4579200" cy="44493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We also have the usual constraints:</a:t>
            </a:r>
            <a:endParaRPr kumimoji="1" lang="en-NZ" altLang="ja-JP" sz="16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a:t>
            </a: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600" b="0"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mc:AlternateContent xmlns:mc="http://schemas.openxmlformats.org/markup-compatibility/2006" xmlns:a14="http://schemas.microsoft.com/office/drawing/2010/main">
        <mc:Choice Requires="a14">
          <p:sp>
            <p:nvSpPr>
              <p:cNvPr id="22" name="Text Placeholder 5">
                <a:extLst>
                  <a:ext uri="{FF2B5EF4-FFF2-40B4-BE49-F238E27FC236}">
                    <a16:creationId xmlns:a16="http://schemas.microsoft.com/office/drawing/2014/main" id="{5D727490-76E6-4F93-6BCD-054E1FDB3D14}"/>
                  </a:ext>
                </a:extLst>
              </p:cNvPr>
              <p:cNvSpPr txBox="1">
                <a:spLocks/>
              </p:cNvSpPr>
              <p:nvPr/>
            </p:nvSpPr>
            <p:spPr>
              <a:xfrm>
                <a:off x="5788501" y="3773261"/>
                <a:ext cx="1405094" cy="44493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14:m>
                  <m:oMath xmlns:m="http://schemas.openxmlformats.org/officeDocument/2006/math">
                    <m:nary>
                      <m:naryPr>
                        <m:chr m:val="∑"/>
                        <m:ctrlP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ctrlPr>
                      </m:naryPr>
                      <m:sub>
                        <m:r>
                          <m:rPr>
                            <m:brk m:alnAt="23"/>
                          </m:rP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𝒊</m:t>
                        </m:r>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m:t>
                        </m:r>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𝟏</m:t>
                        </m:r>
                      </m:sub>
                      <m:sup>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𝒂</m:t>
                        </m:r>
                      </m:sup>
                      <m:e>
                        <m:sSub>
                          <m:sSubPr>
                            <m:ctrlP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ctrlPr>
                          </m:sSubPr>
                          <m:e>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𝜶</m:t>
                            </m:r>
                          </m:e>
                          <m:sub>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𝒊</m:t>
                            </m:r>
                          </m:sub>
                        </m:sSub>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m:t>
                        </m:r>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𝟎</m:t>
                        </m:r>
                      </m:e>
                    </m:nary>
                  </m:oMath>
                </a14:m>
                <a:r>
                  <a:rPr kumimoji="1" lang="en-NZ" altLang="ja-JP" sz="18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a:t>
                </a: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8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800" b="1"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mc:Choice>
        <mc:Fallback xmlns="">
          <p:sp>
            <p:nvSpPr>
              <p:cNvPr id="22" name="Text Placeholder 5">
                <a:extLst>
                  <a:ext uri="{FF2B5EF4-FFF2-40B4-BE49-F238E27FC236}">
                    <a16:creationId xmlns:a16="http://schemas.microsoft.com/office/drawing/2014/main" id="{5D727490-76E6-4F93-6BCD-054E1FDB3D14}"/>
                  </a:ext>
                </a:extLst>
              </p:cNvPr>
              <p:cNvSpPr txBox="1">
                <a:spLocks noRot="1" noChangeAspect="1" noMove="1" noResize="1" noEditPoints="1" noAdjustHandles="1" noChangeArrowheads="1" noChangeShapeType="1" noTextEdit="1"/>
              </p:cNvSpPr>
              <p:nvPr/>
            </p:nvSpPr>
            <p:spPr>
              <a:xfrm>
                <a:off x="5788501" y="3773261"/>
                <a:ext cx="1405094" cy="444936"/>
              </a:xfrm>
              <a:prstGeom prst="rect">
                <a:avLst/>
              </a:prstGeom>
              <a:blipFill>
                <a:blip r:embed="rId4"/>
                <a:stretch>
                  <a:fillRect l="-24348" t="-100000" b="-136986"/>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23" name="Text Placeholder 5">
                <a:extLst>
                  <a:ext uri="{FF2B5EF4-FFF2-40B4-BE49-F238E27FC236}">
                    <a16:creationId xmlns:a16="http://schemas.microsoft.com/office/drawing/2014/main" id="{BAD1F8FD-0A2F-B0BF-ABE5-6232040CC8C5}"/>
                  </a:ext>
                </a:extLst>
              </p:cNvPr>
              <p:cNvSpPr txBox="1">
                <a:spLocks/>
              </p:cNvSpPr>
              <p:nvPr/>
            </p:nvSpPr>
            <p:spPr>
              <a:xfrm>
                <a:off x="7803994" y="3688960"/>
                <a:ext cx="2230812" cy="44493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14:m>
                  <m:oMath xmlns:m="http://schemas.openxmlformats.org/officeDocument/2006/math">
                    <m:f>
                      <m:fPr>
                        <m:ctrlP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ctrlPr>
                      </m:fPr>
                      <m:num>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𝟏</m:t>
                        </m:r>
                      </m:num>
                      <m:den>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𝒂</m:t>
                        </m:r>
                      </m:den>
                    </m:f>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 </m:t>
                    </m:r>
                    <m:nary>
                      <m:naryPr>
                        <m:chr m:val="∑"/>
                        <m:ctrlP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ctrlPr>
                      </m:naryPr>
                      <m:sub>
                        <m:r>
                          <m:rPr>
                            <m:brk m:alnAt="23"/>
                          </m:rP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𝒊</m:t>
                        </m:r>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m:t>
                        </m:r>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𝟏</m:t>
                        </m:r>
                      </m:sub>
                      <m:sup>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𝒂</m:t>
                        </m:r>
                      </m:sup>
                      <m:e>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 </m:t>
                        </m:r>
                        <m:sSub>
                          <m:sSubPr>
                            <m:ctrlP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ctrlPr>
                          </m:sSubPr>
                          <m:e>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𝝁</m:t>
                            </m:r>
                          </m:e>
                          <m:sub>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𝒊</m:t>
                            </m:r>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m:t>
                            </m:r>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rPr>
                              <m:t>∙</m:t>
                            </m:r>
                          </m:sub>
                        </m:sSub>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 = </m:t>
                        </m:r>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𝝁</m:t>
                        </m:r>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 </m:t>
                        </m:r>
                      </m:e>
                    </m:nary>
                  </m:oMath>
                </a14:m>
                <a:r>
                  <a:rPr kumimoji="1" lang="en-NZ" altLang="ja-JP" sz="18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a:t>
                </a: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8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800" b="1"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mc:Choice>
        <mc:Fallback xmlns="">
          <p:sp>
            <p:nvSpPr>
              <p:cNvPr id="23" name="Text Placeholder 5">
                <a:extLst>
                  <a:ext uri="{FF2B5EF4-FFF2-40B4-BE49-F238E27FC236}">
                    <a16:creationId xmlns:a16="http://schemas.microsoft.com/office/drawing/2014/main" id="{BAD1F8FD-0A2F-B0BF-ABE5-6232040CC8C5}"/>
                  </a:ext>
                </a:extLst>
              </p:cNvPr>
              <p:cNvSpPr txBox="1">
                <a:spLocks noRot="1" noChangeAspect="1" noMove="1" noResize="1" noEditPoints="1" noAdjustHandles="1" noChangeArrowheads="1" noChangeShapeType="1" noTextEdit="1"/>
              </p:cNvSpPr>
              <p:nvPr/>
            </p:nvSpPr>
            <p:spPr>
              <a:xfrm>
                <a:off x="7803994" y="3688960"/>
                <a:ext cx="2230812" cy="444936"/>
              </a:xfrm>
              <a:prstGeom prst="rect">
                <a:avLst/>
              </a:prstGeom>
              <a:blipFill>
                <a:blip r:embed="rId5"/>
                <a:stretch>
                  <a:fillRect l="-6284" t="-84932" b="-152055"/>
                </a:stretch>
              </a:blipFill>
            </p:spPr>
            <p:txBody>
              <a:bodyPr/>
              <a:lstStyle/>
              <a:p>
                <a:r>
                  <a:rPr lang="en-NZ">
                    <a:noFill/>
                  </a:rPr>
                  <a:t> </a:t>
                </a:r>
              </a:p>
            </p:txBody>
          </p:sp>
        </mc:Fallback>
      </mc:AlternateContent>
      <p:sp>
        <p:nvSpPr>
          <p:cNvPr id="24" name="Text Placeholder 5">
            <a:extLst>
              <a:ext uri="{FF2B5EF4-FFF2-40B4-BE49-F238E27FC236}">
                <a16:creationId xmlns:a16="http://schemas.microsoft.com/office/drawing/2014/main" id="{DC488C4C-5411-6B3D-EF97-72605FD1DD2E}"/>
              </a:ext>
            </a:extLst>
          </p:cNvPr>
          <p:cNvSpPr txBox="1">
            <a:spLocks/>
          </p:cNvSpPr>
          <p:nvPr/>
        </p:nvSpPr>
        <p:spPr>
          <a:xfrm>
            <a:off x="7193595" y="3793955"/>
            <a:ext cx="465511" cy="365125"/>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8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sym typeface="Wingdings" panose="05000000000000000000" pitchFamily="2" charset="2"/>
              </a:rPr>
              <a:t></a:t>
            </a:r>
            <a:endParaRPr kumimoji="1" lang="en-NZ" altLang="ja-JP" sz="1800" b="1"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mc:AlternateContent xmlns:mc="http://schemas.openxmlformats.org/markup-compatibility/2006" xmlns:a14="http://schemas.microsoft.com/office/drawing/2010/main">
        <mc:Choice Requires="a14">
          <p:sp>
            <p:nvSpPr>
              <p:cNvPr id="15" name="Text Placeholder 5">
                <a:extLst>
                  <a:ext uri="{FF2B5EF4-FFF2-40B4-BE49-F238E27FC236}">
                    <a16:creationId xmlns:a16="http://schemas.microsoft.com/office/drawing/2014/main" id="{A8C6000F-ABA2-3EC6-27CC-15179B301DBB}"/>
                  </a:ext>
                </a:extLst>
              </p:cNvPr>
              <p:cNvSpPr txBox="1">
                <a:spLocks/>
              </p:cNvSpPr>
              <p:nvPr/>
            </p:nvSpPr>
            <p:spPr>
              <a:xfrm>
                <a:off x="1" y="5005213"/>
                <a:ext cx="12192000" cy="465047"/>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14:m>
                  <m:oMathPara xmlns:m="http://schemas.openxmlformats.org/officeDocument/2006/math">
                    <m:oMathParaPr>
                      <m:jc m:val="centerGroup"/>
                    </m:oMathParaPr>
                    <m:oMath xmlns:m="http://schemas.openxmlformats.org/officeDocument/2006/math">
                      <m:r>
                        <a:rPr lang="en-NZ" altLang="ja-JP" sz="1800" b="1" i="1" smtClean="0">
                          <a:solidFill>
                            <a:srgbClr val="0070C0"/>
                          </a:solidFill>
                          <a:latin typeface="Cambria Math" panose="02040503050406030204" pitchFamily="18" charset="0"/>
                        </a:rPr>
                        <m:t>𝑬</m:t>
                      </m:r>
                      <m:d>
                        <m:dPr>
                          <m:begChr m:val="["/>
                          <m:endChr m:val="]"/>
                          <m:ctrlPr>
                            <a:rPr lang="en-NZ" altLang="ja-JP" sz="1800" b="1" i="1" smtClean="0">
                              <a:solidFill>
                                <a:srgbClr val="0070C0"/>
                              </a:solidFill>
                              <a:latin typeface="Cambria Math" panose="02040503050406030204" pitchFamily="18" charset="0"/>
                            </a:rPr>
                          </m:ctrlPr>
                        </m:dPr>
                        <m:e>
                          <m:r>
                            <a:rPr lang="en-NZ" altLang="ja-JP" sz="1800" b="1" i="1" smtClean="0">
                              <a:solidFill>
                                <a:srgbClr val="0070C0"/>
                              </a:solidFill>
                              <a:latin typeface="Cambria Math" panose="02040503050406030204" pitchFamily="18" charset="0"/>
                            </a:rPr>
                            <m:t> </m:t>
                          </m:r>
                          <m:sSub>
                            <m:sSubPr>
                              <m:ctrlPr>
                                <a:rPr lang="en-NZ" altLang="ja-JP" sz="1800" b="1" i="1">
                                  <a:solidFill>
                                    <a:srgbClr val="0070C0"/>
                                  </a:solidFill>
                                  <a:latin typeface="Cambria Math" panose="02040503050406030204" pitchFamily="18" charset="0"/>
                                </a:rPr>
                              </m:ctrlPr>
                            </m:sSubPr>
                            <m:e>
                              <m:r>
                                <a:rPr lang="en-NZ" altLang="ja-JP" sz="1800" b="1" i="1">
                                  <a:solidFill>
                                    <a:srgbClr val="0070C0"/>
                                  </a:solidFill>
                                  <a:latin typeface="Cambria Math" panose="02040503050406030204" pitchFamily="18" charset="0"/>
                                </a:rPr>
                                <m:t>𝒀</m:t>
                              </m:r>
                            </m:e>
                            <m:sub>
                              <m:r>
                                <a:rPr lang="en-NZ" altLang="ja-JP" sz="1800" b="1" i="1">
                                  <a:solidFill>
                                    <a:srgbClr val="0070C0"/>
                                  </a:solidFill>
                                  <a:latin typeface="Cambria Math" panose="02040503050406030204" pitchFamily="18" charset="0"/>
                                </a:rPr>
                                <m:t>𝒊𝒋𝒌</m:t>
                              </m:r>
                              <m:r>
                                <a:rPr lang="en-NZ" altLang="ja-JP" sz="1800" b="1" i="1" smtClean="0">
                                  <a:solidFill>
                                    <a:srgbClr val="0070C0"/>
                                  </a:solidFill>
                                  <a:latin typeface="Cambria Math" panose="02040503050406030204" pitchFamily="18" charset="0"/>
                                </a:rPr>
                                <m:t>𝒎</m:t>
                              </m:r>
                            </m:sub>
                          </m:sSub>
                          <m:r>
                            <a:rPr lang="en-NZ" altLang="ja-JP" sz="1800" b="1" i="1" smtClean="0">
                              <a:solidFill>
                                <a:srgbClr val="0070C0"/>
                              </a:solidFill>
                              <a:latin typeface="Cambria Math" panose="02040503050406030204" pitchFamily="18" charset="0"/>
                            </a:rPr>
                            <m:t> </m:t>
                          </m:r>
                        </m:e>
                      </m:d>
                      <m:r>
                        <a:rPr lang="en-NZ" altLang="ja-JP" sz="1800" b="1" i="1" smtClean="0">
                          <a:solidFill>
                            <a:srgbClr val="0070C0"/>
                          </a:solidFill>
                          <a:latin typeface="Cambria Math" panose="02040503050406030204" pitchFamily="18" charset="0"/>
                        </a:rPr>
                        <m:t> = </m:t>
                      </m:r>
                      <m:r>
                        <a:rPr lang="en-NZ" altLang="ja-JP" sz="1800" b="1" i="1" smtClean="0">
                          <a:solidFill>
                            <a:srgbClr val="0070C0"/>
                          </a:solidFill>
                          <a:latin typeface="Cambria Math" panose="02040503050406030204" pitchFamily="18" charset="0"/>
                        </a:rPr>
                        <m:t>𝑬</m:t>
                      </m:r>
                      <m:d>
                        <m:dPr>
                          <m:begChr m:val="["/>
                          <m:endChr m:val="]"/>
                          <m:ctrlPr>
                            <a:rPr lang="en-NZ" altLang="ja-JP" sz="1800" b="1" i="1" smtClean="0">
                              <a:solidFill>
                                <a:srgbClr val="0070C0"/>
                              </a:solidFill>
                              <a:latin typeface="Cambria Math" panose="02040503050406030204" pitchFamily="18" charset="0"/>
                            </a:rPr>
                          </m:ctrlPr>
                        </m:dPr>
                        <m:e>
                          <m:r>
                            <a:rPr lang="en-NZ" altLang="ja-JP" sz="1800" b="1" i="1" smtClean="0">
                              <a:solidFill>
                                <a:srgbClr val="0070C0"/>
                              </a:solidFill>
                              <a:latin typeface="Cambria Math" panose="02040503050406030204" pitchFamily="18" charset="0"/>
                            </a:rPr>
                            <m:t> </m:t>
                          </m:r>
                          <m:r>
                            <a:rPr lang="en-NZ" altLang="ja-JP" sz="1800" b="1" i="1">
                              <a:solidFill>
                                <a:srgbClr val="0070C0"/>
                              </a:solidFill>
                              <a:latin typeface="Cambria Math" panose="02040503050406030204" pitchFamily="18" charset="0"/>
                            </a:rPr>
                            <m:t>𝝁</m:t>
                          </m:r>
                          <m:r>
                            <a:rPr lang="en-NZ" altLang="ja-JP" sz="1800" b="1" i="1">
                              <a:solidFill>
                                <a:srgbClr val="0070C0"/>
                              </a:solidFill>
                              <a:latin typeface="Cambria Math" panose="02040503050406030204" pitchFamily="18" charset="0"/>
                            </a:rPr>
                            <m:t>  +   </m:t>
                          </m:r>
                          <m:sSub>
                            <m:sSubPr>
                              <m:ctrlPr>
                                <a:rPr lang="en-NZ" altLang="ja-JP" sz="1800" b="1" i="1">
                                  <a:solidFill>
                                    <a:srgbClr val="0070C0"/>
                                  </a:solidFill>
                                  <a:latin typeface="Cambria Math" panose="02040503050406030204" pitchFamily="18" charset="0"/>
                                </a:rPr>
                              </m:ctrlPr>
                            </m:sSubPr>
                            <m:e>
                              <m:r>
                                <a:rPr lang="en-NZ" altLang="ja-JP" sz="1800" b="1" i="1">
                                  <a:solidFill>
                                    <a:srgbClr val="0070C0"/>
                                  </a:solidFill>
                                  <a:latin typeface="Cambria Math" panose="02040503050406030204" pitchFamily="18" charset="0"/>
                                </a:rPr>
                                <m:t>𝜶</m:t>
                              </m:r>
                            </m:e>
                            <m:sub>
                              <m:r>
                                <a:rPr lang="en-NZ" altLang="ja-JP" sz="1800" b="1" i="1">
                                  <a:solidFill>
                                    <a:srgbClr val="0070C0"/>
                                  </a:solidFill>
                                  <a:latin typeface="Cambria Math" panose="02040503050406030204" pitchFamily="18" charset="0"/>
                                </a:rPr>
                                <m:t>𝒊</m:t>
                              </m:r>
                            </m:sub>
                          </m:sSub>
                          <m:r>
                            <a:rPr lang="en-NZ" altLang="ja-JP" sz="1800" b="1" i="1">
                              <a:solidFill>
                                <a:srgbClr val="0070C0"/>
                              </a:solidFill>
                              <a:latin typeface="Cambria Math" panose="02040503050406030204" pitchFamily="18" charset="0"/>
                            </a:rPr>
                            <m:t>  +   </m:t>
                          </m:r>
                          <m:sSub>
                            <m:sSubPr>
                              <m:ctrlPr>
                                <a:rPr lang="en-NZ" altLang="ja-JP" sz="1800" b="1" i="1">
                                  <a:solidFill>
                                    <a:srgbClr val="0070C0"/>
                                  </a:solidFill>
                                  <a:latin typeface="Cambria Math" panose="02040503050406030204" pitchFamily="18" charset="0"/>
                                </a:rPr>
                              </m:ctrlPr>
                            </m:sSubPr>
                            <m:e>
                              <m:r>
                                <a:rPr lang="en-NZ" altLang="ja-JP" sz="1800" b="1" i="1">
                                  <a:solidFill>
                                    <a:srgbClr val="0070C0"/>
                                  </a:solidFill>
                                  <a:latin typeface="Cambria Math" panose="02040503050406030204" pitchFamily="18" charset="0"/>
                                </a:rPr>
                                <m:t>𝑩</m:t>
                              </m:r>
                            </m:e>
                            <m:sub>
                              <m:r>
                                <a:rPr lang="en-NZ" altLang="ja-JP" sz="1800" b="1" i="1">
                                  <a:solidFill>
                                    <a:srgbClr val="0070C0"/>
                                  </a:solidFill>
                                  <a:latin typeface="Cambria Math" panose="02040503050406030204" pitchFamily="18" charset="0"/>
                                </a:rPr>
                                <m:t>𝒋</m:t>
                              </m:r>
                              <m:d>
                                <m:dPr>
                                  <m:ctrlPr>
                                    <a:rPr lang="en-NZ" altLang="ja-JP" sz="1800" b="1" i="1">
                                      <a:solidFill>
                                        <a:srgbClr val="0070C0"/>
                                      </a:solidFill>
                                      <a:latin typeface="Cambria Math" panose="02040503050406030204" pitchFamily="18" charset="0"/>
                                    </a:rPr>
                                  </m:ctrlPr>
                                </m:dPr>
                                <m:e>
                                  <m:r>
                                    <a:rPr lang="en-NZ" altLang="ja-JP" sz="1800" b="1" i="1">
                                      <a:solidFill>
                                        <a:srgbClr val="0070C0"/>
                                      </a:solidFill>
                                      <a:latin typeface="Cambria Math" panose="02040503050406030204" pitchFamily="18" charset="0"/>
                                    </a:rPr>
                                    <m:t>𝒊</m:t>
                                  </m:r>
                                </m:e>
                              </m:d>
                            </m:sub>
                          </m:sSub>
                          <m:r>
                            <a:rPr lang="en-NZ" altLang="ja-JP" sz="1800" b="1" i="1">
                              <a:solidFill>
                                <a:srgbClr val="0070C0"/>
                              </a:solidFill>
                              <a:latin typeface="Cambria Math" panose="02040503050406030204" pitchFamily="18" charset="0"/>
                            </a:rPr>
                            <m:t>  +</m:t>
                          </m:r>
                          <m:r>
                            <a:rPr lang="en-NZ" altLang="ja-JP" sz="1800" b="1" i="1" smtClean="0">
                              <a:solidFill>
                                <a:srgbClr val="0070C0"/>
                              </a:solidFill>
                              <a:latin typeface="Cambria Math" panose="02040503050406030204" pitchFamily="18" charset="0"/>
                            </a:rPr>
                            <m:t> </m:t>
                          </m:r>
                          <m:sSub>
                            <m:sSubPr>
                              <m:ctrlPr>
                                <a:rPr lang="en-NZ" altLang="ja-JP" sz="1800" b="1" i="1">
                                  <a:solidFill>
                                    <a:srgbClr val="0070C0"/>
                                  </a:solidFill>
                                  <a:latin typeface="Cambria Math" panose="02040503050406030204" pitchFamily="18" charset="0"/>
                                </a:rPr>
                              </m:ctrlPr>
                            </m:sSubPr>
                            <m:e>
                              <m:r>
                                <a:rPr lang="en-NZ" altLang="ja-JP" sz="1800" b="1" i="1" smtClean="0">
                                  <a:solidFill>
                                    <a:srgbClr val="0070C0"/>
                                  </a:solidFill>
                                  <a:latin typeface="Cambria Math" panose="02040503050406030204" pitchFamily="18" charset="0"/>
                                </a:rPr>
                                <m:t> </m:t>
                              </m:r>
                              <m:r>
                                <a:rPr lang="en-NZ" altLang="ja-JP" sz="1800" b="1" i="1">
                                  <a:solidFill>
                                    <a:srgbClr val="0070C0"/>
                                  </a:solidFill>
                                  <a:latin typeface="Cambria Math" panose="02040503050406030204" pitchFamily="18" charset="0"/>
                                </a:rPr>
                                <m:t>𝑪</m:t>
                              </m:r>
                            </m:e>
                            <m:sub>
                              <m:r>
                                <a:rPr lang="en-NZ" altLang="ja-JP" sz="1800" b="1" i="1">
                                  <a:solidFill>
                                    <a:srgbClr val="0070C0"/>
                                  </a:solidFill>
                                  <a:latin typeface="Cambria Math" panose="02040503050406030204" pitchFamily="18" charset="0"/>
                                </a:rPr>
                                <m:t>𝒌</m:t>
                              </m:r>
                              <m:r>
                                <a:rPr lang="en-NZ" altLang="ja-JP" sz="1800" b="1" i="1">
                                  <a:solidFill>
                                    <a:srgbClr val="0070C0"/>
                                  </a:solidFill>
                                  <a:latin typeface="Cambria Math" panose="02040503050406030204" pitchFamily="18" charset="0"/>
                                </a:rPr>
                                <m:t>(</m:t>
                              </m:r>
                              <m:r>
                                <a:rPr lang="en-NZ" altLang="ja-JP" sz="1800" b="1" i="1">
                                  <a:solidFill>
                                    <a:srgbClr val="0070C0"/>
                                  </a:solidFill>
                                  <a:latin typeface="Cambria Math" panose="02040503050406030204" pitchFamily="18" charset="0"/>
                                </a:rPr>
                                <m:t>𝒊𝒋</m:t>
                              </m:r>
                              <m:r>
                                <a:rPr lang="en-NZ" altLang="ja-JP" sz="1800" b="1" i="1">
                                  <a:solidFill>
                                    <a:srgbClr val="0070C0"/>
                                  </a:solidFill>
                                  <a:latin typeface="Cambria Math" panose="02040503050406030204" pitchFamily="18" charset="0"/>
                                </a:rPr>
                                <m:t>)</m:t>
                              </m:r>
                            </m:sub>
                          </m:sSub>
                          <m:r>
                            <a:rPr lang="en-NZ" altLang="ja-JP" sz="1800" b="1" i="1" smtClean="0">
                              <a:solidFill>
                                <a:srgbClr val="0070C0"/>
                              </a:solidFill>
                              <a:latin typeface="Cambria Math" panose="02040503050406030204" pitchFamily="18" charset="0"/>
                            </a:rPr>
                            <m:t> +</m:t>
                          </m:r>
                          <m:sSub>
                            <m:sSubPr>
                              <m:ctrlPr>
                                <a:rPr lang="en-NZ" altLang="ja-JP" sz="1800" b="1" i="1" smtClean="0">
                                  <a:solidFill>
                                    <a:srgbClr val="0070C0"/>
                                  </a:solidFill>
                                  <a:latin typeface="Cambria Math" panose="02040503050406030204" pitchFamily="18" charset="0"/>
                                </a:rPr>
                              </m:ctrlPr>
                            </m:sSubPr>
                            <m:e>
                              <m:r>
                                <a:rPr lang="en-NZ" altLang="ja-JP" sz="1800" b="1" i="1" smtClean="0">
                                  <a:solidFill>
                                    <a:srgbClr val="0070C0"/>
                                  </a:solidFill>
                                  <a:latin typeface="Cambria Math" panose="02040503050406030204" pitchFamily="18" charset="0"/>
                                </a:rPr>
                                <m:t> </m:t>
                              </m:r>
                              <m:r>
                                <a:rPr lang="en-NZ" altLang="ja-JP" sz="1800" b="1" i="1">
                                  <a:solidFill>
                                    <a:srgbClr val="0070C0"/>
                                  </a:solidFill>
                                  <a:latin typeface="Cambria Math" panose="02040503050406030204" pitchFamily="18" charset="0"/>
                                </a:rPr>
                                <m:t>𝝐</m:t>
                              </m:r>
                            </m:e>
                            <m:sub>
                              <m:r>
                                <a:rPr lang="en-NZ" altLang="ja-JP" sz="1800" b="1" i="1">
                                  <a:solidFill>
                                    <a:srgbClr val="0070C0"/>
                                  </a:solidFill>
                                  <a:latin typeface="Cambria Math" panose="02040503050406030204" pitchFamily="18" charset="0"/>
                                </a:rPr>
                                <m:t>𝒎</m:t>
                              </m:r>
                              <m:r>
                                <a:rPr lang="en-NZ" altLang="ja-JP" sz="1800" b="1" i="1">
                                  <a:solidFill>
                                    <a:srgbClr val="0070C0"/>
                                  </a:solidFill>
                                  <a:latin typeface="Cambria Math" panose="02040503050406030204" pitchFamily="18" charset="0"/>
                                </a:rPr>
                                <m:t>(</m:t>
                              </m:r>
                              <m:r>
                                <a:rPr lang="en-NZ" altLang="ja-JP" sz="1800" b="1" i="1">
                                  <a:solidFill>
                                    <a:srgbClr val="0070C0"/>
                                  </a:solidFill>
                                  <a:latin typeface="Cambria Math" panose="02040503050406030204" pitchFamily="18" charset="0"/>
                                </a:rPr>
                                <m:t>𝒊𝒋𝒌</m:t>
                              </m:r>
                              <m:r>
                                <a:rPr lang="en-NZ" altLang="ja-JP" sz="1800" b="1" i="1">
                                  <a:solidFill>
                                    <a:srgbClr val="0070C0"/>
                                  </a:solidFill>
                                  <a:latin typeface="Cambria Math" panose="02040503050406030204" pitchFamily="18" charset="0"/>
                                </a:rPr>
                                <m:t>)</m:t>
                              </m:r>
                            </m:sub>
                          </m:sSub>
                        </m:e>
                      </m:d>
                      <m:r>
                        <a:rPr lang="en-NZ" altLang="ja-JP" sz="1800" b="1" i="1" smtClean="0">
                          <a:solidFill>
                            <a:srgbClr val="0070C0"/>
                          </a:solidFill>
                          <a:latin typeface="Cambria Math" panose="02040503050406030204" pitchFamily="18" charset="0"/>
                        </a:rPr>
                        <m:t> </m:t>
                      </m:r>
                      <m:r>
                        <a:rPr lang="en-NZ" altLang="ja-JP" sz="1800" b="1" i="1">
                          <a:solidFill>
                            <a:srgbClr val="0070C0"/>
                          </a:solidFill>
                          <a:latin typeface="Cambria Math" panose="02040503050406030204" pitchFamily="18" charset="0"/>
                        </a:rPr>
                        <m:t>=</m:t>
                      </m:r>
                      <m:r>
                        <a:rPr lang="en-NZ" altLang="ja-JP" sz="1800" b="1" i="1" smtClean="0">
                          <a:solidFill>
                            <a:srgbClr val="0070C0"/>
                          </a:solidFill>
                          <a:latin typeface="Cambria Math" panose="02040503050406030204" pitchFamily="18" charset="0"/>
                        </a:rPr>
                        <m:t> </m:t>
                      </m:r>
                      <m:r>
                        <a:rPr lang="en-NZ" altLang="ja-JP" sz="1800" b="1" i="1">
                          <a:solidFill>
                            <a:srgbClr val="0070C0"/>
                          </a:solidFill>
                          <a:latin typeface="Cambria Math" panose="02040503050406030204" pitchFamily="18" charset="0"/>
                        </a:rPr>
                        <m:t>𝑬</m:t>
                      </m:r>
                      <m:d>
                        <m:dPr>
                          <m:begChr m:val="["/>
                          <m:endChr m:val="]"/>
                          <m:ctrlPr>
                            <a:rPr lang="en-NZ" altLang="ja-JP" sz="1800" b="1" i="1">
                              <a:solidFill>
                                <a:srgbClr val="0070C0"/>
                              </a:solidFill>
                              <a:latin typeface="Cambria Math" panose="02040503050406030204" pitchFamily="18" charset="0"/>
                            </a:rPr>
                          </m:ctrlPr>
                        </m:dPr>
                        <m:e>
                          <m:r>
                            <a:rPr lang="en-NZ" altLang="ja-JP" sz="1800" b="1" i="1">
                              <a:solidFill>
                                <a:srgbClr val="0070C0"/>
                              </a:solidFill>
                              <a:latin typeface="Cambria Math" panose="02040503050406030204" pitchFamily="18" charset="0"/>
                            </a:rPr>
                            <m:t> </m:t>
                          </m:r>
                          <m:r>
                            <a:rPr lang="en-NZ" altLang="ja-JP" sz="1800" b="1" i="1">
                              <a:solidFill>
                                <a:srgbClr val="0070C0"/>
                              </a:solidFill>
                              <a:latin typeface="Cambria Math" panose="02040503050406030204" pitchFamily="18" charset="0"/>
                            </a:rPr>
                            <m:t>𝝁</m:t>
                          </m:r>
                          <m:r>
                            <a:rPr lang="en-NZ" altLang="ja-JP" sz="1800" b="1" i="1" smtClean="0">
                              <a:solidFill>
                                <a:srgbClr val="0070C0"/>
                              </a:solidFill>
                              <a:latin typeface="Cambria Math" panose="02040503050406030204" pitchFamily="18" charset="0"/>
                            </a:rPr>
                            <m:t> </m:t>
                          </m:r>
                        </m:e>
                      </m:d>
                      <m:r>
                        <a:rPr lang="en-NZ" altLang="ja-JP" sz="1800" b="1" i="1" smtClean="0">
                          <a:solidFill>
                            <a:srgbClr val="0070C0"/>
                          </a:solidFill>
                          <a:latin typeface="Cambria Math" panose="02040503050406030204" pitchFamily="18" charset="0"/>
                        </a:rPr>
                        <m:t> + </m:t>
                      </m:r>
                      <m:r>
                        <a:rPr lang="en-NZ" altLang="ja-JP" sz="1800" b="1" i="1">
                          <a:solidFill>
                            <a:srgbClr val="0070C0"/>
                          </a:solidFill>
                          <a:latin typeface="Cambria Math" panose="02040503050406030204" pitchFamily="18" charset="0"/>
                        </a:rPr>
                        <m:t>𝑬</m:t>
                      </m:r>
                      <m:d>
                        <m:dPr>
                          <m:begChr m:val="["/>
                          <m:endChr m:val="]"/>
                          <m:ctrlPr>
                            <a:rPr lang="en-NZ" altLang="ja-JP" sz="1800" b="1" i="1">
                              <a:solidFill>
                                <a:srgbClr val="0070C0"/>
                              </a:solidFill>
                              <a:latin typeface="Cambria Math" panose="02040503050406030204" pitchFamily="18" charset="0"/>
                            </a:rPr>
                          </m:ctrlPr>
                        </m:dPr>
                        <m:e>
                          <m:r>
                            <a:rPr lang="en-NZ" altLang="ja-JP" sz="1800" b="1" i="1">
                              <a:solidFill>
                                <a:srgbClr val="0070C0"/>
                              </a:solidFill>
                              <a:latin typeface="Cambria Math" panose="02040503050406030204" pitchFamily="18" charset="0"/>
                            </a:rPr>
                            <m:t> </m:t>
                          </m:r>
                          <m:sSub>
                            <m:sSubPr>
                              <m:ctrlPr>
                                <a:rPr lang="en-NZ" altLang="ja-JP" sz="1800" b="1" i="1">
                                  <a:solidFill>
                                    <a:srgbClr val="0070C0"/>
                                  </a:solidFill>
                                  <a:latin typeface="Cambria Math" panose="02040503050406030204" pitchFamily="18" charset="0"/>
                                </a:rPr>
                              </m:ctrlPr>
                            </m:sSubPr>
                            <m:e>
                              <m:r>
                                <a:rPr lang="en-NZ" altLang="ja-JP" sz="1800" b="1" i="1">
                                  <a:solidFill>
                                    <a:srgbClr val="0070C0"/>
                                  </a:solidFill>
                                  <a:latin typeface="Cambria Math" panose="02040503050406030204" pitchFamily="18" charset="0"/>
                                </a:rPr>
                                <m:t>𝜶</m:t>
                              </m:r>
                            </m:e>
                            <m:sub>
                              <m:r>
                                <a:rPr lang="en-NZ" altLang="ja-JP" sz="1800" b="1" i="1">
                                  <a:solidFill>
                                    <a:srgbClr val="0070C0"/>
                                  </a:solidFill>
                                  <a:latin typeface="Cambria Math" panose="02040503050406030204" pitchFamily="18" charset="0"/>
                                </a:rPr>
                                <m:t>𝒊</m:t>
                              </m:r>
                            </m:sub>
                          </m:sSub>
                          <m:r>
                            <a:rPr lang="en-NZ" altLang="ja-JP" sz="1800" b="1" i="1">
                              <a:solidFill>
                                <a:srgbClr val="0070C0"/>
                              </a:solidFill>
                              <a:latin typeface="Cambria Math" panose="02040503050406030204" pitchFamily="18" charset="0"/>
                            </a:rPr>
                            <m:t> </m:t>
                          </m:r>
                        </m:e>
                      </m:d>
                      <m:r>
                        <a:rPr lang="en-NZ" altLang="ja-JP" sz="1800" b="1" i="1" smtClean="0">
                          <a:solidFill>
                            <a:srgbClr val="0070C0"/>
                          </a:solidFill>
                          <a:latin typeface="Cambria Math" panose="02040503050406030204" pitchFamily="18" charset="0"/>
                        </a:rPr>
                        <m:t> + </m:t>
                      </m:r>
                      <m:r>
                        <a:rPr lang="en-NZ" altLang="ja-JP" sz="1800" b="1" i="1">
                          <a:solidFill>
                            <a:srgbClr val="0070C0"/>
                          </a:solidFill>
                          <a:latin typeface="Cambria Math" panose="02040503050406030204" pitchFamily="18" charset="0"/>
                        </a:rPr>
                        <m:t>𝑬</m:t>
                      </m:r>
                      <m:d>
                        <m:dPr>
                          <m:begChr m:val="["/>
                          <m:endChr m:val="]"/>
                          <m:ctrlPr>
                            <a:rPr lang="en-NZ" altLang="ja-JP" sz="1800" b="1" i="1">
                              <a:solidFill>
                                <a:srgbClr val="0070C0"/>
                              </a:solidFill>
                              <a:latin typeface="Cambria Math" panose="02040503050406030204" pitchFamily="18" charset="0"/>
                            </a:rPr>
                          </m:ctrlPr>
                        </m:dPr>
                        <m:e>
                          <m:r>
                            <a:rPr lang="en-NZ" altLang="ja-JP" sz="1800" b="1" i="1">
                              <a:solidFill>
                                <a:srgbClr val="0070C0"/>
                              </a:solidFill>
                              <a:latin typeface="Cambria Math" panose="02040503050406030204" pitchFamily="18" charset="0"/>
                            </a:rPr>
                            <m:t> </m:t>
                          </m:r>
                          <m:sSub>
                            <m:sSubPr>
                              <m:ctrlPr>
                                <a:rPr lang="en-NZ" altLang="ja-JP" sz="1800" b="1" i="1">
                                  <a:solidFill>
                                    <a:srgbClr val="0070C0"/>
                                  </a:solidFill>
                                  <a:latin typeface="Cambria Math" panose="02040503050406030204" pitchFamily="18" charset="0"/>
                                </a:rPr>
                              </m:ctrlPr>
                            </m:sSubPr>
                            <m:e>
                              <m:r>
                                <a:rPr lang="en-NZ" altLang="ja-JP" sz="1800" b="1" i="1">
                                  <a:solidFill>
                                    <a:srgbClr val="0070C0"/>
                                  </a:solidFill>
                                  <a:latin typeface="Cambria Math" panose="02040503050406030204" pitchFamily="18" charset="0"/>
                                </a:rPr>
                                <m:t>𝑩</m:t>
                              </m:r>
                            </m:e>
                            <m:sub>
                              <m:r>
                                <a:rPr lang="en-NZ" altLang="ja-JP" sz="1800" b="1" i="1">
                                  <a:solidFill>
                                    <a:srgbClr val="0070C0"/>
                                  </a:solidFill>
                                  <a:latin typeface="Cambria Math" panose="02040503050406030204" pitchFamily="18" charset="0"/>
                                </a:rPr>
                                <m:t>𝒋</m:t>
                              </m:r>
                              <m:d>
                                <m:dPr>
                                  <m:ctrlPr>
                                    <a:rPr lang="en-NZ" altLang="ja-JP" sz="1800" b="1" i="1">
                                      <a:solidFill>
                                        <a:srgbClr val="0070C0"/>
                                      </a:solidFill>
                                      <a:latin typeface="Cambria Math" panose="02040503050406030204" pitchFamily="18" charset="0"/>
                                    </a:rPr>
                                  </m:ctrlPr>
                                </m:dPr>
                                <m:e>
                                  <m:r>
                                    <a:rPr lang="en-NZ" altLang="ja-JP" sz="1800" b="1" i="1">
                                      <a:solidFill>
                                        <a:srgbClr val="0070C0"/>
                                      </a:solidFill>
                                      <a:latin typeface="Cambria Math" panose="02040503050406030204" pitchFamily="18" charset="0"/>
                                    </a:rPr>
                                    <m:t>𝒊</m:t>
                                  </m:r>
                                </m:e>
                              </m:d>
                            </m:sub>
                          </m:sSub>
                          <m:r>
                            <a:rPr lang="en-NZ" altLang="ja-JP" sz="1800" b="1" i="1">
                              <a:solidFill>
                                <a:srgbClr val="0070C0"/>
                              </a:solidFill>
                              <a:latin typeface="Cambria Math" panose="02040503050406030204" pitchFamily="18" charset="0"/>
                            </a:rPr>
                            <m:t> </m:t>
                          </m:r>
                        </m:e>
                      </m:d>
                      <m:r>
                        <a:rPr lang="en-NZ" altLang="ja-JP" sz="1800" b="1" i="1" smtClean="0">
                          <a:solidFill>
                            <a:srgbClr val="0070C0"/>
                          </a:solidFill>
                          <a:latin typeface="Cambria Math" panose="02040503050406030204" pitchFamily="18" charset="0"/>
                        </a:rPr>
                        <m:t> +</m:t>
                      </m:r>
                      <m:r>
                        <a:rPr lang="en-NZ" altLang="ja-JP" sz="1800" b="1" i="1">
                          <a:solidFill>
                            <a:srgbClr val="0070C0"/>
                          </a:solidFill>
                          <a:latin typeface="Cambria Math" panose="02040503050406030204" pitchFamily="18" charset="0"/>
                        </a:rPr>
                        <m:t>𝑬</m:t>
                      </m:r>
                      <m:d>
                        <m:dPr>
                          <m:begChr m:val="["/>
                          <m:endChr m:val="]"/>
                          <m:ctrlPr>
                            <a:rPr lang="en-NZ" altLang="ja-JP" sz="1800" b="1" i="1">
                              <a:solidFill>
                                <a:srgbClr val="0070C0"/>
                              </a:solidFill>
                              <a:latin typeface="Cambria Math" panose="02040503050406030204" pitchFamily="18" charset="0"/>
                            </a:rPr>
                          </m:ctrlPr>
                        </m:dPr>
                        <m:e>
                          <m:sSub>
                            <m:sSubPr>
                              <m:ctrlPr>
                                <a:rPr lang="en-NZ" altLang="ja-JP" sz="1800" b="1" i="1">
                                  <a:solidFill>
                                    <a:srgbClr val="0070C0"/>
                                  </a:solidFill>
                                  <a:latin typeface="Cambria Math" panose="02040503050406030204" pitchFamily="18" charset="0"/>
                                </a:rPr>
                              </m:ctrlPr>
                            </m:sSubPr>
                            <m:e>
                              <m:r>
                                <a:rPr lang="en-NZ" altLang="ja-JP" sz="1800" b="1" i="1">
                                  <a:solidFill>
                                    <a:srgbClr val="0070C0"/>
                                  </a:solidFill>
                                  <a:latin typeface="Cambria Math" panose="02040503050406030204" pitchFamily="18" charset="0"/>
                                </a:rPr>
                                <m:t> </m:t>
                              </m:r>
                              <m:r>
                                <a:rPr lang="en-NZ" altLang="ja-JP" sz="1800" b="1" i="1">
                                  <a:solidFill>
                                    <a:srgbClr val="0070C0"/>
                                  </a:solidFill>
                                  <a:latin typeface="Cambria Math" panose="02040503050406030204" pitchFamily="18" charset="0"/>
                                </a:rPr>
                                <m:t>𝑪</m:t>
                              </m:r>
                            </m:e>
                            <m:sub>
                              <m:r>
                                <a:rPr lang="en-NZ" altLang="ja-JP" sz="1800" b="1" i="1">
                                  <a:solidFill>
                                    <a:srgbClr val="0070C0"/>
                                  </a:solidFill>
                                  <a:latin typeface="Cambria Math" panose="02040503050406030204" pitchFamily="18" charset="0"/>
                                </a:rPr>
                                <m:t>𝒌</m:t>
                              </m:r>
                              <m:r>
                                <a:rPr lang="en-NZ" altLang="ja-JP" sz="1800" b="1" i="1">
                                  <a:solidFill>
                                    <a:srgbClr val="0070C0"/>
                                  </a:solidFill>
                                  <a:latin typeface="Cambria Math" panose="02040503050406030204" pitchFamily="18" charset="0"/>
                                </a:rPr>
                                <m:t>(</m:t>
                              </m:r>
                              <m:r>
                                <a:rPr lang="en-NZ" altLang="ja-JP" sz="1800" b="1" i="1">
                                  <a:solidFill>
                                    <a:srgbClr val="0070C0"/>
                                  </a:solidFill>
                                  <a:latin typeface="Cambria Math" panose="02040503050406030204" pitchFamily="18" charset="0"/>
                                </a:rPr>
                                <m:t>𝒊𝒋</m:t>
                              </m:r>
                              <m:r>
                                <a:rPr lang="en-NZ" altLang="ja-JP" sz="1800" b="1" i="1">
                                  <a:solidFill>
                                    <a:srgbClr val="0070C0"/>
                                  </a:solidFill>
                                  <a:latin typeface="Cambria Math" panose="02040503050406030204" pitchFamily="18" charset="0"/>
                                </a:rPr>
                                <m:t>)</m:t>
                              </m:r>
                            </m:sub>
                          </m:sSub>
                        </m:e>
                      </m:d>
                      <m:r>
                        <a:rPr lang="en-NZ" altLang="ja-JP" sz="1800" b="1" i="1" smtClean="0">
                          <a:solidFill>
                            <a:srgbClr val="0070C0"/>
                          </a:solidFill>
                          <a:latin typeface="Cambria Math" panose="02040503050406030204" pitchFamily="18" charset="0"/>
                        </a:rPr>
                        <m:t> +  </m:t>
                      </m:r>
                      <m:r>
                        <a:rPr lang="en-NZ" altLang="ja-JP" sz="1800" b="1" i="1">
                          <a:solidFill>
                            <a:srgbClr val="0070C0"/>
                          </a:solidFill>
                          <a:latin typeface="Cambria Math" panose="02040503050406030204" pitchFamily="18" charset="0"/>
                        </a:rPr>
                        <m:t>𝑬</m:t>
                      </m:r>
                      <m:d>
                        <m:dPr>
                          <m:begChr m:val="["/>
                          <m:endChr m:val="]"/>
                          <m:ctrlPr>
                            <a:rPr lang="en-NZ" altLang="ja-JP" sz="1800" b="1" i="1">
                              <a:solidFill>
                                <a:srgbClr val="0070C0"/>
                              </a:solidFill>
                              <a:latin typeface="Cambria Math" panose="02040503050406030204" pitchFamily="18" charset="0"/>
                            </a:rPr>
                          </m:ctrlPr>
                        </m:dPr>
                        <m:e>
                          <m:sSub>
                            <m:sSubPr>
                              <m:ctrlPr>
                                <a:rPr lang="en-NZ" altLang="ja-JP" sz="1800" b="1" i="1">
                                  <a:solidFill>
                                    <a:srgbClr val="0070C0"/>
                                  </a:solidFill>
                                  <a:latin typeface="Cambria Math" panose="02040503050406030204" pitchFamily="18" charset="0"/>
                                </a:rPr>
                              </m:ctrlPr>
                            </m:sSubPr>
                            <m:e>
                              <m:r>
                                <a:rPr lang="en-NZ" altLang="ja-JP" sz="1800" b="1" i="1">
                                  <a:solidFill>
                                    <a:srgbClr val="0070C0"/>
                                  </a:solidFill>
                                  <a:latin typeface="Cambria Math" panose="02040503050406030204" pitchFamily="18" charset="0"/>
                                </a:rPr>
                                <m:t>𝝐</m:t>
                              </m:r>
                            </m:e>
                            <m:sub>
                              <m:r>
                                <a:rPr lang="en-NZ" altLang="ja-JP" sz="1800" b="1" i="1">
                                  <a:solidFill>
                                    <a:srgbClr val="0070C0"/>
                                  </a:solidFill>
                                  <a:latin typeface="Cambria Math" panose="02040503050406030204" pitchFamily="18" charset="0"/>
                                </a:rPr>
                                <m:t>𝒎</m:t>
                              </m:r>
                              <m:r>
                                <a:rPr lang="en-NZ" altLang="ja-JP" sz="1800" b="1" i="1">
                                  <a:solidFill>
                                    <a:srgbClr val="0070C0"/>
                                  </a:solidFill>
                                  <a:latin typeface="Cambria Math" panose="02040503050406030204" pitchFamily="18" charset="0"/>
                                </a:rPr>
                                <m:t>(</m:t>
                              </m:r>
                              <m:r>
                                <a:rPr lang="en-NZ" altLang="ja-JP" sz="1800" b="1" i="1">
                                  <a:solidFill>
                                    <a:srgbClr val="0070C0"/>
                                  </a:solidFill>
                                  <a:latin typeface="Cambria Math" panose="02040503050406030204" pitchFamily="18" charset="0"/>
                                </a:rPr>
                                <m:t>𝒊𝒋𝒌</m:t>
                              </m:r>
                              <m:r>
                                <a:rPr lang="en-NZ" altLang="ja-JP" sz="1800" b="1" i="1">
                                  <a:solidFill>
                                    <a:srgbClr val="0070C0"/>
                                  </a:solidFill>
                                  <a:latin typeface="Cambria Math" panose="02040503050406030204" pitchFamily="18" charset="0"/>
                                </a:rPr>
                                <m:t>)</m:t>
                              </m:r>
                            </m:sub>
                          </m:sSub>
                        </m:e>
                      </m:d>
                    </m:oMath>
                  </m:oMathPara>
                </a14:m>
                <a:endParaRPr lang="en-NZ" altLang="ja-JP" sz="1800" b="1" dirty="0">
                  <a:solidFill>
                    <a:srgbClr val="0070C0"/>
                  </a:solidFill>
                </a:endParaRPr>
              </a:p>
            </p:txBody>
          </p:sp>
        </mc:Choice>
        <mc:Fallback xmlns="">
          <p:sp>
            <p:nvSpPr>
              <p:cNvPr id="15" name="Text Placeholder 5">
                <a:extLst>
                  <a:ext uri="{FF2B5EF4-FFF2-40B4-BE49-F238E27FC236}">
                    <a16:creationId xmlns:a16="http://schemas.microsoft.com/office/drawing/2014/main" id="{A8C6000F-ABA2-3EC6-27CC-15179B301DBB}"/>
                  </a:ext>
                </a:extLst>
              </p:cNvPr>
              <p:cNvSpPr txBox="1">
                <a:spLocks noRot="1" noChangeAspect="1" noMove="1" noResize="1" noEditPoints="1" noAdjustHandles="1" noChangeArrowheads="1" noChangeShapeType="1" noTextEdit="1"/>
              </p:cNvSpPr>
              <p:nvPr/>
            </p:nvSpPr>
            <p:spPr>
              <a:xfrm>
                <a:off x="1" y="5005213"/>
                <a:ext cx="12192000" cy="465047"/>
              </a:xfrm>
              <a:prstGeom prst="rect">
                <a:avLst/>
              </a:prstGeom>
              <a:blipFill>
                <a:blip r:embed="rId6"/>
                <a:stretch>
                  <a:fillRect/>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19" name="Text Placeholder 5">
                <a:extLst>
                  <a:ext uri="{FF2B5EF4-FFF2-40B4-BE49-F238E27FC236}">
                    <a16:creationId xmlns:a16="http://schemas.microsoft.com/office/drawing/2014/main" id="{F7D0DD08-33AD-83F0-AE43-957B2FCCE7D2}"/>
                  </a:ext>
                </a:extLst>
              </p:cNvPr>
              <p:cNvSpPr txBox="1">
                <a:spLocks/>
              </p:cNvSpPr>
              <p:nvPr/>
            </p:nvSpPr>
            <p:spPr>
              <a:xfrm>
                <a:off x="1378857" y="5392911"/>
                <a:ext cx="7660208" cy="413017"/>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1800" b="1" dirty="0">
                    <a:solidFill>
                      <a:srgbClr val="0070C0"/>
                    </a:solidFill>
                  </a:rPr>
                  <a:t> </a:t>
                </a:r>
                <a14:m>
                  <m:oMath xmlns:m="http://schemas.openxmlformats.org/officeDocument/2006/math">
                    <m:r>
                      <a:rPr lang="en-NZ" altLang="ja-JP" sz="1800" b="1" i="1" smtClean="0">
                        <a:solidFill>
                          <a:srgbClr val="0070C0"/>
                        </a:solidFill>
                        <a:latin typeface="Cambria Math" panose="02040503050406030204" pitchFamily="18" charset="0"/>
                      </a:rPr>
                      <m:t>=  </m:t>
                    </m:r>
                    <m:r>
                      <a:rPr lang="en-NZ" altLang="ja-JP" sz="1800" b="1" i="1" smtClean="0">
                        <a:solidFill>
                          <a:srgbClr val="0070C0"/>
                        </a:solidFill>
                        <a:latin typeface="Cambria Math" panose="02040503050406030204" pitchFamily="18" charset="0"/>
                      </a:rPr>
                      <m:t>𝝁</m:t>
                    </m:r>
                    <m:r>
                      <a:rPr lang="en-NZ" altLang="ja-JP" sz="1800" b="1" i="1" smtClean="0">
                        <a:solidFill>
                          <a:srgbClr val="0070C0"/>
                        </a:solidFill>
                        <a:latin typeface="Cambria Math" panose="02040503050406030204" pitchFamily="18" charset="0"/>
                      </a:rPr>
                      <m:t> +  </m:t>
                    </m:r>
                    <m:sSub>
                      <m:sSubPr>
                        <m:ctrlPr>
                          <a:rPr lang="en-NZ" altLang="ja-JP" sz="1800" b="1" i="1" smtClean="0">
                            <a:solidFill>
                              <a:srgbClr val="0070C0"/>
                            </a:solidFill>
                            <a:latin typeface="Cambria Math" panose="02040503050406030204" pitchFamily="18" charset="0"/>
                          </a:rPr>
                        </m:ctrlPr>
                      </m:sSubPr>
                      <m:e>
                        <m:r>
                          <a:rPr lang="en-NZ" altLang="ja-JP" sz="1800" b="1" i="1" smtClean="0">
                            <a:solidFill>
                              <a:srgbClr val="0070C0"/>
                            </a:solidFill>
                            <a:latin typeface="Cambria Math" panose="02040503050406030204" pitchFamily="18" charset="0"/>
                          </a:rPr>
                          <m:t>𝜶</m:t>
                        </m:r>
                      </m:e>
                      <m:sub>
                        <m:r>
                          <a:rPr lang="en-NZ" altLang="ja-JP" sz="1800" b="1" i="1" smtClean="0">
                            <a:solidFill>
                              <a:srgbClr val="0070C0"/>
                            </a:solidFill>
                            <a:latin typeface="Cambria Math" panose="02040503050406030204" pitchFamily="18" charset="0"/>
                          </a:rPr>
                          <m:t>𝒊</m:t>
                        </m:r>
                      </m:sub>
                    </m:sSub>
                    <m:r>
                      <a:rPr lang="en-NZ" altLang="ja-JP" sz="1800" b="1" i="1" smtClean="0">
                        <a:solidFill>
                          <a:srgbClr val="0070C0"/>
                        </a:solidFill>
                        <a:latin typeface="Cambria Math" panose="02040503050406030204" pitchFamily="18" charset="0"/>
                      </a:rPr>
                      <m:t> =  </m:t>
                    </m:r>
                    <m:sSub>
                      <m:sSubPr>
                        <m:ctrlPr>
                          <a:rPr lang="en-NZ" altLang="ja-JP" sz="1800" b="1" i="1" smtClean="0">
                            <a:solidFill>
                              <a:srgbClr val="0070C0"/>
                            </a:solidFill>
                            <a:latin typeface="Cambria Math" panose="02040503050406030204" pitchFamily="18" charset="0"/>
                          </a:rPr>
                        </m:ctrlPr>
                      </m:sSubPr>
                      <m:e>
                        <m:r>
                          <a:rPr lang="en-NZ" altLang="ja-JP" sz="1800" b="1" i="1" smtClean="0">
                            <a:solidFill>
                              <a:srgbClr val="0070C0"/>
                            </a:solidFill>
                            <a:latin typeface="Cambria Math" panose="02040503050406030204" pitchFamily="18" charset="0"/>
                          </a:rPr>
                          <m:t>𝝁</m:t>
                        </m:r>
                      </m:e>
                      <m:sub>
                        <m:r>
                          <a:rPr lang="en-NZ" altLang="ja-JP" sz="1800" b="1" i="1" smtClean="0">
                            <a:solidFill>
                              <a:srgbClr val="0070C0"/>
                            </a:solidFill>
                            <a:latin typeface="Cambria Math" panose="02040503050406030204" pitchFamily="18" charset="0"/>
                          </a:rPr>
                          <m:t>𝒊</m:t>
                        </m:r>
                      </m:sub>
                    </m:sSub>
                    <m:r>
                      <a:rPr lang="en-NZ" altLang="ja-JP" sz="1800" b="1" i="1" smtClean="0">
                        <a:solidFill>
                          <a:srgbClr val="0070C0"/>
                        </a:solidFill>
                        <a:latin typeface="Cambria Math" panose="02040503050406030204" pitchFamily="18" charset="0"/>
                      </a:rPr>
                      <m:t>..</m:t>
                    </m:r>
                  </m:oMath>
                </a14:m>
                <a:endParaRPr lang="en-NZ" altLang="ja-JP" sz="1800" b="1" dirty="0">
                  <a:solidFill>
                    <a:srgbClr val="0070C0"/>
                  </a:solidFill>
                </a:endParaRPr>
              </a:p>
            </p:txBody>
          </p:sp>
        </mc:Choice>
        <mc:Fallback xmlns="">
          <p:sp>
            <p:nvSpPr>
              <p:cNvPr id="19" name="Text Placeholder 5">
                <a:extLst>
                  <a:ext uri="{FF2B5EF4-FFF2-40B4-BE49-F238E27FC236}">
                    <a16:creationId xmlns:a16="http://schemas.microsoft.com/office/drawing/2014/main" id="{F7D0DD08-33AD-83F0-AE43-957B2FCCE7D2}"/>
                  </a:ext>
                </a:extLst>
              </p:cNvPr>
              <p:cNvSpPr txBox="1">
                <a:spLocks noRot="1" noChangeAspect="1" noMove="1" noResize="1" noEditPoints="1" noAdjustHandles="1" noChangeArrowheads="1" noChangeShapeType="1" noTextEdit="1"/>
              </p:cNvSpPr>
              <p:nvPr/>
            </p:nvSpPr>
            <p:spPr>
              <a:xfrm>
                <a:off x="1378857" y="5392911"/>
                <a:ext cx="7660208" cy="413017"/>
              </a:xfrm>
              <a:prstGeom prst="rect">
                <a:avLst/>
              </a:prstGeom>
              <a:blipFill>
                <a:blip r:embed="rId7"/>
                <a:stretch>
                  <a:fillRect/>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25" name="Text Placeholder 5">
                <a:extLst>
                  <a:ext uri="{FF2B5EF4-FFF2-40B4-BE49-F238E27FC236}">
                    <a16:creationId xmlns:a16="http://schemas.microsoft.com/office/drawing/2014/main" id="{57118E24-AEA6-6C72-C8DE-0A73ACB6B8BF}"/>
                  </a:ext>
                </a:extLst>
              </p:cNvPr>
              <p:cNvSpPr txBox="1">
                <a:spLocks/>
              </p:cNvSpPr>
              <p:nvPr/>
            </p:nvSpPr>
            <p:spPr>
              <a:xfrm>
                <a:off x="0" y="5805928"/>
                <a:ext cx="12192000" cy="465047"/>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14:m>
                  <m:oMathPara xmlns:m="http://schemas.openxmlformats.org/officeDocument/2006/math">
                    <m:oMathParaPr>
                      <m:jc m:val="centerGroup"/>
                    </m:oMathParaPr>
                    <m:oMath xmlns:m="http://schemas.openxmlformats.org/officeDocument/2006/math">
                      <m:r>
                        <a:rPr lang="en-NZ" altLang="ja-JP" sz="1650" b="1" i="1" smtClean="0">
                          <a:solidFill>
                            <a:srgbClr val="0070C0"/>
                          </a:solidFill>
                          <a:latin typeface="Cambria Math" panose="02040503050406030204" pitchFamily="18" charset="0"/>
                        </a:rPr>
                        <m:t>𝑽𝒂𝒓</m:t>
                      </m:r>
                      <m:d>
                        <m:dPr>
                          <m:begChr m:val="["/>
                          <m:endChr m:val="]"/>
                          <m:ctrlPr>
                            <a:rPr lang="en-NZ" altLang="ja-JP" sz="1650" b="1" i="1" smtClean="0">
                              <a:solidFill>
                                <a:srgbClr val="0070C0"/>
                              </a:solidFill>
                              <a:latin typeface="Cambria Math" panose="02040503050406030204" pitchFamily="18" charset="0"/>
                            </a:rPr>
                          </m:ctrlPr>
                        </m:dPr>
                        <m:e>
                          <m:r>
                            <a:rPr lang="en-NZ" altLang="ja-JP" sz="1650" b="1" i="1" smtClean="0">
                              <a:solidFill>
                                <a:srgbClr val="0070C0"/>
                              </a:solidFill>
                              <a:latin typeface="Cambria Math" panose="02040503050406030204" pitchFamily="18" charset="0"/>
                            </a:rPr>
                            <m:t> </m:t>
                          </m:r>
                          <m:sSub>
                            <m:sSubPr>
                              <m:ctrlPr>
                                <a:rPr lang="en-NZ" altLang="ja-JP" sz="1650" b="1" i="1">
                                  <a:solidFill>
                                    <a:srgbClr val="0070C0"/>
                                  </a:solidFill>
                                  <a:latin typeface="Cambria Math" panose="02040503050406030204" pitchFamily="18" charset="0"/>
                                </a:rPr>
                              </m:ctrlPr>
                            </m:sSubPr>
                            <m:e>
                              <m:r>
                                <a:rPr lang="en-NZ" altLang="ja-JP" sz="1650" b="1" i="1">
                                  <a:solidFill>
                                    <a:srgbClr val="0070C0"/>
                                  </a:solidFill>
                                  <a:latin typeface="Cambria Math" panose="02040503050406030204" pitchFamily="18" charset="0"/>
                                </a:rPr>
                                <m:t>𝒀</m:t>
                              </m:r>
                            </m:e>
                            <m:sub>
                              <m:r>
                                <a:rPr lang="en-NZ" altLang="ja-JP" sz="1650" b="1" i="1">
                                  <a:solidFill>
                                    <a:srgbClr val="0070C0"/>
                                  </a:solidFill>
                                  <a:latin typeface="Cambria Math" panose="02040503050406030204" pitchFamily="18" charset="0"/>
                                </a:rPr>
                                <m:t>𝒊𝒋𝒌</m:t>
                              </m:r>
                              <m:r>
                                <a:rPr lang="en-NZ" altLang="ja-JP" sz="1650" b="1" i="1" smtClean="0">
                                  <a:solidFill>
                                    <a:srgbClr val="0070C0"/>
                                  </a:solidFill>
                                  <a:latin typeface="Cambria Math" panose="02040503050406030204" pitchFamily="18" charset="0"/>
                                </a:rPr>
                                <m:t>𝒎</m:t>
                              </m:r>
                            </m:sub>
                          </m:sSub>
                          <m:r>
                            <a:rPr lang="en-NZ" altLang="ja-JP" sz="1650" b="1" i="1" smtClean="0">
                              <a:solidFill>
                                <a:srgbClr val="0070C0"/>
                              </a:solidFill>
                              <a:latin typeface="Cambria Math" panose="02040503050406030204" pitchFamily="18" charset="0"/>
                            </a:rPr>
                            <m:t> </m:t>
                          </m:r>
                        </m:e>
                      </m:d>
                      <m:r>
                        <a:rPr lang="en-NZ" altLang="ja-JP" sz="1650" b="1" i="1" smtClean="0">
                          <a:solidFill>
                            <a:srgbClr val="0070C0"/>
                          </a:solidFill>
                          <a:latin typeface="Cambria Math" panose="02040503050406030204" pitchFamily="18" charset="0"/>
                        </a:rPr>
                        <m:t> =</m:t>
                      </m:r>
                      <m:r>
                        <a:rPr lang="en-NZ" altLang="ja-JP" sz="1650" b="1" i="1" smtClean="0">
                          <a:solidFill>
                            <a:srgbClr val="0070C0"/>
                          </a:solidFill>
                          <a:latin typeface="Cambria Math" panose="02040503050406030204" pitchFamily="18" charset="0"/>
                        </a:rPr>
                        <m:t>𝑽𝒂𝒓</m:t>
                      </m:r>
                      <m:d>
                        <m:dPr>
                          <m:begChr m:val="["/>
                          <m:endChr m:val="]"/>
                          <m:ctrlPr>
                            <a:rPr lang="en-NZ" altLang="ja-JP" sz="1650" b="1" i="1" smtClean="0">
                              <a:solidFill>
                                <a:srgbClr val="0070C0"/>
                              </a:solidFill>
                              <a:latin typeface="Cambria Math" panose="02040503050406030204" pitchFamily="18" charset="0"/>
                            </a:rPr>
                          </m:ctrlPr>
                        </m:dPr>
                        <m:e>
                          <m:r>
                            <a:rPr lang="en-NZ" altLang="ja-JP" sz="1650" b="1" i="1" smtClean="0">
                              <a:solidFill>
                                <a:srgbClr val="0070C0"/>
                              </a:solidFill>
                              <a:latin typeface="Cambria Math" panose="02040503050406030204" pitchFamily="18" charset="0"/>
                            </a:rPr>
                            <m:t> </m:t>
                          </m:r>
                          <m:r>
                            <a:rPr lang="en-NZ" altLang="ja-JP" sz="1650" b="1" i="1">
                              <a:solidFill>
                                <a:srgbClr val="0070C0"/>
                              </a:solidFill>
                              <a:latin typeface="Cambria Math" panose="02040503050406030204" pitchFamily="18" charset="0"/>
                            </a:rPr>
                            <m:t>𝝁</m:t>
                          </m:r>
                          <m:r>
                            <a:rPr lang="en-NZ" altLang="ja-JP" sz="1650" b="1" i="1">
                              <a:solidFill>
                                <a:srgbClr val="0070C0"/>
                              </a:solidFill>
                              <a:latin typeface="Cambria Math" panose="02040503050406030204" pitchFamily="18" charset="0"/>
                            </a:rPr>
                            <m:t>  +   </m:t>
                          </m:r>
                          <m:sSub>
                            <m:sSubPr>
                              <m:ctrlPr>
                                <a:rPr lang="en-NZ" altLang="ja-JP" sz="1650" b="1" i="1">
                                  <a:solidFill>
                                    <a:srgbClr val="0070C0"/>
                                  </a:solidFill>
                                  <a:latin typeface="Cambria Math" panose="02040503050406030204" pitchFamily="18" charset="0"/>
                                </a:rPr>
                              </m:ctrlPr>
                            </m:sSubPr>
                            <m:e>
                              <m:r>
                                <a:rPr lang="en-NZ" altLang="ja-JP" sz="1650" b="1" i="1">
                                  <a:solidFill>
                                    <a:srgbClr val="0070C0"/>
                                  </a:solidFill>
                                  <a:latin typeface="Cambria Math" panose="02040503050406030204" pitchFamily="18" charset="0"/>
                                </a:rPr>
                                <m:t>𝜶</m:t>
                              </m:r>
                            </m:e>
                            <m:sub>
                              <m:r>
                                <a:rPr lang="en-NZ" altLang="ja-JP" sz="1650" b="1" i="1">
                                  <a:solidFill>
                                    <a:srgbClr val="0070C0"/>
                                  </a:solidFill>
                                  <a:latin typeface="Cambria Math" panose="02040503050406030204" pitchFamily="18" charset="0"/>
                                </a:rPr>
                                <m:t>𝒊</m:t>
                              </m:r>
                            </m:sub>
                          </m:sSub>
                          <m:r>
                            <a:rPr lang="en-NZ" altLang="ja-JP" sz="1650" b="1" i="1">
                              <a:solidFill>
                                <a:srgbClr val="0070C0"/>
                              </a:solidFill>
                              <a:latin typeface="Cambria Math" panose="02040503050406030204" pitchFamily="18" charset="0"/>
                            </a:rPr>
                            <m:t>  +   </m:t>
                          </m:r>
                          <m:sSub>
                            <m:sSubPr>
                              <m:ctrlPr>
                                <a:rPr lang="en-NZ" altLang="ja-JP" sz="1650" b="1" i="1">
                                  <a:solidFill>
                                    <a:srgbClr val="0070C0"/>
                                  </a:solidFill>
                                  <a:latin typeface="Cambria Math" panose="02040503050406030204" pitchFamily="18" charset="0"/>
                                </a:rPr>
                              </m:ctrlPr>
                            </m:sSubPr>
                            <m:e>
                              <m:r>
                                <a:rPr lang="en-NZ" altLang="ja-JP" sz="1650" b="1" i="1">
                                  <a:solidFill>
                                    <a:srgbClr val="0070C0"/>
                                  </a:solidFill>
                                  <a:latin typeface="Cambria Math" panose="02040503050406030204" pitchFamily="18" charset="0"/>
                                </a:rPr>
                                <m:t>𝑩</m:t>
                              </m:r>
                            </m:e>
                            <m:sub>
                              <m:r>
                                <a:rPr lang="en-NZ" altLang="ja-JP" sz="1650" b="1" i="1">
                                  <a:solidFill>
                                    <a:srgbClr val="0070C0"/>
                                  </a:solidFill>
                                  <a:latin typeface="Cambria Math" panose="02040503050406030204" pitchFamily="18" charset="0"/>
                                </a:rPr>
                                <m:t>𝒋</m:t>
                              </m:r>
                              <m:d>
                                <m:dPr>
                                  <m:ctrlPr>
                                    <a:rPr lang="en-NZ" altLang="ja-JP" sz="1650" b="1" i="1">
                                      <a:solidFill>
                                        <a:srgbClr val="0070C0"/>
                                      </a:solidFill>
                                      <a:latin typeface="Cambria Math" panose="02040503050406030204" pitchFamily="18" charset="0"/>
                                    </a:rPr>
                                  </m:ctrlPr>
                                </m:dPr>
                                <m:e>
                                  <m:r>
                                    <a:rPr lang="en-NZ" altLang="ja-JP" sz="1650" b="1" i="1">
                                      <a:solidFill>
                                        <a:srgbClr val="0070C0"/>
                                      </a:solidFill>
                                      <a:latin typeface="Cambria Math" panose="02040503050406030204" pitchFamily="18" charset="0"/>
                                    </a:rPr>
                                    <m:t>𝒊</m:t>
                                  </m:r>
                                </m:e>
                              </m:d>
                            </m:sub>
                          </m:sSub>
                          <m:r>
                            <a:rPr lang="en-NZ" altLang="ja-JP" sz="1650" b="1" i="1">
                              <a:solidFill>
                                <a:srgbClr val="0070C0"/>
                              </a:solidFill>
                              <a:latin typeface="Cambria Math" panose="02040503050406030204" pitchFamily="18" charset="0"/>
                            </a:rPr>
                            <m:t>  +</m:t>
                          </m:r>
                          <m:r>
                            <a:rPr lang="en-NZ" altLang="ja-JP" sz="1650" b="1" i="1" smtClean="0">
                              <a:solidFill>
                                <a:srgbClr val="0070C0"/>
                              </a:solidFill>
                              <a:latin typeface="Cambria Math" panose="02040503050406030204" pitchFamily="18" charset="0"/>
                            </a:rPr>
                            <m:t> </m:t>
                          </m:r>
                          <m:sSub>
                            <m:sSubPr>
                              <m:ctrlPr>
                                <a:rPr lang="en-NZ" altLang="ja-JP" sz="1650" b="1" i="1">
                                  <a:solidFill>
                                    <a:srgbClr val="0070C0"/>
                                  </a:solidFill>
                                  <a:latin typeface="Cambria Math" panose="02040503050406030204" pitchFamily="18" charset="0"/>
                                </a:rPr>
                              </m:ctrlPr>
                            </m:sSubPr>
                            <m:e>
                              <m:r>
                                <a:rPr lang="en-NZ" altLang="ja-JP" sz="1650" b="1" i="1" smtClean="0">
                                  <a:solidFill>
                                    <a:srgbClr val="0070C0"/>
                                  </a:solidFill>
                                  <a:latin typeface="Cambria Math" panose="02040503050406030204" pitchFamily="18" charset="0"/>
                                </a:rPr>
                                <m:t> </m:t>
                              </m:r>
                              <m:r>
                                <a:rPr lang="en-NZ" altLang="ja-JP" sz="1650" b="1" i="1">
                                  <a:solidFill>
                                    <a:srgbClr val="0070C0"/>
                                  </a:solidFill>
                                  <a:latin typeface="Cambria Math" panose="02040503050406030204" pitchFamily="18" charset="0"/>
                                </a:rPr>
                                <m:t>𝑪</m:t>
                              </m:r>
                            </m:e>
                            <m:sub>
                              <m:r>
                                <a:rPr lang="en-NZ" altLang="ja-JP" sz="1650" b="1" i="1">
                                  <a:solidFill>
                                    <a:srgbClr val="0070C0"/>
                                  </a:solidFill>
                                  <a:latin typeface="Cambria Math" panose="02040503050406030204" pitchFamily="18" charset="0"/>
                                </a:rPr>
                                <m:t>𝒌</m:t>
                              </m:r>
                              <m:r>
                                <a:rPr lang="en-NZ" altLang="ja-JP" sz="1650" b="1" i="1">
                                  <a:solidFill>
                                    <a:srgbClr val="0070C0"/>
                                  </a:solidFill>
                                  <a:latin typeface="Cambria Math" panose="02040503050406030204" pitchFamily="18" charset="0"/>
                                </a:rPr>
                                <m:t>(</m:t>
                              </m:r>
                              <m:r>
                                <a:rPr lang="en-NZ" altLang="ja-JP" sz="1650" b="1" i="1">
                                  <a:solidFill>
                                    <a:srgbClr val="0070C0"/>
                                  </a:solidFill>
                                  <a:latin typeface="Cambria Math" panose="02040503050406030204" pitchFamily="18" charset="0"/>
                                </a:rPr>
                                <m:t>𝒊𝒋</m:t>
                              </m:r>
                              <m:r>
                                <a:rPr lang="en-NZ" altLang="ja-JP" sz="1650" b="1" i="1">
                                  <a:solidFill>
                                    <a:srgbClr val="0070C0"/>
                                  </a:solidFill>
                                  <a:latin typeface="Cambria Math" panose="02040503050406030204" pitchFamily="18" charset="0"/>
                                </a:rPr>
                                <m:t>)</m:t>
                              </m:r>
                            </m:sub>
                          </m:sSub>
                          <m:r>
                            <a:rPr lang="en-NZ" altLang="ja-JP" sz="1650" b="1" i="1" smtClean="0">
                              <a:solidFill>
                                <a:srgbClr val="0070C0"/>
                              </a:solidFill>
                              <a:latin typeface="Cambria Math" panose="02040503050406030204" pitchFamily="18" charset="0"/>
                            </a:rPr>
                            <m:t> +</m:t>
                          </m:r>
                          <m:sSub>
                            <m:sSubPr>
                              <m:ctrlPr>
                                <a:rPr lang="en-NZ" altLang="ja-JP" sz="1600" b="1" i="1">
                                  <a:solidFill>
                                    <a:srgbClr val="0070C0"/>
                                  </a:solidFill>
                                  <a:latin typeface="Cambria Math" panose="02040503050406030204" pitchFamily="18" charset="0"/>
                                </a:rPr>
                              </m:ctrlPr>
                            </m:sSubPr>
                            <m:e>
                              <m:r>
                                <a:rPr lang="en-NZ" altLang="ja-JP" sz="1600" b="1" i="1">
                                  <a:solidFill>
                                    <a:srgbClr val="0070C0"/>
                                  </a:solidFill>
                                  <a:latin typeface="Cambria Math" panose="02040503050406030204" pitchFamily="18" charset="0"/>
                                </a:rPr>
                                <m:t> </m:t>
                              </m:r>
                              <m:r>
                                <a:rPr lang="en-NZ" altLang="ja-JP" sz="1600" b="1" i="1">
                                  <a:solidFill>
                                    <a:srgbClr val="0070C0"/>
                                  </a:solidFill>
                                  <a:latin typeface="Cambria Math" panose="02040503050406030204" pitchFamily="18" charset="0"/>
                                </a:rPr>
                                <m:t>𝝐</m:t>
                              </m:r>
                            </m:e>
                            <m:sub>
                              <m:r>
                                <a:rPr lang="en-NZ" altLang="ja-JP" sz="1600" b="1" i="1">
                                  <a:solidFill>
                                    <a:srgbClr val="0070C0"/>
                                  </a:solidFill>
                                  <a:latin typeface="Cambria Math" panose="02040503050406030204" pitchFamily="18" charset="0"/>
                                </a:rPr>
                                <m:t>𝒎</m:t>
                              </m:r>
                              <m:r>
                                <a:rPr lang="en-NZ" altLang="ja-JP" sz="1600" b="1" i="1">
                                  <a:solidFill>
                                    <a:srgbClr val="0070C0"/>
                                  </a:solidFill>
                                  <a:latin typeface="Cambria Math" panose="02040503050406030204" pitchFamily="18" charset="0"/>
                                </a:rPr>
                                <m:t>(</m:t>
                              </m:r>
                              <m:r>
                                <a:rPr lang="en-NZ" altLang="ja-JP" sz="1600" b="1" i="1">
                                  <a:solidFill>
                                    <a:srgbClr val="0070C0"/>
                                  </a:solidFill>
                                  <a:latin typeface="Cambria Math" panose="02040503050406030204" pitchFamily="18" charset="0"/>
                                </a:rPr>
                                <m:t>𝒊𝒋𝒌</m:t>
                              </m:r>
                              <m:r>
                                <a:rPr lang="en-NZ" altLang="ja-JP" sz="1600" b="1" i="1">
                                  <a:solidFill>
                                    <a:srgbClr val="0070C0"/>
                                  </a:solidFill>
                                  <a:latin typeface="Cambria Math" panose="02040503050406030204" pitchFamily="18" charset="0"/>
                                </a:rPr>
                                <m:t>)</m:t>
                              </m:r>
                            </m:sub>
                          </m:sSub>
                        </m:e>
                      </m:d>
                      <m:r>
                        <a:rPr lang="en-NZ" altLang="ja-JP" sz="1650" b="1" i="1" smtClean="0">
                          <a:solidFill>
                            <a:srgbClr val="0070C0"/>
                          </a:solidFill>
                          <a:latin typeface="Cambria Math" panose="02040503050406030204" pitchFamily="18" charset="0"/>
                        </a:rPr>
                        <m:t> </m:t>
                      </m:r>
                      <m:r>
                        <a:rPr lang="en-NZ" altLang="ja-JP" sz="1650" b="1" i="1">
                          <a:solidFill>
                            <a:srgbClr val="0070C0"/>
                          </a:solidFill>
                          <a:latin typeface="Cambria Math" panose="02040503050406030204" pitchFamily="18" charset="0"/>
                        </a:rPr>
                        <m:t>=</m:t>
                      </m:r>
                      <m:r>
                        <a:rPr lang="en-NZ" altLang="ja-JP" sz="1650" b="1" i="1" smtClean="0">
                          <a:solidFill>
                            <a:srgbClr val="0070C0"/>
                          </a:solidFill>
                          <a:latin typeface="Cambria Math" panose="02040503050406030204" pitchFamily="18" charset="0"/>
                        </a:rPr>
                        <m:t>𝑽𝒂𝒓</m:t>
                      </m:r>
                      <m:d>
                        <m:dPr>
                          <m:begChr m:val="["/>
                          <m:endChr m:val="]"/>
                          <m:ctrlPr>
                            <a:rPr lang="en-NZ" altLang="ja-JP" sz="1650" b="1" i="1">
                              <a:solidFill>
                                <a:srgbClr val="0070C0"/>
                              </a:solidFill>
                              <a:latin typeface="Cambria Math" panose="02040503050406030204" pitchFamily="18" charset="0"/>
                            </a:rPr>
                          </m:ctrlPr>
                        </m:dPr>
                        <m:e>
                          <m:r>
                            <a:rPr lang="en-NZ" altLang="ja-JP" sz="1650" b="1" i="1">
                              <a:solidFill>
                                <a:srgbClr val="0070C0"/>
                              </a:solidFill>
                              <a:latin typeface="Cambria Math" panose="02040503050406030204" pitchFamily="18" charset="0"/>
                            </a:rPr>
                            <m:t> </m:t>
                          </m:r>
                          <m:r>
                            <a:rPr lang="en-NZ" altLang="ja-JP" sz="1650" b="1" i="1">
                              <a:solidFill>
                                <a:srgbClr val="0070C0"/>
                              </a:solidFill>
                              <a:latin typeface="Cambria Math" panose="02040503050406030204" pitchFamily="18" charset="0"/>
                            </a:rPr>
                            <m:t>𝝁</m:t>
                          </m:r>
                          <m:r>
                            <a:rPr lang="en-NZ" altLang="ja-JP" sz="1650" b="1" i="1" smtClean="0">
                              <a:solidFill>
                                <a:srgbClr val="0070C0"/>
                              </a:solidFill>
                              <a:latin typeface="Cambria Math" panose="02040503050406030204" pitchFamily="18" charset="0"/>
                            </a:rPr>
                            <m:t> </m:t>
                          </m:r>
                        </m:e>
                      </m:d>
                      <m:r>
                        <a:rPr lang="en-NZ" altLang="ja-JP" sz="1650" b="1" i="1" smtClean="0">
                          <a:solidFill>
                            <a:srgbClr val="0070C0"/>
                          </a:solidFill>
                          <a:latin typeface="Cambria Math" panose="02040503050406030204" pitchFamily="18" charset="0"/>
                        </a:rPr>
                        <m:t> +</m:t>
                      </m:r>
                      <m:r>
                        <a:rPr lang="en-NZ" altLang="ja-JP" sz="1650" b="1" i="1" smtClean="0">
                          <a:solidFill>
                            <a:srgbClr val="0070C0"/>
                          </a:solidFill>
                          <a:latin typeface="Cambria Math" panose="02040503050406030204" pitchFamily="18" charset="0"/>
                        </a:rPr>
                        <m:t>𝑽𝒂𝒓</m:t>
                      </m:r>
                      <m:d>
                        <m:dPr>
                          <m:begChr m:val="["/>
                          <m:endChr m:val="]"/>
                          <m:ctrlPr>
                            <a:rPr lang="en-NZ" altLang="ja-JP" sz="1650" b="1" i="1">
                              <a:solidFill>
                                <a:srgbClr val="0070C0"/>
                              </a:solidFill>
                              <a:latin typeface="Cambria Math" panose="02040503050406030204" pitchFamily="18" charset="0"/>
                            </a:rPr>
                          </m:ctrlPr>
                        </m:dPr>
                        <m:e>
                          <m:r>
                            <a:rPr lang="en-NZ" altLang="ja-JP" sz="1650" b="1" i="1">
                              <a:solidFill>
                                <a:srgbClr val="0070C0"/>
                              </a:solidFill>
                              <a:latin typeface="Cambria Math" panose="02040503050406030204" pitchFamily="18" charset="0"/>
                            </a:rPr>
                            <m:t> </m:t>
                          </m:r>
                          <m:sSub>
                            <m:sSubPr>
                              <m:ctrlPr>
                                <a:rPr lang="en-NZ" altLang="ja-JP" sz="1650" b="1" i="1">
                                  <a:solidFill>
                                    <a:srgbClr val="0070C0"/>
                                  </a:solidFill>
                                  <a:latin typeface="Cambria Math" panose="02040503050406030204" pitchFamily="18" charset="0"/>
                                </a:rPr>
                              </m:ctrlPr>
                            </m:sSubPr>
                            <m:e>
                              <m:r>
                                <a:rPr lang="en-NZ" altLang="ja-JP" sz="1650" b="1" i="1">
                                  <a:solidFill>
                                    <a:srgbClr val="0070C0"/>
                                  </a:solidFill>
                                  <a:latin typeface="Cambria Math" panose="02040503050406030204" pitchFamily="18" charset="0"/>
                                </a:rPr>
                                <m:t>𝜶</m:t>
                              </m:r>
                            </m:e>
                            <m:sub>
                              <m:r>
                                <a:rPr lang="en-NZ" altLang="ja-JP" sz="1650" b="1" i="1">
                                  <a:solidFill>
                                    <a:srgbClr val="0070C0"/>
                                  </a:solidFill>
                                  <a:latin typeface="Cambria Math" panose="02040503050406030204" pitchFamily="18" charset="0"/>
                                </a:rPr>
                                <m:t>𝒊</m:t>
                              </m:r>
                            </m:sub>
                          </m:sSub>
                          <m:r>
                            <a:rPr lang="en-NZ" altLang="ja-JP" sz="1650" b="1" i="1">
                              <a:solidFill>
                                <a:srgbClr val="0070C0"/>
                              </a:solidFill>
                              <a:latin typeface="Cambria Math" panose="02040503050406030204" pitchFamily="18" charset="0"/>
                            </a:rPr>
                            <m:t> </m:t>
                          </m:r>
                        </m:e>
                      </m:d>
                      <m:r>
                        <a:rPr lang="en-NZ" altLang="ja-JP" sz="1650" b="1" i="1" smtClean="0">
                          <a:solidFill>
                            <a:srgbClr val="0070C0"/>
                          </a:solidFill>
                          <a:latin typeface="Cambria Math" panose="02040503050406030204" pitchFamily="18" charset="0"/>
                        </a:rPr>
                        <m:t> +</m:t>
                      </m:r>
                      <m:r>
                        <a:rPr lang="en-NZ" altLang="ja-JP" sz="1650" b="1" i="1" smtClean="0">
                          <a:solidFill>
                            <a:srgbClr val="0070C0"/>
                          </a:solidFill>
                          <a:latin typeface="Cambria Math" panose="02040503050406030204" pitchFamily="18" charset="0"/>
                        </a:rPr>
                        <m:t>𝑽𝒂𝒓</m:t>
                      </m:r>
                      <m:d>
                        <m:dPr>
                          <m:begChr m:val="["/>
                          <m:endChr m:val="]"/>
                          <m:ctrlPr>
                            <a:rPr lang="en-NZ" altLang="ja-JP" sz="1650" b="1" i="1">
                              <a:solidFill>
                                <a:srgbClr val="0070C0"/>
                              </a:solidFill>
                              <a:latin typeface="Cambria Math" panose="02040503050406030204" pitchFamily="18" charset="0"/>
                            </a:rPr>
                          </m:ctrlPr>
                        </m:dPr>
                        <m:e>
                          <m:r>
                            <a:rPr lang="en-NZ" altLang="ja-JP" sz="1650" b="1" i="1">
                              <a:solidFill>
                                <a:srgbClr val="0070C0"/>
                              </a:solidFill>
                              <a:latin typeface="Cambria Math" panose="02040503050406030204" pitchFamily="18" charset="0"/>
                            </a:rPr>
                            <m:t> </m:t>
                          </m:r>
                          <m:sSub>
                            <m:sSubPr>
                              <m:ctrlPr>
                                <a:rPr lang="en-NZ" altLang="ja-JP" sz="1650" b="1" i="1">
                                  <a:solidFill>
                                    <a:srgbClr val="0070C0"/>
                                  </a:solidFill>
                                  <a:latin typeface="Cambria Math" panose="02040503050406030204" pitchFamily="18" charset="0"/>
                                </a:rPr>
                              </m:ctrlPr>
                            </m:sSubPr>
                            <m:e>
                              <m:r>
                                <a:rPr lang="en-NZ" altLang="ja-JP" sz="1650" b="1" i="1">
                                  <a:solidFill>
                                    <a:srgbClr val="0070C0"/>
                                  </a:solidFill>
                                  <a:latin typeface="Cambria Math" panose="02040503050406030204" pitchFamily="18" charset="0"/>
                                </a:rPr>
                                <m:t>𝑩</m:t>
                              </m:r>
                            </m:e>
                            <m:sub>
                              <m:r>
                                <a:rPr lang="en-NZ" altLang="ja-JP" sz="1650" b="1" i="1">
                                  <a:solidFill>
                                    <a:srgbClr val="0070C0"/>
                                  </a:solidFill>
                                  <a:latin typeface="Cambria Math" panose="02040503050406030204" pitchFamily="18" charset="0"/>
                                </a:rPr>
                                <m:t>𝒋</m:t>
                              </m:r>
                              <m:d>
                                <m:dPr>
                                  <m:ctrlPr>
                                    <a:rPr lang="en-NZ" altLang="ja-JP" sz="1650" b="1" i="1">
                                      <a:solidFill>
                                        <a:srgbClr val="0070C0"/>
                                      </a:solidFill>
                                      <a:latin typeface="Cambria Math" panose="02040503050406030204" pitchFamily="18" charset="0"/>
                                    </a:rPr>
                                  </m:ctrlPr>
                                </m:dPr>
                                <m:e>
                                  <m:r>
                                    <a:rPr lang="en-NZ" altLang="ja-JP" sz="1650" b="1" i="1">
                                      <a:solidFill>
                                        <a:srgbClr val="0070C0"/>
                                      </a:solidFill>
                                      <a:latin typeface="Cambria Math" panose="02040503050406030204" pitchFamily="18" charset="0"/>
                                    </a:rPr>
                                    <m:t>𝒊</m:t>
                                  </m:r>
                                </m:e>
                              </m:d>
                            </m:sub>
                          </m:sSub>
                          <m:r>
                            <a:rPr lang="en-NZ" altLang="ja-JP" sz="1650" b="1" i="1">
                              <a:solidFill>
                                <a:srgbClr val="0070C0"/>
                              </a:solidFill>
                              <a:latin typeface="Cambria Math" panose="02040503050406030204" pitchFamily="18" charset="0"/>
                            </a:rPr>
                            <m:t> </m:t>
                          </m:r>
                        </m:e>
                      </m:d>
                      <m:r>
                        <a:rPr lang="en-NZ" altLang="ja-JP" sz="1650" b="1" i="1" smtClean="0">
                          <a:solidFill>
                            <a:srgbClr val="0070C0"/>
                          </a:solidFill>
                          <a:latin typeface="Cambria Math" panose="02040503050406030204" pitchFamily="18" charset="0"/>
                        </a:rPr>
                        <m:t> +</m:t>
                      </m:r>
                      <m:r>
                        <a:rPr lang="en-NZ" altLang="ja-JP" sz="1650" b="1" i="1" smtClean="0">
                          <a:solidFill>
                            <a:srgbClr val="0070C0"/>
                          </a:solidFill>
                          <a:latin typeface="Cambria Math" panose="02040503050406030204" pitchFamily="18" charset="0"/>
                        </a:rPr>
                        <m:t>𝑽𝒂𝒓</m:t>
                      </m:r>
                      <m:d>
                        <m:dPr>
                          <m:begChr m:val="["/>
                          <m:endChr m:val="]"/>
                          <m:ctrlPr>
                            <a:rPr lang="en-NZ" altLang="ja-JP" sz="1650" b="1" i="1">
                              <a:solidFill>
                                <a:srgbClr val="0070C0"/>
                              </a:solidFill>
                              <a:latin typeface="Cambria Math" panose="02040503050406030204" pitchFamily="18" charset="0"/>
                            </a:rPr>
                          </m:ctrlPr>
                        </m:dPr>
                        <m:e>
                          <m:sSub>
                            <m:sSubPr>
                              <m:ctrlPr>
                                <a:rPr lang="en-NZ" altLang="ja-JP" sz="1650" b="1" i="1">
                                  <a:solidFill>
                                    <a:srgbClr val="0070C0"/>
                                  </a:solidFill>
                                  <a:latin typeface="Cambria Math" panose="02040503050406030204" pitchFamily="18" charset="0"/>
                                </a:rPr>
                              </m:ctrlPr>
                            </m:sSubPr>
                            <m:e>
                              <m:r>
                                <a:rPr lang="en-NZ" altLang="ja-JP" sz="1650" b="1" i="1">
                                  <a:solidFill>
                                    <a:srgbClr val="0070C0"/>
                                  </a:solidFill>
                                  <a:latin typeface="Cambria Math" panose="02040503050406030204" pitchFamily="18" charset="0"/>
                                </a:rPr>
                                <m:t> </m:t>
                              </m:r>
                              <m:r>
                                <a:rPr lang="en-NZ" altLang="ja-JP" sz="1650" b="1" i="1">
                                  <a:solidFill>
                                    <a:srgbClr val="0070C0"/>
                                  </a:solidFill>
                                  <a:latin typeface="Cambria Math" panose="02040503050406030204" pitchFamily="18" charset="0"/>
                                </a:rPr>
                                <m:t>𝑪</m:t>
                              </m:r>
                            </m:e>
                            <m:sub>
                              <m:r>
                                <a:rPr lang="en-NZ" altLang="ja-JP" sz="1650" b="1" i="1">
                                  <a:solidFill>
                                    <a:srgbClr val="0070C0"/>
                                  </a:solidFill>
                                  <a:latin typeface="Cambria Math" panose="02040503050406030204" pitchFamily="18" charset="0"/>
                                </a:rPr>
                                <m:t>𝒌</m:t>
                              </m:r>
                              <m:r>
                                <a:rPr lang="en-NZ" altLang="ja-JP" sz="1650" b="1" i="1">
                                  <a:solidFill>
                                    <a:srgbClr val="0070C0"/>
                                  </a:solidFill>
                                  <a:latin typeface="Cambria Math" panose="02040503050406030204" pitchFamily="18" charset="0"/>
                                </a:rPr>
                                <m:t>(</m:t>
                              </m:r>
                              <m:r>
                                <a:rPr lang="en-NZ" altLang="ja-JP" sz="1650" b="1" i="1">
                                  <a:solidFill>
                                    <a:srgbClr val="0070C0"/>
                                  </a:solidFill>
                                  <a:latin typeface="Cambria Math" panose="02040503050406030204" pitchFamily="18" charset="0"/>
                                </a:rPr>
                                <m:t>𝒊𝒋</m:t>
                              </m:r>
                              <m:r>
                                <a:rPr lang="en-NZ" altLang="ja-JP" sz="1650" b="1" i="1">
                                  <a:solidFill>
                                    <a:srgbClr val="0070C0"/>
                                  </a:solidFill>
                                  <a:latin typeface="Cambria Math" panose="02040503050406030204" pitchFamily="18" charset="0"/>
                                </a:rPr>
                                <m:t>)</m:t>
                              </m:r>
                            </m:sub>
                          </m:sSub>
                        </m:e>
                      </m:d>
                      <m:r>
                        <a:rPr lang="en-NZ" altLang="ja-JP" sz="1650" b="1" i="1" smtClean="0">
                          <a:solidFill>
                            <a:srgbClr val="0070C0"/>
                          </a:solidFill>
                          <a:latin typeface="Cambria Math" panose="02040503050406030204" pitchFamily="18" charset="0"/>
                        </a:rPr>
                        <m:t> +  </m:t>
                      </m:r>
                      <m:r>
                        <a:rPr lang="en-NZ" altLang="ja-JP" sz="1650" b="1" i="1" smtClean="0">
                          <a:solidFill>
                            <a:srgbClr val="0070C0"/>
                          </a:solidFill>
                          <a:latin typeface="Cambria Math" panose="02040503050406030204" pitchFamily="18" charset="0"/>
                        </a:rPr>
                        <m:t>𝑽𝒂𝒓</m:t>
                      </m:r>
                      <m:d>
                        <m:dPr>
                          <m:begChr m:val="["/>
                          <m:endChr m:val="]"/>
                          <m:ctrlPr>
                            <a:rPr lang="en-NZ" altLang="ja-JP" sz="1650" b="1" i="1">
                              <a:solidFill>
                                <a:srgbClr val="0070C0"/>
                              </a:solidFill>
                              <a:latin typeface="Cambria Math" panose="02040503050406030204" pitchFamily="18" charset="0"/>
                            </a:rPr>
                          </m:ctrlPr>
                        </m:dPr>
                        <m:e>
                          <m:sSub>
                            <m:sSubPr>
                              <m:ctrlPr>
                                <a:rPr lang="en-NZ" altLang="ja-JP" sz="1650" b="1" i="1">
                                  <a:solidFill>
                                    <a:srgbClr val="0070C0"/>
                                  </a:solidFill>
                                  <a:latin typeface="Cambria Math" panose="02040503050406030204" pitchFamily="18" charset="0"/>
                                </a:rPr>
                              </m:ctrlPr>
                            </m:sSubPr>
                            <m:e>
                              <m:r>
                                <a:rPr lang="en-NZ" altLang="ja-JP" sz="1650" b="1" i="1">
                                  <a:solidFill>
                                    <a:srgbClr val="0070C0"/>
                                  </a:solidFill>
                                  <a:latin typeface="Cambria Math" panose="02040503050406030204" pitchFamily="18" charset="0"/>
                                </a:rPr>
                                <m:t>𝝐</m:t>
                              </m:r>
                            </m:e>
                            <m:sub>
                              <m:r>
                                <a:rPr lang="en-NZ" altLang="ja-JP" sz="1650" b="1" i="1">
                                  <a:solidFill>
                                    <a:srgbClr val="0070C0"/>
                                  </a:solidFill>
                                  <a:latin typeface="Cambria Math" panose="02040503050406030204" pitchFamily="18" charset="0"/>
                                </a:rPr>
                                <m:t>𝒎</m:t>
                              </m:r>
                              <m:r>
                                <a:rPr lang="en-NZ" altLang="ja-JP" sz="1650" b="1" i="1">
                                  <a:solidFill>
                                    <a:srgbClr val="0070C0"/>
                                  </a:solidFill>
                                  <a:latin typeface="Cambria Math" panose="02040503050406030204" pitchFamily="18" charset="0"/>
                                </a:rPr>
                                <m:t>(</m:t>
                              </m:r>
                              <m:r>
                                <a:rPr lang="en-NZ" altLang="ja-JP" sz="1650" b="1" i="1">
                                  <a:solidFill>
                                    <a:srgbClr val="0070C0"/>
                                  </a:solidFill>
                                  <a:latin typeface="Cambria Math" panose="02040503050406030204" pitchFamily="18" charset="0"/>
                                </a:rPr>
                                <m:t>𝒊𝒋𝒌</m:t>
                              </m:r>
                              <m:r>
                                <a:rPr lang="en-NZ" altLang="ja-JP" sz="1650" b="1" i="1">
                                  <a:solidFill>
                                    <a:srgbClr val="0070C0"/>
                                  </a:solidFill>
                                  <a:latin typeface="Cambria Math" panose="02040503050406030204" pitchFamily="18" charset="0"/>
                                </a:rPr>
                                <m:t>)</m:t>
                              </m:r>
                            </m:sub>
                          </m:sSub>
                        </m:e>
                      </m:d>
                    </m:oMath>
                  </m:oMathPara>
                </a14:m>
                <a:endParaRPr lang="en-NZ" altLang="ja-JP" sz="1650" b="1" dirty="0">
                  <a:solidFill>
                    <a:srgbClr val="0070C0"/>
                  </a:solidFill>
                </a:endParaRPr>
              </a:p>
            </p:txBody>
          </p:sp>
        </mc:Choice>
        <mc:Fallback xmlns="">
          <p:sp>
            <p:nvSpPr>
              <p:cNvPr id="25" name="Text Placeholder 5">
                <a:extLst>
                  <a:ext uri="{FF2B5EF4-FFF2-40B4-BE49-F238E27FC236}">
                    <a16:creationId xmlns:a16="http://schemas.microsoft.com/office/drawing/2014/main" id="{57118E24-AEA6-6C72-C8DE-0A73ACB6B8BF}"/>
                  </a:ext>
                </a:extLst>
              </p:cNvPr>
              <p:cNvSpPr txBox="1">
                <a:spLocks noRot="1" noChangeAspect="1" noMove="1" noResize="1" noEditPoints="1" noAdjustHandles="1" noChangeArrowheads="1" noChangeShapeType="1" noTextEdit="1"/>
              </p:cNvSpPr>
              <p:nvPr/>
            </p:nvSpPr>
            <p:spPr>
              <a:xfrm>
                <a:off x="0" y="5805928"/>
                <a:ext cx="12192000" cy="465047"/>
              </a:xfrm>
              <a:prstGeom prst="rect">
                <a:avLst/>
              </a:prstGeom>
              <a:blipFill>
                <a:blip r:embed="rId8"/>
                <a:stretch>
                  <a:fillRect/>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26" name="Text Placeholder 5">
                <a:extLst>
                  <a:ext uri="{FF2B5EF4-FFF2-40B4-BE49-F238E27FC236}">
                    <a16:creationId xmlns:a16="http://schemas.microsoft.com/office/drawing/2014/main" id="{C4C1997C-8F98-D9A5-3F4E-87FECA62A0C8}"/>
                  </a:ext>
                </a:extLst>
              </p:cNvPr>
              <p:cNvSpPr txBox="1">
                <a:spLocks/>
              </p:cNvSpPr>
              <p:nvPr/>
            </p:nvSpPr>
            <p:spPr>
              <a:xfrm>
                <a:off x="1378857" y="6217835"/>
                <a:ext cx="7660208" cy="413017"/>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1800" b="1" dirty="0">
                    <a:solidFill>
                      <a:srgbClr val="0070C0"/>
                    </a:solidFill>
                  </a:rPr>
                  <a:t> </a:t>
                </a:r>
                <a14:m>
                  <m:oMath xmlns:m="http://schemas.openxmlformats.org/officeDocument/2006/math">
                    <m:r>
                      <a:rPr lang="en-NZ" altLang="ja-JP" sz="1800" b="1" i="1" smtClean="0">
                        <a:solidFill>
                          <a:srgbClr val="0070C0"/>
                        </a:solidFill>
                        <a:latin typeface="Cambria Math" panose="02040503050406030204" pitchFamily="18" charset="0"/>
                      </a:rPr>
                      <m:t>=</m:t>
                    </m:r>
                    <m:sSubSup>
                      <m:sSubSupPr>
                        <m:ctrlPr>
                          <a:rPr lang="en-NZ" altLang="ja-JP" sz="1800" b="1" i="1">
                            <a:solidFill>
                              <a:srgbClr val="0070C0"/>
                            </a:solidFill>
                            <a:latin typeface="Cambria Math" panose="02040503050406030204" pitchFamily="18" charset="0"/>
                          </a:rPr>
                        </m:ctrlPr>
                      </m:sSubSupPr>
                      <m:e>
                        <m:r>
                          <a:rPr lang="en-NZ" altLang="ja-JP" sz="1800" b="1" i="1">
                            <a:solidFill>
                              <a:srgbClr val="0070C0"/>
                            </a:solidFill>
                            <a:latin typeface="Cambria Math" panose="02040503050406030204" pitchFamily="18" charset="0"/>
                          </a:rPr>
                          <m:t>𝝈</m:t>
                        </m:r>
                      </m:e>
                      <m:sub>
                        <m:r>
                          <a:rPr lang="en-NZ" altLang="ja-JP" sz="1800" b="1" i="1">
                            <a:solidFill>
                              <a:srgbClr val="0070C0"/>
                            </a:solidFill>
                            <a:latin typeface="Cambria Math" panose="02040503050406030204" pitchFamily="18" charset="0"/>
                          </a:rPr>
                          <m:t>𝑩</m:t>
                        </m:r>
                      </m:sub>
                      <m:sup>
                        <m:r>
                          <a:rPr lang="en-NZ" altLang="ja-JP" sz="1800" b="1" i="1">
                            <a:solidFill>
                              <a:srgbClr val="0070C0"/>
                            </a:solidFill>
                            <a:latin typeface="Cambria Math" panose="02040503050406030204" pitchFamily="18" charset="0"/>
                          </a:rPr>
                          <m:t>𝟐</m:t>
                        </m:r>
                      </m:sup>
                    </m:sSubSup>
                    <m:r>
                      <a:rPr lang="en-NZ" altLang="ja-JP" sz="1800" b="1" i="0" smtClean="0">
                        <a:solidFill>
                          <a:srgbClr val="0070C0"/>
                        </a:solidFill>
                        <a:latin typeface="Cambria Math" panose="02040503050406030204" pitchFamily="18" charset="0"/>
                      </a:rPr>
                      <m:t> +</m:t>
                    </m:r>
                    <m:r>
                      <a:rPr lang="en-NZ" altLang="ja-JP" sz="1800" b="1" i="1" smtClean="0">
                        <a:solidFill>
                          <a:srgbClr val="0070C0"/>
                        </a:solidFill>
                        <a:latin typeface="Cambria Math" panose="02040503050406030204" pitchFamily="18" charset="0"/>
                      </a:rPr>
                      <m:t> </m:t>
                    </m:r>
                    <m:sSubSup>
                      <m:sSubSupPr>
                        <m:ctrlPr>
                          <a:rPr lang="en-NZ" altLang="ja-JP" sz="1800" b="1" i="1">
                            <a:solidFill>
                              <a:srgbClr val="0070C0"/>
                            </a:solidFill>
                            <a:latin typeface="Cambria Math" panose="02040503050406030204" pitchFamily="18" charset="0"/>
                          </a:rPr>
                        </m:ctrlPr>
                      </m:sSubSupPr>
                      <m:e>
                        <m:r>
                          <a:rPr lang="en-NZ" altLang="ja-JP" sz="1800" b="1" i="1">
                            <a:solidFill>
                              <a:srgbClr val="0070C0"/>
                            </a:solidFill>
                            <a:latin typeface="Cambria Math" panose="02040503050406030204" pitchFamily="18" charset="0"/>
                          </a:rPr>
                          <m:t>𝝈</m:t>
                        </m:r>
                      </m:e>
                      <m:sub>
                        <m:r>
                          <a:rPr lang="en-NZ" altLang="ja-JP" sz="1800" b="1" i="1">
                            <a:solidFill>
                              <a:srgbClr val="0070C0"/>
                            </a:solidFill>
                            <a:latin typeface="Cambria Math" panose="02040503050406030204" pitchFamily="18" charset="0"/>
                          </a:rPr>
                          <m:t>𝑪</m:t>
                        </m:r>
                      </m:sub>
                      <m:sup>
                        <m:r>
                          <a:rPr lang="en-NZ" altLang="ja-JP" sz="1800" b="1" i="1">
                            <a:solidFill>
                              <a:srgbClr val="0070C0"/>
                            </a:solidFill>
                            <a:latin typeface="Cambria Math" panose="02040503050406030204" pitchFamily="18" charset="0"/>
                          </a:rPr>
                          <m:t>𝟐</m:t>
                        </m:r>
                      </m:sup>
                    </m:sSubSup>
                    <m:r>
                      <a:rPr lang="en-NZ" altLang="ja-JP" sz="1800" b="1" i="1" smtClean="0">
                        <a:solidFill>
                          <a:srgbClr val="0070C0"/>
                        </a:solidFill>
                        <a:latin typeface="Cambria Math" panose="02040503050406030204" pitchFamily="18" charset="0"/>
                      </a:rPr>
                      <m:t> +</m:t>
                    </m:r>
                    <m:sSup>
                      <m:sSupPr>
                        <m:ctrlPr>
                          <a:rPr lang="en-NZ" altLang="ja-JP" sz="1800" b="1" i="1">
                            <a:solidFill>
                              <a:srgbClr val="0070C0"/>
                            </a:solidFill>
                            <a:latin typeface="Cambria Math" panose="02040503050406030204" pitchFamily="18" charset="0"/>
                          </a:rPr>
                        </m:ctrlPr>
                      </m:sSupPr>
                      <m:e>
                        <m:r>
                          <a:rPr lang="en-NZ" altLang="ja-JP" sz="1800" b="1" i="1" smtClean="0">
                            <a:solidFill>
                              <a:srgbClr val="0070C0"/>
                            </a:solidFill>
                            <a:latin typeface="Cambria Math" panose="02040503050406030204" pitchFamily="18" charset="0"/>
                          </a:rPr>
                          <m:t>  </m:t>
                        </m:r>
                        <m:r>
                          <a:rPr lang="en-NZ" altLang="ja-JP" sz="1800" b="1" i="1">
                            <a:solidFill>
                              <a:srgbClr val="0070C0"/>
                            </a:solidFill>
                            <a:latin typeface="Cambria Math" panose="02040503050406030204" pitchFamily="18" charset="0"/>
                          </a:rPr>
                          <m:t>𝝈</m:t>
                        </m:r>
                      </m:e>
                      <m:sup>
                        <m:r>
                          <a:rPr lang="en-NZ" altLang="ja-JP" sz="1800" b="1" i="1">
                            <a:solidFill>
                              <a:srgbClr val="0070C0"/>
                            </a:solidFill>
                            <a:latin typeface="Cambria Math" panose="02040503050406030204" pitchFamily="18" charset="0"/>
                          </a:rPr>
                          <m:t>𝟐</m:t>
                        </m:r>
                      </m:sup>
                    </m:sSup>
                  </m:oMath>
                </a14:m>
                <a:endParaRPr lang="en-NZ" altLang="ja-JP" sz="1800" b="1" dirty="0">
                  <a:solidFill>
                    <a:srgbClr val="0070C0"/>
                  </a:solidFill>
                </a:endParaRPr>
              </a:p>
            </p:txBody>
          </p:sp>
        </mc:Choice>
        <mc:Fallback xmlns="">
          <p:sp>
            <p:nvSpPr>
              <p:cNvPr id="26" name="Text Placeholder 5">
                <a:extLst>
                  <a:ext uri="{FF2B5EF4-FFF2-40B4-BE49-F238E27FC236}">
                    <a16:creationId xmlns:a16="http://schemas.microsoft.com/office/drawing/2014/main" id="{C4C1997C-8F98-D9A5-3F4E-87FECA62A0C8}"/>
                  </a:ext>
                </a:extLst>
              </p:cNvPr>
              <p:cNvSpPr txBox="1">
                <a:spLocks noRot="1" noChangeAspect="1" noMove="1" noResize="1" noEditPoints="1" noAdjustHandles="1" noChangeArrowheads="1" noChangeShapeType="1" noTextEdit="1"/>
              </p:cNvSpPr>
              <p:nvPr/>
            </p:nvSpPr>
            <p:spPr>
              <a:xfrm>
                <a:off x="1378857" y="6217835"/>
                <a:ext cx="7660208" cy="413017"/>
              </a:xfrm>
              <a:prstGeom prst="rect">
                <a:avLst/>
              </a:prstGeom>
              <a:blipFill>
                <a:blip r:embed="rId9"/>
                <a:stretch>
                  <a:fillRect/>
                </a:stretch>
              </a:blipFill>
            </p:spPr>
            <p:txBody>
              <a:bodyPr/>
              <a:lstStyle/>
              <a:p>
                <a:r>
                  <a:rPr lang="en-NZ">
                    <a:noFill/>
                  </a:rPr>
                  <a:t> </a:t>
                </a:r>
              </a:p>
            </p:txBody>
          </p:sp>
        </mc:Fallback>
      </mc:AlternateContent>
    </p:spTree>
    <p:extLst>
      <p:ext uri="{BB962C8B-B14F-4D97-AF65-F5344CB8AC3E}">
        <p14:creationId xmlns:p14="http://schemas.microsoft.com/office/powerpoint/2010/main" val="22635358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9" grpId="0"/>
      <p:bldP spid="25" grpId="0"/>
      <p:bldP spid="26"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2">
            <a:extLst>
              <a:ext uri="{FF2B5EF4-FFF2-40B4-BE49-F238E27FC236}">
                <a16:creationId xmlns:a16="http://schemas.microsoft.com/office/drawing/2014/main" id="{FCA3135E-12FE-4808-B68B-466D5B0EBCB1}"/>
              </a:ext>
            </a:extLst>
          </p:cNvPr>
          <p:cNvSpPr txBox="1">
            <a:spLocks/>
          </p:cNvSpPr>
          <p:nvPr/>
        </p:nvSpPr>
        <p:spPr>
          <a:xfrm>
            <a:off x="8775510" y="86139"/>
            <a:ext cx="3313855"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rPr>
              <a:t>5.4 – 3-Stage Nested Design</a:t>
            </a:r>
            <a:endParaRPr kumimoji="1" lang="ja-JP" altLang="en-US"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endParaRPr>
          </a:p>
        </p:txBody>
      </p:sp>
      <p:sp>
        <p:nvSpPr>
          <p:cNvPr id="5" name="Title 6">
            <a:extLst>
              <a:ext uri="{FF2B5EF4-FFF2-40B4-BE49-F238E27FC236}">
                <a16:creationId xmlns:a16="http://schemas.microsoft.com/office/drawing/2014/main" id="{2BD5844C-C201-4666-ADB9-681CBA48DCC1}"/>
              </a:ext>
            </a:extLst>
          </p:cNvPr>
          <p:cNvSpPr txBox="1">
            <a:spLocks/>
          </p:cNvSpPr>
          <p:nvPr/>
        </p:nvSpPr>
        <p:spPr>
          <a:xfrm>
            <a:off x="251224" y="237833"/>
            <a:ext cx="9411391" cy="607201"/>
          </a:xfrm>
          <a:prstGeom prst="rect">
            <a:avLst/>
          </a:prstGeom>
        </p:spPr>
        <p:txBody>
          <a:bodyPr anchor="t">
            <a:normAutofit fontScale="85000" lnSpcReduction="10000"/>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pPr marL="0" marR="0" lvl="0" indent="0" algn="l" defTabSz="914324" rtl="0" eaLnBrk="1" fontAlgn="auto" latinLnBrk="0" hangingPunct="1">
              <a:lnSpc>
                <a:spcPct val="90000"/>
              </a:lnSpc>
              <a:spcBef>
                <a:spcPct val="0"/>
              </a:spcBef>
              <a:spcAft>
                <a:spcPts val="0"/>
              </a:spcAft>
              <a:buClrTx/>
              <a:buSzTx/>
              <a:buFontTx/>
              <a:buNone/>
              <a:tabLst/>
              <a:defRPr/>
            </a:pPr>
            <a:r>
              <a:rPr kumimoji="1" lang="en-US" altLang="ja-JP"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rPr>
              <a:t>5.4a – </a:t>
            </a:r>
            <a:r>
              <a:rPr lang="en-US" altLang="ja-JP" b="1" u="sng" dirty="0">
                <a:solidFill>
                  <a:prstClr val="black"/>
                </a:solidFill>
                <a:latin typeface="Calibri" panose="020F0502020204030204"/>
                <a:ea typeface="游ゴシック Light" panose="020B0300000000000000" pitchFamily="34" charset="-128"/>
              </a:rPr>
              <a:t>Mixed</a:t>
            </a:r>
            <a:r>
              <a:rPr kumimoji="1" lang="en-US" altLang="ja-JP"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rPr>
              <a:t> Effects Model for a 3-Stage Nested Design:</a:t>
            </a:r>
            <a:endParaRPr kumimoji="1" lang="ja-JP" altLang="en-US"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endParaRPr>
          </a:p>
        </p:txBody>
      </p:sp>
      <p:sp>
        <p:nvSpPr>
          <p:cNvPr id="10" name="Slide Number Placeholder 3">
            <a:extLst>
              <a:ext uri="{FF2B5EF4-FFF2-40B4-BE49-F238E27FC236}">
                <a16:creationId xmlns:a16="http://schemas.microsoft.com/office/drawing/2014/main" id="{B0C9041D-77F0-4656-90D4-0E84B7AC6B27}"/>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54AD89C-DF1E-4948-B597-5DD47B34A9CA}" type="slidenum">
              <a:rPr kumimoji="1" lang="ja-JP" altLang="en-US" sz="4000" b="0" i="0" u="none" strike="noStrike" kern="1200" cap="none" spc="0" normalizeH="0" baseline="0" noProof="0" smtClean="0">
                <a:ln>
                  <a:noFill/>
                </a:ln>
                <a:solidFill>
                  <a:srgbClr val="575454">
                    <a:lumMod val="20000"/>
                    <a:lumOff val="80000"/>
                  </a:srgbClr>
                </a:solidFill>
                <a:effectLst/>
                <a:uLnTx/>
                <a:uFillTx/>
                <a:latin typeface="Coo Hew"/>
                <a:ea typeface="游ゴシック" panose="020B0400000000000000"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33</a:t>
            </a:fld>
            <a:endParaRPr kumimoji="1" lang="ja-JP" altLang="en-US" sz="4000" b="0" i="0" u="none" strike="noStrike" kern="1200" cap="none" spc="0" normalizeH="0" baseline="0" noProof="0" dirty="0">
              <a:ln>
                <a:noFill/>
              </a:ln>
              <a:solidFill>
                <a:srgbClr val="575454">
                  <a:lumMod val="20000"/>
                  <a:lumOff val="80000"/>
                </a:srgbClr>
              </a:solidFill>
              <a:effectLst/>
              <a:uLnTx/>
              <a:uFillTx/>
              <a:latin typeface="Coo Hew"/>
              <a:ea typeface="游ゴシック" panose="020B0400000000000000" pitchFamily="34" charset="-128"/>
              <a:cs typeface="+mn-cs"/>
            </a:endParaRPr>
          </a:p>
        </p:txBody>
      </p:sp>
      <p:sp>
        <p:nvSpPr>
          <p:cNvPr id="17" name="Text Placeholder 5">
            <a:extLst>
              <a:ext uri="{FF2B5EF4-FFF2-40B4-BE49-F238E27FC236}">
                <a16:creationId xmlns:a16="http://schemas.microsoft.com/office/drawing/2014/main" id="{DB67ABBD-EBE5-54A6-7329-9352FBDFC6FD}"/>
              </a:ext>
            </a:extLst>
          </p:cNvPr>
          <p:cNvSpPr txBox="1">
            <a:spLocks/>
          </p:cNvSpPr>
          <p:nvPr/>
        </p:nvSpPr>
        <p:spPr>
          <a:xfrm>
            <a:off x="251224" y="2508258"/>
            <a:ext cx="11777003" cy="41301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We take a balanced sample of </a:t>
            </a:r>
            <a:r>
              <a:rPr kumimoji="1" lang="en-NZ" altLang="ja-JP" sz="18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N</a:t>
            </a:r>
            <a:r>
              <a:rPr kumimoji="1" lang="en-NZ"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observations with </a:t>
            </a:r>
            <a:r>
              <a:rPr kumimoji="1" lang="en-NZ" altLang="ja-JP" sz="18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n</a:t>
            </a:r>
            <a:r>
              <a:rPr kumimoji="1" lang="en-NZ"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observations in each cell. The </a:t>
            </a:r>
            <a:r>
              <a:rPr lang="en-NZ" altLang="ja-JP" sz="1800" b="1" i="1" dirty="0">
                <a:solidFill>
                  <a:prstClr val="black"/>
                </a:solidFill>
                <a:latin typeface="Calibri" panose="020F0502020204030204"/>
                <a:ea typeface="游ゴシック" panose="020B0400000000000000" pitchFamily="34" charset="-128"/>
              </a:rPr>
              <a:t>m</a:t>
            </a:r>
            <a:r>
              <a:rPr kumimoji="1" lang="en-NZ" altLang="ja-JP" sz="1800" b="1" i="1" u="none" strike="noStrike" kern="1200" cap="none" spc="0" normalizeH="0" baseline="30000" noProof="0" dirty="0" err="1">
                <a:ln>
                  <a:noFill/>
                </a:ln>
                <a:solidFill>
                  <a:prstClr val="black"/>
                </a:solidFill>
                <a:effectLst/>
                <a:uLnTx/>
                <a:uFillTx/>
                <a:latin typeface="Calibri" panose="020F0502020204030204"/>
                <a:ea typeface="游ゴシック" panose="020B0400000000000000" pitchFamily="34" charset="-128"/>
                <a:cs typeface="+mn-cs"/>
              </a:rPr>
              <a:t>th</a:t>
            </a:r>
            <a:r>
              <a:rPr kumimoji="1" lang="en-NZ" altLang="ja-JP" sz="18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a:t>
            </a:r>
            <a:r>
              <a:rPr kumimoji="1" lang="en-NZ"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element in cell </a:t>
            </a:r>
            <a:r>
              <a:rPr kumimoji="1" lang="en-NZ" altLang="ja-JP" sz="18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t>
            </a:r>
            <a:r>
              <a:rPr kumimoji="1" lang="en-NZ" altLang="ja-JP" sz="1800" b="1" i="1" u="none" strike="noStrike" kern="1200" cap="none" spc="0" normalizeH="0" baseline="0" noProof="0" dirty="0" err="1">
                <a:ln>
                  <a:noFill/>
                </a:ln>
                <a:solidFill>
                  <a:prstClr val="black"/>
                </a:solidFill>
                <a:effectLst/>
                <a:uLnTx/>
                <a:uFillTx/>
                <a:latin typeface="Calibri" panose="020F0502020204030204"/>
                <a:ea typeface="游ゴシック" panose="020B0400000000000000" pitchFamily="34" charset="-128"/>
                <a:cs typeface="+mn-cs"/>
              </a:rPr>
              <a:t>i,j,k</a:t>
            </a:r>
            <a:r>
              <a:rPr kumimoji="1" lang="en-NZ" altLang="ja-JP" sz="18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t>
            </a:r>
            <a:r>
              <a:rPr kumimoji="1" lang="en-NZ"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is modelled as:</a:t>
            </a:r>
          </a:p>
        </p:txBody>
      </p:sp>
      <mc:AlternateContent xmlns:mc="http://schemas.openxmlformats.org/markup-compatibility/2006" xmlns:a14="http://schemas.microsoft.com/office/drawing/2010/main">
        <mc:Choice Requires="a14">
          <p:sp>
            <p:nvSpPr>
              <p:cNvPr id="18" name="Text Placeholder 5">
                <a:extLst>
                  <a:ext uri="{FF2B5EF4-FFF2-40B4-BE49-F238E27FC236}">
                    <a16:creationId xmlns:a16="http://schemas.microsoft.com/office/drawing/2014/main" id="{0CEEAE7C-8B5C-49C1-DECF-ABDEC6F5C6BE}"/>
                  </a:ext>
                </a:extLst>
              </p:cNvPr>
              <p:cNvSpPr txBox="1">
                <a:spLocks/>
              </p:cNvSpPr>
              <p:nvPr/>
            </p:nvSpPr>
            <p:spPr>
              <a:xfrm>
                <a:off x="2480913" y="2940053"/>
                <a:ext cx="7107899" cy="47495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14:m>
                  <m:oMathPara xmlns:m="http://schemas.openxmlformats.org/officeDocument/2006/math">
                    <m:oMathParaPr>
                      <m:jc m:val="centerGroup"/>
                    </m:oMathParaPr>
                    <m:oMath xmlns:m="http://schemas.openxmlformats.org/officeDocument/2006/math">
                      <m:sSub>
                        <m:sSubPr>
                          <m:ctrlP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ctrlPr>
                        </m:sSubPr>
                        <m:e>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𝒀</m:t>
                          </m:r>
                        </m:e>
                        <m:sub>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𝒊𝒋𝒌𝒎</m:t>
                          </m:r>
                        </m:sub>
                      </m:sSub>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   =     </m:t>
                      </m:r>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𝝁</m:t>
                      </m:r>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  +   </m:t>
                      </m:r>
                      <m:sSub>
                        <m:sSubPr>
                          <m:ctrlP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ctrlPr>
                        </m:sSubPr>
                        <m:e>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𝜶</m:t>
                          </m:r>
                        </m:e>
                        <m:sub>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𝒊</m:t>
                          </m:r>
                        </m:sub>
                      </m:sSub>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  +   </m:t>
                      </m:r>
                      <m:sSub>
                        <m:sSubPr>
                          <m:ctrlP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ctrlPr>
                        </m:sSubPr>
                        <m:e>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𝑩</m:t>
                          </m:r>
                        </m:e>
                        <m:sub>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𝒋</m:t>
                          </m:r>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m:t>
                          </m:r>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𝒊</m:t>
                          </m:r>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m:t>
                          </m:r>
                        </m:sub>
                      </m:sSub>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  +    </m:t>
                      </m:r>
                      <m:sSub>
                        <m:sSubPr>
                          <m:ctrlP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ctrlPr>
                        </m:sSubPr>
                        <m:e>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𝑪</m:t>
                          </m:r>
                        </m:e>
                        <m:sub>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𝒌</m:t>
                          </m:r>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m:t>
                          </m:r>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𝒊𝒋</m:t>
                          </m:r>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m:t>
                          </m:r>
                        </m:sub>
                      </m:sSub>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   +   </m:t>
                      </m:r>
                      <m:sSub>
                        <m:sSubPr>
                          <m:ctrlP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ctrlPr>
                        </m:sSubPr>
                        <m:e>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𝝐</m:t>
                          </m:r>
                        </m:e>
                        <m:sub>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𝒎</m:t>
                          </m:r>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m:t>
                          </m:r>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𝒊𝒋𝒌</m:t>
                          </m:r>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m:t>
                          </m:r>
                        </m:sub>
                      </m:sSub>
                    </m:oMath>
                  </m:oMathPara>
                </a14:m>
                <a:endParaRPr kumimoji="1" lang="en-NZ" altLang="ja-JP" sz="1800" b="1" i="0"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800" b="1"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mc:Choice>
        <mc:Fallback xmlns="">
          <p:sp>
            <p:nvSpPr>
              <p:cNvPr id="18" name="Text Placeholder 5">
                <a:extLst>
                  <a:ext uri="{FF2B5EF4-FFF2-40B4-BE49-F238E27FC236}">
                    <a16:creationId xmlns:a16="http://schemas.microsoft.com/office/drawing/2014/main" id="{0CEEAE7C-8B5C-49C1-DECF-ABDEC6F5C6BE}"/>
                  </a:ext>
                </a:extLst>
              </p:cNvPr>
              <p:cNvSpPr txBox="1">
                <a:spLocks noRot="1" noChangeAspect="1" noMove="1" noResize="1" noEditPoints="1" noAdjustHandles="1" noChangeArrowheads="1" noChangeShapeType="1" noTextEdit="1"/>
              </p:cNvSpPr>
              <p:nvPr/>
            </p:nvSpPr>
            <p:spPr>
              <a:xfrm>
                <a:off x="2480913" y="2940053"/>
                <a:ext cx="7107899" cy="474953"/>
              </a:xfrm>
              <a:prstGeom prst="rect">
                <a:avLst/>
              </a:prstGeom>
              <a:blipFill>
                <a:blip r:embed="rId2"/>
                <a:stretch>
                  <a:fillRect/>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20" name="Text Placeholder 5">
                <a:extLst>
                  <a:ext uri="{FF2B5EF4-FFF2-40B4-BE49-F238E27FC236}">
                    <a16:creationId xmlns:a16="http://schemas.microsoft.com/office/drawing/2014/main" id="{91689025-3833-257B-1DD1-73CCD6DF11F5}"/>
                  </a:ext>
                </a:extLst>
              </p:cNvPr>
              <p:cNvSpPr txBox="1">
                <a:spLocks/>
              </p:cNvSpPr>
              <p:nvPr/>
            </p:nvSpPr>
            <p:spPr>
              <a:xfrm>
                <a:off x="469578" y="3434612"/>
                <a:ext cx="4867734" cy="1318675"/>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l-GR" altLang="ja-JP" sz="16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μ</a:t>
                </a:r>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is the population mean</a:t>
                </a:r>
                <a:endParaRPr kumimoji="1" lang="en-NZ" altLang="ja-JP" sz="16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14:m>
                  <m:oMath xmlns:m="http://schemas.openxmlformats.org/officeDocument/2006/math">
                    <m:sSub>
                      <m:sSubPr>
                        <m:ctrl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𝜶</m:t>
                        </m:r>
                      </m:e>
                      <m:sub>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𝒊</m:t>
                        </m:r>
                      </m:sub>
                    </m:sSub>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sSub>
                      <m:sSubPr>
                        <m:ctrl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𝝁</m:t>
                        </m:r>
                      </m:e>
                      <m:sub>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𝒊</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sub>
                    </m:sSub>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 −</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𝝁</m:t>
                    </m:r>
                  </m:oMath>
                </a14:m>
                <a:r>
                  <a:rPr kumimoji="1" lang="en-NZ" altLang="ja-JP" sz="16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a:t>
                </a:r>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is the effect of the </a:t>
                </a:r>
                <a:r>
                  <a:rPr kumimoji="1" lang="en-NZ" altLang="ja-JP" sz="1600" b="1" i="1" u="none" strike="noStrike" kern="1200" cap="none" spc="0" normalizeH="0" baseline="0" noProof="0" dirty="0" err="1">
                    <a:ln>
                      <a:noFill/>
                    </a:ln>
                    <a:solidFill>
                      <a:prstClr val="black"/>
                    </a:solidFill>
                    <a:effectLst/>
                    <a:uLnTx/>
                    <a:uFillTx/>
                    <a:latin typeface="Calibri" panose="020F0502020204030204"/>
                    <a:ea typeface="游ゴシック" panose="020B0400000000000000" pitchFamily="34" charset="-128"/>
                    <a:cs typeface="+mn-cs"/>
                  </a:rPr>
                  <a:t>i</a:t>
                </a:r>
                <a:r>
                  <a:rPr kumimoji="1" lang="en-NZ" altLang="ja-JP" sz="1600" b="1" i="1" u="none" strike="noStrike" kern="1200" cap="none" spc="0" normalizeH="0" baseline="30000" noProof="0" dirty="0" err="1">
                    <a:ln>
                      <a:noFill/>
                    </a:ln>
                    <a:solidFill>
                      <a:prstClr val="black"/>
                    </a:solidFill>
                    <a:effectLst/>
                    <a:uLnTx/>
                    <a:uFillTx/>
                    <a:latin typeface="Calibri" panose="020F0502020204030204"/>
                    <a:ea typeface="游ゴシック" panose="020B0400000000000000" pitchFamily="34" charset="-128"/>
                    <a:cs typeface="+mn-cs"/>
                  </a:rPr>
                  <a:t>th</a:t>
                </a:r>
                <a:r>
                  <a:rPr kumimoji="1" lang="en-NZ" altLang="ja-JP" sz="1600" b="0" i="1" u="none" strike="noStrike" kern="1200" cap="none" spc="0" normalizeH="0" baseline="-25000" noProof="0" dirty="0">
                    <a:ln>
                      <a:noFill/>
                    </a:ln>
                    <a:solidFill>
                      <a:prstClr val="black"/>
                    </a:solidFill>
                    <a:effectLst/>
                    <a:uLnTx/>
                    <a:uFillTx/>
                    <a:latin typeface="Calibri" panose="020F0502020204030204"/>
                    <a:ea typeface="游ゴシック" panose="020B0400000000000000" pitchFamily="34" charset="-128"/>
                    <a:cs typeface="+mn-cs"/>
                  </a:rPr>
                  <a:t> </a:t>
                </a:r>
                <a:r>
                  <a:rPr kumimoji="1" lang="en-NZ" altLang="ja-JP" sz="1600" b="0"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a:t>
                </a:r>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level of factor </a:t>
                </a:r>
                <a:r>
                  <a:rPr kumimoji="1" lang="en-NZ" altLang="ja-JP" sz="16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a:t>
                </a: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14:m>
                  <m:oMathPara xmlns:m="http://schemas.openxmlformats.org/officeDocument/2006/math">
                    <m:oMathParaPr>
                      <m:jc m:val="left"/>
                    </m:oMathParaPr>
                    <m:oMath xmlns:m="http://schemas.openxmlformats.org/officeDocument/2006/math">
                      <m:sSub>
                        <m:sSubPr>
                          <m:ctrl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𝑩</m:t>
                          </m:r>
                        </m:e>
                        <m:sub>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𝒋</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𝒊</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sub>
                      </m:sSub>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 ~ </m:t>
                      </m:r>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𝑵</m:t>
                      </m:r>
                      <m:d>
                        <m:dPr>
                          <m:ctrlP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ctrlPr>
                        </m:dPr>
                        <m:e>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𝟎</m:t>
                          </m:r>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 </m:t>
                          </m:r>
                          <m:sSubSup>
                            <m:sSubSupPr>
                              <m:ctrl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SupPr>
                            <m:e>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𝝈</m:t>
                              </m:r>
                            </m:e>
                            <m:sub>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𝑩</m:t>
                              </m:r>
                            </m:sub>
                            <m:sup>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𝟐</m:t>
                              </m:r>
                            </m:sup>
                          </m:sSubSup>
                        </m:e>
                      </m:d>
                    </m:oMath>
                  </m:oMathPara>
                </a14:m>
                <a:endPar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a:p>
                <a:pPr lvl="0" algn="just">
                  <a:lnSpc>
                    <a:spcPct val="100000"/>
                  </a:lnSpc>
                  <a:defRPr/>
                </a:pPr>
                <a14:m>
                  <m:oMathPara xmlns:m="http://schemas.openxmlformats.org/officeDocument/2006/math">
                    <m:oMathParaPr>
                      <m:jc m:val="left"/>
                    </m:oMathParaPr>
                    <m:oMath xmlns:m="http://schemas.openxmlformats.org/officeDocument/2006/math">
                      <m:sSub>
                        <m:sSubPr>
                          <m:ctrlPr>
                            <a:rPr lang="en-NZ" altLang="ja-JP" sz="1600" b="1" i="1">
                              <a:solidFill>
                                <a:prstClr val="black"/>
                              </a:solidFill>
                              <a:latin typeface="Cambria Math" panose="02040503050406030204" pitchFamily="18" charset="0"/>
                            </a:rPr>
                          </m:ctrlPr>
                        </m:sSubPr>
                        <m:e>
                          <m:r>
                            <a:rPr lang="en-NZ" altLang="ja-JP" sz="1600" b="1" i="1" smtClean="0">
                              <a:solidFill>
                                <a:prstClr val="black"/>
                              </a:solidFill>
                              <a:latin typeface="Cambria Math" panose="02040503050406030204" pitchFamily="18" charset="0"/>
                            </a:rPr>
                            <m:t>𝑪</m:t>
                          </m:r>
                        </m:e>
                        <m:sub>
                          <m:r>
                            <a:rPr lang="en-NZ" altLang="ja-JP" sz="1600" b="1" i="1" smtClean="0">
                              <a:solidFill>
                                <a:prstClr val="black"/>
                              </a:solidFill>
                              <a:latin typeface="Cambria Math" panose="02040503050406030204" pitchFamily="18" charset="0"/>
                            </a:rPr>
                            <m:t>𝒌</m:t>
                          </m:r>
                          <m:r>
                            <a:rPr lang="en-NZ" altLang="ja-JP" sz="1600" b="1" i="1">
                              <a:solidFill>
                                <a:prstClr val="black"/>
                              </a:solidFill>
                              <a:latin typeface="Cambria Math" panose="02040503050406030204" pitchFamily="18" charset="0"/>
                            </a:rPr>
                            <m:t>(</m:t>
                          </m:r>
                          <m:r>
                            <a:rPr lang="en-NZ" altLang="ja-JP" sz="1600" b="1" i="1">
                              <a:solidFill>
                                <a:prstClr val="black"/>
                              </a:solidFill>
                              <a:latin typeface="Cambria Math" panose="02040503050406030204" pitchFamily="18" charset="0"/>
                            </a:rPr>
                            <m:t>𝒊𝒋</m:t>
                          </m:r>
                          <m:r>
                            <a:rPr lang="en-NZ" altLang="ja-JP" sz="1600" b="1" i="1">
                              <a:solidFill>
                                <a:prstClr val="black"/>
                              </a:solidFill>
                              <a:latin typeface="Cambria Math" panose="02040503050406030204" pitchFamily="18" charset="0"/>
                            </a:rPr>
                            <m:t>)</m:t>
                          </m:r>
                        </m:sub>
                      </m:sSub>
                      <m:r>
                        <a:rPr lang="en-NZ" altLang="ja-JP" sz="1600" b="1" i="1">
                          <a:solidFill>
                            <a:prstClr val="black"/>
                          </a:solidFill>
                          <a:latin typeface="Cambria Math" panose="02040503050406030204" pitchFamily="18" charset="0"/>
                        </a:rPr>
                        <m:t> ~ </m:t>
                      </m:r>
                      <m:r>
                        <a:rPr lang="en-NZ" altLang="ja-JP" sz="1600" b="1" i="1">
                          <a:solidFill>
                            <a:prstClr val="black"/>
                          </a:solidFill>
                          <a:latin typeface="Cambria Math" panose="02040503050406030204" pitchFamily="18" charset="0"/>
                        </a:rPr>
                        <m:t>𝑵</m:t>
                      </m:r>
                      <m:d>
                        <m:dPr>
                          <m:ctrlPr>
                            <a:rPr lang="en-NZ" altLang="ja-JP" sz="1600" b="1" i="1">
                              <a:solidFill>
                                <a:prstClr val="black"/>
                              </a:solidFill>
                              <a:latin typeface="Cambria Math" panose="02040503050406030204" pitchFamily="18" charset="0"/>
                            </a:rPr>
                          </m:ctrlPr>
                        </m:dPr>
                        <m:e>
                          <m:r>
                            <a:rPr lang="en-NZ" altLang="ja-JP" sz="1600" b="1" i="1">
                              <a:solidFill>
                                <a:prstClr val="black"/>
                              </a:solidFill>
                              <a:latin typeface="Cambria Math" panose="02040503050406030204" pitchFamily="18" charset="0"/>
                            </a:rPr>
                            <m:t>𝟎</m:t>
                          </m:r>
                          <m:r>
                            <a:rPr lang="en-NZ" altLang="ja-JP" sz="1600" b="1" i="1">
                              <a:solidFill>
                                <a:prstClr val="black"/>
                              </a:solidFill>
                              <a:latin typeface="Cambria Math" panose="02040503050406030204" pitchFamily="18" charset="0"/>
                            </a:rPr>
                            <m:t>, </m:t>
                          </m:r>
                          <m:sSubSup>
                            <m:sSubSupPr>
                              <m:ctrlPr>
                                <a:rPr lang="en-NZ" altLang="ja-JP" sz="1600" b="1" i="1" smtClean="0">
                                  <a:solidFill>
                                    <a:prstClr val="black"/>
                                  </a:solidFill>
                                  <a:latin typeface="Cambria Math" panose="02040503050406030204" pitchFamily="18" charset="0"/>
                                </a:rPr>
                              </m:ctrlPr>
                            </m:sSubSupPr>
                            <m:e>
                              <m:r>
                                <a:rPr lang="en-NZ" altLang="ja-JP" sz="1600" b="1" i="1">
                                  <a:solidFill>
                                    <a:prstClr val="black"/>
                                  </a:solidFill>
                                  <a:latin typeface="Cambria Math" panose="02040503050406030204" pitchFamily="18" charset="0"/>
                                </a:rPr>
                                <m:t>𝝈</m:t>
                              </m:r>
                            </m:e>
                            <m:sub>
                              <m:r>
                                <a:rPr lang="en-NZ" altLang="ja-JP" sz="1600" b="1" i="1" smtClean="0">
                                  <a:solidFill>
                                    <a:prstClr val="black"/>
                                  </a:solidFill>
                                  <a:latin typeface="Cambria Math" panose="02040503050406030204" pitchFamily="18" charset="0"/>
                                </a:rPr>
                                <m:t>𝑪</m:t>
                              </m:r>
                            </m:sub>
                            <m:sup>
                              <m:r>
                                <a:rPr lang="en-NZ" altLang="ja-JP" sz="1600" b="1" i="1">
                                  <a:solidFill>
                                    <a:prstClr val="black"/>
                                  </a:solidFill>
                                  <a:latin typeface="Cambria Math" panose="02040503050406030204" pitchFamily="18" charset="0"/>
                                </a:rPr>
                                <m:t>𝟐</m:t>
                              </m:r>
                            </m:sup>
                          </m:sSubSup>
                        </m:e>
                      </m:d>
                    </m:oMath>
                  </m:oMathPara>
                </a14:m>
                <a:endPar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14:m>
                  <m:oMathPara xmlns:m="http://schemas.openxmlformats.org/officeDocument/2006/math">
                    <m:oMathParaPr>
                      <m:jc m:val="left"/>
                    </m:oMathParaPr>
                    <m:oMath xmlns:m="http://schemas.openxmlformats.org/officeDocument/2006/math">
                      <m:sSub>
                        <m:sSubPr>
                          <m:ctrlP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𝝐</m:t>
                          </m:r>
                        </m:e>
                        <m:sub>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𝒎</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𝒊𝒋𝒌</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sub>
                      </m:sSub>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 ~ </m:t>
                      </m:r>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𝑵</m:t>
                      </m:r>
                      <m:d>
                        <m:dPr>
                          <m:ctrlP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ctrlPr>
                        </m:dPr>
                        <m:e>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𝟎</m:t>
                          </m:r>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 </m:t>
                          </m:r>
                          <m:sSup>
                            <m:sSupPr>
                              <m:ctrlP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ctrlPr>
                            </m:sSupPr>
                            <m:e>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𝝈</m:t>
                              </m:r>
                            </m:e>
                            <m:sup>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𝟐</m:t>
                              </m:r>
                            </m:sup>
                          </m:sSup>
                        </m:e>
                      </m:d>
                    </m:oMath>
                  </m:oMathPara>
                </a14:m>
                <a:endParaRPr kumimoji="1" lang="en-NZ" altLang="ja-JP" sz="1600" b="0"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mc:Choice>
        <mc:Fallback xmlns="">
          <p:sp>
            <p:nvSpPr>
              <p:cNvPr id="20" name="Text Placeholder 5">
                <a:extLst>
                  <a:ext uri="{FF2B5EF4-FFF2-40B4-BE49-F238E27FC236}">
                    <a16:creationId xmlns:a16="http://schemas.microsoft.com/office/drawing/2014/main" id="{91689025-3833-257B-1DD1-73CCD6DF11F5}"/>
                  </a:ext>
                </a:extLst>
              </p:cNvPr>
              <p:cNvSpPr txBox="1">
                <a:spLocks noRot="1" noChangeAspect="1" noMove="1" noResize="1" noEditPoints="1" noAdjustHandles="1" noChangeArrowheads="1" noChangeShapeType="1" noTextEdit="1"/>
              </p:cNvSpPr>
              <p:nvPr/>
            </p:nvSpPr>
            <p:spPr>
              <a:xfrm>
                <a:off x="469578" y="3434612"/>
                <a:ext cx="4867734" cy="1318675"/>
              </a:xfrm>
              <a:prstGeom prst="rect">
                <a:avLst/>
              </a:prstGeom>
              <a:blipFill>
                <a:blip r:embed="rId3"/>
                <a:stretch>
                  <a:fillRect l="-626" t="-1382" b="-10599"/>
                </a:stretch>
              </a:blipFill>
            </p:spPr>
            <p:txBody>
              <a:bodyPr/>
              <a:lstStyle/>
              <a:p>
                <a:r>
                  <a:rPr lang="en-NZ">
                    <a:noFill/>
                  </a:rPr>
                  <a:t> </a:t>
                </a:r>
              </a:p>
            </p:txBody>
          </p:sp>
        </mc:Fallback>
      </mc:AlternateContent>
      <p:sp>
        <p:nvSpPr>
          <p:cNvPr id="21" name="Text Placeholder 5">
            <a:extLst>
              <a:ext uri="{FF2B5EF4-FFF2-40B4-BE49-F238E27FC236}">
                <a16:creationId xmlns:a16="http://schemas.microsoft.com/office/drawing/2014/main" id="{2A3DBE85-D442-263A-265C-268BCEDF6E09}"/>
              </a:ext>
            </a:extLst>
          </p:cNvPr>
          <p:cNvSpPr txBox="1">
            <a:spLocks/>
          </p:cNvSpPr>
          <p:nvPr/>
        </p:nvSpPr>
        <p:spPr>
          <a:xfrm>
            <a:off x="5788501" y="3475811"/>
            <a:ext cx="4579200" cy="44493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We also have the usual constraints:</a:t>
            </a:r>
            <a:endParaRPr kumimoji="1" lang="en-NZ" altLang="ja-JP" sz="16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a:t>
            </a: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600" b="0"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mc:AlternateContent xmlns:mc="http://schemas.openxmlformats.org/markup-compatibility/2006" xmlns:a14="http://schemas.microsoft.com/office/drawing/2010/main">
        <mc:Choice Requires="a14">
          <p:sp>
            <p:nvSpPr>
              <p:cNvPr id="22" name="Text Placeholder 5">
                <a:extLst>
                  <a:ext uri="{FF2B5EF4-FFF2-40B4-BE49-F238E27FC236}">
                    <a16:creationId xmlns:a16="http://schemas.microsoft.com/office/drawing/2014/main" id="{5D727490-76E6-4F93-6BCD-054E1FDB3D14}"/>
                  </a:ext>
                </a:extLst>
              </p:cNvPr>
              <p:cNvSpPr txBox="1">
                <a:spLocks/>
              </p:cNvSpPr>
              <p:nvPr/>
            </p:nvSpPr>
            <p:spPr>
              <a:xfrm>
                <a:off x="5788501" y="3773261"/>
                <a:ext cx="1405094" cy="44493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14:m>
                  <m:oMath xmlns:m="http://schemas.openxmlformats.org/officeDocument/2006/math">
                    <m:nary>
                      <m:naryPr>
                        <m:chr m:val="∑"/>
                        <m:ctrlP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ctrlPr>
                      </m:naryPr>
                      <m:sub>
                        <m:r>
                          <m:rPr>
                            <m:brk m:alnAt="23"/>
                          </m:rP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𝒊</m:t>
                        </m:r>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m:t>
                        </m:r>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𝟏</m:t>
                        </m:r>
                      </m:sub>
                      <m:sup>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𝒂</m:t>
                        </m:r>
                      </m:sup>
                      <m:e>
                        <m:sSub>
                          <m:sSubPr>
                            <m:ctrlP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ctrlPr>
                          </m:sSubPr>
                          <m:e>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𝜶</m:t>
                            </m:r>
                          </m:e>
                          <m:sub>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𝒊</m:t>
                            </m:r>
                          </m:sub>
                        </m:sSub>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m:t>
                        </m:r>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𝟎</m:t>
                        </m:r>
                      </m:e>
                    </m:nary>
                  </m:oMath>
                </a14:m>
                <a:r>
                  <a:rPr kumimoji="1" lang="en-NZ" altLang="ja-JP" sz="18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a:t>
                </a: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8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800" b="1"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mc:Choice>
        <mc:Fallback xmlns="">
          <p:sp>
            <p:nvSpPr>
              <p:cNvPr id="22" name="Text Placeholder 5">
                <a:extLst>
                  <a:ext uri="{FF2B5EF4-FFF2-40B4-BE49-F238E27FC236}">
                    <a16:creationId xmlns:a16="http://schemas.microsoft.com/office/drawing/2014/main" id="{5D727490-76E6-4F93-6BCD-054E1FDB3D14}"/>
                  </a:ext>
                </a:extLst>
              </p:cNvPr>
              <p:cNvSpPr txBox="1">
                <a:spLocks noRot="1" noChangeAspect="1" noMove="1" noResize="1" noEditPoints="1" noAdjustHandles="1" noChangeArrowheads="1" noChangeShapeType="1" noTextEdit="1"/>
              </p:cNvSpPr>
              <p:nvPr/>
            </p:nvSpPr>
            <p:spPr>
              <a:xfrm>
                <a:off x="5788501" y="3773261"/>
                <a:ext cx="1405094" cy="444936"/>
              </a:xfrm>
              <a:prstGeom prst="rect">
                <a:avLst/>
              </a:prstGeom>
              <a:blipFill>
                <a:blip r:embed="rId4"/>
                <a:stretch>
                  <a:fillRect l="-24348" t="-100000" b="-136986"/>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23" name="Text Placeholder 5">
                <a:extLst>
                  <a:ext uri="{FF2B5EF4-FFF2-40B4-BE49-F238E27FC236}">
                    <a16:creationId xmlns:a16="http://schemas.microsoft.com/office/drawing/2014/main" id="{BAD1F8FD-0A2F-B0BF-ABE5-6232040CC8C5}"/>
                  </a:ext>
                </a:extLst>
              </p:cNvPr>
              <p:cNvSpPr txBox="1">
                <a:spLocks/>
              </p:cNvSpPr>
              <p:nvPr/>
            </p:nvSpPr>
            <p:spPr>
              <a:xfrm>
                <a:off x="7803994" y="3688960"/>
                <a:ext cx="2230812" cy="44493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14:m>
                  <m:oMath xmlns:m="http://schemas.openxmlformats.org/officeDocument/2006/math">
                    <m:f>
                      <m:fPr>
                        <m:ctrlP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ctrlPr>
                      </m:fPr>
                      <m:num>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𝟏</m:t>
                        </m:r>
                      </m:num>
                      <m:den>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𝒂</m:t>
                        </m:r>
                      </m:den>
                    </m:f>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 </m:t>
                    </m:r>
                    <m:nary>
                      <m:naryPr>
                        <m:chr m:val="∑"/>
                        <m:ctrlP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ctrlPr>
                      </m:naryPr>
                      <m:sub>
                        <m:r>
                          <m:rPr>
                            <m:brk m:alnAt="23"/>
                          </m:rP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𝒊</m:t>
                        </m:r>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m:t>
                        </m:r>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𝟏</m:t>
                        </m:r>
                      </m:sub>
                      <m:sup>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𝒂</m:t>
                        </m:r>
                      </m:sup>
                      <m:e>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 </m:t>
                        </m:r>
                        <m:sSub>
                          <m:sSubPr>
                            <m:ctrlP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ctrlPr>
                          </m:sSubPr>
                          <m:e>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𝝁</m:t>
                            </m:r>
                          </m:e>
                          <m:sub>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𝒊</m:t>
                            </m:r>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m:t>
                            </m:r>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rPr>
                              <m:t>∙</m:t>
                            </m:r>
                          </m:sub>
                        </m:sSub>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 = </m:t>
                        </m:r>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𝝁</m:t>
                        </m:r>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 </m:t>
                        </m:r>
                      </m:e>
                    </m:nary>
                  </m:oMath>
                </a14:m>
                <a:r>
                  <a:rPr kumimoji="1" lang="en-NZ" altLang="ja-JP" sz="18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a:t>
                </a: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8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800" b="1"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mc:Choice>
        <mc:Fallback xmlns="">
          <p:sp>
            <p:nvSpPr>
              <p:cNvPr id="23" name="Text Placeholder 5">
                <a:extLst>
                  <a:ext uri="{FF2B5EF4-FFF2-40B4-BE49-F238E27FC236}">
                    <a16:creationId xmlns:a16="http://schemas.microsoft.com/office/drawing/2014/main" id="{BAD1F8FD-0A2F-B0BF-ABE5-6232040CC8C5}"/>
                  </a:ext>
                </a:extLst>
              </p:cNvPr>
              <p:cNvSpPr txBox="1">
                <a:spLocks noRot="1" noChangeAspect="1" noMove="1" noResize="1" noEditPoints="1" noAdjustHandles="1" noChangeArrowheads="1" noChangeShapeType="1" noTextEdit="1"/>
              </p:cNvSpPr>
              <p:nvPr/>
            </p:nvSpPr>
            <p:spPr>
              <a:xfrm>
                <a:off x="7803994" y="3688960"/>
                <a:ext cx="2230812" cy="444936"/>
              </a:xfrm>
              <a:prstGeom prst="rect">
                <a:avLst/>
              </a:prstGeom>
              <a:blipFill>
                <a:blip r:embed="rId5"/>
                <a:stretch>
                  <a:fillRect l="-6284" t="-84932" b="-152055"/>
                </a:stretch>
              </a:blipFill>
            </p:spPr>
            <p:txBody>
              <a:bodyPr/>
              <a:lstStyle/>
              <a:p>
                <a:r>
                  <a:rPr lang="en-NZ">
                    <a:noFill/>
                  </a:rPr>
                  <a:t> </a:t>
                </a:r>
              </a:p>
            </p:txBody>
          </p:sp>
        </mc:Fallback>
      </mc:AlternateContent>
      <p:sp>
        <p:nvSpPr>
          <p:cNvPr id="24" name="Text Placeholder 5">
            <a:extLst>
              <a:ext uri="{FF2B5EF4-FFF2-40B4-BE49-F238E27FC236}">
                <a16:creationId xmlns:a16="http://schemas.microsoft.com/office/drawing/2014/main" id="{DC488C4C-5411-6B3D-EF97-72605FD1DD2E}"/>
              </a:ext>
            </a:extLst>
          </p:cNvPr>
          <p:cNvSpPr txBox="1">
            <a:spLocks/>
          </p:cNvSpPr>
          <p:nvPr/>
        </p:nvSpPr>
        <p:spPr>
          <a:xfrm>
            <a:off x="7193595" y="3793955"/>
            <a:ext cx="465511" cy="365125"/>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8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sym typeface="Wingdings" panose="05000000000000000000" pitchFamily="2" charset="2"/>
              </a:rPr>
              <a:t></a:t>
            </a:r>
            <a:endParaRPr kumimoji="1" lang="en-NZ" altLang="ja-JP" sz="1800" b="1"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p:sp>
        <p:nvSpPr>
          <p:cNvPr id="27" name="Text Placeholder 5">
            <a:extLst>
              <a:ext uri="{FF2B5EF4-FFF2-40B4-BE49-F238E27FC236}">
                <a16:creationId xmlns:a16="http://schemas.microsoft.com/office/drawing/2014/main" id="{8724D194-593C-DD9A-843F-6A873D169DB4}"/>
              </a:ext>
            </a:extLst>
          </p:cNvPr>
          <p:cNvSpPr txBox="1">
            <a:spLocks/>
          </p:cNvSpPr>
          <p:nvPr/>
        </p:nvSpPr>
        <p:spPr>
          <a:xfrm>
            <a:off x="251224" y="4968672"/>
            <a:ext cx="5960890" cy="413017"/>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We wish to test whether factor </a:t>
            </a:r>
            <a:r>
              <a:rPr kumimoji="1" lang="en-NZ" altLang="ja-JP" sz="16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a:t>
            </a:r>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has any effect on the response variable, i.e. we wish to test between the hypotheses:</a:t>
            </a:r>
          </a:p>
        </p:txBody>
      </p:sp>
      <mc:AlternateContent xmlns:mc="http://schemas.openxmlformats.org/markup-compatibility/2006" xmlns:a14="http://schemas.microsoft.com/office/drawing/2010/main">
        <mc:Choice Requires="a14">
          <p:sp>
            <p:nvSpPr>
              <p:cNvPr id="28" name="Text Placeholder 5">
                <a:extLst>
                  <a:ext uri="{FF2B5EF4-FFF2-40B4-BE49-F238E27FC236}">
                    <a16:creationId xmlns:a16="http://schemas.microsoft.com/office/drawing/2014/main" id="{77A20509-023E-BD96-9258-577BBAE45B50}"/>
                  </a:ext>
                </a:extLst>
              </p:cNvPr>
              <p:cNvSpPr txBox="1">
                <a:spLocks/>
              </p:cNvSpPr>
              <p:nvPr/>
            </p:nvSpPr>
            <p:spPr>
              <a:xfrm>
                <a:off x="1291552" y="5586243"/>
                <a:ext cx="3507477" cy="801442"/>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l" defTabSz="914324" rtl="0" eaLnBrk="1" fontAlgn="auto" latinLnBrk="0" hangingPunct="1">
                  <a:lnSpc>
                    <a:spcPct val="100000"/>
                  </a:lnSpc>
                  <a:spcBef>
                    <a:spcPts val="0"/>
                  </a:spcBef>
                  <a:spcAft>
                    <a:spcPts val="0"/>
                  </a:spcAft>
                  <a:buClrTx/>
                  <a:buSzTx/>
                  <a:buFont typeface="Arial" panose="020B0604020202020204" pitchFamily="34" charset="0"/>
                  <a:buNone/>
                  <a:tabLst/>
                  <a:defRPr/>
                </a:pPr>
                <a14:m>
                  <m:oMath xmlns:m="http://schemas.openxmlformats.org/officeDocument/2006/math">
                    <m:sSub>
                      <m:sSubPr>
                        <m:ctrl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𝑯</m:t>
                        </m:r>
                      </m:e>
                      <m:sub>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𝟎</m:t>
                        </m:r>
                      </m:sub>
                    </m:sSub>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 :  </m:t>
                    </m:r>
                    <m:sSub>
                      <m:sSubPr>
                        <m:ctrl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𝜶</m:t>
                        </m:r>
                      </m:e>
                      <m:sub>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𝒊</m:t>
                        </m:r>
                      </m:sub>
                    </m:sSub>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𝟎</m:t>
                    </m:r>
                  </m:oMath>
                </a14:m>
                <a:r>
                  <a:rPr kumimoji="1" lang="en-NZ" altLang="ja-JP" sz="1600" b="1" i="1" u="none" strike="noStrike" kern="1200" cap="none" spc="0" normalizeH="0" baseline="0" noProof="0" dirty="0">
                    <a:ln>
                      <a:noFill/>
                    </a:ln>
                    <a:solidFill>
                      <a:prstClr val="black"/>
                    </a:solidFill>
                    <a:effectLst/>
                    <a:uLnTx/>
                    <a:uFillTx/>
                    <a:latin typeface="Cambria Math" panose="02040503050406030204" pitchFamily="18" charset="0"/>
                    <a:ea typeface="游ゴシック" panose="020B0400000000000000" pitchFamily="34" charset="-128"/>
                    <a:cs typeface="+mn-cs"/>
                  </a:rPr>
                  <a:t>  </a:t>
                </a:r>
                <a:r>
                  <a:rPr kumimoji="1" lang="en-NZ" altLang="ja-JP" sz="1600" b="0" i="0" u="none" strike="noStrike" kern="1200" cap="none" spc="0" normalizeH="0" baseline="0" noProof="0" dirty="0">
                    <a:ln>
                      <a:noFill/>
                    </a:ln>
                    <a:solidFill>
                      <a:prstClr val="black"/>
                    </a:solidFill>
                    <a:effectLst/>
                    <a:uLnTx/>
                    <a:uFillTx/>
                    <a:latin typeface="Cambria Math" panose="02040503050406030204" pitchFamily="18" charset="0"/>
                    <a:ea typeface="游ゴシック" panose="020B0400000000000000" pitchFamily="34" charset="-128"/>
                    <a:cs typeface="+mn-cs"/>
                  </a:rPr>
                  <a:t>for all </a:t>
                </a:r>
                <a14:m>
                  <m:oMath xmlns:m="http://schemas.openxmlformats.org/officeDocument/2006/math">
                    <m:r>
                      <a:rPr kumimoji="1" lang="en-NZ" altLang="ja-JP"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𝑖</m:t>
                    </m:r>
                    <m:r>
                      <a:rPr kumimoji="1" lang="en-NZ" altLang="ja-JP"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=1, …, </m:t>
                    </m:r>
                    <m:r>
                      <a:rPr kumimoji="1" lang="en-NZ" altLang="ja-JP"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𝑎</m:t>
                    </m:r>
                  </m:oMath>
                </a14:m>
                <a:r>
                  <a:rPr kumimoji="1" lang="en-NZ" altLang="ja-JP" sz="1600" b="0" i="0" u="none" strike="noStrike" kern="1200" cap="none" spc="0" normalizeH="0" baseline="0" noProof="0" dirty="0">
                    <a:ln>
                      <a:noFill/>
                    </a:ln>
                    <a:solidFill>
                      <a:prstClr val="black"/>
                    </a:solidFill>
                    <a:effectLst/>
                    <a:uLnTx/>
                    <a:uFillTx/>
                    <a:latin typeface="Cambria Math" panose="02040503050406030204" pitchFamily="18" charset="0"/>
                    <a:ea typeface="游ゴシック" panose="020B0400000000000000" pitchFamily="34" charset="-128"/>
                    <a:cs typeface="+mn-cs"/>
                  </a:rPr>
                  <a:t> </a:t>
                </a:r>
                <a:br>
                  <a:rPr kumimoji="1" lang="en-NZ" altLang="ja-JP" sz="1600" b="1" i="1" u="none" strike="noStrike" kern="1200" cap="none" spc="0" normalizeH="0" baseline="0" noProof="0" dirty="0">
                    <a:ln>
                      <a:noFill/>
                    </a:ln>
                    <a:solidFill>
                      <a:prstClr val="black"/>
                    </a:solidFill>
                    <a:effectLst/>
                    <a:uLnTx/>
                    <a:uFillTx/>
                    <a:latin typeface="Cambria Math" panose="02040503050406030204" pitchFamily="18" charset="0"/>
                    <a:ea typeface="游ゴシック" panose="020B0400000000000000" pitchFamily="34" charset="-128"/>
                    <a:cs typeface="+mn-cs"/>
                  </a:rPr>
                </a:br>
                <a14:m>
                  <m:oMath xmlns:m="http://schemas.openxmlformats.org/officeDocument/2006/math">
                    <m:sSub>
                      <m:sSubPr>
                        <m:ctrlP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𝑯</m:t>
                        </m:r>
                      </m:e>
                      <m:sub>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𝟏</m:t>
                        </m:r>
                      </m:sub>
                    </m:sSub>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 :  </m:t>
                    </m:r>
                    <m:sSub>
                      <m:sSubPr>
                        <m:ctrl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𝜶</m:t>
                        </m:r>
                      </m:e>
                      <m:sub>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𝒊</m:t>
                        </m:r>
                      </m:sub>
                    </m:sSub>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𝟎</m:t>
                    </m:r>
                  </m:oMath>
                </a14:m>
                <a:r>
                  <a:rPr kumimoji="1" lang="en-NZ" altLang="ja-JP" sz="16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a:t>
                </a:r>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for some </a:t>
                </a:r>
                <a14:m>
                  <m:oMath xmlns:m="http://schemas.openxmlformats.org/officeDocument/2006/math">
                    <m:r>
                      <a:rPr kumimoji="1" lang="en-NZ" altLang="ja-JP"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𝑖</m:t>
                    </m:r>
                  </m:oMath>
                </a14:m>
                <a:endPar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p:txBody>
          </p:sp>
        </mc:Choice>
        <mc:Fallback xmlns="">
          <p:sp>
            <p:nvSpPr>
              <p:cNvPr id="28" name="Text Placeholder 5">
                <a:extLst>
                  <a:ext uri="{FF2B5EF4-FFF2-40B4-BE49-F238E27FC236}">
                    <a16:creationId xmlns:a16="http://schemas.microsoft.com/office/drawing/2014/main" id="{77A20509-023E-BD96-9258-577BBAE45B50}"/>
                  </a:ext>
                </a:extLst>
              </p:cNvPr>
              <p:cNvSpPr txBox="1">
                <a:spLocks noRot="1" noChangeAspect="1" noMove="1" noResize="1" noEditPoints="1" noAdjustHandles="1" noChangeArrowheads="1" noChangeShapeType="1" noTextEdit="1"/>
              </p:cNvSpPr>
              <p:nvPr/>
            </p:nvSpPr>
            <p:spPr>
              <a:xfrm>
                <a:off x="1291552" y="5586243"/>
                <a:ext cx="3507477" cy="801442"/>
              </a:xfrm>
              <a:prstGeom prst="rect">
                <a:avLst/>
              </a:prstGeom>
              <a:blipFill>
                <a:blip r:embed="rId6"/>
                <a:stretch>
                  <a:fillRect t="-3030"/>
                </a:stretch>
              </a:blipFill>
            </p:spPr>
            <p:txBody>
              <a:bodyPr/>
              <a:lstStyle/>
              <a:p>
                <a:r>
                  <a:rPr lang="en-NZ">
                    <a:noFill/>
                  </a:rPr>
                  <a:t> </a:t>
                </a:r>
              </a:p>
            </p:txBody>
          </p:sp>
        </mc:Fallback>
      </mc:AlternateContent>
      <p:sp>
        <p:nvSpPr>
          <p:cNvPr id="25" name="Text Placeholder 5">
            <a:extLst>
              <a:ext uri="{FF2B5EF4-FFF2-40B4-BE49-F238E27FC236}">
                <a16:creationId xmlns:a16="http://schemas.microsoft.com/office/drawing/2014/main" id="{4CF180D2-C54A-63CC-40D5-B746DE678CDF}"/>
              </a:ext>
            </a:extLst>
          </p:cNvPr>
          <p:cNvSpPr txBox="1">
            <a:spLocks/>
          </p:cNvSpPr>
          <p:nvPr/>
        </p:nvSpPr>
        <p:spPr>
          <a:xfrm>
            <a:off x="312362" y="871036"/>
            <a:ext cx="11777003" cy="1222600"/>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Suppose we have a response variable </a:t>
            </a:r>
            <a:r>
              <a:rPr kumimoji="1" lang="en-NZ" altLang="ja-JP" sz="18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Y</a:t>
            </a:r>
            <a:r>
              <a:rPr kumimoji="1" lang="en-NZ"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which is modelled as a function of</a:t>
            </a:r>
          </a:p>
          <a:p>
            <a:pPr marL="971493" marR="0" lvl="1" indent="-285750" algn="just" defTabSz="914324" rtl="0" eaLnBrk="1" fontAlgn="auto" latinLnBrk="0" hangingPunct="1">
              <a:lnSpc>
                <a:spcPct val="100000"/>
              </a:lnSpc>
              <a:spcBef>
                <a:spcPts val="0"/>
              </a:spcBef>
              <a:spcAft>
                <a:spcPts val="0"/>
              </a:spcAft>
              <a:buClrTx/>
              <a:buSzTx/>
              <a:buFontTx/>
              <a:buChar char="-"/>
              <a:tabLst/>
              <a:defRPr/>
            </a:pPr>
            <a:r>
              <a:rPr kumimoji="1" lang="en-NZ"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 factor </a:t>
            </a:r>
            <a:r>
              <a:rPr kumimoji="1" lang="en-NZ" altLang="ja-JP" sz="18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a:t>
            </a:r>
            <a:r>
              <a:rPr kumimoji="1" lang="en-NZ"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with </a:t>
            </a:r>
            <a:r>
              <a:rPr kumimoji="1" lang="en-NZ" altLang="ja-JP" sz="1800" b="1" i="1" u="none" strike="noStrike" kern="1200" cap="none" spc="0" normalizeH="0" baseline="0" noProof="0" dirty="0" err="1">
                <a:ln>
                  <a:noFill/>
                </a:ln>
                <a:solidFill>
                  <a:prstClr val="black"/>
                </a:solidFill>
                <a:effectLst/>
                <a:uLnTx/>
                <a:uFillTx/>
                <a:latin typeface="Calibri" panose="020F0502020204030204"/>
                <a:ea typeface="游ゴシック" panose="020B0400000000000000" pitchFamily="34" charset="-128"/>
                <a:cs typeface="+mn-cs"/>
              </a:rPr>
              <a:t>i</a:t>
            </a:r>
            <a:r>
              <a:rPr kumimoji="1" lang="en-NZ" altLang="ja-JP" sz="18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 1, … , a </a:t>
            </a:r>
            <a:r>
              <a:rPr kumimoji="1" lang="en-NZ"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levels </a:t>
            </a:r>
          </a:p>
          <a:p>
            <a:pPr marL="971493" marR="0" lvl="1" indent="-285750" algn="just" defTabSz="914324" rtl="0" eaLnBrk="1" fontAlgn="auto" latinLnBrk="0" hangingPunct="1">
              <a:lnSpc>
                <a:spcPct val="100000"/>
              </a:lnSpc>
              <a:spcBef>
                <a:spcPts val="0"/>
              </a:spcBef>
              <a:spcAft>
                <a:spcPts val="0"/>
              </a:spcAft>
              <a:buClrTx/>
              <a:buSzTx/>
              <a:buFontTx/>
              <a:buChar char="-"/>
              <a:tabLst/>
              <a:defRPr/>
            </a:pPr>
            <a:r>
              <a:rPr kumimoji="1" lang="en-NZ"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 factor </a:t>
            </a:r>
            <a:r>
              <a:rPr kumimoji="1" lang="en-NZ" altLang="ja-JP" sz="18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B</a:t>
            </a:r>
            <a:r>
              <a:rPr kumimoji="1" lang="en-NZ"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with </a:t>
            </a:r>
            <a:r>
              <a:rPr kumimoji="1" lang="en-NZ" altLang="ja-JP" sz="18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b </a:t>
            </a:r>
            <a:r>
              <a:rPr kumimoji="1" lang="en-NZ"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randomly selected levels nested in factor </a:t>
            </a:r>
            <a:r>
              <a:rPr kumimoji="1" lang="en-NZ" altLang="ja-JP" sz="18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a:t>
            </a:r>
          </a:p>
          <a:p>
            <a:pPr marL="971493" lvl="1" indent="-285750" algn="just">
              <a:lnSpc>
                <a:spcPct val="100000"/>
              </a:lnSpc>
              <a:spcBef>
                <a:spcPts val="0"/>
              </a:spcBef>
              <a:buFontTx/>
              <a:buChar char="-"/>
              <a:defRPr/>
            </a:pPr>
            <a:r>
              <a:rPr kumimoji="1" lang="en-NZ"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 factor </a:t>
            </a:r>
            <a:r>
              <a:rPr lang="en-NZ" altLang="ja-JP" sz="1800" b="1" i="1" dirty="0">
                <a:solidFill>
                  <a:prstClr val="black"/>
                </a:solidFill>
                <a:latin typeface="Calibri" panose="020F0502020204030204"/>
                <a:ea typeface="游ゴシック" panose="020B0400000000000000" pitchFamily="34" charset="-128"/>
              </a:rPr>
              <a:t>C</a:t>
            </a:r>
            <a:r>
              <a:rPr kumimoji="1" lang="en-NZ"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with </a:t>
            </a:r>
            <a:r>
              <a:rPr kumimoji="1" lang="en-NZ" altLang="ja-JP" sz="18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c </a:t>
            </a:r>
            <a:r>
              <a:rPr kumimoji="1" lang="en-NZ"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randomly selected levels nested in factor </a:t>
            </a:r>
            <a:r>
              <a:rPr lang="en-NZ" altLang="ja-JP" sz="1800" b="1" i="1" dirty="0">
                <a:solidFill>
                  <a:prstClr val="black"/>
                </a:solidFill>
                <a:latin typeface="Calibri" panose="020F0502020204030204"/>
                <a:ea typeface="游ゴシック" panose="020B0400000000000000" pitchFamily="34" charset="-128"/>
              </a:rPr>
              <a:t>B</a:t>
            </a:r>
            <a:endParaRPr kumimoji="1" lang="en-NZ" altLang="ja-JP" sz="18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p:txBody>
      </p:sp>
      <p:sp>
        <p:nvSpPr>
          <p:cNvPr id="2" name="Text Placeholder 5">
            <a:extLst>
              <a:ext uri="{FF2B5EF4-FFF2-40B4-BE49-F238E27FC236}">
                <a16:creationId xmlns:a16="http://schemas.microsoft.com/office/drawing/2014/main" id="{E368076B-3C75-6B21-4C69-E2404FBBBC4E}"/>
              </a:ext>
            </a:extLst>
          </p:cNvPr>
          <p:cNvSpPr txBox="1">
            <a:spLocks/>
          </p:cNvSpPr>
          <p:nvPr/>
        </p:nvSpPr>
        <p:spPr>
          <a:xfrm>
            <a:off x="251224" y="6345795"/>
            <a:ext cx="8253798" cy="413017"/>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1200" dirty="0">
                <a:solidFill>
                  <a:schemeClr val="tx1"/>
                </a:solidFill>
              </a:rPr>
              <a:t>Since only some levels of </a:t>
            </a:r>
            <a:r>
              <a:rPr lang="en-NZ" altLang="ja-JP" sz="1200" b="1" i="1" dirty="0">
                <a:solidFill>
                  <a:schemeClr val="tx1"/>
                </a:solidFill>
              </a:rPr>
              <a:t>Factor B (C)</a:t>
            </a:r>
            <a:r>
              <a:rPr lang="en-NZ" altLang="ja-JP" sz="1200" dirty="0">
                <a:solidFill>
                  <a:schemeClr val="tx1"/>
                </a:solidFill>
              </a:rPr>
              <a:t> appear within each level of </a:t>
            </a:r>
            <a:r>
              <a:rPr lang="en-NZ" altLang="ja-JP" sz="1200" b="1" dirty="0">
                <a:solidFill>
                  <a:schemeClr val="tx1"/>
                </a:solidFill>
              </a:rPr>
              <a:t>Factor </a:t>
            </a:r>
            <a:r>
              <a:rPr lang="en-NZ" altLang="ja-JP" sz="1200" b="1" i="1" dirty="0">
                <a:solidFill>
                  <a:schemeClr val="tx1"/>
                </a:solidFill>
              </a:rPr>
              <a:t>A (B)</a:t>
            </a:r>
            <a:r>
              <a:rPr lang="en-NZ" altLang="ja-JP" sz="1200" dirty="0">
                <a:solidFill>
                  <a:schemeClr val="tx1"/>
                </a:solidFill>
              </a:rPr>
              <a:t> there can be no interactions between </a:t>
            </a:r>
            <a:r>
              <a:rPr lang="en-NZ" altLang="ja-JP" sz="1200" b="1" i="1" dirty="0">
                <a:solidFill>
                  <a:schemeClr val="tx1"/>
                </a:solidFill>
              </a:rPr>
              <a:t>A</a:t>
            </a:r>
            <a:r>
              <a:rPr lang="en-NZ" altLang="ja-JP" sz="1200" b="1" dirty="0">
                <a:solidFill>
                  <a:schemeClr val="tx1"/>
                </a:solidFill>
              </a:rPr>
              <a:t>,</a:t>
            </a:r>
            <a:r>
              <a:rPr lang="en-NZ" altLang="ja-JP" sz="1200" dirty="0">
                <a:solidFill>
                  <a:schemeClr val="tx1"/>
                </a:solidFill>
              </a:rPr>
              <a:t> </a:t>
            </a:r>
            <a:r>
              <a:rPr lang="en-NZ" altLang="ja-JP" sz="1200" b="1" i="1" dirty="0">
                <a:solidFill>
                  <a:schemeClr val="tx1"/>
                </a:solidFill>
              </a:rPr>
              <a:t>B &amp; C.</a:t>
            </a:r>
            <a:endParaRPr lang="en-NZ" altLang="ja-JP" sz="1200" dirty="0">
              <a:solidFill>
                <a:schemeClr val="tx1"/>
              </a:solidFill>
            </a:endParaRPr>
          </a:p>
          <a:p>
            <a:pPr algn="just">
              <a:lnSpc>
                <a:spcPct val="100000"/>
              </a:lnSpc>
            </a:pPr>
            <a:r>
              <a:rPr lang="en-NZ" altLang="ja-JP" sz="1200" dirty="0">
                <a:solidFill>
                  <a:schemeClr val="tx1"/>
                </a:solidFill>
              </a:rPr>
              <a:t>We are not able to test whether </a:t>
            </a:r>
            <a:r>
              <a:rPr lang="en-NZ" altLang="ja-JP" sz="1200" b="1" i="1" dirty="0">
                <a:solidFill>
                  <a:schemeClr val="tx1"/>
                </a:solidFill>
              </a:rPr>
              <a:t>Factor B</a:t>
            </a:r>
            <a:r>
              <a:rPr lang="en-NZ" altLang="ja-JP" sz="1200" i="1" dirty="0">
                <a:solidFill>
                  <a:schemeClr val="tx1"/>
                </a:solidFill>
              </a:rPr>
              <a:t> or </a:t>
            </a:r>
            <a:r>
              <a:rPr lang="en-NZ" altLang="ja-JP" sz="1200" b="1" i="1" dirty="0">
                <a:solidFill>
                  <a:schemeClr val="tx1"/>
                </a:solidFill>
              </a:rPr>
              <a:t>Factor C </a:t>
            </a:r>
            <a:r>
              <a:rPr lang="en-NZ" altLang="ja-JP" sz="1200" dirty="0">
                <a:solidFill>
                  <a:schemeClr val="tx1"/>
                </a:solidFill>
              </a:rPr>
              <a:t>has an effect on the response variable because of the nesting.</a:t>
            </a:r>
          </a:p>
        </p:txBody>
      </p:sp>
      <p:sp>
        <p:nvSpPr>
          <p:cNvPr id="3" name="Text Placeholder 5">
            <a:extLst>
              <a:ext uri="{FF2B5EF4-FFF2-40B4-BE49-F238E27FC236}">
                <a16:creationId xmlns:a16="http://schemas.microsoft.com/office/drawing/2014/main" id="{F74728AD-90ED-91BE-6B6D-F39C767530EE}"/>
              </a:ext>
            </a:extLst>
          </p:cNvPr>
          <p:cNvSpPr txBox="1">
            <a:spLocks/>
          </p:cNvSpPr>
          <p:nvPr/>
        </p:nvSpPr>
        <p:spPr>
          <a:xfrm>
            <a:off x="264361" y="6002406"/>
            <a:ext cx="996974" cy="413017"/>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1600" b="1" u="sng" dirty="0">
                <a:solidFill>
                  <a:schemeClr val="tx1"/>
                </a:solidFill>
              </a:rPr>
              <a:t>Note:</a:t>
            </a:r>
          </a:p>
        </p:txBody>
      </p:sp>
    </p:spTree>
    <p:extLst>
      <p:ext uri="{BB962C8B-B14F-4D97-AF65-F5344CB8AC3E}">
        <p14:creationId xmlns:p14="http://schemas.microsoft.com/office/powerpoint/2010/main" val="6679470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P spid="28" grpId="0"/>
      <p:bldP spid="2" grpId="0"/>
      <p:bldP spid="3"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2">
            <a:extLst>
              <a:ext uri="{FF2B5EF4-FFF2-40B4-BE49-F238E27FC236}">
                <a16:creationId xmlns:a16="http://schemas.microsoft.com/office/drawing/2014/main" id="{FCA3135E-12FE-4808-B68B-466D5B0EBCB1}"/>
              </a:ext>
            </a:extLst>
          </p:cNvPr>
          <p:cNvSpPr txBox="1">
            <a:spLocks/>
          </p:cNvSpPr>
          <p:nvPr/>
        </p:nvSpPr>
        <p:spPr>
          <a:xfrm>
            <a:off x="8775510" y="86139"/>
            <a:ext cx="3313855"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rPr>
              <a:t>5.4 – 3-Stage Nested Design</a:t>
            </a:r>
            <a:endParaRPr kumimoji="1" lang="ja-JP" altLang="en-US"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endParaRPr>
          </a:p>
        </p:txBody>
      </p:sp>
      <p:sp>
        <p:nvSpPr>
          <p:cNvPr id="5" name="Title 6">
            <a:extLst>
              <a:ext uri="{FF2B5EF4-FFF2-40B4-BE49-F238E27FC236}">
                <a16:creationId xmlns:a16="http://schemas.microsoft.com/office/drawing/2014/main" id="{2BD5844C-C201-4666-ADB9-681CBA48DCC1}"/>
              </a:ext>
            </a:extLst>
          </p:cNvPr>
          <p:cNvSpPr txBox="1">
            <a:spLocks/>
          </p:cNvSpPr>
          <p:nvPr/>
        </p:nvSpPr>
        <p:spPr>
          <a:xfrm>
            <a:off x="251224" y="237833"/>
            <a:ext cx="9411391" cy="607201"/>
          </a:xfrm>
          <a:prstGeom prst="rect">
            <a:avLst/>
          </a:prstGeom>
        </p:spPr>
        <p:txBody>
          <a:bodyPr anchor="t">
            <a:normAutofit fontScale="85000" lnSpcReduction="10000"/>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pPr marL="0" marR="0" lvl="0" indent="0" algn="l" defTabSz="914324" rtl="0" eaLnBrk="1" fontAlgn="auto" latinLnBrk="0" hangingPunct="1">
              <a:lnSpc>
                <a:spcPct val="90000"/>
              </a:lnSpc>
              <a:spcBef>
                <a:spcPct val="0"/>
              </a:spcBef>
              <a:spcAft>
                <a:spcPts val="0"/>
              </a:spcAft>
              <a:buClrTx/>
              <a:buSzTx/>
              <a:buFontTx/>
              <a:buNone/>
              <a:tabLst/>
              <a:defRPr/>
            </a:pPr>
            <a:r>
              <a:rPr kumimoji="1" lang="en-US" altLang="ja-JP"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rPr>
              <a:t>5.4a – </a:t>
            </a:r>
            <a:r>
              <a:rPr lang="en-US" altLang="ja-JP" b="1" u="sng" dirty="0">
                <a:solidFill>
                  <a:prstClr val="black"/>
                </a:solidFill>
                <a:latin typeface="Calibri" panose="020F0502020204030204"/>
                <a:ea typeface="游ゴシック Light" panose="020B0300000000000000" pitchFamily="34" charset="-128"/>
              </a:rPr>
              <a:t>Mixed</a:t>
            </a:r>
            <a:r>
              <a:rPr kumimoji="1" lang="en-US" altLang="ja-JP"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rPr>
              <a:t> Effects Model for a 3-Stage Nested Design:</a:t>
            </a:r>
            <a:endParaRPr kumimoji="1" lang="ja-JP" altLang="en-US"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endParaRPr>
          </a:p>
        </p:txBody>
      </p:sp>
      <p:sp>
        <p:nvSpPr>
          <p:cNvPr id="10" name="Slide Number Placeholder 3">
            <a:extLst>
              <a:ext uri="{FF2B5EF4-FFF2-40B4-BE49-F238E27FC236}">
                <a16:creationId xmlns:a16="http://schemas.microsoft.com/office/drawing/2014/main" id="{B0C9041D-77F0-4656-90D4-0E84B7AC6B27}"/>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54AD89C-DF1E-4948-B597-5DD47B34A9CA}" type="slidenum">
              <a:rPr kumimoji="1" lang="ja-JP" altLang="en-US" sz="4000" b="0" i="0" u="none" strike="noStrike" kern="1200" cap="none" spc="0" normalizeH="0" baseline="0" noProof="0" smtClean="0">
                <a:ln>
                  <a:noFill/>
                </a:ln>
                <a:solidFill>
                  <a:srgbClr val="575454">
                    <a:lumMod val="20000"/>
                    <a:lumOff val="80000"/>
                  </a:srgbClr>
                </a:solidFill>
                <a:effectLst/>
                <a:uLnTx/>
                <a:uFillTx/>
                <a:latin typeface="Coo Hew"/>
                <a:ea typeface="游ゴシック" panose="020B0400000000000000"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34</a:t>
            </a:fld>
            <a:endParaRPr kumimoji="1" lang="ja-JP" altLang="en-US" sz="4000" b="0" i="0" u="none" strike="noStrike" kern="1200" cap="none" spc="0" normalizeH="0" baseline="0" noProof="0" dirty="0">
              <a:ln>
                <a:noFill/>
              </a:ln>
              <a:solidFill>
                <a:srgbClr val="575454">
                  <a:lumMod val="20000"/>
                  <a:lumOff val="80000"/>
                </a:srgbClr>
              </a:solidFill>
              <a:effectLst/>
              <a:uLnTx/>
              <a:uFillTx/>
              <a:latin typeface="Coo Hew"/>
              <a:ea typeface="游ゴシック" panose="020B0400000000000000" pitchFamily="34" charset="-128"/>
              <a:cs typeface="+mn-cs"/>
            </a:endParaRPr>
          </a:p>
        </p:txBody>
      </p:sp>
      <p:sp>
        <p:nvSpPr>
          <p:cNvPr id="17" name="Text Placeholder 5">
            <a:extLst>
              <a:ext uri="{FF2B5EF4-FFF2-40B4-BE49-F238E27FC236}">
                <a16:creationId xmlns:a16="http://schemas.microsoft.com/office/drawing/2014/main" id="{DB67ABBD-EBE5-54A6-7329-9352FBDFC6FD}"/>
              </a:ext>
            </a:extLst>
          </p:cNvPr>
          <p:cNvSpPr txBox="1">
            <a:spLocks/>
          </p:cNvSpPr>
          <p:nvPr/>
        </p:nvSpPr>
        <p:spPr>
          <a:xfrm>
            <a:off x="251224" y="2508258"/>
            <a:ext cx="11777003" cy="41301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We take a balanced sample of </a:t>
            </a:r>
            <a:r>
              <a:rPr kumimoji="1" lang="en-NZ" altLang="ja-JP" sz="18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N</a:t>
            </a:r>
            <a:r>
              <a:rPr kumimoji="1" lang="en-NZ"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observations with </a:t>
            </a:r>
            <a:r>
              <a:rPr kumimoji="1" lang="en-NZ" altLang="ja-JP" sz="18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n</a:t>
            </a:r>
            <a:r>
              <a:rPr kumimoji="1" lang="en-NZ"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observations in each cell. The </a:t>
            </a:r>
            <a:r>
              <a:rPr lang="en-NZ" altLang="ja-JP" sz="1800" b="1" i="1" dirty="0">
                <a:solidFill>
                  <a:prstClr val="black"/>
                </a:solidFill>
                <a:latin typeface="Calibri" panose="020F0502020204030204"/>
                <a:ea typeface="游ゴシック" panose="020B0400000000000000" pitchFamily="34" charset="-128"/>
              </a:rPr>
              <a:t>m</a:t>
            </a:r>
            <a:r>
              <a:rPr kumimoji="1" lang="en-NZ" altLang="ja-JP" sz="1800" b="1" i="1" u="none" strike="noStrike" kern="1200" cap="none" spc="0" normalizeH="0" baseline="30000" noProof="0" dirty="0" err="1">
                <a:ln>
                  <a:noFill/>
                </a:ln>
                <a:solidFill>
                  <a:prstClr val="black"/>
                </a:solidFill>
                <a:effectLst/>
                <a:uLnTx/>
                <a:uFillTx/>
                <a:latin typeface="Calibri" panose="020F0502020204030204"/>
                <a:ea typeface="游ゴシック" panose="020B0400000000000000" pitchFamily="34" charset="-128"/>
                <a:cs typeface="+mn-cs"/>
              </a:rPr>
              <a:t>th</a:t>
            </a:r>
            <a:r>
              <a:rPr kumimoji="1" lang="en-NZ" altLang="ja-JP" sz="18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a:t>
            </a:r>
            <a:r>
              <a:rPr kumimoji="1" lang="en-NZ"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element in cell </a:t>
            </a:r>
            <a:r>
              <a:rPr kumimoji="1" lang="en-NZ" altLang="ja-JP" sz="18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t>
            </a:r>
            <a:r>
              <a:rPr kumimoji="1" lang="en-NZ" altLang="ja-JP" sz="1800" b="1" i="1" u="none" strike="noStrike" kern="1200" cap="none" spc="0" normalizeH="0" baseline="0" noProof="0" dirty="0" err="1">
                <a:ln>
                  <a:noFill/>
                </a:ln>
                <a:solidFill>
                  <a:prstClr val="black"/>
                </a:solidFill>
                <a:effectLst/>
                <a:uLnTx/>
                <a:uFillTx/>
                <a:latin typeface="Calibri" panose="020F0502020204030204"/>
                <a:ea typeface="游ゴシック" panose="020B0400000000000000" pitchFamily="34" charset="-128"/>
                <a:cs typeface="+mn-cs"/>
              </a:rPr>
              <a:t>i,j,k</a:t>
            </a:r>
            <a:r>
              <a:rPr kumimoji="1" lang="en-NZ" altLang="ja-JP" sz="18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t>
            </a:r>
            <a:r>
              <a:rPr kumimoji="1" lang="en-NZ"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is modelled as:</a:t>
            </a:r>
          </a:p>
        </p:txBody>
      </p:sp>
      <mc:AlternateContent xmlns:mc="http://schemas.openxmlformats.org/markup-compatibility/2006" xmlns:a14="http://schemas.microsoft.com/office/drawing/2010/main">
        <mc:Choice Requires="a14">
          <p:sp>
            <p:nvSpPr>
              <p:cNvPr id="18" name="Text Placeholder 5">
                <a:extLst>
                  <a:ext uri="{FF2B5EF4-FFF2-40B4-BE49-F238E27FC236}">
                    <a16:creationId xmlns:a16="http://schemas.microsoft.com/office/drawing/2014/main" id="{0CEEAE7C-8B5C-49C1-DECF-ABDEC6F5C6BE}"/>
                  </a:ext>
                </a:extLst>
              </p:cNvPr>
              <p:cNvSpPr txBox="1">
                <a:spLocks/>
              </p:cNvSpPr>
              <p:nvPr/>
            </p:nvSpPr>
            <p:spPr>
              <a:xfrm>
                <a:off x="2480913" y="2940053"/>
                <a:ext cx="7107899" cy="47495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14:m>
                  <m:oMathPara xmlns:m="http://schemas.openxmlformats.org/officeDocument/2006/math">
                    <m:oMathParaPr>
                      <m:jc m:val="centerGroup"/>
                    </m:oMathParaPr>
                    <m:oMath xmlns:m="http://schemas.openxmlformats.org/officeDocument/2006/math">
                      <m:sSub>
                        <m:sSubPr>
                          <m:ctrlP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ctrlPr>
                        </m:sSubPr>
                        <m:e>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𝒀</m:t>
                          </m:r>
                        </m:e>
                        <m:sub>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𝒊𝒋𝒌𝒎</m:t>
                          </m:r>
                        </m:sub>
                      </m:sSub>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   =     </m:t>
                      </m:r>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𝝁</m:t>
                      </m:r>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  +   </m:t>
                      </m:r>
                      <m:sSub>
                        <m:sSubPr>
                          <m:ctrlP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ctrlPr>
                        </m:sSubPr>
                        <m:e>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𝜶</m:t>
                          </m:r>
                        </m:e>
                        <m:sub>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𝒊</m:t>
                          </m:r>
                        </m:sub>
                      </m:sSub>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  +   </m:t>
                      </m:r>
                      <m:sSub>
                        <m:sSubPr>
                          <m:ctrlP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ctrlPr>
                        </m:sSubPr>
                        <m:e>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𝑩</m:t>
                          </m:r>
                        </m:e>
                        <m:sub>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𝒋</m:t>
                          </m:r>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m:t>
                          </m:r>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𝒊</m:t>
                          </m:r>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m:t>
                          </m:r>
                        </m:sub>
                      </m:sSub>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  +    </m:t>
                      </m:r>
                      <m:sSub>
                        <m:sSubPr>
                          <m:ctrlP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ctrlPr>
                        </m:sSubPr>
                        <m:e>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𝑪</m:t>
                          </m:r>
                        </m:e>
                        <m:sub>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𝒌</m:t>
                          </m:r>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m:t>
                          </m:r>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𝒊𝒋</m:t>
                          </m:r>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m:t>
                          </m:r>
                        </m:sub>
                      </m:sSub>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   +   </m:t>
                      </m:r>
                      <m:sSub>
                        <m:sSubPr>
                          <m:ctrlP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ctrlPr>
                        </m:sSubPr>
                        <m:e>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𝝐</m:t>
                          </m:r>
                        </m:e>
                        <m:sub>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𝒎</m:t>
                          </m:r>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m:t>
                          </m:r>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𝒊𝒋𝒌</m:t>
                          </m:r>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cs typeface="+mn-cs"/>
                            </a:rPr>
                            <m:t>)</m:t>
                          </m:r>
                        </m:sub>
                      </m:sSub>
                    </m:oMath>
                  </m:oMathPara>
                </a14:m>
                <a:endParaRPr kumimoji="1" lang="en-NZ" altLang="ja-JP" sz="1800" b="1" i="0"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800" b="1"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mc:Choice>
        <mc:Fallback xmlns="">
          <p:sp>
            <p:nvSpPr>
              <p:cNvPr id="18" name="Text Placeholder 5">
                <a:extLst>
                  <a:ext uri="{FF2B5EF4-FFF2-40B4-BE49-F238E27FC236}">
                    <a16:creationId xmlns:a16="http://schemas.microsoft.com/office/drawing/2014/main" id="{0CEEAE7C-8B5C-49C1-DECF-ABDEC6F5C6BE}"/>
                  </a:ext>
                </a:extLst>
              </p:cNvPr>
              <p:cNvSpPr txBox="1">
                <a:spLocks noRot="1" noChangeAspect="1" noMove="1" noResize="1" noEditPoints="1" noAdjustHandles="1" noChangeArrowheads="1" noChangeShapeType="1" noTextEdit="1"/>
              </p:cNvSpPr>
              <p:nvPr/>
            </p:nvSpPr>
            <p:spPr>
              <a:xfrm>
                <a:off x="2480913" y="2940053"/>
                <a:ext cx="7107899" cy="474953"/>
              </a:xfrm>
              <a:prstGeom prst="rect">
                <a:avLst/>
              </a:prstGeom>
              <a:blipFill>
                <a:blip r:embed="rId2"/>
                <a:stretch>
                  <a:fillRect/>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20" name="Text Placeholder 5">
                <a:extLst>
                  <a:ext uri="{FF2B5EF4-FFF2-40B4-BE49-F238E27FC236}">
                    <a16:creationId xmlns:a16="http://schemas.microsoft.com/office/drawing/2014/main" id="{91689025-3833-257B-1DD1-73CCD6DF11F5}"/>
                  </a:ext>
                </a:extLst>
              </p:cNvPr>
              <p:cNvSpPr txBox="1">
                <a:spLocks/>
              </p:cNvSpPr>
              <p:nvPr/>
            </p:nvSpPr>
            <p:spPr>
              <a:xfrm>
                <a:off x="469578" y="3434612"/>
                <a:ext cx="4867734" cy="1318675"/>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l-GR" altLang="ja-JP" sz="16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μ</a:t>
                </a:r>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is the population mean</a:t>
                </a:r>
                <a:endParaRPr kumimoji="1" lang="en-NZ" altLang="ja-JP" sz="16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14:m>
                  <m:oMath xmlns:m="http://schemas.openxmlformats.org/officeDocument/2006/math">
                    <m:sSub>
                      <m:sSubPr>
                        <m:ctrl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𝜶</m:t>
                        </m:r>
                      </m:e>
                      <m:sub>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𝒊</m:t>
                        </m:r>
                      </m:sub>
                    </m:sSub>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sSub>
                      <m:sSubPr>
                        <m:ctrl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𝝁</m:t>
                        </m:r>
                      </m:e>
                      <m:sub>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𝒊</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sub>
                    </m:sSub>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 −</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𝝁</m:t>
                    </m:r>
                  </m:oMath>
                </a14:m>
                <a:r>
                  <a:rPr kumimoji="1" lang="en-NZ" altLang="ja-JP" sz="16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a:t>
                </a:r>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is the effect of the </a:t>
                </a:r>
                <a:r>
                  <a:rPr kumimoji="1" lang="en-NZ" altLang="ja-JP" sz="1600" b="1" i="1" u="none" strike="noStrike" kern="1200" cap="none" spc="0" normalizeH="0" baseline="0" noProof="0" dirty="0" err="1">
                    <a:ln>
                      <a:noFill/>
                    </a:ln>
                    <a:solidFill>
                      <a:prstClr val="black"/>
                    </a:solidFill>
                    <a:effectLst/>
                    <a:uLnTx/>
                    <a:uFillTx/>
                    <a:latin typeface="Calibri" panose="020F0502020204030204"/>
                    <a:ea typeface="游ゴシック" panose="020B0400000000000000" pitchFamily="34" charset="-128"/>
                    <a:cs typeface="+mn-cs"/>
                  </a:rPr>
                  <a:t>i</a:t>
                </a:r>
                <a:r>
                  <a:rPr kumimoji="1" lang="en-NZ" altLang="ja-JP" sz="1600" b="1" i="1" u="none" strike="noStrike" kern="1200" cap="none" spc="0" normalizeH="0" baseline="30000" noProof="0" dirty="0" err="1">
                    <a:ln>
                      <a:noFill/>
                    </a:ln>
                    <a:solidFill>
                      <a:prstClr val="black"/>
                    </a:solidFill>
                    <a:effectLst/>
                    <a:uLnTx/>
                    <a:uFillTx/>
                    <a:latin typeface="Calibri" panose="020F0502020204030204"/>
                    <a:ea typeface="游ゴシック" panose="020B0400000000000000" pitchFamily="34" charset="-128"/>
                    <a:cs typeface="+mn-cs"/>
                  </a:rPr>
                  <a:t>th</a:t>
                </a:r>
                <a:r>
                  <a:rPr kumimoji="1" lang="en-NZ" altLang="ja-JP" sz="1600" b="0" i="1" u="none" strike="noStrike" kern="1200" cap="none" spc="0" normalizeH="0" baseline="-25000" noProof="0" dirty="0">
                    <a:ln>
                      <a:noFill/>
                    </a:ln>
                    <a:solidFill>
                      <a:prstClr val="black"/>
                    </a:solidFill>
                    <a:effectLst/>
                    <a:uLnTx/>
                    <a:uFillTx/>
                    <a:latin typeface="Calibri" panose="020F0502020204030204"/>
                    <a:ea typeface="游ゴシック" panose="020B0400000000000000" pitchFamily="34" charset="-128"/>
                    <a:cs typeface="+mn-cs"/>
                  </a:rPr>
                  <a:t> </a:t>
                </a:r>
                <a:r>
                  <a:rPr kumimoji="1" lang="en-NZ" altLang="ja-JP" sz="1600" b="0"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a:t>
                </a:r>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level of factor </a:t>
                </a:r>
                <a:r>
                  <a:rPr kumimoji="1" lang="en-NZ" altLang="ja-JP" sz="16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a:t>
                </a: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14:m>
                  <m:oMathPara xmlns:m="http://schemas.openxmlformats.org/officeDocument/2006/math">
                    <m:oMathParaPr>
                      <m:jc m:val="left"/>
                    </m:oMathParaPr>
                    <m:oMath xmlns:m="http://schemas.openxmlformats.org/officeDocument/2006/math">
                      <m:sSub>
                        <m:sSubPr>
                          <m:ctrl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𝑩</m:t>
                          </m:r>
                        </m:e>
                        <m:sub>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𝒋</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𝒊</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sub>
                      </m:sSub>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 ~ </m:t>
                      </m:r>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𝑵</m:t>
                      </m:r>
                      <m:d>
                        <m:dPr>
                          <m:ctrlP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ctrlPr>
                        </m:dPr>
                        <m:e>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𝟎</m:t>
                          </m:r>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 </m:t>
                          </m:r>
                          <m:sSubSup>
                            <m:sSubSupPr>
                              <m:ctrl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SupPr>
                            <m:e>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𝝈</m:t>
                              </m:r>
                            </m:e>
                            <m:sub>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𝑩</m:t>
                              </m:r>
                            </m:sub>
                            <m:sup>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𝟐</m:t>
                              </m:r>
                            </m:sup>
                          </m:sSubSup>
                        </m:e>
                      </m:d>
                    </m:oMath>
                  </m:oMathPara>
                </a14:m>
                <a:endPar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a:p>
                <a:pPr lvl="0" algn="just">
                  <a:lnSpc>
                    <a:spcPct val="100000"/>
                  </a:lnSpc>
                  <a:defRPr/>
                </a:pPr>
                <a14:m>
                  <m:oMathPara xmlns:m="http://schemas.openxmlformats.org/officeDocument/2006/math">
                    <m:oMathParaPr>
                      <m:jc m:val="left"/>
                    </m:oMathParaPr>
                    <m:oMath xmlns:m="http://schemas.openxmlformats.org/officeDocument/2006/math">
                      <m:sSub>
                        <m:sSubPr>
                          <m:ctrlPr>
                            <a:rPr lang="en-NZ" altLang="ja-JP" sz="1600" b="1" i="1">
                              <a:solidFill>
                                <a:prstClr val="black"/>
                              </a:solidFill>
                              <a:latin typeface="Cambria Math" panose="02040503050406030204" pitchFamily="18" charset="0"/>
                            </a:rPr>
                          </m:ctrlPr>
                        </m:sSubPr>
                        <m:e>
                          <m:r>
                            <a:rPr lang="en-NZ" altLang="ja-JP" sz="1600" b="1" i="1" smtClean="0">
                              <a:solidFill>
                                <a:prstClr val="black"/>
                              </a:solidFill>
                              <a:latin typeface="Cambria Math" panose="02040503050406030204" pitchFamily="18" charset="0"/>
                            </a:rPr>
                            <m:t>𝑪</m:t>
                          </m:r>
                        </m:e>
                        <m:sub>
                          <m:r>
                            <a:rPr lang="en-NZ" altLang="ja-JP" sz="1600" b="1" i="1" smtClean="0">
                              <a:solidFill>
                                <a:prstClr val="black"/>
                              </a:solidFill>
                              <a:latin typeface="Cambria Math" panose="02040503050406030204" pitchFamily="18" charset="0"/>
                            </a:rPr>
                            <m:t>𝒌</m:t>
                          </m:r>
                          <m:r>
                            <a:rPr lang="en-NZ" altLang="ja-JP" sz="1600" b="1" i="1">
                              <a:solidFill>
                                <a:prstClr val="black"/>
                              </a:solidFill>
                              <a:latin typeface="Cambria Math" panose="02040503050406030204" pitchFamily="18" charset="0"/>
                            </a:rPr>
                            <m:t>(</m:t>
                          </m:r>
                          <m:r>
                            <a:rPr lang="en-NZ" altLang="ja-JP" sz="1600" b="1" i="1">
                              <a:solidFill>
                                <a:prstClr val="black"/>
                              </a:solidFill>
                              <a:latin typeface="Cambria Math" panose="02040503050406030204" pitchFamily="18" charset="0"/>
                            </a:rPr>
                            <m:t>𝒊𝒋</m:t>
                          </m:r>
                          <m:r>
                            <a:rPr lang="en-NZ" altLang="ja-JP" sz="1600" b="1" i="1">
                              <a:solidFill>
                                <a:prstClr val="black"/>
                              </a:solidFill>
                              <a:latin typeface="Cambria Math" panose="02040503050406030204" pitchFamily="18" charset="0"/>
                            </a:rPr>
                            <m:t>)</m:t>
                          </m:r>
                        </m:sub>
                      </m:sSub>
                      <m:r>
                        <a:rPr lang="en-NZ" altLang="ja-JP" sz="1600" b="1" i="1">
                          <a:solidFill>
                            <a:prstClr val="black"/>
                          </a:solidFill>
                          <a:latin typeface="Cambria Math" panose="02040503050406030204" pitchFamily="18" charset="0"/>
                        </a:rPr>
                        <m:t> ~ </m:t>
                      </m:r>
                      <m:r>
                        <a:rPr lang="en-NZ" altLang="ja-JP" sz="1600" b="1" i="1">
                          <a:solidFill>
                            <a:prstClr val="black"/>
                          </a:solidFill>
                          <a:latin typeface="Cambria Math" panose="02040503050406030204" pitchFamily="18" charset="0"/>
                        </a:rPr>
                        <m:t>𝑵</m:t>
                      </m:r>
                      <m:d>
                        <m:dPr>
                          <m:ctrlPr>
                            <a:rPr lang="en-NZ" altLang="ja-JP" sz="1600" b="1" i="1">
                              <a:solidFill>
                                <a:prstClr val="black"/>
                              </a:solidFill>
                              <a:latin typeface="Cambria Math" panose="02040503050406030204" pitchFamily="18" charset="0"/>
                            </a:rPr>
                          </m:ctrlPr>
                        </m:dPr>
                        <m:e>
                          <m:r>
                            <a:rPr lang="en-NZ" altLang="ja-JP" sz="1600" b="1" i="1">
                              <a:solidFill>
                                <a:prstClr val="black"/>
                              </a:solidFill>
                              <a:latin typeface="Cambria Math" panose="02040503050406030204" pitchFamily="18" charset="0"/>
                            </a:rPr>
                            <m:t>𝟎</m:t>
                          </m:r>
                          <m:r>
                            <a:rPr lang="en-NZ" altLang="ja-JP" sz="1600" b="1" i="1">
                              <a:solidFill>
                                <a:prstClr val="black"/>
                              </a:solidFill>
                              <a:latin typeface="Cambria Math" panose="02040503050406030204" pitchFamily="18" charset="0"/>
                            </a:rPr>
                            <m:t>, </m:t>
                          </m:r>
                          <m:sSubSup>
                            <m:sSubSupPr>
                              <m:ctrlPr>
                                <a:rPr lang="en-NZ" altLang="ja-JP" sz="1600" b="1" i="1" smtClean="0">
                                  <a:solidFill>
                                    <a:prstClr val="black"/>
                                  </a:solidFill>
                                  <a:latin typeface="Cambria Math" panose="02040503050406030204" pitchFamily="18" charset="0"/>
                                </a:rPr>
                              </m:ctrlPr>
                            </m:sSubSupPr>
                            <m:e>
                              <m:r>
                                <a:rPr lang="en-NZ" altLang="ja-JP" sz="1600" b="1" i="1">
                                  <a:solidFill>
                                    <a:prstClr val="black"/>
                                  </a:solidFill>
                                  <a:latin typeface="Cambria Math" panose="02040503050406030204" pitchFamily="18" charset="0"/>
                                </a:rPr>
                                <m:t>𝝈</m:t>
                              </m:r>
                            </m:e>
                            <m:sub>
                              <m:r>
                                <a:rPr lang="en-NZ" altLang="ja-JP" sz="1600" b="1" i="1" smtClean="0">
                                  <a:solidFill>
                                    <a:prstClr val="black"/>
                                  </a:solidFill>
                                  <a:latin typeface="Cambria Math" panose="02040503050406030204" pitchFamily="18" charset="0"/>
                                </a:rPr>
                                <m:t>𝑪</m:t>
                              </m:r>
                            </m:sub>
                            <m:sup>
                              <m:r>
                                <a:rPr lang="en-NZ" altLang="ja-JP" sz="1600" b="1" i="1">
                                  <a:solidFill>
                                    <a:prstClr val="black"/>
                                  </a:solidFill>
                                  <a:latin typeface="Cambria Math" panose="02040503050406030204" pitchFamily="18" charset="0"/>
                                </a:rPr>
                                <m:t>𝟐</m:t>
                              </m:r>
                            </m:sup>
                          </m:sSubSup>
                        </m:e>
                      </m:d>
                    </m:oMath>
                  </m:oMathPara>
                </a14:m>
                <a:endPar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14:m>
                  <m:oMathPara xmlns:m="http://schemas.openxmlformats.org/officeDocument/2006/math">
                    <m:oMathParaPr>
                      <m:jc m:val="left"/>
                    </m:oMathParaPr>
                    <m:oMath xmlns:m="http://schemas.openxmlformats.org/officeDocument/2006/math">
                      <m:sSub>
                        <m:sSubPr>
                          <m:ctrlP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𝝐</m:t>
                          </m:r>
                        </m:e>
                        <m:sub>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𝒎</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𝒊𝒋𝒌</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sub>
                      </m:sSub>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 ~ </m:t>
                      </m:r>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𝑵</m:t>
                      </m:r>
                      <m:d>
                        <m:dPr>
                          <m:ctrlP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ctrlPr>
                        </m:dPr>
                        <m:e>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𝟎</m:t>
                          </m:r>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 </m:t>
                          </m:r>
                          <m:sSup>
                            <m:sSupPr>
                              <m:ctrlP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ctrlPr>
                            </m:sSupPr>
                            <m:e>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𝝈</m:t>
                              </m:r>
                            </m:e>
                            <m:sup>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𝟐</m:t>
                              </m:r>
                            </m:sup>
                          </m:sSup>
                        </m:e>
                      </m:d>
                    </m:oMath>
                  </m:oMathPara>
                </a14:m>
                <a:endParaRPr kumimoji="1" lang="en-NZ" altLang="ja-JP" sz="1600" b="0"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mc:Choice>
        <mc:Fallback xmlns="">
          <p:sp>
            <p:nvSpPr>
              <p:cNvPr id="20" name="Text Placeholder 5">
                <a:extLst>
                  <a:ext uri="{FF2B5EF4-FFF2-40B4-BE49-F238E27FC236}">
                    <a16:creationId xmlns:a16="http://schemas.microsoft.com/office/drawing/2014/main" id="{91689025-3833-257B-1DD1-73CCD6DF11F5}"/>
                  </a:ext>
                </a:extLst>
              </p:cNvPr>
              <p:cNvSpPr txBox="1">
                <a:spLocks noRot="1" noChangeAspect="1" noMove="1" noResize="1" noEditPoints="1" noAdjustHandles="1" noChangeArrowheads="1" noChangeShapeType="1" noTextEdit="1"/>
              </p:cNvSpPr>
              <p:nvPr/>
            </p:nvSpPr>
            <p:spPr>
              <a:xfrm>
                <a:off x="469578" y="3434612"/>
                <a:ext cx="4867734" cy="1318675"/>
              </a:xfrm>
              <a:prstGeom prst="rect">
                <a:avLst/>
              </a:prstGeom>
              <a:blipFill>
                <a:blip r:embed="rId3"/>
                <a:stretch>
                  <a:fillRect l="-626" t="-1382" b="-10599"/>
                </a:stretch>
              </a:blipFill>
            </p:spPr>
            <p:txBody>
              <a:bodyPr/>
              <a:lstStyle/>
              <a:p>
                <a:r>
                  <a:rPr lang="en-NZ">
                    <a:noFill/>
                  </a:rPr>
                  <a:t> </a:t>
                </a:r>
              </a:p>
            </p:txBody>
          </p:sp>
        </mc:Fallback>
      </mc:AlternateContent>
      <p:sp>
        <p:nvSpPr>
          <p:cNvPr id="21" name="Text Placeholder 5">
            <a:extLst>
              <a:ext uri="{FF2B5EF4-FFF2-40B4-BE49-F238E27FC236}">
                <a16:creationId xmlns:a16="http://schemas.microsoft.com/office/drawing/2014/main" id="{2A3DBE85-D442-263A-265C-268BCEDF6E09}"/>
              </a:ext>
            </a:extLst>
          </p:cNvPr>
          <p:cNvSpPr txBox="1">
            <a:spLocks/>
          </p:cNvSpPr>
          <p:nvPr/>
        </p:nvSpPr>
        <p:spPr>
          <a:xfrm>
            <a:off x="5788501" y="3475811"/>
            <a:ext cx="4579200" cy="44493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We also have the usual constraints:</a:t>
            </a:r>
            <a:endParaRPr kumimoji="1" lang="en-NZ" altLang="ja-JP" sz="16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a:t>
            </a: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600" b="0"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mc:AlternateContent xmlns:mc="http://schemas.openxmlformats.org/markup-compatibility/2006" xmlns:a14="http://schemas.microsoft.com/office/drawing/2010/main">
        <mc:Choice Requires="a14">
          <p:sp>
            <p:nvSpPr>
              <p:cNvPr id="22" name="Text Placeholder 5">
                <a:extLst>
                  <a:ext uri="{FF2B5EF4-FFF2-40B4-BE49-F238E27FC236}">
                    <a16:creationId xmlns:a16="http://schemas.microsoft.com/office/drawing/2014/main" id="{5D727490-76E6-4F93-6BCD-054E1FDB3D14}"/>
                  </a:ext>
                </a:extLst>
              </p:cNvPr>
              <p:cNvSpPr txBox="1">
                <a:spLocks/>
              </p:cNvSpPr>
              <p:nvPr/>
            </p:nvSpPr>
            <p:spPr>
              <a:xfrm>
                <a:off x="5788501" y="3773261"/>
                <a:ext cx="1405094" cy="44493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14:m>
                  <m:oMath xmlns:m="http://schemas.openxmlformats.org/officeDocument/2006/math">
                    <m:nary>
                      <m:naryPr>
                        <m:chr m:val="∑"/>
                        <m:ctrlP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ctrlPr>
                      </m:naryPr>
                      <m:sub>
                        <m:r>
                          <m:rPr>
                            <m:brk m:alnAt="23"/>
                          </m:rP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𝒊</m:t>
                        </m:r>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m:t>
                        </m:r>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𝟏</m:t>
                        </m:r>
                      </m:sub>
                      <m:sup>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𝒂</m:t>
                        </m:r>
                      </m:sup>
                      <m:e>
                        <m:sSub>
                          <m:sSubPr>
                            <m:ctrlP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ctrlPr>
                          </m:sSubPr>
                          <m:e>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𝜶</m:t>
                            </m:r>
                          </m:e>
                          <m:sub>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𝒊</m:t>
                            </m:r>
                          </m:sub>
                        </m:sSub>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m:t>
                        </m:r>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𝟎</m:t>
                        </m:r>
                      </m:e>
                    </m:nary>
                  </m:oMath>
                </a14:m>
                <a:r>
                  <a:rPr kumimoji="1" lang="en-NZ" altLang="ja-JP" sz="18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a:t>
                </a: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8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800" b="1"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mc:Choice>
        <mc:Fallback xmlns="">
          <p:sp>
            <p:nvSpPr>
              <p:cNvPr id="22" name="Text Placeholder 5">
                <a:extLst>
                  <a:ext uri="{FF2B5EF4-FFF2-40B4-BE49-F238E27FC236}">
                    <a16:creationId xmlns:a16="http://schemas.microsoft.com/office/drawing/2014/main" id="{5D727490-76E6-4F93-6BCD-054E1FDB3D14}"/>
                  </a:ext>
                </a:extLst>
              </p:cNvPr>
              <p:cNvSpPr txBox="1">
                <a:spLocks noRot="1" noChangeAspect="1" noMove="1" noResize="1" noEditPoints="1" noAdjustHandles="1" noChangeArrowheads="1" noChangeShapeType="1" noTextEdit="1"/>
              </p:cNvSpPr>
              <p:nvPr/>
            </p:nvSpPr>
            <p:spPr>
              <a:xfrm>
                <a:off x="5788501" y="3773261"/>
                <a:ext cx="1405094" cy="444936"/>
              </a:xfrm>
              <a:prstGeom prst="rect">
                <a:avLst/>
              </a:prstGeom>
              <a:blipFill>
                <a:blip r:embed="rId4"/>
                <a:stretch>
                  <a:fillRect l="-24348" t="-100000" b="-136986"/>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23" name="Text Placeholder 5">
                <a:extLst>
                  <a:ext uri="{FF2B5EF4-FFF2-40B4-BE49-F238E27FC236}">
                    <a16:creationId xmlns:a16="http://schemas.microsoft.com/office/drawing/2014/main" id="{BAD1F8FD-0A2F-B0BF-ABE5-6232040CC8C5}"/>
                  </a:ext>
                </a:extLst>
              </p:cNvPr>
              <p:cNvSpPr txBox="1">
                <a:spLocks/>
              </p:cNvSpPr>
              <p:nvPr/>
            </p:nvSpPr>
            <p:spPr>
              <a:xfrm>
                <a:off x="7803994" y="3688960"/>
                <a:ext cx="2230812" cy="44493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14:m>
                  <m:oMath xmlns:m="http://schemas.openxmlformats.org/officeDocument/2006/math">
                    <m:f>
                      <m:fPr>
                        <m:ctrlP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ctrlPr>
                      </m:fPr>
                      <m:num>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𝟏</m:t>
                        </m:r>
                      </m:num>
                      <m:den>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𝒂</m:t>
                        </m:r>
                      </m:den>
                    </m:f>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 </m:t>
                    </m:r>
                    <m:nary>
                      <m:naryPr>
                        <m:chr m:val="∑"/>
                        <m:ctrlP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ctrlPr>
                      </m:naryPr>
                      <m:sub>
                        <m:r>
                          <m:rPr>
                            <m:brk m:alnAt="23"/>
                          </m:rP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𝒊</m:t>
                        </m:r>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m:t>
                        </m:r>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𝟏</m:t>
                        </m:r>
                      </m:sub>
                      <m:sup>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𝒂</m:t>
                        </m:r>
                      </m:sup>
                      <m:e>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 </m:t>
                        </m:r>
                        <m:sSub>
                          <m:sSubPr>
                            <m:ctrlP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ctrlPr>
                          </m:sSubPr>
                          <m:e>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𝝁</m:t>
                            </m:r>
                          </m:e>
                          <m:sub>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𝒊</m:t>
                            </m:r>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m:t>
                            </m:r>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rPr>
                              <m:t>∙</m:t>
                            </m:r>
                          </m:sub>
                        </m:sSub>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 = </m:t>
                        </m:r>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𝝁</m:t>
                        </m:r>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 </m:t>
                        </m:r>
                      </m:e>
                    </m:nary>
                  </m:oMath>
                </a14:m>
                <a:r>
                  <a:rPr kumimoji="1" lang="en-NZ" altLang="ja-JP" sz="18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a:t>
                </a: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8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800" b="1"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mc:Choice>
        <mc:Fallback xmlns="">
          <p:sp>
            <p:nvSpPr>
              <p:cNvPr id="23" name="Text Placeholder 5">
                <a:extLst>
                  <a:ext uri="{FF2B5EF4-FFF2-40B4-BE49-F238E27FC236}">
                    <a16:creationId xmlns:a16="http://schemas.microsoft.com/office/drawing/2014/main" id="{BAD1F8FD-0A2F-B0BF-ABE5-6232040CC8C5}"/>
                  </a:ext>
                </a:extLst>
              </p:cNvPr>
              <p:cNvSpPr txBox="1">
                <a:spLocks noRot="1" noChangeAspect="1" noMove="1" noResize="1" noEditPoints="1" noAdjustHandles="1" noChangeArrowheads="1" noChangeShapeType="1" noTextEdit="1"/>
              </p:cNvSpPr>
              <p:nvPr/>
            </p:nvSpPr>
            <p:spPr>
              <a:xfrm>
                <a:off x="7803994" y="3688960"/>
                <a:ext cx="2230812" cy="444936"/>
              </a:xfrm>
              <a:prstGeom prst="rect">
                <a:avLst/>
              </a:prstGeom>
              <a:blipFill>
                <a:blip r:embed="rId5"/>
                <a:stretch>
                  <a:fillRect l="-6284" t="-84932" b="-152055"/>
                </a:stretch>
              </a:blipFill>
            </p:spPr>
            <p:txBody>
              <a:bodyPr/>
              <a:lstStyle/>
              <a:p>
                <a:r>
                  <a:rPr lang="en-NZ">
                    <a:noFill/>
                  </a:rPr>
                  <a:t> </a:t>
                </a:r>
              </a:p>
            </p:txBody>
          </p:sp>
        </mc:Fallback>
      </mc:AlternateContent>
      <p:sp>
        <p:nvSpPr>
          <p:cNvPr id="24" name="Text Placeholder 5">
            <a:extLst>
              <a:ext uri="{FF2B5EF4-FFF2-40B4-BE49-F238E27FC236}">
                <a16:creationId xmlns:a16="http://schemas.microsoft.com/office/drawing/2014/main" id="{DC488C4C-5411-6B3D-EF97-72605FD1DD2E}"/>
              </a:ext>
            </a:extLst>
          </p:cNvPr>
          <p:cNvSpPr txBox="1">
            <a:spLocks/>
          </p:cNvSpPr>
          <p:nvPr/>
        </p:nvSpPr>
        <p:spPr>
          <a:xfrm>
            <a:off x="7193595" y="3793955"/>
            <a:ext cx="465511" cy="365125"/>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8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sym typeface="Wingdings" panose="05000000000000000000" pitchFamily="2" charset="2"/>
              </a:rPr>
              <a:t></a:t>
            </a:r>
            <a:endParaRPr kumimoji="1" lang="en-NZ" altLang="ja-JP" sz="1800" b="1"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mc:AlternateContent xmlns:mc="http://schemas.openxmlformats.org/markup-compatibility/2006" xmlns:a14="http://schemas.microsoft.com/office/drawing/2010/main">
        <mc:Choice Requires="a14">
          <p:sp>
            <p:nvSpPr>
              <p:cNvPr id="19" name="Text Placeholder 5">
                <a:extLst>
                  <a:ext uri="{FF2B5EF4-FFF2-40B4-BE49-F238E27FC236}">
                    <a16:creationId xmlns:a16="http://schemas.microsoft.com/office/drawing/2014/main" id="{214632E2-B7B4-A1B5-F5C5-4005F8631A7E}"/>
                  </a:ext>
                </a:extLst>
              </p:cNvPr>
              <p:cNvSpPr txBox="1">
                <a:spLocks/>
              </p:cNvSpPr>
              <p:nvPr/>
            </p:nvSpPr>
            <p:spPr>
              <a:xfrm>
                <a:off x="469578" y="5307823"/>
                <a:ext cx="11164101" cy="1550177"/>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1600" dirty="0">
                    <a:solidFill>
                      <a:schemeClr val="tx1"/>
                    </a:solidFill>
                  </a:rPr>
                  <a:t>We are also interested in the proportion of variance (after allowing for treatment) that is due to</a:t>
                </a:r>
              </a:p>
              <a:p>
                <a:pPr marL="1085793" lvl="1" indent="-400050" algn="just">
                  <a:lnSpc>
                    <a:spcPct val="100000"/>
                  </a:lnSpc>
                  <a:buFont typeface="+mj-lt"/>
                  <a:buAutoNum type="romanLcPeriod"/>
                </a:pPr>
                <a:r>
                  <a:rPr lang="en-NZ" altLang="ja-JP" sz="1600" dirty="0"/>
                  <a:t>Factor B   </a:t>
                </a:r>
                <a14:m>
                  <m:oMath xmlns:m="http://schemas.openxmlformats.org/officeDocument/2006/math">
                    <m:f>
                      <m:fPr>
                        <m:type m:val="lin"/>
                        <m:ctrlPr>
                          <a:rPr lang="en-NZ" altLang="ja-JP" sz="1600" i="1" smtClean="0">
                            <a:solidFill>
                              <a:srgbClr val="0070C0"/>
                            </a:solidFill>
                            <a:latin typeface="Cambria Math" panose="02040503050406030204" pitchFamily="18" charset="0"/>
                          </a:rPr>
                        </m:ctrlPr>
                      </m:fPr>
                      <m:num>
                        <m:sSubSup>
                          <m:sSubSupPr>
                            <m:ctrlPr>
                              <a:rPr lang="en-NZ" altLang="ja-JP" sz="1600" b="1" i="1">
                                <a:solidFill>
                                  <a:srgbClr val="0070C0"/>
                                </a:solidFill>
                                <a:latin typeface="Cambria Math" panose="02040503050406030204" pitchFamily="18" charset="0"/>
                              </a:rPr>
                            </m:ctrlPr>
                          </m:sSubSupPr>
                          <m:e>
                            <m:r>
                              <a:rPr lang="en-NZ" altLang="ja-JP" sz="1600" b="1" i="1">
                                <a:solidFill>
                                  <a:srgbClr val="0070C0"/>
                                </a:solidFill>
                                <a:latin typeface="Cambria Math" panose="02040503050406030204" pitchFamily="18" charset="0"/>
                              </a:rPr>
                              <m:t>𝝈</m:t>
                            </m:r>
                          </m:e>
                          <m:sub>
                            <m:r>
                              <a:rPr lang="en-NZ" altLang="ja-JP" sz="1600" b="1" i="1">
                                <a:solidFill>
                                  <a:srgbClr val="0070C0"/>
                                </a:solidFill>
                                <a:latin typeface="Cambria Math" panose="02040503050406030204" pitchFamily="18" charset="0"/>
                              </a:rPr>
                              <m:t>𝑩</m:t>
                            </m:r>
                          </m:sub>
                          <m:sup>
                            <m:r>
                              <a:rPr lang="en-NZ" altLang="ja-JP" sz="1600" b="1" i="1">
                                <a:solidFill>
                                  <a:srgbClr val="0070C0"/>
                                </a:solidFill>
                                <a:latin typeface="Cambria Math" panose="02040503050406030204" pitchFamily="18" charset="0"/>
                              </a:rPr>
                              <m:t>𝟐</m:t>
                            </m:r>
                          </m:sup>
                        </m:sSubSup>
                        <m:r>
                          <a:rPr lang="en-NZ" altLang="ja-JP" sz="1600" b="1" i="1">
                            <a:solidFill>
                              <a:srgbClr val="0070C0"/>
                            </a:solidFill>
                            <a:latin typeface="Cambria Math" panose="02040503050406030204" pitchFamily="18" charset="0"/>
                          </a:rPr>
                          <m:t> </m:t>
                        </m:r>
                      </m:num>
                      <m:den>
                        <m:r>
                          <a:rPr lang="en-NZ" altLang="ja-JP" sz="1600" b="0" i="1" smtClean="0">
                            <a:solidFill>
                              <a:srgbClr val="0070C0"/>
                            </a:solidFill>
                            <a:latin typeface="Cambria Math" panose="02040503050406030204" pitchFamily="18" charset="0"/>
                          </a:rPr>
                          <m:t>( </m:t>
                        </m:r>
                        <m:sSubSup>
                          <m:sSubSupPr>
                            <m:ctrlPr>
                              <a:rPr lang="en-NZ" altLang="ja-JP" sz="1600" b="1" i="1">
                                <a:solidFill>
                                  <a:srgbClr val="0070C0"/>
                                </a:solidFill>
                                <a:latin typeface="Cambria Math" panose="02040503050406030204" pitchFamily="18" charset="0"/>
                              </a:rPr>
                            </m:ctrlPr>
                          </m:sSubSupPr>
                          <m:e>
                            <m:r>
                              <a:rPr lang="en-NZ" altLang="ja-JP" sz="1600" b="1" i="1">
                                <a:solidFill>
                                  <a:srgbClr val="0070C0"/>
                                </a:solidFill>
                                <a:latin typeface="Cambria Math" panose="02040503050406030204" pitchFamily="18" charset="0"/>
                              </a:rPr>
                              <m:t>𝝈</m:t>
                            </m:r>
                          </m:e>
                          <m:sub>
                            <m:r>
                              <a:rPr lang="en-NZ" altLang="ja-JP" sz="1600" b="1" i="1">
                                <a:solidFill>
                                  <a:srgbClr val="0070C0"/>
                                </a:solidFill>
                                <a:latin typeface="Cambria Math" panose="02040503050406030204" pitchFamily="18" charset="0"/>
                              </a:rPr>
                              <m:t>𝑩</m:t>
                            </m:r>
                          </m:sub>
                          <m:sup>
                            <m:r>
                              <a:rPr lang="en-NZ" altLang="ja-JP" sz="1600" b="1" i="1">
                                <a:solidFill>
                                  <a:srgbClr val="0070C0"/>
                                </a:solidFill>
                                <a:latin typeface="Cambria Math" panose="02040503050406030204" pitchFamily="18" charset="0"/>
                              </a:rPr>
                              <m:t>𝟐</m:t>
                            </m:r>
                          </m:sup>
                        </m:sSubSup>
                        <m:r>
                          <a:rPr lang="en-NZ" altLang="ja-JP" sz="1600" b="1" i="1">
                            <a:solidFill>
                              <a:srgbClr val="0070C0"/>
                            </a:solidFill>
                            <a:latin typeface="Cambria Math" panose="02040503050406030204" pitchFamily="18" charset="0"/>
                          </a:rPr>
                          <m:t> +</m:t>
                        </m:r>
                        <m:sSubSup>
                          <m:sSubSupPr>
                            <m:ctrlPr>
                              <a:rPr lang="en-NZ" altLang="ja-JP" sz="1600" b="1" i="1">
                                <a:solidFill>
                                  <a:srgbClr val="0070C0"/>
                                </a:solidFill>
                                <a:latin typeface="Cambria Math" panose="02040503050406030204" pitchFamily="18" charset="0"/>
                              </a:rPr>
                            </m:ctrlPr>
                          </m:sSubSupPr>
                          <m:e>
                            <m:r>
                              <a:rPr lang="en-NZ" altLang="ja-JP" sz="1600" b="1" i="1">
                                <a:solidFill>
                                  <a:srgbClr val="0070C0"/>
                                </a:solidFill>
                                <a:latin typeface="Cambria Math" panose="02040503050406030204" pitchFamily="18" charset="0"/>
                              </a:rPr>
                              <m:t>𝝈</m:t>
                            </m:r>
                          </m:e>
                          <m:sub>
                            <m:r>
                              <a:rPr lang="en-NZ" altLang="ja-JP" sz="1600" b="1" i="1" smtClean="0">
                                <a:solidFill>
                                  <a:srgbClr val="0070C0"/>
                                </a:solidFill>
                                <a:latin typeface="Cambria Math" panose="02040503050406030204" pitchFamily="18" charset="0"/>
                              </a:rPr>
                              <m:t>𝑪</m:t>
                            </m:r>
                          </m:sub>
                          <m:sup>
                            <m:r>
                              <a:rPr lang="en-NZ" altLang="ja-JP" sz="1600" b="1" i="1">
                                <a:solidFill>
                                  <a:srgbClr val="0070C0"/>
                                </a:solidFill>
                                <a:latin typeface="Cambria Math" panose="02040503050406030204" pitchFamily="18" charset="0"/>
                              </a:rPr>
                              <m:t>𝟐</m:t>
                            </m:r>
                          </m:sup>
                        </m:sSubSup>
                        <m:r>
                          <a:rPr lang="en-NZ" altLang="ja-JP" sz="1600" b="1" i="1" smtClean="0">
                            <a:solidFill>
                              <a:srgbClr val="0070C0"/>
                            </a:solidFill>
                            <a:latin typeface="Cambria Math" panose="02040503050406030204" pitchFamily="18" charset="0"/>
                          </a:rPr>
                          <m:t>+</m:t>
                        </m:r>
                        <m:sSup>
                          <m:sSupPr>
                            <m:ctrlPr>
                              <a:rPr lang="en-NZ" altLang="ja-JP" sz="1600" b="1" i="1">
                                <a:solidFill>
                                  <a:srgbClr val="0070C0"/>
                                </a:solidFill>
                                <a:latin typeface="Cambria Math" panose="02040503050406030204" pitchFamily="18" charset="0"/>
                              </a:rPr>
                            </m:ctrlPr>
                          </m:sSupPr>
                          <m:e>
                            <m:r>
                              <a:rPr lang="en-NZ" altLang="ja-JP" sz="1600" b="1" i="1">
                                <a:solidFill>
                                  <a:srgbClr val="0070C0"/>
                                </a:solidFill>
                                <a:latin typeface="Cambria Math" panose="02040503050406030204" pitchFamily="18" charset="0"/>
                              </a:rPr>
                              <m:t>𝝈</m:t>
                            </m:r>
                          </m:e>
                          <m:sup>
                            <m:r>
                              <a:rPr lang="en-NZ" altLang="ja-JP" sz="1600" b="1" i="1">
                                <a:solidFill>
                                  <a:srgbClr val="0070C0"/>
                                </a:solidFill>
                                <a:latin typeface="Cambria Math" panose="02040503050406030204" pitchFamily="18" charset="0"/>
                              </a:rPr>
                              <m:t>𝟐</m:t>
                            </m:r>
                          </m:sup>
                        </m:sSup>
                        <m:r>
                          <a:rPr lang="en-NZ" altLang="ja-JP" sz="1600" b="1" i="1" smtClean="0">
                            <a:solidFill>
                              <a:srgbClr val="0070C0"/>
                            </a:solidFill>
                            <a:latin typeface="Cambria Math" panose="02040503050406030204" pitchFamily="18" charset="0"/>
                          </a:rPr>
                          <m:t> )</m:t>
                        </m:r>
                      </m:den>
                    </m:f>
                  </m:oMath>
                </a14:m>
                <a:endParaRPr lang="en-NZ" altLang="ja-JP" sz="1600" dirty="0">
                  <a:solidFill>
                    <a:schemeClr val="tx1"/>
                  </a:solidFill>
                </a:endParaRPr>
              </a:p>
              <a:p>
                <a:pPr marL="1085793" lvl="1" indent="-400050" algn="just">
                  <a:lnSpc>
                    <a:spcPct val="100000"/>
                  </a:lnSpc>
                  <a:buFont typeface="+mj-lt"/>
                  <a:buAutoNum type="romanLcPeriod"/>
                </a:pPr>
                <a:r>
                  <a:rPr lang="en-NZ" altLang="ja-JP" sz="1600" dirty="0"/>
                  <a:t>Factor C   </a:t>
                </a:r>
                <a14:m>
                  <m:oMath xmlns:m="http://schemas.openxmlformats.org/officeDocument/2006/math">
                    <m:f>
                      <m:fPr>
                        <m:type m:val="lin"/>
                        <m:ctrlPr>
                          <a:rPr lang="en-NZ" altLang="ja-JP" sz="1600" i="1">
                            <a:solidFill>
                              <a:srgbClr val="0070C0"/>
                            </a:solidFill>
                            <a:latin typeface="Cambria Math" panose="02040503050406030204" pitchFamily="18" charset="0"/>
                          </a:rPr>
                        </m:ctrlPr>
                      </m:fPr>
                      <m:num>
                        <m:sSubSup>
                          <m:sSubSupPr>
                            <m:ctrlPr>
                              <a:rPr lang="en-NZ" altLang="ja-JP" sz="1600" b="1" i="1">
                                <a:solidFill>
                                  <a:srgbClr val="0070C0"/>
                                </a:solidFill>
                                <a:latin typeface="Cambria Math" panose="02040503050406030204" pitchFamily="18" charset="0"/>
                              </a:rPr>
                            </m:ctrlPr>
                          </m:sSubSupPr>
                          <m:e>
                            <m:r>
                              <a:rPr lang="en-NZ" altLang="ja-JP" sz="1600" b="1" i="1">
                                <a:solidFill>
                                  <a:srgbClr val="0070C0"/>
                                </a:solidFill>
                                <a:latin typeface="Cambria Math" panose="02040503050406030204" pitchFamily="18" charset="0"/>
                              </a:rPr>
                              <m:t>𝝈</m:t>
                            </m:r>
                          </m:e>
                          <m:sub>
                            <m:r>
                              <a:rPr lang="en-NZ" altLang="ja-JP" sz="1600" b="1" i="1" smtClean="0">
                                <a:solidFill>
                                  <a:srgbClr val="0070C0"/>
                                </a:solidFill>
                                <a:latin typeface="Cambria Math" panose="02040503050406030204" pitchFamily="18" charset="0"/>
                              </a:rPr>
                              <m:t>𝑪</m:t>
                            </m:r>
                          </m:sub>
                          <m:sup>
                            <m:r>
                              <a:rPr lang="en-NZ" altLang="ja-JP" sz="1600" b="1" i="1">
                                <a:solidFill>
                                  <a:srgbClr val="0070C0"/>
                                </a:solidFill>
                                <a:latin typeface="Cambria Math" panose="02040503050406030204" pitchFamily="18" charset="0"/>
                              </a:rPr>
                              <m:t>𝟐</m:t>
                            </m:r>
                          </m:sup>
                        </m:sSubSup>
                        <m:r>
                          <a:rPr lang="en-NZ" altLang="ja-JP" sz="1600" b="1" i="1">
                            <a:solidFill>
                              <a:srgbClr val="0070C0"/>
                            </a:solidFill>
                            <a:latin typeface="Cambria Math" panose="02040503050406030204" pitchFamily="18" charset="0"/>
                          </a:rPr>
                          <m:t> </m:t>
                        </m:r>
                      </m:num>
                      <m:den>
                        <m:r>
                          <a:rPr lang="en-NZ" altLang="ja-JP" sz="1600" i="1">
                            <a:solidFill>
                              <a:srgbClr val="0070C0"/>
                            </a:solidFill>
                            <a:latin typeface="Cambria Math" panose="02040503050406030204" pitchFamily="18" charset="0"/>
                          </a:rPr>
                          <m:t>( </m:t>
                        </m:r>
                        <m:sSubSup>
                          <m:sSubSupPr>
                            <m:ctrlPr>
                              <a:rPr lang="en-NZ" altLang="ja-JP" sz="1600" b="1" i="1">
                                <a:solidFill>
                                  <a:srgbClr val="0070C0"/>
                                </a:solidFill>
                                <a:latin typeface="Cambria Math" panose="02040503050406030204" pitchFamily="18" charset="0"/>
                              </a:rPr>
                            </m:ctrlPr>
                          </m:sSubSupPr>
                          <m:e>
                            <m:r>
                              <a:rPr lang="en-NZ" altLang="ja-JP" sz="1600" b="1" i="1">
                                <a:solidFill>
                                  <a:srgbClr val="0070C0"/>
                                </a:solidFill>
                                <a:latin typeface="Cambria Math" panose="02040503050406030204" pitchFamily="18" charset="0"/>
                              </a:rPr>
                              <m:t>𝝈</m:t>
                            </m:r>
                          </m:e>
                          <m:sub>
                            <m:r>
                              <a:rPr lang="en-NZ" altLang="ja-JP" sz="1600" b="1" i="1">
                                <a:solidFill>
                                  <a:srgbClr val="0070C0"/>
                                </a:solidFill>
                                <a:latin typeface="Cambria Math" panose="02040503050406030204" pitchFamily="18" charset="0"/>
                              </a:rPr>
                              <m:t>𝑩</m:t>
                            </m:r>
                          </m:sub>
                          <m:sup>
                            <m:r>
                              <a:rPr lang="en-NZ" altLang="ja-JP" sz="1600" b="1" i="1">
                                <a:solidFill>
                                  <a:srgbClr val="0070C0"/>
                                </a:solidFill>
                                <a:latin typeface="Cambria Math" panose="02040503050406030204" pitchFamily="18" charset="0"/>
                              </a:rPr>
                              <m:t>𝟐</m:t>
                            </m:r>
                          </m:sup>
                        </m:sSubSup>
                        <m:r>
                          <a:rPr lang="en-NZ" altLang="ja-JP" sz="1600" b="1" i="1">
                            <a:solidFill>
                              <a:srgbClr val="0070C0"/>
                            </a:solidFill>
                            <a:latin typeface="Cambria Math" panose="02040503050406030204" pitchFamily="18" charset="0"/>
                          </a:rPr>
                          <m:t> +</m:t>
                        </m:r>
                        <m:sSubSup>
                          <m:sSubSupPr>
                            <m:ctrlPr>
                              <a:rPr lang="en-NZ" altLang="ja-JP" sz="1600" b="1" i="1">
                                <a:solidFill>
                                  <a:srgbClr val="0070C0"/>
                                </a:solidFill>
                                <a:latin typeface="Cambria Math" panose="02040503050406030204" pitchFamily="18" charset="0"/>
                              </a:rPr>
                            </m:ctrlPr>
                          </m:sSubSupPr>
                          <m:e>
                            <m:r>
                              <a:rPr lang="en-NZ" altLang="ja-JP" sz="1600" b="1" i="1">
                                <a:solidFill>
                                  <a:srgbClr val="0070C0"/>
                                </a:solidFill>
                                <a:latin typeface="Cambria Math" panose="02040503050406030204" pitchFamily="18" charset="0"/>
                              </a:rPr>
                              <m:t>𝝈</m:t>
                            </m:r>
                          </m:e>
                          <m:sub>
                            <m:r>
                              <a:rPr lang="en-NZ" altLang="ja-JP" sz="1600" b="1" i="1">
                                <a:solidFill>
                                  <a:srgbClr val="0070C0"/>
                                </a:solidFill>
                                <a:latin typeface="Cambria Math" panose="02040503050406030204" pitchFamily="18" charset="0"/>
                              </a:rPr>
                              <m:t>𝑪</m:t>
                            </m:r>
                          </m:sub>
                          <m:sup>
                            <m:r>
                              <a:rPr lang="en-NZ" altLang="ja-JP" sz="1600" b="1" i="1">
                                <a:solidFill>
                                  <a:srgbClr val="0070C0"/>
                                </a:solidFill>
                                <a:latin typeface="Cambria Math" panose="02040503050406030204" pitchFamily="18" charset="0"/>
                              </a:rPr>
                              <m:t>𝟐</m:t>
                            </m:r>
                          </m:sup>
                        </m:sSubSup>
                        <m:r>
                          <a:rPr lang="en-NZ" altLang="ja-JP" sz="1600" b="1" i="1">
                            <a:solidFill>
                              <a:srgbClr val="0070C0"/>
                            </a:solidFill>
                            <a:latin typeface="Cambria Math" panose="02040503050406030204" pitchFamily="18" charset="0"/>
                          </a:rPr>
                          <m:t>+</m:t>
                        </m:r>
                        <m:sSup>
                          <m:sSupPr>
                            <m:ctrlPr>
                              <a:rPr lang="en-NZ" altLang="ja-JP" sz="1600" b="1" i="1">
                                <a:solidFill>
                                  <a:srgbClr val="0070C0"/>
                                </a:solidFill>
                                <a:latin typeface="Cambria Math" panose="02040503050406030204" pitchFamily="18" charset="0"/>
                              </a:rPr>
                            </m:ctrlPr>
                          </m:sSupPr>
                          <m:e>
                            <m:r>
                              <a:rPr lang="en-NZ" altLang="ja-JP" sz="1600" b="1" i="1">
                                <a:solidFill>
                                  <a:srgbClr val="0070C0"/>
                                </a:solidFill>
                                <a:latin typeface="Cambria Math" panose="02040503050406030204" pitchFamily="18" charset="0"/>
                              </a:rPr>
                              <m:t>𝝈</m:t>
                            </m:r>
                          </m:e>
                          <m:sup>
                            <m:r>
                              <a:rPr lang="en-NZ" altLang="ja-JP" sz="1600" b="1" i="1">
                                <a:solidFill>
                                  <a:srgbClr val="0070C0"/>
                                </a:solidFill>
                                <a:latin typeface="Cambria Math" panose="02040503050406030204" pitchFamily="18" charset="0"/>
                              </a:rPr>
                              <m:t>𝟐</m:t>
                            </m:r>
                          </m:sup>
                        </m:sSup>
                        <m:r>
                          <a:rPr lang="en-NZ" altLang="ja-JP" sz="1600" b="1" i="1">
                            <a:solidFill>
                              <a:srgbClr val="0070C0"/>
                            </a:solidFill>
                            <a:latin typeface="Cambria Math" panose="02040503050406030204" pitchFamily="18" charset="0"/>
                          </a:rPr>
                          <m:t> )</m:t>
                        </m:r>
                      </m:den>
                    </m:f>
                  </m:oMath>
                </a14:m>
                <a:endParaRPr lang="en-NZ" altLang="ja-JP" sz="1600" dirty="0">
                  <a:solidFill>
                    <a:schemeClr val="tx1"/>
                  </a:solidFill>
                </a:endParaRPr>
              </a:p>
              <a:p>
                <a:pPr marL="1085793" lvl="1" indent="-400050">
                  <a:lnSpc>
                    <a:spcPct val="100000"/>
                  </a:lnSpc>
                  <a:buFont typeface="+mj-lt"/>
                  <a:buAutoNum type="romanLcPeriod"/>
                </a:pPr>
                <a:r>
                  <a:rPr lang="en-NZ" altLang="ja-JP" sz="1600" dirty="0"/>
                  <a:t>Residual unexplained variation  </a:t>
                </a:r>
                <a14:m>
                  <m:oMath xmlns:m="http://schemas.openxmlformats.org/officeDocument/2006/math">
                    <m:f>
                      <m:fPr>
                        <m:type m:val="lin"/>
                        <m:ctrlPr>
                          <a:rPr lang="en-NZ" altLang="ja-JP" sz="1600" i="1" smtClean="0">
                            <a:solidFill>
                              <a:srgbClr val="0070C0"/>
                            </a:solidFill>
                            <a:latin typeface="Cambria Math" panose="02040503050406030204" pitchFamily="18" charset="0"/>
                          </a:rPr>
                        </m:ctrlPr>
                      </m:fPr>
                      <m:num>
                        <m:sSup>
                          <m:sSupPr>
                            <m:ctrlPr>
                              <a:rPr lang="en-NZ" altLang="ja-JP" sz="1600" b="1" i="1" smtClean="0">
                                <a:solidFill>
                                  <a:srgbClr val="0070C0"/>
                                </a:solidFill>
                                <a:latin typeface="Cambria Math" panose="02040503050406030204" pitchFamily="18" charset="0"/>
                              </a:rPr>
                            </m:ctrlPr>
                          </m:sSupPr>
                          <m:e>
                            <m:r>
                              <a:rPr lang="en-NZ" altLang="ja-JP" sz="1600" b="1" i="1" smtClean="0">
                                <a:solidFill>
                                  <a:srgbClr val="0070C0"/>
                                </a:solidFill>
                                <a:latin typeface="Cambria Math" panose="02040503050406030204" pitchFamily="18" charset="0"/>
                              </a:rPr>
                              <m:t>𝝈</m:t>
                            </m:r>
                          </m:e>
                          <m:sup>
                            <m:r>
                              <a:rPr lang="en-NZ" altLang="ja-JP" sz="1600" b="1" i="1" smtClean="0">
                                <a:solidFill>
                                  <a:srgbClr val="0070C0"/>
                                </a:solidFill>
                                <a:latin typeface="Cambria Math" panose="02040503050406030204" pitchFamily="18" charset="0"/>
                              </a:rPr>
                              <m:t>𝟐</m:t>
                            </m:r>
                          </m:sup>
                        </m:sSup>
                        <m:r>
                          <a:rPr lang="en-NZ" altLang="ja-JP" sz="1600" b="1" i="1">
                            <a:solidFill>
                              <a:srgbClr val="0070C0"/>
                            </a:solidFill>
                            <a:latin typeface="Cambria Math" panose="02040503050406030204" pitchFamily="18" charset="0"/>
                          </a:rPr>
                          <m:t> </m:t>
                        </m:r>
                      </m:num>
                      <m:den>
                        <m:r>
                          <a:rPr lang="en-NZ" altLang="ja-JP" sz="1600" b="1" i="1" smtClean="0">
                            <a:solidFill>
                              <a:srgbClr val="0070C0"/>
                            </a:solidFill>
                            <a:latin typeface="Cambria Math" panose="02040503050406030204" pitchFamily="18" charset="0"/>
                          </a:rPr>
                          <m:t> </m:t>
                        </m:r>
                        <m:r>
                          <a:rPr lang="en-NZ" altLang="ja-JP" sz="1600" b="0" i="1" smtClean="0">
                            <a:solidFill>
                              <a:srgbClr val="0070C0"/>
                            </a:solidFill>
                            <a:latin typeface="Cambria Math" panose="02040503050406030204" pitchFamily="18" charset="0"/>
                          </a:rPr>
                          <m:t>(</m:t>
                        </m:r>
                        <m:sSubSup>
                          <m:sSubSupPr>
                            <m:ctrlPr>
                              <a:rPr lang="en-NZ" altLang="ja-JP" sz="1600" b="1" i="1">
                                <a:solidFill>
                                  <a:srgbClr val="0070C0"/>
                                </a:solidFill>
                                <a:latin typeface="Cambria Math" panose="02040503050406030204" pitchFamily="18" charset="0"/>
                              </a:rPr>
                            </m:ctrlPr>
                          </m:sSubSupPr>
                          <m:e>
                            <m:r>
                              <a:rPr lang="en-NZ" altLang="ja-JP" sz="1600" b="1" i="1">
                                <a:solidFill>
                                  <a:srgbClr val="0070C0"/>
                                </a:solidFill>
                                <a:latin typeface="Cambria Math" panose="02040503050406030204" pitchFamily="18" charset="0"/>
                              </a:rPr>
                              <m:t>𝝈</m:t>
                            </m:r>
                          </m:e>
                          <m:sub>
                            <m:r>
                              <a:rPr lang="en-NZ" altLang="ja-JP" sz="1600" b="1" i="1">
                                <a:solidFill>
                                  <a:srgbClr val="0070C0"/>
                                </a:solidFill>
                                <a:latin typeface="Cambria Math" panose="02040503050406030204" pitchFamily="18" charset="0"/>
                              </a:rPr>
                              <m:t>𝑩</m:t>
                            </m:r>
                          </m:sub>
                          <m:sup>
                            <m:r>
                              <a:rPr lang="en-NZ" altLang="ja-JP" sz="1600" b="1" i="1">
                                <a:solidFill>
                                  <a:srgbClr val="0070C0"/>
                                </a:solidFill>
                                <a:latin typeface="Cambria Math" panose="02040503050406030204" pitchFamily="18" charset="0"/>
                              </a:rPr>
                              <m:t>𝟐</m:t>
                            </m:r>
                          </m:sup>
                        </m:sSubSup>
                        <m:r>
                          <a:rPr lang="en-NZ" altLang="ja-JP" sz="1600" b="1" i="1">
                            <a:solidFill>
                              <a:srgbClr val="0070C0"/>
                            </a:solidFill>
                            <a:latin typeface="Cambria Math" panose="02040503050406030204" pitchFamily="18" charset="0"/>
                          </a:rPr>
                          <m:t> +</m:t>
                        </m:r>
                        <m:sSubSup>
                          <m:sSubSupPr>
                            <m:ctrlPr>
                              <a:rPr lang="en-NZ" altLang="ja-JP" sz="1600" b="1" i="1">
                                <a:solidFill>
                                  <a:srgbClr val="0070C0"/>
                                </a:solidFill>
                                <a:latin typeface="Cambria Math" panose="02040503050406030204" pitchFamily="18" charset="0"/>
                              </a:rPr>
                            </m:ctrlPr>
                          </m:sSubSupPr>
                          <m:e>
                            <m:r>
                              <a:rPr lang="en-NZ" altLang="ja-JP" sz="1600" b="1" i="1">
                                <a:solidFill>
                                  <a:srgbClr val="0070C0"/>
                                </a:solidFill>
                                <a:latin typeface="Cambria Math" panose="02040503050406030204" pitchFamily="18" charset="0"/>
                              </a:rPr>
                              <m:t>𝝈</m:t>
                            </m:r>
                          </m:e>
                          <m:sub>
                            <m:r>
                              <a:rPr lang="en-NZ" altLang="ja-JP" sz="1600" b="1" i="1">
                                <a:solidFill>
                                  <a:srgbClr val="0070C0"/>
                                </a:solidFill>
                                <a:latin typeface="Cambria Math" panose="02040503050406030204" pitchFamily="18" charset="0"/>
                              </a:rPr>
                              <m:t>𝑪</m:t>
                            </m:r>
                          </m:sub>
                          <m:sup>
                            <m:r>
                              <a:rPr lang="en-NZ" altLang="ja-JP" sz="1600" b="1" i="1">
                                <a:solidFill>
                                  <a:srgbClr val="0070C0"/>
                                </a:solidFill>
                                <a:latin typeface="Cambria Math" panose="02040503050406030204" pitchFamily="18" charset="0"/>
                              </a:rPr>
                              <m:t>𝟐</m:t>
                            </m:r>
                          </m:sup>
                        </m:sSubSup>
                        <m:r>
                          <a:rPr lang="en-NZ" altLang="ja-JP" sz="1600" b="1" i="1">
                            <a:solidFill>
                              <a:srgbClr val="0070C0"/>
                            </a:solidFill>
                            <a:latin typeface="Cambria Math" panose="02040503050406030204" pitchFamily="18" charset="0"/>
                          </a:rPr>
                          <m:t>+</m:t>
                        </m:r>
                        <m:sSup>
                          <m:sSupPr>
                            <m:ctrlPr>
                              <a:rPr lang="en-NZ" altLang="ja-JP" sz="1600" b="1" i="1">
                                <a:solidFill>
                                  <a:srgbClr val="0070C0"/>
                                </a:solidFill>
                                <a:latin typeface="Cambria Math" panose="02040503050406030204" pitchFamily="18" charset="0"/>
                              </a:rPr>
                            </m:ctrlPr>
                          </m:sSupPr>
                          <m:e>
                            <m:r>
                              <a:rPr lang="en-NZ" altLang="ja-JP" sz="1600" b="1" i="1">
                                <a:solidFill>
                                  <a:srgbClr val="0070C0"/>
                                </a:solidFill>
                                <a:latin typeface="Cambria Math" panose="02040503050406030204" pitchFamily="18" charset="0"/>
                              </a:rPr>
                              <m:t>𝝈</m:t>
                            </m:r>
                          </m:e>
                          <m:sup>
                            <m:r>
                              <a:rPr lang="en-NZ" altLang="ja-JP" sz="1600" b="1" i="1">
                                <a:solidFill>
                                  <a:srgbClr val="0070C0"/>
                                </a:solidFill>
                                <a:latin typeface="Cambria Math" panose="02040503050406030204" pitchFamily="18" charset="0"/>
                              </a:rPr>
                              <m:t>𝟐</m:t>
                            </m:r>
                          </m:sup>
                        </m:sSup>
                        <m:r>
                          <a:rPr lang="en-NZ" altLang="ja-JP" sz="1600" b="1" i="1" smtClean="0">
                            <a:solidFill>
                              <a:srgbClr val="0070C0"/>
                            </a:solidFill>
                            <a:latin typeface="Cambria Math" panose="02040503050406030204" pitchFamily="18" charset="0"/>
                          </a:rPr>
                          <m:t>)</m:t>
                        </m:r>
                      </m:den>
                    </m:f>
                  </m:oMath>
                </a14:m>
                <a:endParaRPr lang="en-NZ" altLang="ja-JP" sz="1600" dirty="0"/>
              </a:p>
            </p:txBody>
          </p:sp>
        </mc:Choice>
        <mc:Fallback xmlns="">
          <p:sp>
            <p:nvSpPr>
              <p:cNvPr id="19" name="Text Placeholder 5">
                <a:extLst>
                  <a:ext uri="{FF2B5EF4-FFF2-40B4-BE49-F238E27FC236}">
                    <a16:creationId xmlns:a16="http://schemas.microsoft.com/office/drawing/2014/main" id="{214632E2-B7B4-A1B5-F5C5-4005F8631A7E}"/>
                  </a:ext>
                </a:extLst>
              </p:cNvPr>
              <p:cNvSpPr txBox="1">
                <a:spLocks noRot="1" noChangeAspect="1" noMove="1" noResize="1" noEditPoints="1" noAdjustHandles="1" noChangeArrowheads="1" noChangeShapeType="1" noTextEdit="1"/>
              </p:cNvSpPr>
              <p:nvPr/>
            </p:nvSpPr>
            <p:spPr>
              <a:xfrm>
                <a:off x="469578" y="5307823"/>
                <a:ext cx="11164101" cy="1550177"/>
              </a:xfrm>
              <a:prstGeom prst="rect">
                <a:avLst/>
              </a:prstGeom>
              <a:blipFill>
                <a:blip r:embed="rId6"/>
                <a:stretch>
                  <a:fillRect l="-273" t="-10630" b="-21654"/>
                </a:stretch>
              </a:blipFill>
            </p:spPr>
            <p:txBody>
              <a:bodyPr/>
              <a:lstStyle/>
              <a:p>
                <a:r>
                  <a:rPr lang="en-NZ">
                    <a:noFill/>
                  </a:rPr>
                  <a:t> </a:t>
                </a:r>
              </a:p>
            </p:txBody>
          </p:sp>
        </mc:Fallback>
      </mc:AlternateContent>
      <p:sp>
        <p:nvSpPr>
          <p:cNvPr id="25" name="Text Placeholder 5">
            <a:extLst>
              <a:ext uri="{FF2B5EF4-FFF2-40B4-BE49-F238E27FC236}">
                <a16:creationId xmlns:a16="http://schemas.microsoft.com/office/drawing/2014/main" id="{4CF180D2-C54A-63CC-40D5-B746DE678CDF}"/>
              </a:ext>
            </a:extLst>
          </p:cNvPr>
          <p:cNvSpPr txBox="1">
            <a:spLocks/>
          </p:cNvSpPr>
          <p:nvPr/>
        </p:nvSpPr>
        <p:spPr>
          <a:xfrm>
            <a:off x="312362" y="871036"/>
            <a:ext cx="11777003" cy="1222600"/>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Suppose we have a response variable </a:t>
            </a:r>
            <a:r>
              <a:rPr kumimoji="1" lang="en-NZ" altLang="ja-JP" sz="18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Y</a:t>
            </a:r>
            <a:r>
              <a:rPr kumimoji="1" lang="en-NZ"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which is modelled as a function of</a:t>
            </a:r>
          </a:p>
          <a:p>
            <a:pPr marL="971493" marR="0" lvl="1" indent="-285750" algn="just" defTabSz="914324" rtl="0" eaLnBrk="1" fontAlgn="auto" latinLnBrk="0" hangingPunct="1">
              <a:lnSpc>
                <a:spcPct val="100000"/>
              </a:lnSpc>
              <a:spcBef>
                <a:spcPts val="0"/>
              </a:spcBef>
              <a:spcAft>
                <a:spcPts val="0"/>
              </a:spcAft>
              <a:buClrTx/>
              <a:buSzTx/>
              <a:buFontTx/>
              <a:buChar char="-"/>
              <a:tabLst/>
              <a:defRPr/>
            </a:pPr>
            <a:r>
              <a:rPr kumimoji="1" lang="en-NZ"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 factor </a:t>
            </a:r>
            <a:r>
              <a:rPr kumimoji="1" lang="en-NZ" altLang="ja-JP" sz="18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a:t>
            </a:r>
            <a:r>
              <a:rPr kumimoji="1" lang="en-NZ"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with </a:t>
            </a:r>
            <a:r>
              <a:rPr kumimoji="1" lang="en-NZ" altLang="ja-JP" sz="1800" b="1" i="1" u="none" strike="noStrike" kern="1200" cap="none" spc="0" normalizeH="0" baseline="0" noProof="0" dirty="0" err="1">
                <a:ln>
                  <a:noFill/>
                </a:ln>
                <a:solidFill>
                  <a:prstClr val="black"/>
                </a:solidFill>
                <a:effectLst/>
                <a:uLnTx/>
                <a:uFillTx/>
                <a:latin typeface="Calibri" panose="020F0502020204030204"/>
                <a:ea typeface="游ゴシック" panose="020B0400000000000000" pitchFamily="34" charset="-128"/>
                <a:cs typeface="+mn-cs"/>
              </a:rPr>
              <a:t>i</a:t>
            </a:r>
            <a:r>
              <a:rPr kumimoji="1" lang="en-NZ" altLang="ja-JP" sz="18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 1, … , a </a:t>
            </a:r>
            <a:r>
              <a:rPr kumimoji="1" lang="en-NZ"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levels </a:t>
            </a:r>
          </a:p>
          <a:p>
            <a:pPr marL="971493" marR="0" lvl="1" indent="-285750" algn="just" defTabSz="914324" rtl="0" eaLnBrk="1" fontAlgn="auto" latinLnBrk="0" hangingPunct="1">
              <a:lnSpc>
                <a:spcPct val="100000"/>
              </a:lnSpc>
              <a:spcBef>
                <a:spcPts val="0"/>
              </a:spcBef>
              <a:spcAft>
                <a:spcPts val="0"/>
              </a:spcAft>
              <a:buClrTx/>
              <a:buSzTx/>
              <a:buFontTx/>
              <a:buChar char="-"/>
              <a:tabLst/>
              <a:defRPr/>
            </a:pPr>
            <a:r>
              <a:rPr kumimoji="1" lang="en-NZ"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 factor </a:t>
            </a:r>
            <a:r>
              <a:rPr kumimoji="1" lang="en-NZ" altLang="ja-JP" sz="18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B</a:t>
            </a:r>
            <a:r>
              <a:rPr kumimoji="1" lang="en-NZ"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with </a:t>
            </a:r>
            <a:r>
              <a:rPr kumimoji="1" lang="en-NZ" altLang="ja-JP" sz="18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b </a:t>
            </a:r>
            <a:r>
              <a:rPr kumimoji="1" lang="en-NZ"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randomly selected levels nested in factor </a:t>
            </a:r>
            <a:r>
              <a:rPr kumimoji="1" lang="en-NZ" altLang="ja-JP" sz="18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a:t>
            </a:r>
          </a:p>
          <a:p>
            <a:pPr marL="971493" lvl="1" indent="-285750" algn="just">
              <a:lnSpc>
                <a:spcPct val="100000"/>
              </a:lnSpc>
              <a:spcBef>
                <a:spcPts val="0"/>
              </a:spcBef>
              <a:buFontTx/>
              <a:buChar char="-"/>
              <a:defRPr/>
            </a:pPr>
            <a:r>
              <a:rPr kumimoji="1" lang="en-NZ"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 factor </a:t>
            </a:r>
            <a:r>
              <a:rPr lang="en-NZ" altLang="ja-JP" sz="1800" b="1" i="1" dirty="0">
                <a:solidFill>
                  <a:prstClr val="black"/>
                </a:solidFill>
                <a:latin typeface="Calibri" panose="020F0502020204030204"/>
                <a:ea typeface="游ゴシック" panose="020B0400000000000000" pitchFamily="34" charset="-128"/>
              </a:rPr>
              <a:t>C</a:t>
            </a:r>
            <a:r>
              <a:rPr kumimoji="1" lang="en-NZ"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with </a:t>
            </a:r>
            <a:r>
              <a:rPr kumimoji="1" lang="en-NZ" altLang="ja-JP" sz="18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c </a:t>
            </a:r>
            <a:r>
              <a:rPr kumimoji="1" lang="en-NZ"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randomly selected levels nested in factor </a:t>
            </a:r>
            <a:r>
              <a:rPr lang="en-NZ" altLang="ja-JP" sz="1800" b="1" i="1" dirty="0">
                <a:solidFill>
                  <a:prstClr val="black"/>
                </a:solidFill>
                <a:latin typeface="Calibri" panose="020F0502020204030204"/>
                <a:ea typeface="游ゴシック" panose="020B0400000000000000" pitchFamily="34" charset="-128"/>
              </a:rPr>
              <a:t>B</a:t>
            </a:r>
            <a:endParaRPr kumimoji="1" lang="en-NZ" altLang="ja-JP" sz="18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p:txBody>
      </p:sp>
      <mc:AlternateContent xmlns:mc="http://schemas.openxmlformats.org/markup-compatibility/2006" xmlns:a14="http://schemas.microsoft.com/office/drawing/2010/main">
        <mc:Choice Requires="a14">
          <p:sp>
            <p:nvSpPr>
              <p:cNvPr id="6" name="Text Placeholder 5">
                <a:extLst>
                  <a:ext uri="{FF2B5EF4-FFF2-40B4-BE49-F238E27FC236}">
                    <a16:creationId xmlns:a16="http://schemas.microsoft.com/office/drawing/2014/main" id="{E8757A6A-36A7-BDDD-DEF1-52056381E780}"/>
                  </a:ext>
                </a:extLst>
              </p:cNvPr>
              <p:cNvSpPr txBox="1">
                <a:spLocks/>
              </p:cNvSpPr>
              <p:nvPr/>
            </p:nvSpPr>
            <p:spPr>
              <a:xfrm>
                <a:off x="0" y="4905040"/>
                <a:ext cx="12192000" cy="465047"/>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14:m>
                  <m:oMathPara xmlns:m="http://schemas.openxmlformats.org/officeDocument/2006/math">
                    <m:oMathParaPr>
                      <m:jc m:val="centerGroup"/>
                    </m:oMathParaPr>
                    <m:oMath xmlns:m="http://schemas.openxmlformats.org/officeDocument/2006/math">
                      <m:r>
                        <a:rPr lang="en-NZ" altLang="ja-JP" sz="1650" b="1" i="1" smtClean="0">
                          <a:solidFill>
                            <a:srgbClr val="0070C0"/>
                          </a:solidFill>
                          <a:latin typeface="Cambria Math" panose="02040503050406030204" pitchFamily="18" charset="0"/>
                        </a:rPr>
                        <m:t>𝑽𝒂𝒓</m:t>
                      </m:r>
                      <m:d>
                        <m:dPr>
                          <m:begChr m:val="["/>
                          <m:endChr m:val="]"/>
                          <m:ctrlPr>
                            <a:rPr lang="en-NZ" altLang="ja-JP" sz="1650" b="1" i="1" smtClean="0">
                              <a:solidFill>
                                <a:srgbClr val="0070C0"/>
                              </a:solidFill>
                              <a:latin typeface="Cambria Math" panose="02040503050406030204" pitchFamily="18" charset="0"/>
                            </a:rPr>
                          </m:ctrlPr>
                        </m:dPr>
                        <m:e>
                          <m:r>
                            <a:rPr lang="en-NZ" altLang="ja-JP" sz="1650" b="1" i="1" smtClean="0">
                              <a:solidFill>
                                <a:srgbClr val="0070C0"/>
                              </a:solidFill>
                              <a:latin typeface="Cambria Math" panose="02040503050406030204" pitchFamily="18" charset="0"/>
                            </a:rPr>
                            <m:t> </m:t>
                          </m:r>
                          <m:sSub>
                            <m:sSubPr>
                              <m:ctrlPr>
                                <a:rPr lang="en-NZ" altLang="ja-JP" sz="1650" b="1" i="1">
                                  <a:solidFill>
                                    <a:srgbClr val="0070C0"/>
                                  </a:solidFill>
                                  <a:latin typeface="Cambria Math" panose="02040503050406030204" pitchFamily="18" charset="0"/>
                                </a:rPr>
                              </m:ctrlPr>
                            </m:sSubPr>
                            <m:e>
                              <m:r>
                                <a:rPr lang="en-NZ" altLang="ja-JP" sz="1650" b="1" i="1">
                                  <a:solidFill>
                                    <a:srgbClr val="0070C0"/>
                                  </a:solidFill>
                                  <a:latin typeface="Cambria Math" panose="02040503050406030204" pitchFamily="18" charset="0"/>
                                </a:rPr>
                                <m:t>𝒀</m:t>
                              </m:r>
                            </m:e>
                            <m:sub>
                              <m:r>
                                <a:rPr lang="en-NZ" altLang="ja-JP" sz="1650" b="1" i="1">
                                  <a:solidFill>
                                    <a:srgbClr val="0070C0"/>
                                  </a:solidFill>
                                  <a:latin typeface="Cambria Math" panose="02040503050406030204" pitchFamily="18" charset="0"/>
                                </a:rPr>
                                <m:t>𝒊𝒋𝒌</m:t>
                              </m:r>
                              <m:r>
                                <a:rPr lang="en-NZ" altLang="ja-JP" sz="1650" b="1" i="1" smtClean="0">
                                  <a:solidFill>
                                    <a:srgbClr val="0070C0"/>
                                  </a:solidFill>
                                  <a:latin typeface="Cambria Math" panose="02040503050406030204" pitchFamily="18" charset="0"/>
                                </a:rPr>
                                <m:t>𝒎</m:t>
                              </m:r>
                            </m:sub>
                          </m:sSub>
                          <m:r>
                            <a:rPr lang="en-NZ" altLang="ja-JP" sz="1650" b="1" i="1" smtClean="0">
                              <a:solidFill>
                                <a:srgbClr val="0070C0"/>
                              </a:solidFill>
                              <a:latin typeface="Cambria Math" panose="02040503050406030204" pitchFamily="18" charset="0"/>
                            </a:rPr>
                            <m:t> </m:t>
                          </m:r>
                        </m:e>
                      </m:d>
                      <m:r>
                        <a:rPr lang="en-NZ" altLang="ja-JP" sz="1650" b="1" i="1" smtClean="0">
                          <a:solidFill>
                            <a:srgbClr val="0070C0"/>
                          </a:solidFill>
                          <a:latin typeface="Cambria Math" panose="02040503050406030204" pitchFamily="18" charset="0"/>
                        </a:rPr>
                        <m:t> =</m:t>
                      </m:r>
                      <m:sSubSup>
                        <m:sSubSupPr>
                          <m:ctrlPr>
                            <a:rPr lang="en-NZ" altLang="ja-JP" sz="1600" b="1" i="1">
                              <a:solidFill>
                                <a:srgbClr val="0070C0"/>
                              </a:solidFill>
                              <a:latin typeface="Cambria Math" panose="02040503050406030204" pitchFamily="18" charset="0"/>
                            </a:rPr>
                          </m:ctrlPr>
                        </m:sSubSupPr>
                        <m:e>
                          <m:r>
                            <a:rPr lang="en-NZ" altLang="ja-JP" sz="1600" b="1" i="1">
                              <a:solidFill>
                                <a:srgbClr val="0070C0"/>
                              </a:solidFill>
                              <a:latin typeface="Cambria Math" panose="02040503050406030204" pitchFamily="18" charset="0"/>
                            </a:rPr>
                            <m:t>𝝈</m:t>
                          </m:r>
                        </m:e>
                        <m:sub>
                          <m:r>
                            <a:rPr lang="en-NZ" altLang="ja-JP" sz="1600" b="1" i="1">
                              <a:solidFill>
                                <a:srgbClr val="0070C0"/>
                              </a:solidFill>
                              <a:latin typeface="Cambria Math" panose="02040503050406030204" pitchFamily="18" charset="0"/>
                            </a:rPr>
                            <m:t>𝑩</m:t>
                          </m:r>
                        </m:sub>
                        <m:sup>
                          <m:r>
                            <a:rPr lang="en-NZ" altLang="ja-JP" sz="1600" b="1" i="1">
                              <a:solidFill>
                                <a:srgbClr val="0070C0"/>
                              </a:solidFill>
                              <a:latin typeface="Cambria Math" panose="02040503050406030204" pitchFamily="18" charset="0"/>
                            </a:rPr>
                            <m:t>𝟐</m:t>
                          </m:r>
                        </m:sup>
                      </m:sSubSup>
                      <m:r>
                        <a:rPr lang="en-NZ" altLang="ja-JP" sz="1600" b="1">
                          <a:solidFill>
                            <a:srgbClr val="0070C0"/>
                          </a:solidFill>
                          <a:latin typeface="Cambria Math" panose="02040503050406030204" pitchFamily="18" charset="0"/>
                        </a:rPr>
                        <m:t> +</m:t>
                      </m:r>
                      <m:r>
                        <a:rPr lang="en-NZ" altLang="ja-JP" sz="1600" b="1" i="1">
                          <a:solidFill>
                            <a:srgbClr val="0070C0"/>
                          </a:solidFill>
                          <a:latin typeface="Cambria Math" panose="02040503050406030204" pitchFamily="18" charset="0"/>
                        </a:rPr>
                        <m:t> </m:t>
                      </m:r>
                      <m:sSubSup>
                        <m:sSubSupPr>
                          <m:ctrlPr>
                            <a:rPr lang="en-NZ" altLang="ja-JP" sz="1600" b="1" i="1">
                              <a:solidFill>
                                <a:srgbClr val="0070C0"/>
                              </a:solidFill>
                              <a:latin typeface="Cambria Math" panose="02040503050406030204" pitchFamily="18" charset="0"/>
                            </a:rPr>
                          </m:ctrlPr>
                        </m:sSubSupPr>
                        <m:e>
                          <m:r>
                            <a:rPr lang="en-NZ" altLang="ja-JP" sz="1600" b="1" i="1">
                              <a:solidFill>
                                <a:srgbClr val="0070C0"/>
                              </a:solidFill>
                              <a:latin typeface="Cambria Math" panose="02040503050406030204" pitchFamily="18" charset="0"/>
                            </a:rPr>
                            <m:t>𝝈</m:t>
                          </m:r>
                        </m:e>
                        <m:sub>
                          <m:r>
                            <a:rPr lang="en-NZ" altLang="ja-JP" sz="1600" b="1" i="1">
                              <a:solidFill>
                                <a:srgbClr val="0070C0"/>
                              </a:solidFill>
                              <a:latin typeface="Cambria Math" panose="02040503050406030204" pitchFamily="18" charset="0"/>
                            </a:rPr>
                            <m:t>𝑪</m:t>
                          </m:r>
                        </m:sub>
                        <m:sup>
                          <m:r>
                            <a:rPr lang="en-NZ" altLang="ja-JP" sz="1600" b="1" i="1">
                              <a:solidFill>
                                <a:srgbClr val="0070C0"/>
                              </a:solidFill>
                              <a:latin typeface="Cambria Math" panose="02040503050406030204" pitchFamily="18" charset="0"/>
                            </a:rPr>
                            <m:t>𝟐</m:t>
                          </m:r>
                        </m:sup>
                      </m:sSubSup>
                      <m:r>
                        <a:rPr lang="en-NZ" altLang="ja-JP" sz="1600" b="1" i="1">
                          <a:solidFill>
                            <a:srgbClr val="0070C0"/>
                          </a:solidFill>
                          <a:latin typeface="Cambria Math" panose="02040503050406030204" pitchFamily="18" charset="0"/>
                        </a:rPr>
                        <m:t> +</m:t>
                      </m:r>
                      <m:sSup>
                        <m:sSupPr>
                          <m:ctrlPr>
                            <a:rPr lang="en-NZ" altLang="ja-JP" sz="1600" b="1" i="1">
                              <a:solidFill>
                                <a:srgbClr val="0070C0"/>
                              </a:solidFill>
                              <a:latin typeface="Cambria Math" panose="02040503050406030204" pitchFamily="18" charset="0"/>
                            </a:rPr>
                          </m:ctrlPr>
                        </m:sSupPr>
                        <m:e>
                          <m:r>
                            <a:rPr lang="en-NZ" altLang="ja-JP" sz="1600" b="1" i="1">
                              <a:solidFill>
                                <a:srgbClr val="0070C0"/>
                              </a:solidFill>
                              <a:latin typeface="Cambria Math" panose="02040503050406030204" pitchFamily="18" charset="0"/>
                            </a:rPr>
                            <m:t>  </m:t>
                          </m:r>
                          <m:r>
                            <a:rPr lang="en-NZ" altLang="ja-JP" sz="1600" b="1" i="1">
                              <a:solidFill>
                                <a:srgbClr val="0070C0"/>
                              </a:solidFill>
                              <a:latin typeface="Cambria Math" panose="02040503050406030204" pitchFamily="18" charset="0"/>
                            </a:rPr>
                            <m:t>𝝈</m:t>
                          </m:r>
                        </m:e>
                        <m:sup>
                          <m:r>
                            <a:rPr lang="en-NZ" altLang="ja-JP" sz="1600" b="1" i="1">
                              <a:solidFill>
                                <a:srgbClr val="0070C0"/>
                              </a:solidFill>
                              <a:latin typeface="Cambria Math" panose="02040503050406030204" pitchFamily="18" charset="0"/>
                            </a:rPr>
                            <m:t>𝟐</m:t>
                          </m:r>
                        </m:sup>
                      </m:sSup>
                    </m:oMath>
                  </m:oMathPara>
                </a14:m>
                <a:endParaRPr lang="en-NZ" altLang="ja-JP" sz="1650" b="1" dirty="0">
                  <a:solidFill>
                    <a:srgbClr val="0070C0"/>
                  </a:solidFill>
                </a:endParaRPr>
              </a:p>
            </p:txBody>
          </p:sp>
        </mc:Choice>
        <mc:Fallback xmlns="">
          <p:sp>
            <p:nvSpPr>
              <p:cNvPr id="6" name="Text Placeholder 5">
                <a:extLst>
                  <a:ext uri="{FF2B5EF4-FFF2-40B4-BE49-F238E27FC236}">
                    <a16:creationId xmlns:a16="http://schemas.microsoft.com/office/drawing/2014/main" id="{E8757A6A-36A7-BDDD-DEF1-52056381E780}"/>
                  </a:ext>
                </a:extLst>
              </p:cNvPr>
              <p:cNvSpPr txBox="1">
                <a:spLocks noRot="1" noChangeAspect="1" noMove="1" noResize="1" noEditPoints="1" noAdjustHandles="1" noChangeArrowheads="1" noChangeShapeType="1" noTextEdit="1"/>
              </p:cNvSpPr>
              <p:nvPr/>
            </p:nvSpPr>
            <p:spPr>
              <a:xfrm>
                <a:off x="0" y="4905040"/>
                <a:ext cx="12192000" cy="465047"/>
              </a:xfrm>
              <a:prstGeom prst="rect">
                <a:avLst/>
              </a:prstGeom>
              <a:blipFill>
                <a:blip r:embed="rId7"/>
                <a:stretch>
                  <a:fillRect/>
                </a:stretch>
              </a:blipFill>
            </p:spPr>
            <p:txBody>
              <a:bodyPr/>
              <a:lstStyle/>
              <a:p>
                <a:r>
                  <a:rPr lang="en-NZ">
                    <a:noFill/>
                  </a:rPr>
                  <a:t> </a:t>
                </a:r>
              </a:p>
            </p:txBody>
          </p:sp>
        </mc:Fallback>
      </mc:AlternateContent>
    </p:spTree>
    <p:extLst>
      <p:ext uri="{BB962C8B-B14F-4D97-AF65-F5344CB8AC3E}">
        <p14:creationId xmlns:p14="http://schemas.microsoft.com/office/powerpoint/2010/main" val="11815838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6"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Slide Number Placeholder 3">
            <a:extLst>
              <a:ext uri="{FF2B5EF4-FFF2-40B4-BE49-F238E27FC236}">
                <a16:creationId xmlns:a16="http://schemas.microsoft.com/office/drawing/2014/main" id="{B0C9041D-77F0-4656-90D4-0E84B7AC6B27}"/>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54AD89C-DF1E-4948-B597-5DD47B34A9CA}" type="slidenum">
              <a:rPr kumimoji="1" lang="ja-JP" altLang="en-US" sz="4000" b="0" i="0" u="none" strike="noStrike" kern="1200" cap="none" spc="0" normalizeH="0" baseline="0" noProof="0" smtClean="0">
                <a:ln>
                  <a:noFill/>
                </a:ln>
                <a:solidFill>
                  <a:srgbClr val="575454">
                    <a:lumMod val="20000"/>
                    <a:lumOff val="80000"/>
                  </a:srgbClr>
                </a:solidFill>
                <a:effectLst/>
                <a:uLnTx/>
                <a:uFillTx/>
                <a:latin typeface="Coo Hew"/>
                <a:ea typeface="游ゴシック" panose="020B0400000000000000"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35</a:t>
            </a:fld>
            <a:endParaRPr kumimoji="1" lang="ja-JP" altLang="en-US" sz="4000" b="0" i="0" u="none" strike="noStrike" kern="1200" cap="none" spc="0" normalizeH="0" baseline="0" noProof="0" dirty="0">
              <a:ln>
                <a:noFill/>
              </a:ln>
              <a:solidFill>
                <a:srgbClr val="575454">
                  <a:lumMod val="20000"/>
                  <a:lumOff val="80000"/>
                </a:srgbClr>
              </a:solidFill>
              <a:effectLst/>
              <a:uLnTx/>
              <a:uFillTx/>
              <a:latin typeface="Coo Hew"/>
              <a:ea typeface="游ゴシック" panose="020B0400000000000000" pitchFamily="34" charset="-128"/>
              <a:cs typeface="+mn-cs"/>
            </a:endParaRPr>
          </a:p>
        </p:txBody>
      </p:sp>
      <p:sp>
        <p:nvSpPr>
          <p:cNvPr id="11" name="Text Placeholder 5">
            <a:extLst>
              <a:ext uri="{FF2B5EF4-FFF2-40B4-BE49-F238E27FC236}">
                <a16:creationId xmlns:a16="http://schemas.microsoft.com/office/drawing/2014/main" id="{7E7A8B0B-25DA-1474-CB37-F42D497A1EF6}"/>
              </a:ext>
            </a:extLst>
          </p:cNvPr>
          <p:cNvSpPr txBox="1">
            <a:spLocks/>
          </p:cNvSpPr>
          <p:nvPr/>
        </p:nvSpPr>
        <p:spPr>
          <a:xfrm>
            <a:off x="251220" y="1460752"/>
            <a:ext cx="11621464" cy="67534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The ANOVA table below shows all the relevant degrees of freedom, sums of squares, mean squares, expected mean squares and F-Statistics for a mixed effects three stage nested design  </a:t>
            </a: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p:txBody>
      </p:sp>
      <mc:AlternateContent xmlns:mc="http://schemas.openxmlformats.org/markup-compatibility/2006">
        <mc:Choice xmlns:a14="http://schemas.microsoft.com/office/drawing/2010/main" Requires="a14">
          <p:graphicFrame>
            <p:nvGraphicFramePr>
              <p:cNvPr id="12" name="Table 2">
                <a:extLst>
                  <a:ext uri="{FF2B5EF4-FFF2-40B4-BE49-F238E27FC236}">
                    <a16:creationId xmlns:a16="http://schemas.microsoft.com/office/drawing/2014/main" id="{AC09C63B-DEDA-11CA-1297-AF6E4CB7A985}"/>
                  </a:ext>
                </a:extLst>
              </p:cNvPr>
              <p:cNvGraphicFramePr>
                <a:graphicFrameLocks noGrp="1"/>
              </p:cNvGraphicFramePr>
              <p:nvPr>
                <p:extLst>
                  <p:ext uri="{D42A27DB-BD31-4B8C-83A1-F6EECF244321}">
                    <p14:modId xmlns:p14="http://schemas.microsoft.com/office/powerpoint/2010/main" val="3922459365"/>
                  </p:ext>
                </p:extLst>
              </p:nvPr>
            </p:nvGraphicFramePr>
            <p:xfrm>
              <a:off x="382137" y="2287789"/>
              <a:ext cx="11490547" cy="2463800"/>
            </p:xfrm>
            <a:graphic>
              <a:graphicData uri="http://schemas.openxmlformats.org/drawingml/2006/table">
                <a:tbl>
                  <a:tblPr firstRow="1" bandRow="1">
                    <a:tableStyleId>{5C22544A-7EE6-4342-B048-85BDC9FD1C3A}</a:tableStyleId>
                  </a:tblPr>
                  <a:tblGrid>
                    <a:gridCol w="1487606">
                      <a:extLst>
                        <a:ext uri="{9D8B030D-6E8A-4147-A177-3AD203B41FA5}">
                          <a16:colId xmlns:a16="http://schemas.microsoft.com/office/drawing/2014/main" val="4198110682"/>
                        </a:ext>
                      </a:extLst>
                    </a:gridCol>
                    <a:gridCol w="1009935">
                      <a:extLst>
                        <a:ext uri="{9D8B030D-6E8A-4147-A177-3AD203B41FA5}">
                          <a16:colId xmlns:a16="http://schemas.microsoft.com/office/drawing/2014/main" val="292302729"/>
                        </a:ext>
                      </a:extLst>
                    </a:gridCol>
                    <a:gridCol w="818865">
                      <a:extLst>
                        <a:ext uri="{9D8B030D-6E8A-4147-A177-3AD203B41FA5}">
                          <a16:colId xmlns:a16="http://schemas.microsoft.com/office/drawing/2014/main" val="126256495"/>
                        </a:ext>
                      </a:extLst>
                    </a:gridCol>
                    <a:gridCol w="3098042">
                      <a:extLst>
                        <a:ext uri="{9D8B030D-6E8A-4147-A177-3AD203B41FA5}">
                          <a16:colId xmlns:a16="http://schemas.microsoft.com/office/drawing/2014/main" val="477450593"/>
                        </a:ext>
                      </a:extLst>
                    </a:gridCol>
                    <a:gridCol w="3480179">
                      <a:extLst>
                        <a:ext uri="{9D8B030D-6E8A-4147-A177-3AD203B41FA5}">
                          <a16:colId xmlns:a16="http://schemas.microsoft.com/office/drawing/2014/main" val="3785429377"/>
                        </a:ext>
                      </a:extLst>
                    </a:gridCol>
                    <a:gridCol w="1595920">
                      <a:extLst>
                        <a:ext uri="{9D8B030D-6E8A-4147-A177-3AD203B41FA5}">
                          <a16:colId xmlns:a16="http://schemas.microsoft.com/office/drawing/2014/main" val="1101540161"/>
                        </a:ext>
                      </a:extLst>
                    </a:gridCol>
                  </a:tblGrid>
                  <a:tr h="370840">
                    <a:tc>
                      <a:txBody>
                        <a:bodyPr/>
                        <a:lstStyle/>
                        <a:p>
                          <a:pPr algn="ctr"/>
                          <a:r>
                            <a:rPr lang="en-NZ" sz="1700" dirty="0"/>
                            <a:t>Source of Variation</a:t>
                          </a:r>
                        </a:p>
                      </a:txBody>
                      <a:tcPr anchor="ctr"/>
                    </a:tc>
                    <a:tc>
                      <a:txBody>
                        <a:bodyPr/>
                        <a:lstStyle/>
                        <a:p>
                          <a:pPr algn="ctr"/>
                          <a:r>
                            <a:rPr lang="en-NZ" sz="1700" dirty="0" err="1"/>
                            <a:t>df</a:t>
                          </a:r>
                          <a:endParaRPr lang="en-NZ" sz="1700" dirty="0"/>
                        </a:p>
                      </a:txBody>
                      <a:tcPr anchor="ctr"/>
                    </a:tc>
                    <a:tc>
                      <a:txBody>
                        <a:bodyPr/>
                        <a:lstStyle/>
                        <a:p>
                          <a:pPr algn="ctr"/>
                          <a:r>
                            <a:rPr lang="en-NZ" sz="1700" dirty="0"/>
                            <a:t>SS</a:t>
                          </a:r>
                        </a:p>
                      </a:txBody>
                      <a:tcPr anchor="ctr"/>
                    </a:tc>
                    <a:tc>
                      <a:txBody>
                        <a:bodyPr/>
                        <a:lstStyle/>
                        <a:p>
                          <a:pPr algn="ctr"/>
                          <a:r>
                            <a:rPr lang="en-NZ" sz="1700" dirty="0"/>
                            <a:t>Mean Square</a:t>
                          </a:r>
                        </a:p>
                      </a:txBody>
                      <a:tcPr anchor="ctr"/>
                    </a:tc>
                    <a:tc>
                      <a:txBody>
                        <a:bodyPr/>
                        <a:lstStyle/>
                        <a:p>
                          <a:pPr algn="ctr"/>
                          <a:r>
                            <a:rPr lang="en-NZ" sz="1700" dirty="0"/>
                            <a:t>E [ Mean Squares ]</a:t>
                          </a:r>
                        </a:p>
                      </a:txBody>
                      <a:tcPr anchor="ctr"/>
                    </a:tc>
                    <a:tc>
                      <a:txBody>
                        <a:bodyPr/>
                        <a:lstStyle/>
                        <a:p>
                          <a:pPr algn="ctr"/>
                          <a:r>
                            <a:rPr lang="en-NZ" sz="1700" dirty="0"/>
                            <a:t>F-Statistic</a:t>
                          </a:r>
                        </a:p>
                      </a:txBody>
                      <a:tcPr anchor="ctr"/>
                    </a:tc>
                    <a:extLst>
                      <a:ext uri="{0D108BD9-81ED-4DB2-BD59-A6C34878D82A}">
                        <a16:rowId xmlns:a16="http://schemas.microsoft.com/office/drawing/2014/main" val="3666350365"/>
                      </a:ext>
                    </a:extLst>
                  </a:tr>
                  <a:tr h="370840">
                    <a:tc>
                      <a:txBody>
                        <a:bodyPr/>
                        <a:lstStyle/>
                        <a:p>
                          <a:pPr algn="ctr"/>
                          <a:r>
                            <a:rPr lang="en-NZ" sz="1700" dirty="0"/>
                            <a:t>Total</a:t>
                          </a:r>
                        </a:p>
                      </a:txBody>
                      <a:tcPr anchor="ctr"/>
                    </a:tc>
                    <a:tc>
                      <a:txBody>
                        <a:bodyPr/>
                        <a:lstStyle/>
                        <a:p>
                          <a:pPr algn="ctr"/>
                          <a:r>
                            <a:rPr lang="en-NZ" sz="1700" dirty="0"/>
                            <a:t>abcn-1</a:t>
                          </a:r>
                        </a:p>
                      </a:txBody>
                      <a:tcPr anchor="ctr"/>
                    </a:tc>
                    <a:tc>
                      <a:txBody>
                        <a:bodyPr/>
                        <a:lstStyle/>
                        <a:p>
                          <a:pPr algn="ctr"/>
                          <a:r>
                            <a:rPr lang="en-NZ" sz="1700" dirty="0"/>
                            <a:t>TSS</a:t>
                          </a:r>
                        </a:p>
                      </a:txBody>
                      <a:tcPr anchor="ctr"/>
                    </a:tc>
                    <a:tc>
                      <a:txBody>
                        <a:bodyPr/>
                        <a:lstStyle/>
                        <a:p>
                          <a:pPr algn="ctr"/>
                          <a:endParaRPr lang="en-NZ" sz="1700" dirty="0"/>
                        </a:p>
                      </a:txBody>
                      <a:tcPr anchor="ctr"/>
                    </a:tc>
                    <a:tc>
                      <a:txBody>
                        <a:bodyPr/>
                        <a:lstStyle/>
                        <a:p>
                          <a:pPr algn="ctr"/>
                          <a:endParaRPr lang="en-NZ" sz="1700" dirty="0"/>
                        </a:p>
                      </a:txBody>
                      <a:tcPr anchor="ctr"/>
                    </a:tc>
                    <a:tc>
                      <a:txBody>
                        <a:bodyPr/>
                        <a:lstStyle/>
                        <a:p>
                          <a:pPr algn="ctr"/>
                          <a:endParaRPr lang="en-NZ" sz="1700" dirty="0"/>
                        </a:p>
                      </a:txBody>
                      <a:tcPr anchor="ctr"/>
                    </a:tc>
                    <a:extLst>
                      <a:ext uri="{0D108BD9-81ED-4DB2-BD59-A6C34878D82A}">
                        <a16:rowId xmlns:a16="http://schemas.microsoft.com/office/drawing/2014/main" val="3341485952"/>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NZ" sz="1700" dirty="0"/>
                            <a:t>A</a:t>
                          </a:r>
                        </a:p>
                      </a:txBody>
                      <a:tcPr anchor="ctr"/>
                    </a:tc>
                    <a:tc>
                      <a:txBody>
                        <a:bodyPr/>
                        <a:lstStyle/>
                        <a:p>
                          <a:pPr algn="ctr"/>
                          <a:r>
                            <a:rPr lang="en-NZ" sz="1700" dirty="0"/>
                            <a:t>a-1</a:t>
                          </a:r>
                        </a:p>
                      </a:txBody>
                      <a:tcPr anchor="ctr"/>
                    </a:tc>
                    <a:tc>
                      <a:txBody>
                        <a:bodyPr/>
                        <a:lstStyle/>
                        <a:p>
                          <a:pPr algn="ctr"/>
                          <a:r>
                            <a:rPr lang="en-NZ" sz="1700" dirty="0"/>
                            <a:t>SS</a:t>
                          </a:r>
                          <a:r>
                            <a:rPr lang="en-NZ" sz="1700" baseline="-25000" dirty="0"/>
                            <a:t>A</a:t>
                          </a:r>
                          <a:endParaRPr lang="en-NZ" sz="1700" dirty="0"/>
                        </a:p>
                      </a:txBody>
                      <a:tcPr anchor="ctr"/>
                    </a:tc>
                    <a:tc>
                      <a:txBody>
                        <a:bodyPr/>
                        <a:lstStyle/>
                        <a:p>
                          <a:pPr algn="ctr"/>
                          <a:r>
                            <a:rPr lang="en-NZ" sz="1700" dirty="0"/>
                            <a:t>MS</a:t>
                          </a:r>
                          <a:r>
                            <a:rPr lang="en-NZ" sz="1700" baseline="-25000" dirty="0"/>
                            <a:t>A</a:t>
                          </a:r>
                          <a:r>
                            <a:rPr lang="en-NZ" sz="1700" dirty="0"/>
                            <a:t> = SS</a:t>
                          </a:r>
                          <a:r>
                            <a:rPr lang="en-NZ" sz="1700" baseline="-25000" dirty="0"/>
                            <a:t>A</a:t>
                          </a:r>
                          <a:r>
                            <a:rPr lang="en-NZ" sz="1700" dirty="0"/>
                            <a:t> / (a-1)</a:t>
                          </a:r>
                        </a:p>
                      </a:txBody>
                      <a:tcPr anchor="ctr"/>
                    </a:tc>
                    <a:tc>
                      <a:txBody>
                        <a:bodyPr/>
                        <a:lstStyle/>
                        <a:p>
                          <a:pPr algn="ctr"/>
                          <a14:m>
                            <m:oMathPara xmlns:m="http://schemas.openxmlformats.org/officeDocument/2006/math">
                              <m:oMathParaPr>
                                <m:jc m:val="centerGroup"/>
                              </m:oMathParaPr>
                              <m:oMath xmlns:m="http://schemas.openxmlformats.org/officeDocument/2006/math">
                                <m:sSup>
                                  <m:sSupPr>
                                    <m:ctrlPr>
                                      <a:rPr lang="en-NZ" sz="1700" b="0" i="1" smtClean="0">
                                        <a:latin typeface="Cambria Math" panose="02040503050406030204" pitchFamily="18" charset="0"/>
                                      </a:rPr>
                                    </m:ctrlPr>
                                  </m:sSupPr>
                                  <m:e>
                                    <m:r>
                                      <a:rPr lang="en-NZ" sz="1700" b="0" i="1" smtClean="0">
                                        <a:latin typeface="Cambria Math" panose="02040503050406030204" pitchFamily="18" charset="0"/>
                                      </a:rPr>
                                      <m:t>𝜎</m:t>
                                    </m:r>
                                  </m:e>
                                  <m:sup>
                                    <m:r>
                                      <a:rPr lang="en-NZ" sz="1700" b="0" i="1" smtClean="0">
                                        <a:latin typeface="Cambria Math" panose="02040503050406030204" pitchFamily="18" charset="0"/>
                                      </a:rPr>
                                      <m:t>2</m:t>
                                    </m:r>
                                  </m:sup>
                                </m:sSup>
                                <m:r>
                                  <a:rPr lang="en-NZ" sz="1700" b="0" i="1" smtClean="0">
                                    <a:latin typeface="Cambria Math" panose="02040503050406030204" pitchFamily="18" charset="0"/>
                                  </a:rPr>
                                  <m:t>+  </m:t>
                                </m:r>
                                <m:r>
                                  <a:rPr lang="en-NZ" sz="1700" b="0" i="1" smtClean="0">
                                    <a:latin typeface="Cambria Math" panose="02040503050406030204" pitchFamily="18" charset="0"/>
                                  </a:rPr>
                                  <m:t>𝑛</m:t>
                                </m:r>
                                <m:r>
                                  <a:rPr lang="en-NZ" sz="1700" b="0" i="1" smtClean="0">
                                    <a:latin typeface="Cambria Math" panose="02040503050406030204" pitchFamily="18" charset="0"/>
                                  </a:rPr>
                                  <m:t> </m:t>
                                </m:r>
                                <m:sSubSup>
                                  <m:sSubSupPr>
                                    <m:ctrlPr>
                                      <a:rPr lang="en-NZ" sz="1700" b="0" i="1" smtClean="0">
                                        <a:latin typeface="Cambria Math" panose="02040503050406030204" pitchFamily="18" charset="0"/>
                                      </a:rPr>
                                    </m:ctrlPr>
                                  </m:sSubSupPr>
                                  <m:e>
                                    <m:r>
                                      <a:rPr lang="en-NZ" sz="1700" b="0" i="1" smtClean="0">
                                        <a:latin typeface="Cambria Math" panose="02040503050406030204" pitchFamily="18" charset="0"/>
                                      </a:rPr>
                                      <m:t>𝜎</m:t>
                                    </m:r>
                                  </m:e>
                                  <m:sub>
                                    <m:r>
                                      <a:rPr lang="en-NZ" sz="1700" b="0" i="1" smtClean="0">
                                        <a:latin typeface="Cambria Math" panose="02040503050406030204" pitchFamily="18" charset="0"/>
                                      </a:rPr>
                                      <m:t>𝐶</m:t>
                                    </m:r>
                                  </m:sub>
                                  <m:sup>
                                    <m:r>
                                      <a:rPr lang="en-NZ" sz="1700" b="0" i="1" smtClean="0">
                                        <a:latin typeface="Cambria Math" panose="02040503050406030204" pitchFamily="18" charset="0"/>
                                      </a:rPr>
                                      <m:t>2</m:t>
                                    </m:r>
                                  </m:sup>
                                </m:sSubSup>
                                <m:r>
                                  <a:rPr lang="en-NZ" sz="1700" b="0" i="1" smtClean="0">
                                    <a:latin typeface="Cambria Math" panose="02040503050406030204" pitchFamily="18" charset="0"/>
                                  </a:rPr>
                                  <m:t>  +  </m:t>
                                </m:r>
                                <m:r>
                                  <a:rPr lang="en-NZ" sz="1700" b="0" i="1" smtClean="0">
                                    <a:latin typeface="Cambria Math" panose="02040503050406030204" pitchFamily="18" charset="0"/>
                                  </a:rPr>
                                  <m:t>𝑐𝑛</m:t>
                                </m:r>
                                <m:r>
                                  <a:rPr lang="en-NZ" sz="1700" b="0" i="1" smtClean="0">
                                    <a:latin typeface="Cambria Math" panose="02040503050406030204" pitchFamily="18" charset="0"/>
                                  </a:rPr>
                                  <m:t> </m:t>
                                </m:r>
                                <m:sSubSup>
                                  <m:sSubSupPr>
                                    <m:ctrlPr>
                                      <a:rPr lang="en-NZ" sz="1700" b="0" i="1" smtClean="0">
                                        <a:latin typeface="Cambria Math" panose="02040503050406030204" pitchFamily="18" charset="0"/>
                                      </a:rPr>
                                    </m:ctrlPr>
                                  </m:sSubSupPr>
                                  <m:e>
                                    <m:r>
                                      <a:rPr lang="en-NZ" sz="1700" b="0" i="1" smtClean="0">
                                        <a:latin typeface="Cambria Math" panose="02040503050406030204" pitchFamily="18" charset="0"/>
                                      </a:rPr>
                                      <m:t>𝜎</m:t>
                                    </m:r>
                                  </m:e>
                                  <m:sub>
                                    <m:r>
                                      <a:rPr lang="en-NZ" sz="1700" b="0" i="1" smtClean="0">
                                        <a:latin typeface="Cambria Math" panose="02040503050406030204" pitchFamily="18" charset="0"/>
                                      </a:rPr>
                                      <m:t>𝐵</m:t>
                                    </m:r>
                                  </m:sub>
                                  <m:sup>
                                    <m:r>
                                      <a:rPr lang="en-NZ" sz="1700" b="0" i="1" smtClean="0">
                                        <a:latin typeface="Cambria Math" panose="02040503050406030204" pitchFamily="18" charset="0"/>
                                      </a:rPr>
                                      <m:t>2</m:t>
                                    </m:r>
                                  </m:sup>
                                </m:sSubSup>
                                <m:r>
                                  <a:rPr lang="en-NZ" sz="1700" b="0" i="1" smtClean="0">
                                    <a:latin typeface="Cambria Math" panose="02040503050406030204" pitchFamily="18" charset="0"/>
                                  </a:rPr>
                                  <m:t> +  </m:t>
                                </m:r>
                                <m:r>
                                  <a:rPr lang="en-NZ" sz="1700" b="0" i="1" smtClean="0">
                                    <a:latin typeface="Cambria Math" panose="02040503050406030204" pitchFamily="18" charset="0"/>
                                  </a:rPr>
                                  <m:t>𝑏𝑐𝑛</m:t>
                                </m:r>
                                <m:r>
                                  <a:rPr lang="en-NZ" sz="1700" b="0" i="1" smtClean="0">
                                    <a:latin typeface="Cambria Math" panose="02040503050406030204" pitchFamily="18" charset="0"/>
                                  </a:rPr>
                                  <m:t> </m:t>
                                </m:r>
                                <m:r>
                                  <a:rPr lang="en-NZ" sz="1700" b="0" i="1" smtClean="0">
                                    <a:latin typeface="Cambria Math" panose="02040503050406030204" pitchFamily="18" charset="0"/>
                                  </a:rPr>
                                  <m:t>𝑣</m:t>
                                </m:r>
                                <m:d>
                                  <m:dPr>
                                    <m:ctrlPr>
                                      <a:rPr lang="en-NZ" sz="1700" b="0" i="1" smtClean="0">
                                        <a:latin typeface="Cambria Math" panose="02040503050406030204" pitchFamily="18" charset="0"/>
                                      </a:rPr>
                                    </m:ctrlPr>
                                  </m:dPr>
                                  <m:e>
                                    <m:r>
                                      <a:rPr lang="en-NZ" sz="1700" b="0" i="1" smtClean="0">
                                        <a:latin typeface="Cambria Math" panose="02040503050406030204" pitchFamily="18" charset="0"/>
                                      </a:rPr>
                                      <m:t>𝛼</m:t>
                                    </m:r>
                                  </m:e>
                                </m:d>
                              </m:oMath>
                            </m:oMathPara>
                          </a14:m>
                          <a:endParaRPr lang="en-NZ" sz="1700" dirty="0"/>
                        </a:p>
                      </a:txBody>
                      <a:tcPr anchor="ctr"/>
                    </a:tc>
                    <a:tc>
                      <a:txBody>
                        <a:bodyPr/>
                        <a:lstStyle/>
                        <a:p>
                          <a:pPr algn="ctr"/>
                          <a:r>
                            <a:rPr lang="en-NZ" sz="1700" dirty="0"/>
                            <a:t>MS</a:t>
                          </a:r>
                          <a:r>
                            <a:rPr lang="en-NZ" sz="1700" baseline="-25000" dirty="0"/>
                            <a:t>A</a:t>
                          </a:r>
                          <a:r>
                            <a:rPr lang="en-NZ" sz="1700" dirty="0"/>
                            <a:t> / MS</a:t>
                          </a:r>
                          <a:r>
                            <a:rPr lang="en-NZ" sz="1700" baseline="-25000" dirty="0"/>
                            <a:t>B(A)</a:t>
                          </a:r>
                          <a:endParaRPr lang="en-NZ" sz="1700" dirty="0"/>
                        </a:p>
                      </a:txBody>
                      <a:tcPr anchor="ctr"/>
                    </a:tc>
                    <a:extLst>
                      <a:ext uri="{0D108BD9-81ED-4DB2-BD59-A6C34878D82A}">
                        <a16:rowId xmlns:a16="http://schemas.microsoft.com/office/drawing/2014/main" val="443198030"/>
                      </a:ext>
                    </a:extLst>
                  </a:tr>
                  <a:tr h="370840">
                    <a:tc>
                      <a:txBody>
                        <a:bodyPr/>
                        <a:lstStyle/>
                        <a:p>
                          <a:pPr algn="ctr"/>
                          <a:r>
                            <a:rPr lang="en-NZ" sz="1700" dirty="0"/>
                            <a:t>B(A)</a:t>
                          </a:r>
                        </a:p>
                      </a:txBody>
                      <a:tcPr anchor="ctr"/>
                    </a:tc>
                    <a:tc>
                      <a:txBody>
                        <a:bodyPr/>
                        <a:lstStyle/>
                        <a:p>
                          <a:pPr algn="ctr"/>
                          <a:r>
                            <a:rPr lang="en-NZ" sz="1700" dirty="0"/>
                            <a:t>a(b-1)</a:t>
                          </a:r>
                        </a:p>
                      </a:txBody>
                      <a:tcPr anchor="ctr"/>
                    </a:tc>
                    <a:tc>
                      <a:txBody>
                        <a:bodyPr/>
                        <a:lstStyle/>
                        <a:p>
                          <a:pPr algn="ctr"/>
                          <a:r>
                            <a:rPr lang="en-NZ" sz="1700" dirty="0"/>
                            <a:t>SS</a:t>
                          </a:r>
                          <a:r>
                            <a:rPr lang="en-NZ" sz="1700" baseline="-25000" dirty="0"/>
                            <a:t>B(A)</a:t>
                          </a:r>
                          <a:endParaRPr lang="en-NZ" sz="1700" dirty="0"/>
                        </a:p>
                      </a:txBody>
                      <a:tcPr anchor="ctr"/>
                    </a:tc>
                    <a:tc>
                      <a:txBody>
                        <a:bodyPr/>
                        <a:lstStyle/>
                        <a:p>
                          <a:pPr algn="ctr"/>
                          <a:r>
                            <a:rPr lang="en-NZ" sz="1700" dirty="0"/>
                            <a:t>MS</a:t>
                          </a:r>
                          <a:r>
                            <a:rPr lang="en-NZ" sz="1700" baseline="-25000" dirty="0"/>
                            <a:t>B(A)</a:t>
                          </a:r>
                          <a:r>
                            <a:rPr lang="en-NZ" sz="1700" dirty="0"/>
                            <a:t> = SS</a:t>
                          </a:r>
                          <a:r>
                            <a:rPr lang="en-NZ" sz="1700" baseline="-25000" dirty="0"/>
                            <a:t>B(A)</a:t>
                          </a:r>
                          <a:r>
                            <a:rPr lang="en-NZ" sz="1700" dirty="0"/>
                            <a:t> / [ a(b-1) ]</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p>
                                  <m:sSupPr>
                                    <m:ctrlPr>
                                      <a:rPr lang="en-NZ" sz="1700" b="0" i="1" smtClean="0">
                                        <a:latin typeface="Cambria Math" panose="02040503050406030204" pitchFamily="18" charset="0"/>
                                      </a:rPr>
                                    </m:ctrlPr>
                                  </m:sSupPr>
                                  <m:e>
                                    <m:r>
                                      <a:rPr lang="en-NZ" sz="1700" b="0" i="1" smtClean="0">
                                        <a:latin typeface="Cambria Math" panose="02040503050406030204" pitchFamily="18" charset="0"/>
                                      </a:rPr>
                                      <m:t>𝜎</m:t>
                                    </m:r>
                                  </m:e>
                                  <m:sup>
                                    <m:r>
                                      <a:rPr lang="en-NZ" sz="1700" b="0" i="1" smtClean="0">
                                        <a:latin typeface="Cambria Math" panose="02040503050406030204" pitchFamily="18" charset="0"/>
                                      </a:rPr>
                                      <m:t>2</m:t>
                                    </m:r>
                                  </m:sup>
                                </m:sSup>
                                <m:r>
                                  <a:rPr lang="en-NZ" sz="1700" b="0" i="1" smtClean="0">
                                    <a:latin typeface="Cambria Math" panose="02040503050406030204" pitchFamily="18" charset="0"/>
                                  </a:rPr>
                                  <m:t>+  </m:t>
                                </m:r>
                                <m:r>
                                  <a:rPr lang="en-NZ" sz="1700" b="0" i="1" smtClean="0">
                                    <a:latin typeface="Cambria Math" panose="02040503050406030204" pitchFamily="18" charset="0"/>
                                  </a:rPr>
                                  <m:t>𝑛</m:t>
                                </m:r>
                                <m:r>
                                  <a:rPr lang="en-NZ" sz="1700" b="0" i="1" smtClean="0">
                                    <a:latin typeface="Cambria Math" panose="02040503050406030204" pitchFamily="18" charset="0"/>
                                  </a:rPr>
                                  <m:t> </m:t>
                                </m:r>
                                <m:sSubSup>
                                  <m:sSubSupPr>
                                    <m:ctrlPr>
                                      <a:rPr lang="en-NZ" sz="1700" b="0" i="1" smtClean="0">
                                        <a:latin typeface="Cambria Math" panose="02040503050406030204" pitchFamily="18" charset="0"/>
                                      </a:rPr>
                                    </m:ctrlPr>
                                  </m:sSubSupPr>
                                  <m:e>
                                    <m:r>
                                      <a:rPr lang="en-NZ" sz="1700" b="0" i="1" smtClean="0">
                                        <a:latin typeface="Cambria Math" panose="02040503050406030204" pitchFamily="18" charset="0"/>
                                      </a:rPr>
                                      <m:t>𝜎</m:t>
                                    </m:r>
                                  </m:e>
                                  <m:sub>
                                    <m:r>
                                      <a:rPr lang="en-NZ" sz="1700" b="0" i="1" smtClean="0">
                                        <a:latin typeface="Cambria Math" panose="02040503050406030204" pitchFamily="18" charset="0"/>
                                      </a:rPr>
                                      <m:t>𝐶</m:t>
                                    </m:r>
                                  </m:sub>
                                  <m:sup>
                                    <m:r>
                                      <a:rPr lang="en-NZ" sz="1700" b="0" i="1" smtClean="0">
                                        <a:latin typeface="Cambria Math" panose="02040503050406030204" pitchFamily="18" charset="0"/>
                                      </a:rPr>
                                      <m:t>2</m:t>
                                    </m:r>
                                  </m:sup>
                                </m:sSubSup>
                                <m:r>
                                  <a:rPr lang="en-NZ" sz="1700" b="0" i="1" smtClean="0">
                                    <a:latin typeface="Cambria Math" panose="02040503050406030204" pitchFamily="18" charset="0"/>
                                  </a:rPr>
                                  <m:t>  +   </m:t>
                                </m:r>
                                <m:r>
                                  <a:rPr lang="en-NZ" sz="1700" b="0" i="1" smtClean="0">
                                    <a:latin typeface="Cambria Math" panose="02040503050406030204" pitchFamily="18" charset="0"/>
                                  </a:rPr>
                                  <m:t>𝑐𝑛</m:t>
                                </m:r>
                                <m:r>
                                  <a:rPr lang="en-NZ" sz="1700" b="0" i="1" smtClean="0">
                                    <a:latin typeface="Cambria Math" panose="02040503050406030204" pitchFamily="18" charset="0"/>
                                  </a:rPr>
                                  <m:t> </m:t>
                                </m:r>
                                <m:sSubSup>
                                  <m:sSubSupPr>
                                    <m:ctrlPr>
                                      <a:rPr lang="en-NZ" sz="1700" b="0" i="1" smtClean="0">
                                        <a:latin typeface="Cambria Math" panose="02040503050406030204" pitchFamily="18" charset="0"/>
                                      </a:rPr>
                                    </m:ctrlPr>
                                  </m:sSubSupPr>
                                  <m:e>
                                    <m:r>
                                      <a:rPr lang="en-NZ" sz="1700" b="0" i="1" smtClean="0">
                                        <a:latin typeface="Cambria Math" panose="02040503050406030204" pitchFamily="18" charset="0"/>
                                      </a:rPr>
                                      <m:t>𝜎</m:t>
                                    </m:r>
                                  </m:e>
                                  <m:sub>
                                    <m:r>
                                      <a:rPr lang="en-NZ" sz="1700" b="0" i="1" smtClean="0">
                                        <a:latin typeface="Cambria Math" panose="02040503050406030204" pitchFamily="18" charset="0"/>
                                      </a:rPr>
                                      <m:t>𝐵</m:t>
                                    </m:r>
                                  </m:sub>
                                  <m:sup>
                                    <m:r>
                                      <a:rPr lang="en-NZ" sz="1700" b="0" i="1" smtClean="0">
                                        <a:latin typeface="Cambria Math" panose="02040503050406030204" pitchFamily="18" charset="0"/>
                                      </a:rPr>
                                      <m:t>2</m:t>
                                    </m:r>
                                  </m:sup>
                                </m:sSubSup>
                              </m:oMath>
                            </m:oMathPara>
                          </a14:m>
                          <a:endParaRPr lang="en-NZ" sz="1700" dirty="0"/>
                        </a:p>
                      </a:txBody>
                      <a:tcPr anchor="ctr"/>
                    </a:tc>
                    <a:tc>
                      <a:txBody>
                        <a:bodyPr/>
                        <a:lstStyle/>
                        <a:p>
                          <a:pPr algn="ctr"/>
                          <a:r>
                            <a:rPr lang="en-NZ" sz="1700" dirty="0"/>
                            <a:t>MS</a:t>
                          </a:r>
                          <a:r>
                            <a:rPr lang="en-NZ" sz="1700" baseline="-25000" dirty="0"/>
                            <a:t>B(A)</a:t>
                          </a:r>
                          <a:r>
                            <a:rPr lang="en-NZ" sz="1700" dirty="0"/>
                            <a:t> / MS</a:t>
                          </a:r>
                          <a:r>
                            <a:rPr lang="en-NZ" sz="1700" baseline="-25000" dirty="0"/>
                            <a:t>C(B(A))</a:t>
                          </a:r>
                          <a:r>
                            <a:rPr lang="en-NZ" sz="1700" baseline="0" dirty="0"/>
                            <a:t> </a:t>
                          </a:r>
                          <a:endParaRPr lang="en-NZ" sz="1700" dirty="0"/>
                        </a:p>
                      </a:txBody>
                      <a:tcPr anchor="ctr"/>
                    </a:tc>
                    <a:extLst>
                      <a:ext uri="{0D108BD9-81ED-4DB2-BD59-A6C34878D82A}">
                        <a16:rowId xmlns:a16="http://schemas.microsoft.com/office/drawing/2014/main" val="3427382577"/>
                      </a:ext>
                    </a:extLst>
                  </a:tr>
                  <a:tr h="370840">
                    <a:tc>
                      <a:txBody>
                        <a:bodyPr/>
                        <a:lstStyle/>
                        <a:p>
                          <a:pPr algn="ctr"/>
                          <a:r>
                            <a:rPr lang="en-NZ" sz="1700" dirty="0"/>
                            <a:t>C(B(A))</a:t>
                          </a:r>
                        </a:p>
                      </a:txBody>
                      <a:tcPr anchor="ctr"/>
                    </a:tc>
                    <a:tc>
                      <a:txBody>
                        <a:bodyPr/>
                        <a:lstStyle/>
                        <a:p>
                          <a:pPr algn="ctr"/>
                          <a:r>
                            <a:rPr lang="en-NZ" sz="1700" dirty="0"/>
                            <a:t>ab(c-1)</a:t>
                          </a:r>
                        </a:p>
                      </a:txBody>
                      <a:tcPr anchor="ctr"/>
                    </a:tc>
                    <a:tc>
                      <a:txBody>
                        <a:bodyPr/>
                        <a:lstStyle/>
                        <a:p>
                          <a:pPr algn="ctr"/>
                          <a:r>
                            <a:rPr lang="en-NZ" sz="1700" dirty="0"/>
                            <a:t>SS</a:t>
                          </a:r>
                          <a:r>
                            <a:rPr lang="en-NZ" sz="1700" baseline="-25000" dirty="0"/>
                            <a:t>C(B(A))</a:t>
                          </a:r>
                          <a:endParaRPr lang="en-NZ" sz="170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NZ" sz="1700" dirty="0"/>
                            <a:t>MS</a:t>
                          </a:r>
                          <a:r>
                            <a:rPr lang="en-NZ" sz="1700" baseline="-25000" dirty="0"/>
                            <a:t>C(B(A))</a:t>
                          </a:r>
                          <a:r>
                            <a:rPr lang="en-NZ" sz="1700" baseline="0" dirty="0"/>
                            <a:t> = </a:t>
                          </a:r>
                          <a:r>
                            <a:rPr lang="en-NZ" sz="1700" dirty="0"/>
                            <a:t>SS</a:t>
                          </a:r>
                          <a:r>
                            <a:rPr lang="en-NZ" sz="1700" baseline="-25000" dirty="0"/>
                            <a:t>C(B(A))</a:t>
                          </a:r>
                          <a:r>
                            <a:rPr lang="en-NZ" sz="1700" baseline="0" dirty="0"/>
                            <a:t> / [ ab(c-1) ]</a:t>
                          </a:r>
                          <a:endParaRPr lang="en-NZ" sz="170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p>
                                  <m:sSupPr>
                                    <m:ctrlPr>
                                      <a:rPr lang="en-NZ" sz="1700" b="0" i="1" smtClean="0">
                                        <a:latin typeface="Cambria Math" panose="02040503050406030204" pitchFamily="18" charset="0"/>
                                      </a:rPr>
                                    </m:ctrlPr>
                                  </m:sSupPr>
                                  <m:e>
                                    <m:r>
                                      <a:rPr lang="en-NZ" sz="1700" b="0" i="1" smtClean="0">
                                        <a:latin typeface="Cambria Math" panose="02040503050406030204" pitchFamily="18" charset="0"/>
                                      </a:rPr>
                                      <m:t>𝜎</m:t>
                                    </m:r>
                                  </m:e>
                                  <m:sup>
                                    <m:r>
                                      <a:rPr lang="en-NZ" sz="1700" b="0" i="1" smtClean="0">
                                        <a:latin typeface="Cambria Math" panose="02040503050406030204" pitchFamily="18" charset="0"/>
                                      </a:rPr>
                                      <m:t>2</m:t>
                                    </m:r>
                                  </m:sup>
                                </m:sSup>
                                <m:r>
                                  <a:rPr lang="en-NZ" sz="1700" b="0" i="1" smtClean="0">
                                    <a:latin typeface="Cambria Math" panose="02040503050406030204" pitchFamily="18" charset="0"/>
                                  </a:rPr>
                                  <m:t>  +  </m:t>
                                </m:r>
                                <m:r>
                                  <a:rPr lang="en-NZ" sz="1700" b="0" i="1" smtClean="0">
                                    <a:latin typeface="Cambria Math" panose="02040503050406030204" pitchFamily="18" charset="0"/>
                                  </a:rPr>
                                  <m:t>𝑛</m:t>
                                </m:r>
                                <m:r>
                                  <a:rPr lang="en-NZ" sz="1700" b="0" i="1" smtClean="0">
                                    <a:latin typeface="Cambria Math" panose="02040503050406030204" pitchFamily="18" charset="0"/>
                                  </a:rPr>
                                  <m:t> </m:t>
                                </m:r>
                                <m:sSubSup>
                                  <m:sSubSupPr>
                                    <m:ctrlPr>
                                      <a:rPr lang="en-NZ" sz="1700" b="0" i="1" smtClean="0">
                                        <a:latin typeface="Cambria Math" panose="02040503050406030204" pitchFamily="18" charset="0"/>
                                      </a:rPr>
                                    </m:ctrlPr>
                                  </m:sSubSupPr>
                                  <m:e>
                                    <m:r>
                                      <a:rPr lang="en-NZ" sz="1700" b="0" i="1" smtClean="0">
                                        <a:latin typeface="Cambria Math" panose="02040503050406030204" pitchFamily="18" charset="0"/>
                                      </a:rPr>
                                      <m:t>𝜎</m:t>
                                    </m:r>
                                  </m:e>
                                  <m:sub>
                                    <m:r>
                                      <a:rPr lang="en-NZ" sz="1700" b="0" i="1" smtClean="0">
                                        <a:latin typeface="Cambria Math" panose="02040503050406030204" pitchFamily="18" charset="0"/>
                                      </a:rPr>
                                      <m:t>𝐶</m:t>
                                    </m:r>
                                  </m:sub>
                                  <m:sup>
                                    <m:r>
                                      <a:rPr lang="en-NZ" sz="1700" b="0" i="1" smtClean="0">
                                        <a:latin typeface="Cambria Math" panose="02040503050406030204" pitchFamily="18" charset="0"/>
                                      </a:rPr>
                                      <m:t>2</m:t>
                                    </m:r>
                                  </m:sup>
                                </m:sSubSup>
                              </m:oMath>
                            </m:oMathPara>
                          </a14:m>
                          <a:endParaRPr lang="en-NZ" sz="1700" dirty="0"/>
                        </a:p>
                      </a:txBody>
                      <a:tcPr anchor="ctr"/>
                    </a:tc>
                    <a:tc>
                      <a:txBody>
                        <a:bodyPr/>
                        <a:lstStyle/>
                        <a:p>
                          <a:pPr algn="ctr"/>
                          <a:r>
                            <a:rPr lang="en-NZ" sz="1700" dirty="0"/>
                            <a:t>MS</a:t>
                          </a:r>
                          <a:r>
                            <a:rPr lang="en-NZ" sz="1700" baseline="-25000" dirty="0"/>
                            <a:t>C(B(A))</a:t>
                          </a:r>
                          <a:r>
                            <a:rPr lang="en-NZ" sz="1700" baseline="0" dirty="0"/>
                            <a:t>  / MSE</a:t>
                          </a:r>
                          <a:endParaRPr lang="en-NZ" sz="1700" dirty="0"/>
                        </a:p>
                      </a:txBody>
                      <a:tcPr anchor="ctr"/>
                    </a:tc>
                    <a:extLst>
                      <a:ext uri="{0D108BD9-81ED-4DB2-BD59-A6C34878D82A}">
                        <a16:rowId xmlns:a16="http://schemas.microsoft.com/office/drawing/2014/main" val="547130166"/>
                      </a:ext>
                    </a:extLst>
                  </a:tr>
                  <a:tr h="370840">
                    <a:tc>
                      <a:txBody>
                        <a:bodyPr/>
                        <a:lstStyle/>
                        <a:p>
                          <a:pPr algn="ctr"/>
                          <a:r>
                            <a:rPr lang="en-NZ" sz="1700" dirty="0"/>
                            <a:t>Residual</a:t>
                          </a:r>
                        </a:p>
                      </a:txBody>
                      <a:tcPr anchor="ctr"/>
                    </a:tc>
                    <a:tc>
                      <a:txBody>
                        <a:bodyPr/>
                        <a:lstStyle/>
                        <a:p>
                          <a:pPr algn="ctr"/>
                          <a:r>
                            <a:rPr lang="en-NZ" sz="1700" dirty="0" err="1"/>
                            <a:t>abc</a:t>
                          </a:r>
                          <a:r>
                            <a:rPr lang="en-NZ" sz="1700" dirty="0"/>
                            <a:t>(n-1)</a:t>
                          </a:r>
                        </a:p>
                      </a:txBody>
                      <a:tcPr anchor="ctr"/>
                    </a:tc>
                    <a:tc>
                      <a:txBody>
                        <a:bodyPr/>
                        <a:lstStyle/>
                        <a:p>
                          <a:pPr algn="ctr"/>
                          <a:r>
                            <a:rPr lang="en-NZ" sz="1700" dirty="0"/>
                            <a:t>SSE</a:t>
                          </a:r>
                        </a:p>
                      </a:txBody>
                      <a:tcPr anchor="ctr"/>
                    </a:tc>
                    <a:tc>
                      <a:txBody>
                        <a:bodyPr/>
                        <a:lstStyle/>
                        <a:p>
                          <a:pPr algn="ctr"/>
                          <a:r>
                            <a:rPr lang="en-NZ" sz="1700" dirty="0"/>
                            <a:t>MSE = SSE / [ </a:t>
                          </a:r>
                          <a:r>
                            <a:rPr lang="en-NZ" sz="1700" dirty="0" err="1"/>
                            <a:t>abc</a:t>
                          </a:r>
                          <a:r>
                            <a:rPr lang="en-NZ" sz="1700" dirty="0"/>
                            <a:t>(n-1) ]</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p>
                                  <m:sSupPr>
                                    <m:ctrlPr>
                                      <a:rPr lang="en-NZ" sz="1700" b="0" i="1" smtClean="0">
                                        <a:latin typeface="Cambria Math" panose="02040503050406030204" pitchFamily="18" charset="0"/>
                                      </a:rPr>
                                    </m:ctrlPr>
                                  </m:sSupPr>
                                  <m:e>
                                    <m:r>
                                      <a:rPr lang="en-NZ" sz="1700" b="0" i="1" smtClean="0">
                                        <a:latin typeface="Cambria Math" panose="02040503050406030204" pitchFamily="18" charset="0"/>
                                      </a:rPr>
                                      <m:t>𝜎</m:t>
                                    </m:r>
                                  </m:e>
                                  <m:sup>
                                    <m:r>
                                      <a:rPr lang="en-NZ" sz="1700" b="0" i="1" smtClean="0">
                                        <a:latin typeface="Cambria Math" panose="02040503050406030204" pitchFamily="18" charset="0"/>
                                      </a:rPr>
                                      <m:t>2</m:t>
                                    </m:r>
                                  </m:sup>
                                </m:sSup>
                              </m:oMath>
                            </m:oMathPara>
                          </a14:m>
                          <a:endParaRPr lang="en-NZ" sz="1700" dirty="0"/>
                        </a:p>
                      </a:txBody>
                      <a:tcPr anchor="ctr"/>
                    </a:tc>
                    <a:tc>
                      <a:txBody>
                        <a:bodyPr/>
                        <a:lstStyle/>
                        <a:p>
                          <a:pPr algn="ctr"/>
                          <a:endParaRPr lang="en-NZ" sz="1700" dirty="0"/>
                        </a:p>
                      </a:txBody>
                      <a:tcPr anchor="ctr"/>
                    </a:tc>
                    <a:extLst>
                      <a:ext uri="{0D108BD9-81ED-4DB2-BD59-A6C34878D82A}">
                        <a16:rowId xmlns:a16="http://schemas.microsoft.com/office/drawing/2014/main" val="3328376915"/>
                      </a:ext>
                    </a:extLst>
                  </a:tr>
                </a:tbl>
              </a:graphicData>
            </a:graphic>
          </p:graphicFrame>
        </mc:Choice>
        <mc:Fallback>
          <p:graphicFrame>
            <p:nvGraphicFramePr>
              <p:cNvPr id="12" name="Table 2">
                <a:extLst>
                  <a:ext uri="{FF2B5EF4-FFF2-40B4-BE49-F238E27FC236}">
                    <a16:creationId xmlns:a16="http://schemas.microsoft.com/office/drawing/2014/main" id="{AC09C63B-DEDA-11CA-1297-AF6E4CB7A985}"/>
                  </a:ext>
                </a:extLst>
              </p:cNvPr>
              <p:cNvGraphicFramePr>
                <a:graphicFrameLocks noGrp="1"/>
              </p:cNvGraphicFramePr>
              <p:nvPr>
                <p:extLst>
                  <p:ext uri="{D42A27DB-BD31-4B8C-83A1-F6EECF244321}">
                    <p14:modId xmlns:p14="http://schemas.microsoft.com/office/powerpoint/2010/main" val="3922459365"/>
                  </p:ext>
                </p:extLst>
              </p:nvPr>
            </p:nvGraphicFramePr>
            <p:xfrm>
              <a:off x="382137" y="2287789"/>
              <a:ext cx="11490547" cy="2463800"/>
            </p:xfrm>
            <a:graphic>
              <a:graphicData uri="http://schemas.openxmlformats.org/drawingml/2006/table">
                <a:tbl>
                  <a:tblPr firstRow="1" bandRow="1">
                    <a:tableStyleId>{5C22544A-7EE6-4342-B048-85BDC9FD1C3A}</a:tableStyleId>
                  </a:tblPr>
                  <a:tblGrid>
                    <a:gridCol w="1487606">
                      <a:extLst>
                        <a:ext uri="{9D8B030D-6E8A-4147-A177-3AD203B41FA5}">
                          <a16:colId xmlns:a16="http://schemas.microsoft.com/office/drawing/2014/main" val="4198110682"/>
                        </a:ext>
                      </a:extLst>
                    </a:gridCol>
                    <a:gridCol w="1009935">
                      <a:extLst>
                        <a:ext uri="{9D8B030D-6E8A-4147-A177-3AD203B41FA5}">
                          <a16:colId xmlns:a16="http://schemas.microsoft.com/office/drawing/2014/main" val="292302729"/>
                        </a:ext>
                      </a:extLst>
                    </a:gridCol>
                    <a:gridCol w="818865">
                      <a:extLst>
                        <a:ext uri="{9D8B030D-6E8A-4147-A177-3AD203B41FA5}">
                          <a16:colId xmlns:a16="http://schemas.microsoft.com/office/drawing/2014/main" val="126256495"/>
                        </a:ext>
                      </a:extLst>
                    </a:gridCol>
                    <a:gridCol w="3098042">
                      <a:extLst>
                        <a:ext uri="{9D8B030D-6E8A-4147-A177-3AD203B41FA5}">
                          <a16:colId xmlns:a16="http://schemas.microsoft.com/office/drawing/2014/main" val="477450593"/>
                        </a:ext>
                      </a:extLst>
                    </a:gridCol>
                    <a:gridCol w="3480179">
                      <a:extLst>
                        <a:ext uri="{9D8B030D-6E8A-4147-A177-3AD203B41FA5}">
                          <a16:colId xmlns:a16="http://schemas.microsoft.com/office/drawing/2014/main" val="3785429377"/>
                        </a:ext>
                      </a:extLst>
                    </a:gridCol>
                    <a:gridCol w="1595920">
                      <a:extLst>
                        <a:ext uri="{9D8B030D-6E8A-4147-A177-3AD203B41FA5}">
                          <a16:colId xmlns:a16="http://schemas.microsoft.com/office/drawing/2014/main" val="1101540161"/>
                        </a:ext>
                      </a:extLst>
                    </a:gridCol>
                  </a:tblGrid>
                  <a:tr h="609600">
                    <a:tc>
                      <a:txBody>
                        <a:bodyPr/>
                        <a:lstStyle/>
                        <a:p>
                          <a:pPr algn="ctr"/>
                          <a:r>
                            <a:rPr lang="en-NZ" sz="1700" dirty="0"/>
                            <a:t>Source of Variation</a:t>
                          </a:r>
                        </a:p>
                      </a:txBody>
                      <a:tcPr anchor="ctr"/>
                    </a:tc>
                    <a:tc>
                      <a:txBody>
                        <a:bodyPr/>
                        <a:lstStyle/>
                        <a:p>
                          <a:pPr algn="ctr"/>
                          <a:r>
                            <a:rPr lang="en-NZ" sz="1700" dirty="0" err="1"/>
                            <a:t>df</a:t>
                          </a:r>
                          <a:endParaRPr lang="en-NZ" sz="1700" dirty="0"/>
                        </a:p>
                      </a:txBody>
                      <a:tcPr anchor="ctr"/>
                    </a:tc>
                    <a:tc>
                      <a:txBody>
                        <a:bodyPr/>
                        <a:lstStyle/>
                        <a:p>
                          <a:pPr algn="ctr"/>
                          <a:r>
                            <a:rPr lang="en-NZ" sz="1700" dirty="0"/>
                            <a:t>SS</a:t>
                          </a:r>
                        </a:p>
                      </a:txBody>
                      <a:tcPr anchor="ctr"/>
                    </a:tc>
                    <a:tc>
                      <a:txBody>
                        <a:bodyPr/>
                        <a:lstStyle/>
                        <a:p>
                          <a:pPr algn="ctr"/>
                          <a:r>
                            <a:rPr lang="en-NZ" sz="1700" dirty="0"/>
                            <a:t>Mean Square</a:t>
                          </a:r>
                        </a:p>
                      </a:txBody>
                      <a:tcPr anchor="ctr"/>
                    </a:tc>
                    <a:tc>
                      <a:txBody>
                        <a:bodyPr/>
                        <a:lstStyle/>
                        <a:p>
                          <a:pPr algn="ctr"/>
                          <a:r>
                            <a:rPr lang="en-NZ" sz="1700" dirty="0"/>
                            <a:t>E [ Mean Squares ]</a:t>
                          </a:r>
                        </a:p>
                      </a:txBody>
                      <a:tcPr anchor="ctr"/>
                    </a:tc>
                    <a:tc>
                      <a:txBody>
                        <a:bodyPr/>
                        <a:lstStyle/>
                        <a:p>
                          <a:pPr algn="ctr"/>
                          <a:r>
                            <a:rPr lang="en-NZ" sz="1700" dirty="0"/>
                            <a:t>F-Statistic</a:t>
                          </a:r>
                        </a:p>
                      </a:txBody>
                      <a:tcPr anchor="ctr"/>
                    </a:tc>
                    <a:extLst>
                      <a:ext uri="{0D108BD9-81ED-4DB2-BD59-A6C34878D82A}">
                        <a16:rowId xmlns:a16="http://schemas.microsoft.com/office/drawing/2014/main" val="3666350365"/>
                      </a:ext>
                    </a:extLst>
                  </a:tr>
                  <a:tr h="370840">
                    <a:tc>
                      <a:txBody>
                        <a:bodyPr/>
                        <a:lstStyle/>
                        <a:p>
                          <a:pPr algn="ctr"/>
                          <a:r>
                            <a:rPr lang="en-NZ" sz="1700" dirty="0"/>
                            <a:t>Total</a:t>
                          </a:r>
                        </a:p>
                      </a:txBody>
                      <a:tcPr anchor="ctr"/>
                    </a:tc>
                    <a:tc>
                      <a:txBody>
                        <a:bodyPr/>
                        <a:lstStyle/>
                        <a:p>
                          <a:pPr algn="ctr"/>
                          <a:r>
                            <a:rPr lang="en-NZ" sz="1700" dirty="0"/>
                            <a:t>abcn-1</a:t>
                          </a:r>
                        </a:p>
                      </a:txBody>
                      <a:tcPr anchor="ctr"/>
                    </a:tc>
                    <a:tc>
                      <a:txBody>
                        <a:bodyPr/>
                        <a:lstStyle/>
                        <a:p>
                          <a:pPr algn="ctr"/>
                          <a:r>
                            <a:rPr lang="en-NZ" sz="1700" dirty="0"/>
                            <a:t>TSS</a:t>
                          </a:r>
                        </a:p>
                      </a:txBody>
                      <a:tcPr anchor="ctr"/>
                    </a:tc>
                    <a:tc>
                      <a:txBody>
                        <a:bodyPr/>
                        <a:lstStyle/>
                        <a:p>
                          <a:pPr algn="ctr"/>
                          <a:endParaRPr lang="en-NZ" sz="1700" dirty="0"/>
                        </a:p>
                      </a:txBody>
                      <a:tcPr anchor="ctr"/>
                    </a:tc>
                    <a:tc>
                      <a:txBody>
                        <a:bodyPr/>
                        <a:lstStyle/>
                        <a:p>
                          <a:pPr algn="ctr"/>
                          <a:endParaRPr lang="en-NZ" sz="1700" dirty="0"/>
                        </a:p>
                      </a:txBody>
                      <a:tcPr anchor="ctr"/>
                    </a:tc>
                    <a:tc>
                      <a:txBody>
                        <a:bodyPr/>
                        <a:lstStyle/>
                        <a:p>
                          <a:pPr algn="ctr"/>
                          <a:endParaRPr lang="en-NZ" sz="1700" dirty="0"/>
                        </a:p>
                      </a:txBody>
                      <a:tcPr anchor="ctr"/>
                    </a:tc>
                    <a:extLst>
                      <a:ext uri="{0D108BD9-81ED-4DB2-BD59-A6C34878D82A}">
                        <a16:rowId xmlns:a16="http://schemas.microsoft.com/office/drawing/2014/main" val="3341485952"/>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NZ" sz="1700" dirty="0"/>
                            <a:t>A</a:t>
                          </a:r>
                        </a:p>
                      </a:txBody>
                      <a:tcPr anchor="ctr"/>
                    </a:tc>
                    <a:tc>
                      <a:txBody>
                        <a:bodyPr/>
                        <a:lstStyle/>
                        <a:p>
                          <a:pPr algn="ctr"/>
                          <a:r>
                            <a:rPr lang="en-NZ" sz="1700" dirty="0"/>
                            <a:t>a-1</a:t>
                          </a:r>
                        </a:p>
                      </a:txBody>
                      <a:tcPr anchor="ctr"/>
                    </a:tc>
                    <a:tc>
                      <a:txBody>
                        <a:bodyPr/>
                        <a:lstStyle/>
                        <a:p>
                          <a:pPr algn="ctr"/>
                          <a:r>
                            <a:rPr lang="en-NZ" sz="1700" dirty="0"/>
                            <a:t>SS</a:t>
                          </a:r>
                          <a:r>
                            <a:rPr lang="en-NZ" sz="1700" baseline="-25000" dirty="0"/>
                            <a:t>A</a:t>
                          </a:r>
                          <a:endParaRPr lang="en-NZ" sz="1700" dirty="0"/>
                        </a:p>
                      </a:txBody>
                      <a:tcPr anchor="ctr"/>
                    </a:tc>
                    <a:tc>
                      <a:txBody>
                        <a:bodyPr/>
                        <a:lstStyle/>
                        <a:p>
                          <a:pPr algn="ctr"/>
                          <a:r>
                            <a:rPr lang="en-NZ" sz="1700" dirty="0"/>
                            <a:t>MS</a:t>
                          </a:r>
                          <a:r>
                            <a:rPr lang="en-NZ" sz="1700" baseline="-25000" dirty="0"/>
                            <a:t>A</a:t>
                          </a:r>
                          <a:r>
                            <a:rPr lang="en-NZ" sz="1700" dirty="0"/>
                            <a:t> = SS</a:t>
                          </a:r>
                          <a:r>
                            <a:rPr lang="en-NZ" sz="1700" baseline="-25000" dirty="0"/>
                            <a:t>A</a:t>
                          </a:r>
                          <a:r>
                            <a:rPr lang="en-NZ" sz="1700" dirty="0"/>
                            <a:t> / (a-1)</a:t>
                          </a:r>
                        </a:p>
                      </a:txBody>
                      <a:tcPr anchor="ctr"/>
                    </a:tc>
                    <a:tc>
                      <a:txBody>
                        <a:bodyPr/>
                        <a:lstStyle/>
                        <a:p>
                          <a:endParaRPr lang="en-US"/>
                        </a:p>
                      </a:txBody>
                      <a:tcPr anchor="ctr">
                        <a:blipFill>
                          <a:blip r:embed="rId2"/>
                          <a:stretch>
                            <a:fillRect l="-184588" t="-268852" r="-46585" b="-318033"/>
                          </a:stretch>
                        </a:blipFill>
                      </a:tcPr>
                    </a:tc>
                    <a:tc>
                      <a:txBody>
                        <a:bodyPr/>
                        <a:lstStyle/>
                        <a:p>
                          <a:pPr algn="ctr"/>
                          <a:r>
                            <a:rPr lang="en-NZ" sz="1700" dirty="0"/>
                            <a:t>MS</a:t>
                          </a:r>
                          <a:r>
                            <a:rPr lang="en-NZ" sz="1700" baseline="-25000" dirty="0"/>
                            <a:t>A</a:t>
                          </a:r>
                          <a:r>
                            <a:rPr lang="en-NZ" sz="1700" dirty="0"/>
                            <a:t> / MS</a:t>
                          </a:r>
                          <a:r>
                            <a:rPr lang="en-NZ" sz="1700" baseline="-25000" dirty="0"/>
                            <a:t>B(A)</a:t>
                          </a:r>
                          <a:endParaRPr lang="en-NZ" sz="1700" dirty="0"/>
                        </a:p>
                      </a:txBody>
                      <a:tcPr anchor="ctr"/>
                    </a:tc>
                    <a:extLst>
                      <a:ext uri="{0D108BD9-81ED-4DB2-BD59-A6C34878D82A}">
                        <a16:rowId xmlns:a16="http://schemas.microsoft.com/office/drawing/2014/main" val="443198030"/>
                      </a:ext>
                    </a:extLst>
                  </a:tr>
                  <a:tr h="370840">
                    <a:tc>
                      <a:txBody>
                        <a:bodyPr/>
                        <a:lstStyle/>
                        <a:p>
                          <a:pPr algn="ctr"/>
                          <a:r>
                            <a:rPr lang="en-NZ" sz="1700" dirty="0"/>
                            <a:t>B(A)</a:t>
                          </a:r>
                        </a:p>
                      </a:txBody>
                      <a:tcPr anchor="ctr"/>
                    </a:tc>
                    <a:tc>
                      <a:txBody>
                        <a:bodyPr/>
                        <a:lstStyle/>
                        <a:p>
                          <a:pPr algn="ctr"/>
                          <a:r>
                            <a:rPr lang="en-NZ" sz="1700" dirty="0"/>
                            <a:t>a(b-1)</a:t>
                          </a:r>
                        </a:p>
                      </a:txBody>
                      <a:tcPr anchor="ctr"/>
                    </a:tc>
                    <a:tc>
                      <a:txBody>
                        <a:bodyPr/>
                        <a:lstStyle/>
                        <a:p>
                          <a:pPr algn="ctr"/>
                          <a:r>
                            <a:rPr lang="en-NZ" sz="1700" dirty="0"/>
                            <a:t>SS</a:t>
                          </a:r>
                          <a:r>
                            <a:rPr lang="en-NZ" sz="1700" baseline="-25000" dirty="0"/>
                            <a:t>B(A)</a:t>
                          </a:r>
                          <a:endParaRPr lang="en-NZ" sz="1700" dirty="0"/>
                        </a:p>
                      </a:txBody>
                      <a:tcPr anchor="ctr"/>
                    </a:tc>
                    <a:tc>
                      <a:txBody>
                        <a:bodyPr/>
                        <a:lstStyle/>
                        <a:p>
                          <a:pPr algn="ctr"/>
                          <a:r>
                            <a:rPr lang="en-NZ" sz="1700" dirty="0"/>
                            <a:t>MS</a:t>
                          </a:r>
                          <a:r>
                            <a:rPr lang="en-NZ" sz="1700" baseline="-25000" dirty="0"/>
                            <a:t>B(A)</a:t>
                          </a:r>
                          <a:r>
                            <a:rPr lang="en-NZ" sz="1700" dirty="0"/>
                            <a:t> = SS</a:t>
                          </a:r>
                          <a:r>
                            <a:rPr lang="en-NZ" sz="1700" baseline="-25000" dirty="0"/>
                            <a:t>B(A)</a:t>
                          </a:r>
                          <a:r>
                            <a:rPr lang="en-NZ" sz="1700" dirty="0"/>
                            <a:t> / [ a(b-1) ]</a:t>
                          </a:r>
                        </a:p>
                      </a:txBody>
                      <a:tcPr anchor="ctr"/>
                    </a:tc>
                    <a:tc>
                      <a:txBody>
                        <a:bodyPr/>
                        <a:lstStyle/>
                        <a:p>
                          <a:endParaRPr lang="en-US"/>
                        </a:p>
                      </a:txBody>
                      <a:tcPr anchor="ctr">
                        <a:blipFill>
                          <a:blip r:embed="rId2"/>
                          <a:stretch>
                            <a:fillRect l="-184588" t="-368852" r="-46585" b="-218033"/>
                          </a:stretch>
                        </a:blipFill>
                      </a:tcPr>
                    </a:tc>
                    <a:tc>
                      <a:txBody>
                        <a:bodyPr/>
                        <a:lstStyle/>
                        <a:p>
                          <a:pPr algn="ctr"/>
                          <a:r>
                            <a:rPr lang="en-NZ" sz="1700" dirty="0"/>
                            <a:t>MS</a:t>
                          </a:r>
                          <a:r>
                            <a:rPr lang="en-NZ" sz="1700" baseline="-25000" dirty="0"/>
                            <a:t>B(A)</a:t>
                          </a:r>
                          <a:r>
                            <a:rPr lang="en-NZ" sz="1700" dirty="0"/>
                            <a:t> / MS</a:t>
                          </a:r>
                          <a:r>
                            <a:rPr lang="en-NZ" sz="1700" baseline="-25000" dirty="0"/>
                            <a:t>C(B(A))</a:t>
                          </a:r>
                          <a:r>
                            <a:rPr lang="en-NZ" sz="1700" baseline="0" dirty="0"/>
                            <a:t> </a:t>
                          </a:r>
                          <a:endParaRPr lang="en-NZ" sz="1700" dirty="0"/>
                        </a:p>
                      </a:txBody>
                      <a:tcPr anchor="ctr"/>
                    </a:tc>
                    <a:extLst>
                      <a:ext uri="{0D108BD9-81ED-4DB2-BD59-A6C34878D82A}">
                        <a16:rowId xmlns:a16="http://schemas.microsoft.com/office/drawing/2014/main" val="3427382577"/>
                      </a:ext>
                    </a:extLst>
                  </a:tr>
                  <a:tr h="370840">
                    <a:tc>
                      <a:txBody>
                        <a:bodyPr/>
                        <a:lstStyle/>
                        <a:p>
                          <a:pPr algn="ctr"/>
                          <a:r>
                            <a:rPr lang="en-NZ" sz="1700" dirty="0"/>
                            <a:t>C(B(A))</a:t>
                          </a:r>
                        </a:p>
                      </a:txBody>
                      <a:tcPr anchor="ctr"/>
                    </a:tc>
                    <a:tc>
                      <a:txBody>
                        <a:bodyPr/>
                        <a:lstStyle/>
                        <a:p>
                          <a:pPr algn="ctr"/>
                          <a:r>
                            <a:rPr lang="en-NZ" sz="1700" dirty="0"/>
                            <a:t>ab(c-1)</a:t>
                          </a:r>
                        </a:p>
                      </a:txBody>
                      <a:tcPr anchor="ctr"/>
                    </a:tc>
                    <a:tc>
                      <a:txBody>
                        <a:bodyPr/>
                        <a:lstStyle/>
                        <a:p>
                          <a:pPr algn="ctr"/>
                          <a:r>
                            <a:rPr lang="en-NZ" sz="1700" dirty="0"/>
                            <a:t>SS</a:t>
                          </a:r>
                          <a:r>
                            <a:rPr lang="en-NZ" sz="1700" baseline="-25000" dirty="0"/>
                            <a:t>C(B(A))</a:t>
                          </a:r>
                          <a:endParaRPr lang="en-NZ" sz="170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NZ" sz="1700" dirty="0"/>
                            <a:t>MS</a:t>
                          </a:r>
                          <a:r>
                            <a:rPr lang="en-NZ" sz="1700" baseline="-25000" dirty="0"/>
                            <a:t>C(B(A))</a:t>
                          </a:r>
                          <a:r>
                            <a:rPr lang="en-NZ" sz="1700" baseline="0" dirty="0"/>
                            <a:t> = </a:t>
                          </a:r>
                          <a:r>
                            <a:rPr lang="en-NZ" sz="1700" dirty="0"/>
                            <a:t>SS</a:t>
                          </a:r>
                          <a:r>
                            <a:rPr lang="en-NZ" sz="1700" baseline="-25000" dirty="0"/>
                            <a:t>C(B(A))</a:t>
                          </a:r>
                          <a:r>
                            <a:rPr lang="en-NZ" sz="1700" baseline="0" dirty="0"/>
                            <a:t> / [ ab(c-1) ]</a:t>
                          </a:r>
                          <a:endParaRPr lang="en-NZ" sz="1700" dirty="0"/>
                        </a:p>
                      </a:txBody>
                      <a:tcPr anchor="ctr"/>
                    </a:tc>
                    <a:tc>
                      <a:txBody>
                        <a:bodyPr/>
                        <a:lstStyle/>
                        <a:p>
                          <a:endParaRPr lang="en-US"/>
                        </a:p>
                      </a:txBody>
                      <a:tcPr anchor="ctr">
                        <a:blipFill>
                          <a:blip r:embed="rId2"/>
                          <a:stretch>
                            <a:fillRect l="-184588" t="-468852" r="-46585" b="-118033"/>
                          </a:stretch>
                        </a:blipFill>
                      </a:tcPr>
                    </a:tc>
                    <a:tc>
                      <a:txBody>
                        <a:bodyPr/>
                        <a:lstStyle/>
                        <a:p>
                          <a:pPr algn="ctr"/>
                          <a:r>
                            <a:rPr lang="en-NZ" sz="1700" dirty="0"/>
                            <a:t>MS</a:t>
                          </a:r>
                          <a:r>
                            <a:rPr lang="en-NZ" sz="1700" baseline="-25000" dirty="0"/>
                            <a:t>C(B(A))</a:t>
                          </a:r>
                          <a:r>
                            <a:rPr lang="en-NZ" sz="1700" baseline="0" dirty="0"/>
                            <a:t>  / MSE</a:t>
                          </a:r>
                          <a:endParaRPr lang="en-NZ" sz="1700" dirty="0"/>
                        </a:p>
                      </a:txBody>
                      <a:tcPr anchor="ctr"/>
                    </a:tc>
                    <a:extLst>
                      <a:ext uri="{0D108BD9-81ED-4DB2-BD59-A6C34878D82A}">
                        <a16:rowId xmlns:a16="http://schemas.microsoft.com/office/drawing/2014/main" val="547130166"/>
                      </a:ext>
                    </a:extLst>
                  </a:tr>
                  <a:tr h="370840">
                    <a:tc>
                      <a:txBody>
                        <a:bodyPr/>
                        <a:lstStyle/>
                        <a:p>
                          <a:pPr algn="ctr"/>
                          <a:r>
                            <a:rPr lang="en-NZ" sz="1700" dirty="0"/>
                            <a:t>Residual</a:t>
                          </a:r>
                        </a:p>
                      </a:txBody>
                      <a:tcPr anchor="ctr"/>
                    </a:tc>
                    <a:tc>
                      <a:txBody>
                        <a:bodyPr/>
                        <a:lstStyle/>
                        <a:p>
                          <a:pPr algn="ctr"/>
                          <a:r>
                            <a:rPr lang="en-NZ" sz="1700" dirty="0" err="1"/>
                            <a:t>abc</a:t>
                          </a:r>
                          <a:r>
                            <a:rPr lang="en-NZ" sz="1700" dirty="0"/>
                            <a:t>(n-1)</a:t>
                          </a:r>
                        </a:p>
                      </a:txBody>
                      <a:tcPr anchor="ctr"/>
                    </a:tc>
                    <a:tc>
                      <a:txBody>
                        <a:bodyPr/>
                        <a:lstStyle/>
                        <a:p>
                          <a:pPr algn="ctr"/>
                          <a:r>
                            <a:rPr lang="en-NZ" sz="1700" dirty="0"/>
                            <a:t>SSE</a:t>
                          </a:r>
                        </a:p>
                      </a:txBody>
                      <a:tcPr anchor="ctr"/>
                    </a:tc>
                    <a:tc>
                      <a:txBody>
                        <a:bodyPr/>
                        <a:lstStyle/>
                        <a:p>
                          <a:pPr algn="ctr"/>
                          <a:r>
                            <a:rPr lang="en-NZ" sz="1700" dirty="0"/>
                            <a:t>MSE = SSE / [ </a:t>
                          </a:r>
                          <a:r>
                            <a:rPr lang="en-NZ" sz="1700" dirty="0" err="1"/>
                            <a:t>abc</a:t>
                          </a:r>
                          <a:r>
                            <a:rPr lang="en-NZ" sz="1700" dirty="0"/>
                            <a:t>(n-1) ]</a:t>
                          </a:r>
                        </a:p>
                      </a:txBody>
                      <a:tcPr anchor="ctr"/>
                    </a:tc>
                    <a:tc>
                      <a:txBody>
                        <a:bodyPr/>
                        <a:lstStyle/>
                        <a:p>
                          <a:endParaRPr lang="en-US"/>
                        </a:p>
                      </a:txBody>
                      <a:tcPr anchor="ctr">
                        <a:blipFill>
                          <a:blip r:embed="rId2"/>
                          <a:stretch>
                            <a:fillRect l="-184588" t="-568852" r="-46585" b="-18033"/>
                          </a:stretch>
                        </a:blipFill>
                      </a:tcPr>
                    </a:tc>
                    <a:tc>
                      <a:txBody>
                        <a:bodyPr/>
                        <a:lstStyle/>
                        <a:p>
                          <a:pPr algn="ctr"/>
                          <a:endParaRPr lang="en-NZ" sz="1700" dirty="0"/>
                        </a:p>
                      </a:txBody>
                      <a:tcPr anchor="ctr"/>
                    </a:tc>
                    <a:extLst>
                      <a:ext uri="{0D108BD9-81ED-4DB2-BD59-A6C34878D82A}">
                        <a16:rowId xmlns:a16="http://schemas.microsoft.com/office/drawing/2014/main" val="3328376915"/>
                      </a:ext>
                    </a:extLst>
                  </a:tr>
                </a:tbl>
              </a:graphicData>
            </a:graphic>
          </p:graphicFrame>
        </mc:Fallback>
      </mc:AlternateContent>
      <p:sp>
        <p:nvSpPr>
          <p:cNvPr id="21" name="Title 6">
            <a:extLst>
              <a:ext uri="{FF2B5EF4-FFF2-40B4-BE49-F238E27FC236}">
                <a16:creationId xmlns:a16="http://schemas.microsoft.com/office/drawing/2014/main" id="{7C963C88-6E6E-2444-9663-776716CBAA9D}"/>
              </a:ext>
            </a:extLst>
          </p:cNvPr>
          <p:cNvSpPr txBox="1">
            <a:spLocks/>
          </p:cNvSpPr>
          <p:nvPr/>
        </p:nvSpPr>
        <p:spPr>
          <a:xfrm>
            <a:off x="251224" y="237833"/>
            <a:ext cx="9411391" cy="607201"/>
          </a:xfrm>
          <a:prstGeom prst="rect">
            <a:avLst/>
          </a:prstGeom>
        </p:spPr>
        <p:txBody>
          <a:bodyPr anchor="t">
            <a:normAutofit/>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pPr marL="0" marR="0" lvl="0" indent="0" algn="l" defTabSz="914324" rtl="0" eaLnBrk="1" fontAlgn="auto" latinLnBrk="0" hangingPunct="1">
              <a:lnSpc>
                <a:spcPct val="90000"/>
              </a:lnSpc>
              <a:spcBef>
                <a:spcPct val="0"/>
              </a:spcBef>
              <a:spcAft>
                <a:spcPts val="0"/>
              </a:spcAft>
              <a:buClrTx/>
              <a:buSzTx/>
              <a:buFontTx/>
              <a:buNone/>
              <a:tabLst/>
              <a:defRPr/>
            </a:pPr>
            <a:r>
              <a:rPr lang="en-US" altLang="ja-JP" b="1" u="sng" dirty="0">
                <a:solidFill>
                  <a:prstClr val="black"/>
                </a:solidFill>
                <a:latin typeface="Calibri" panose="020F0502020204030204"/>
                <a:ea typeface="游ゴシック Light" panose="020B0300000000000000" pitchFamily="34" charset="-128"/>
              </a:rPr>
              <a:t>5</a:t>
            </a:r>
            <a:r>
              <a:rPr kumimoji="1" lang="en-US" altLang="ja-JP"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rPr>
              <a:t>.4b – ANOVA Table for a 3-Stage Nested Design:</a:t>
            </a:r>
            <a:endParaRPr kumimoji="1" lang="ja-JP" altLang="en-US"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endParaRPr>
          </a:p>
        </p:txBody>
      </p:sp>
      <mc:AlternateContent xmlns:mc="http://schemas.openxmlformats.org/markup-compatibility/2006" xmlns:a14="http://schemas.microsoft.com/office/drawing/2010/main">
        <mc:Choice Requires="a14">
          <p:sp>
            <p:nvSpPr>
              <p:cNvPr id="23" name="Text Placeholder 5">
                <a:extLst>
                  <a:ext uri="{FF2B5EF4-FFF2-40B4-BE49-F238E27FC236}">
                    <a16:creationId xmlns:a16="http://schemas.microsoft.com/office/drawing/2014/main" id="{1ABFDB76-E490-CD10-5057-CF8EB3B2AB38}"/>
                  </a:ext>
                </a:extLst>
              </p:cNvPr>
              <p:cNvSpPr txBox="1">
                <a:spLocks/>
              </p:cNvSpPr>
              <p:nvPr/>
            </p:nvSpPr>
            <p:spPr>
              <a:xfrm>
                <a:off x="9111255" y="4903283"/>
                <a:ext cx="3080745" cy="67534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800" b="0" u="none" strike="noStrike" kern="1200" cap="none" spc="0" normalizeH="0" baseline="0" noProof="0" dirty="0">
                    <a:ln>
                      <a:noFill/>
                    </a:ln>
                    <a:solidFill>
                      <a:prstClr val="black"/>
                    </a:solidFill>
                    <a:effectLst/>
                    <a:uLnTx/>
                    <a:uFillTx/>
                    <a:ea typeface="游ゴシック" panose="020B0400000000000000" pitchFamily="34" charset="-128"/>
                    <a:cs typeface="+mn-cs"/>
                  </a:rPr>
                  <a:t>Where   </a:t>
                </a:r>
                <a14:m>
                  <m:oMath xmlns:m="http://schemas.openxmlformats.org/officeDocument/2006/math">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𝒗</m:t>
                    </m:r>
                    <m:d>
                      <m:dPr>
                        <m:ctrlP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ctrlPr>
                      </m:dPr>
                      <m:e>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𝜶</m:t>
                        </m:r>
                      </m:e>
                    </m:d>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 </m:t>
                    </m:r>
                    <m:nary>
                      <m:naryPr>
                        <m:chr m:val="∑"/>
                        <m:ctrlP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ctrlPr>
                      </m:naryPr>
                      <m:sub>
                        <m:r>
                          <m:rPr>
                            <m:brk m:alnAt="23"/>
                          </m:rP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𝒊</m:t>
                        </m:r>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m:t>
                        </m:r>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𝟏</m:t>
                        </m:r>
                      </m:sub>
                      <m:sup>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𝒂</m:t>
                        </m:r>
                      </m:sup>
                      <m:e>
                        <m:f>
                          <m:fPr>
                            <m:ctrlP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ctrlPr>
                          </m:fPr>
                          <m:num>
                            <m:sSubSup>
                              <m:sSubSupPr>
                                <m:ctrlP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ctrlPr>
                              </m:sSubSupPr>
                              <m:e>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𝜶</m:t>
                                </m:r>
                              </m:e>
                              <m:sub>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𝒊</m:t>
                                </m:r>
                              </m:sub>
                              <m:sup>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𝟐</m:t>
                                </m:r>
                              </m:sup>
                            </m:sSubSup>
                          </m:num>
                          <m:den>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𝒂</m:t>
                            </m:r>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m:t>
                            </m:r>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𝟏</m:t>
                            </m:r>
                          </m:den>
                        </m:f>
                      </m:e>
                    </m:nary>
                  </m:oMath>
                </a14:m>
                <a:endParaRPr kumimoji="1" lang="en-NZ" altLang="ja-JP" sz="18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p:txBody>
          </p:sp>
        </mc:Choice>
        <mc:Fallback xmlns="">
          <p:sp>
            <p:nvSpPr>
              <p:cNvPr id="23" name="Text Placeholder 5">
                <a:extLst>
                  <a:ext uri="{FF2B5EF4-FFF2-40B4-BE49-F238E27FC236}">
                    <a16:creationId xmlns:a16="http://schemas.microsoft.com/office/drawing/2014/main" id="{1ABFDB76-E490-CD10-5057-CF8EB3B2AB38}"/>
                  </a:ext>
                </a:extLst>
              </p:cNvPr>
              <p:cNvSpPr txBox="1">
                <a:spLocks noRot="1" noChangeAspect="1" noMove="1" noResize="1" noEditPoints="1" noAdjustHandles="1" noChangeArrowheads="1" noChangeShapeType="1" noTextEdit="1"/>
              </p:cNvSpPr>
              <p:nvPr/>
            </p:nvSpPr>
            <p:spPr>
              <a:xfrm>
                <a:off x="9111255" y="4903283"/>
                <a:ext cx="3080745" cy="675343"/>
              </a:xfrm>
              <a:prstGeom prst="rect">
                <a:avLst/>
              </a:prstGeom>
              <a:blipFill>
                <a:blip r:embed="rId3"/>
                <a:stretch>
                  <a:fillRect l="-1782"/>
                </a:stretch>
              </a:blipFill>
            </p:spPr>
            <p:txBody>
              <a:bodyPr/>
              <a:lstStyle/>
              <a:p>
                <a:r>
                  <a:rPr lang="en-NZ">
                    <a:noFill/>
                  </a:rPr>
                  <a:t> </a:t>
                </a:r>
              </a:p>
            </p:txBody>
          </p:sp>
        </mc:Fallback>
      </mc:AlternateContent>
      <p:sp>
        <p:nvSpPr>
          <p:cNvPr id="8" name="Footer Placeholder 2">
            <a:extLst>
              <a:ext uri="{FF2B5EF4-FFF2-40B4-BE49-F238E27FC236}">
                <a16:creationId xmlns:a16="http://schemas.microsoft.com/office/drawing/2014/main" id="{9B6B4EE2-84D1-49D9-6FA6-73BF0079178C}"/>
              </a:ext>
            </a:extLst>
          </p:cNvPr>
          <p:cNvSpPr txBox="1">
            <a:spLocks/>
          </p:cNvSpPr>
          <p:nvPr/>
        </p:nvSpPr>
        <p:spPr>
          <a:xfrm>
            <a:off x="8775510" y="86139"/>
            <a:ext cx="3313855"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rPr>
              <a:t>5.4 – 3-Stage Nested Design</a:t>
            </a:r>
            <a:endParaRPr kumimoji="1" lang="ja-JP" altLang="en-US"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endParaRPr>
          </a:p>
        </p:txBody>
      </p:sp>
      <p:sp>
        <p:nvSpPr>
          <p:cNvPr id="4" name="Oval 3">
            <a:extLst>
              <a:ext uri="{FF2B5EF4-FFF2-40B4-BE49-F238E27FC236}">
                <a16:creationId xmlns:a16="http://schemas.microsoft.com/office/drawing/2014/main" id="{EE2EE717-E0ED-4DE9-2F0F-6C6F65E822CB}"/>
              </a:ext>
            </a:extLst>
          </p:cNvPr>
          <p:cNvSpPr/>
          <p:nvPr/>
        </p:nvSpPr>
        <p:spPr>
          <a:xfrm>
            <a:off x="10242627" y="3197908"/>
            <a:ext cx="1567236" cy="573206"/>
          </a:xfrm>
          <a:prstGeom prst="ellipse">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5" name="Text Placeholder 5">
            <a:extLst>
              <a:ext uri="{FF2B5EF4-FFF2-40B4-BE49-F238E27FC236}">
                <a16:creationId xmlns:a16="http://schemas.microsoft.com/office/drawing/2014/main" id="{7B386A7A-5363-47FD-4BFF-BC807A1F1D21}"/>
              </a:ext>
            </a:extLst>
          </p:cNvPr>
          <p:cNvSpPr txBox="1">
            <a:spLocks/>
          </p:cNvSpPr>
          <p:nvPr/>
        </p:nvSpPr>
        <p:spPr>
          <a:xfrm>
            <a:off x="622360" y="5007816"/>
            <a:ext cx="7123944" cy="413017"/>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1800" dirty="0">
                <a:solidFill>
                  <a:schemeClr val="tx1"/>
                </a:solidFill>
              </a:rPr>
              <a:t>We wish to test whether factor </a:t>
            </a:r>
            <a:r>
              <a:rPr lang="en-NZ" altLang="ja-JP" sz="1800" b="1" i="1" dirty="0">
                <a:solidFill>
                  <a:schemeClr val="tx1"/>
                </a:solidFill>
              </a:rPr>
              <a:t>A</a:t>
            </a:r>
            <a:r>
              <a:rPr lang="en-NZ" altLang="ja-JP" sz="1800" dirty="0">
                <a:solidFill>
                  <a:schemeClr val="tx1"/>
                </a:solidFill>
              </a:rPr>
              <a:t> has any effect on the response variable, i.e. we wish to test between the hypotheses:</a:t>
            </a:r>
          </a:p>
        </p:txBody>
      </p:sp>
      <mc:AlternateContent xmlns:mc="http://schemas.openxmlformats.org/markup-compatibility/2006" xmlns:a14="http://schemas.microsoft.com/office/drawing/2010/main">
        <mc:Choice Requires="a14">
          <p:sp>
            <p:nvSpPr>
              <p:cNvPr id="6" name="Text Placeholder 5">
                <a:extLst>
                  <a:ext uri="{FF2B5EF4-FFF2-40B4-BE49-F238E27FC236}">
                    <a16:creationId xmlns:a16="http://schemas.microsoft.com/office/drawing/2014/main" id="{B1426D30-FA10-7527-DB2F-A6B016A88C06}"/>
                  </a:ext>
                </a:extLst>
              </p:cNvPr>
              <p:cNvSpPr txBox="1">
                <a:spLocks/>
              </p:cNvSpPr>
              <p:nvPr/>
            </p:nvSpPr>
            <p:spPr>
              <a:xfrm>
                <a:off x="2001466" y="5655523"/>
                <a:ext cx="3987920" cy="801442"/>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nSpc>
                    <a:spcPct val="100000"/>
                  </a:lnSpc>
                </a:pPr>
                <a14:m>
                  <m:oMath xmlns:m="http://schemas.openxmlformats.org/officeDocument/2006/math">
                    <m:sSub>
                      <m:sSubPr>
                        <m:ctrlPr>
                          <a:rPr lang="en-NZ" altLang="ja-JP" sz="1800" b="1" i="1" smtClean="0">
                            <a:solidFill>
                              <a:schemeClr val="tx1"/>
                            </a:solidFill>
                            <a:latin typeface="Cambria Math" panose="02040503050406030204" pitchFamily="18" charset="0"/>
                          </a:rPr>
                        </m:ctrlPr>
                      </m:sSubPr>
                      <m:e>
                        <m:r>
                          <a:rPr lang="en-NZ" altLang="ja-JP" sz="1800" b="1" i="1" smtClean="0">
                            <a:solidFill>
                              <a:schemeClr val="tx1"/>
                            </a:solidFill>
                            <a:latin typeface="Cambria Math" panose="02040503050406030204" pitchFamily="18" charset="0"/>
                          </a:rPr>
                          <m:t>𝑯</m:t>
                        </m:r>
                      </m:e>
                      <m:sub>
                        <m:r>
                          <a:rPr lang="en-NZ" altLang="ja-JP" sz="1800" b="1" i="1" smtClean="0">
                            <a:solidFill>
                              <a:schemeClr val="tx1"/>
                            </a:solidFill>
                            <a:latin typeface="Cambria Math" panose="02040503050406030204" pitchFamily="18" charset="0"/>
                          </a:rPr>
                          <m:t>𝟎</m:t>
                        </m:r>
                      </m:sub>
                    </m:sSub>
                    <m:r>
                      <a:rPr lang="en-NZ" altLang="ja-JP" sz="1800" b="1" i="1" smtClean="0">
                        <a:solidFill>
                          <a:schemeClr val="tx1"/>
                        </a:solidFill>
                        <a:latin typeface="Cambria Math" panose="02040503050406030204" pitchFamily="18" charset="0"/>
                      </a:rPr>
                      <m:t> :  </m:t>
                    </m:r>
                    <m:sSub>
                      <m:sSubPr>
                        <m:ctrlPr>
                          <a:rPr lang="en-NZ" altLang="ja-JP" sz="1800" b="1" i="1" smtClean="0">
                            <a:solidFill>
                              <a:schemeClr val="tx1"/>
                            </a:solidFill>
                            <a:latin typeface="Cambria Math" panose="02040503050406030204" pitchFamily="18" charset="0"/>
                          </a:rPr>
                        </m:ctrlPr>
                      </m:sSubPr>
                      <m:e>
                        <m:r>
                          <a:rPr lang="en-NZ" altLang="ja-JP" sz="1800" b="1" i="1" smtClean="0">
                            <a:solidFill>
                              <a:schemeClr val="tx1"/>
                            </a:solidFill>
                            <a:latin typeface="Cambria Math" panose="02040503050406030204" pitchFamily="18" charset="0"/>
                          </a:rPr>
                          <m:t>𝜶</m:t>
                        </m:r>
                      </m:e>
                      <m:sub>
                        <m:r>
                          <a:rPr lang="en-NZ" altLang="ja-JP" sz="1800" b="1" i="1" smtClean="0">
                            <a:solidFill>
                              <a:schemeClr val="tx1"/>
                            </a:solidFill>
                            <a:latin typeface="Cambria Math" panose="02040503050406030204" pitchFamily="18" charset="0"/>
                          </a:rPr>
                          <m:t>𝒊</m:t>
                        </m:r>
                      </m:sub>
                    </m:sSub>
                    <m:r>
                      <a:rPr lang="en-NZ" altLang="ja-JP" sz="1800" b="1" i="1" smtClean="0">
                        <a:solidFill>
                          <a:schemeClr val="tx1"/>
                        </a:solidFill>
                        <a:latin typeface="Cambria Math" panose="02040503050406030204" pitchFamily="18" charset="0"/>
                      </a:rPr>
                      <m:t>=</m:t>
                    </m:r>
                    <m:r>
                      <a:rPr lang="en-NZ" altLang="ja-JP" sz="1800" b="1" i="1" smtClean="0">
                        <a:solidFill>
                          <a:schemeClr val="tx1"/>
                        </a:solidFill>
                        <a:latin typeface="Cambria Math" panose="02040503050406030204" pitchFamily="18" charset="0"/>
                      </a:rPr>
                      <m:t>𝟎</m:t>
                    </m:r>
                  </m:oMath>
                </a14:m>
                <a:r>
                  <a:rPr lang="en-NZ" altLang="ja-JP" sz="1800" b="1" i="1" dirty="0">
                    <a:solidFill>
                      <a:schemeClr val="tx1"/>
                    </a:solidFill>
                    <a:latin typeface="Cambria Math" panose="02040503050406030204" pitchFamily="18" charset="0"/>
                  </a:rPr>
                  <a:t>  </a:t>
                </a:r>
                <a:r>
                  <a:rPr lang="en-NZ" altLang="ja-JP" sz="1800" dirty="0">
                    <a:solidFill>
                      <a:schemeClr val="tx1"/>
                    </a:solidFill>
                    <a:latin typeface="Cambria Math" panose="02040503050406030204" pitchFamily="18" charset="0"/>
                  </a:rPr>
                  <a:t>for all </a:t>
                </a:r>
                <a14:m>
                  <m:oMath xmlns:m="http://schemas.openxmlformats.org/officeDocument/2006/math">
                    <m:r>
                      <a:rPr lang="en-NZ" altLang="ja-JP" sz="1800" b="0" i="1" smtClean="0">
                        <a:solidFill>
                          <a:schemeClr val="tx1"/>
                        </a:solidFill>
                        <a:latin typeface="Cambria Math" panose="02040503050406030204" pitchFamily="18" charset="0"/>
                      </a:rPr>
                      <m:t>𝑖</m:t>
                    </m:r>
                    <m:r>
                      <a:rPr lang="en-NZ" altLang="ja-JP" sz="1800" b="0" i="1" smtClean="0">
                        <a:solidFill>
                          <a:schemeClr val="tx1"/>
                        </a:solidFill>
                        <a:latin typeface="Cambria Math" panose="02040503050406030204" pitchFamily="18" charset="0"/>
                      </a:rPr>
                      <m:t>=1, …, </m:t>
                    </m:r>
                    <m:r>
                      <a:rPr lang="en-NZ" altLang="ja-JP" sz="1800" b="0" i="1" smtClean="0">
                        <a:solidFill>
                          <a:schemeClr val="tx1"/>
                        </a:solidFill>
                        <a:latin typeface="Cambria Math" panose="02040503050406030204" pitchFamily="18" charset="0"/>
                      </a:rPr>
                      <m:t>𝑎</m:t>
                    </m:r>
                  </m:oMath>
                </a14:m>
                <a:r>
                  <a:rPr lang="en-NZ" altLang="ja-JP" sz="1800" dirty="0">
                    <a:solidFill>
                      <a:schemeClr val="tx1"/>
                    </a:solidFill>
                    <a:latin typeface="Cambria Math" panose="02040503050406030204" pitchFamily="18" charset="0"/>
                  </a:rPr>
                  <a:t> </a:t>
                </a:r>
                <a:br>
                  <a:rPr lang="en-NZ" altLang="ja-JP" sz="1800" b="1" i="1" dirty="0">
                    <a:solidFill>
                      <a:schemeClr val="tx1"/>
                    </a:solidFill>
                    <a:latin typeface="Cambria Math" panose="02040503050406030204" pitchFamily="18" charset="0"/>
                  </a:rPr>
                </a:br>
                <a14:m>
                  <m:oMath xmlns:m="http://schemas.openxmlformats.org/officeDocument/2006/math">
                    <m:sSub>
                      <m:sSubPr>
                        <m:ctrlPr>
                          <a:rPr lang="en-NZ" altLang="ja-JP" sz="1800" b="1" i="1">
                            <a:solidFill>
                              <a:schemeClr val="tx1"/>
                            </a:solidFill>
                            <a:latin typeface="Cambria Math" panose="02040503050406030204" pitchFamily="18" charset="0"/>
                          </a:rPr>
                        </m:ctrlPr>
                      </m:sSubPr>
                      <m:e>
                        <m:r>
                          <a:rPr lang="en-NZ" altLang="ja-JP" sz="1800" b="1" i="1">
                            <a:solidFill>
                              <a:schemeClr val="tx1"/>
                            </a:solidFill>
                            <a:latin typeface="Cambria Math" panose="02040503050406030204" pitchFamily="18" charset="0"/>
                          </a:rPr>
                          <m:t>𝑯</m:t>
                        </m:r>
                      </m:e>
                      <m:sub>
                        <m:r>
                          <a:rPr lang="en-NZ" altLang="ja-JP" sz="1800" b="1" i="1" smtClean="0">
                            <a:solidFill>
                              <a:schemeClr val="tx1"/>
                            </a:solidFill>
                            <a:latin typeface="Cambria Math" panose="02040503050406030204" pitchFamily="18" charset="0"/>
                          </a:rPr>
                          <m:t>𝟏</m:t>
                        </m:r>
                      </m:sub>
                    </m:sSub>
                    <m:r>
                      <a:rPr lang="en-NZ" altLang="ja-JP" sz="1800" b="1" i="1">
                        <a:solidFill>
                          <a:schemeClr val="tx1"/>
                        </a:solidFill>
                        <a:latin typeface="Cambria Math" panose="02040503050406030204" pitchFamily="18" charset="0"/>
                      </a:rPr>
                      <m:t> :  </m:t>
                    </m:r>
                    <m:sSub>
                      <m:sSubPr>
                        <m:ctrlPr>
                          <a:rPr lang="en-NZ" altLang="ja-JP" sz="1800" b="1" i="1" smtClean="0">
                            <a:solidFill>
                              <a:schemeClr val="tx1"/>
                            </a:solidFill>
                            <a:latin typeface="Cambria Math" panose="02040503050406030204" pitchFamily="18" charset="0"/>
                          </a:rPr>
                        </m:ctrlPr>
                      </m:sSubPr>
                      <m:e>
                        <m:r>
                          <a:rPr lang="en-NZ" altLang="ja-JP" sz="1800" b="1" i="1" smtClean="0">
                            <a:solidFill>
                              <a:schemeClr val="tx1"/>
                            </a:solidFill>
                            <a:latin typeface="Cambria Math" panose="02040503050406030204" pitchFamily="18" charset="0"/>
                          </a:rPr>
                          <m:t>𝜶</m:t>
                        </m:r>
                      </m:e>
                      <m:sub>
                        <m:r>
                          <a:rPr lang="en-NZ" altLang="ja-JP" sz="1800" b="1" i="1" smtClean="0">
                            <a:solidFill>
                              <a:schemeClr val="tx1"/>
                            </a:solidFill>
                            <a:latin typeface="Cambria Math" panose="02040503050406030204" pitchFamily="18" charset="0"/>
                          </a:rPr>
                          <m:t>𝒊</m:t>
                        </m:r>
                      </m:sub>
                    </m:sSub>
                    <m:r>
                      <a:rPr lang="en-NZ" altLang="ja-JP" sz="1800" b="1" i="1" smtClean="0">
                        <a:solidFill>
                          <a:schemeClr val="tx1"/>
                        </a:solidFill>
                        <a:latin typeface="Cambria Math" panose="02040503050406030204" pitchFamily="18" charset="0"/>
                      </a:rPr>
                      <m:t>≠</m:t>
                    </m:r>
                    <m:r>
                      <a:rPr lang="en-NZ" altLang="ja-JP" sz="1800" b="1" i="1" smtClean="0">
                        <a:solidFill>
                          <a:schemeClr val="tx1"/>
                        </a:solidFill>
                        <a:latin typeface="Cambria Math" panose="02040503050406030204" pitchFamily="18" charset="0"/>
                      </a:rPr>
                      <m:t>𝟎</m:t>
                    </m:r>
                  </m:oMath>
                </a14:m>
                <a:r>
                  <a:rPr lang="en-NZ" altLang="ja-JP" sz="1800" b="1" dirty="0">
                    <a:solidFill>
                      <a:schemeClr val="tx1"/>
                    </a:solidFill>
                  </a:rPr>
                  <a:t>  </a:t>
                </a:r>
                <a:r>
                  <a:rPr lang="en-NZ" altLang="ja-JP" sz="1800" dirty="0">
                    <a:solidFill>
                      <a:schemeClr val="tx1"/>
                    </a:solidFill>
                  </a:rPr>
                  <a:t>for some </a:t>
                </a:r>
                <a14:m>
                  <m:oMath xmlns:m="http://schemas.openxmlformats.org/officeDocument/2006/math">
                    <m:r>
                      <a:rPr lang="en-NZ" altLang="ja-JP" sz="1800" b="0" i="1" smtClean="0">
                        <a:solidFill>
                          <a:schemeClr val="tx1"/>
                        </a:solidFill>
                        <a:latin typeface="Cambria Math" panose="02040503050406030204" pitchFamily="18" charset="0"/>
                      </a:rPr>
                      <m:t>𝑖</m:t>
                    </m:r>
                  </m:oMath>
                </a14:m>
                <a:endParaRPr lang="en-NZ" altLang="ja-JP" sz="1800" dirty="0">
                  <a:solidFill>
                    <a:schemeClr val="tx1"/>
                  </a:solidFill>
                </a:endParaRPr>
              </a:p>
            </p:txBody>
          </p:sp>
        </mc:Choice>
        <mc:Fallback xmlns="">
          <p:sp>
            <p:nvSpPr>
              <p:cNvPr id="6" name="Text Placeholder 5">
                <a:extLst>
                  <a:ext uri="{FF2B5EF4-FFF2-40B4-BE49-F238E27FC236}">
                    <a16:creationId xmlns:a16="http://schemas.microsoft.com/office/drawing/2014/main" id="{B1426D30-FA10-7527-DB2F-A6B016A88C06}"/>
                  </a:ext>
                </a:extLst>
              </p:cNvPr>
              <p:cNvSpPr txBox="1">
                <a:spLocks noRot="1" noChangeAspect="1" noMove="1" noResize="1" noEditPoints="1" noAdjustHandles="1" noChangeArrowheads="1" noChangeShapeType="1" noTextEdit="1"/>
              </p:cNvSpPr>
              <p:nvPr/>
            </p:nvSpPr>
            <p:spPr>
              <a:xfrm>
                <a:off x="2001466" y="5655523"/>
                <a:ext cx="3987920" cy="801442"/>
              </a:xfrm>
              <a:prstGeom prst="rect">
                <a:avLst/>
              </a:prstGeom>
              <a:blipFill>
                <a:blip r:embed="rId4"/>
                <a:stretch>
                  <a:fillRect t="-5344"/>
                </a:stretch>
              </a:blipFill>
            </p:spPr>
            <p:txBody>
              <a:bodyPr/>
              <a:lstStyle/>
              <a:p>
                <a:r>
                  <a:rPr lang="en-NZ">
                    <a:noFill/>
                  </a:rPr>
                  <a:t> </a:t>
                </a:r>
              </a:p>
            </p:txBody>
          </p:sp>
        </mc:Fallback>
      </mc:AlternateContent>
    </p:spTree>
    <p:extLst>
      <p:ext uri="{BB962C8B-B14F-4D97-AF65-F5344CB8AC3E}">
        <p14:creationId xmlns:p14="http://schemas.microsoft.com/office/powerpoint/2010/main" val="25751165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p:bldP spid="6"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Slide Number Placeholder 3">
            <a:extLst>
              <a:ext uri="{FF2B5EF4-FFF2-40B4-BE49-F238E27FC236}">
                <a16:creationId xmlns:a16="http://schemas.microsoft.com/office/drawing/2014/main" id="{B0C9041D-77F0-4656-90D4-0E84B7AC6B27}"/>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54AD89C-DF1E-4948-B597-5DD47B34A9CA}" type="slidenum">
              <a:rPr kumimoji="1" lang="ja-JP" altLang="en-US" sz="4000" b="0" i="0" u="none" strike="noStrike" kern="1200" cap="none" spc="0" normalizeH="0" baseline="0" noProof="0" smtClean="0">
                <a:ln>
                  <a:noFill/>
                </a:ln>
                <a:solidFill>
                  <a:srgbClr val="575454">
                    <a:lumMod val="20000"/>
                    <a:lumOff val="80000"/>
                  </a:srgbClr>
                </a:solidFill>
                <a:effectLst/>
                <a:uLnTx/>
                <a:uFillTx/>
                <a:latin typeface="Coo Hew"/>
                <a:ea typeface="游ゴシック" panose="020B0400000000000000"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36</a:t>
            </a:fld>
            <a:endParaRPr kumimoji="1" lang="ja-JP" altLang="en-US" sz="4000" b="0" i="0" u="none" strike="noStrike" kern="1200" cap="none" spc="0" normalizeH="0" baseline="0" noProof="0" dirty="0">
              <a:ln>
                <a:noFill/>
              </a:ln>
              <a:solidFill>
                <a:srgbClr val="575454">
                  <a:lumMod val="20000"/>
                  <a:lumOff val="80000"/>
                </a:srgbClr>
              </a:solidFill>
              <a:effectLst/>
              <a:uLnTx/>
              <a:uFillTx/>
              <a:latin typeface="Coo Hew"/>
              <a:ea typeface="游ゴシック" panose="020B0400000000000000" pitchFamily="34" charset="-128"/>
              <a:cs typeface="+mn-cs"/>
            </a:endParaRPr>
          </a:p>
        </p:txBody>
      </p:sp>
      <p:sp>
        <p:nvSpPr>
          <p:cNvPr id="21" name="Title 6">
            <a:extLst>
              <a:ext uri="{FF2B5EF4-FFF2-40B4-BE49-F238E27FC236}">
                <a16:creationId xmlns:a16="http://schemas.microsoft.com/office/drawing/2014/main" id="{7C963C88-6E6E-2444-9663-776716CBAA9D}"/>
              </a:ext>
            </a:extLst>
          </p:cNvPr>
          <p:cNvSpPr txBox="1">
            <a:spLocks/>
          </p:cNvSpPr>
          <p:nvPr/>
        </p:nvSpPr>
        <p:spPr>
          <a:xfrm>
            <a:off x="251224" y="237833"/>
            <a:ext cx="9411391" cy="607201"/>
          </a:xfrm>
          <a:prstGeom prst="rect">
            <a:avLst/>
          </a:prstGeom>
        </p:spPr>
        <p:txBody>
          <a:bodyPr anchor="t">
            <a:normAutofit fontScale="85000" lnSpcReduction="10000"/>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pPr marL="0" marR="0" lvl="0" indent="0" algn="l" defTabSz="914324" rtl="0" eaLnBrk="1" fontAlgn="auto" latinLnBrk="0" hangingPunct="1">
              <a:lnSpc>
                <a:spcPct val="90000"/>
              </a:lnSpc>
              <a:spcBef>
                <a:spcPct val="0"/>
              </a:spcBef>
              <a:spcAft>
                <a:spcPts val="0"/>
              </a:spcAft>
              <a:buClrTx/>
              <a:buSzTx/>
              <a:buFontTx/>
              <a:buNone/>
              <a:tabLst/>
              <a:defRPr/>
            </a:pPr>
            <a:r>
              <a:rPr lang="en-US" altLang="ja-JP" b="1" u="sng" dirty="0">
                <a:solidFill>
                  <a:prstClr val="black"/>
                </a:solidFill>
                <a:latin typeface="Calibri" panose="020F0502020204030204"/>
                <a:ea typeface="游ゴシック Light" panose="020B0300000000000000" pitchFamily="34" charset="-128"/>
              </a:rPr>
              <a:t>5</a:t>
            </a:r>
            <a:r>
              <a:rPr kumimoji="1" lang="en-US" altLang="ja-JP"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rPr>
              <a:t>.4c – Hypothesis Testing for a 3-Stage Nested Design:</a:t>
            </a:r>
            <a:endParaRPr kumimoji="1" lang="ja-JP" altLang="en-US"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endParaRPr>
          </a:p>
        </p:txBody>
      </p:sp>
      <p:sp>
        <p:nvSpPr>
          <p:cNvPr id="13" name="Text Placeholder 5">
            <a:extLst>
              <a:ext uri="{FF2B5EF4-FFF2-40B4-BE49-F238E27FC236}">
                <a16:creationId xmlns:a16="http://schemas.microsoft.com/office/drawing/2014/main" id="{BD9F11C6-38C8-A9BD-4E1F-AF5835DB28CE}"/>
              </a:ext>
            </a:extLst>
          </p:cNvPr>
          <p:cNvSpPr txBox="1">
            <a:spLocks/>
          </p:cNvSpPr>
          <p:nvPr/>
        </p:nvSpPr>
        <p:spPr>
          <a:xfrm>
            <a:off x="251224" y="845034"/>
            <a:ext cx="6367939" cy="668379"/>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1800" dirty="0">
                <a:solidFill>
                  <a:schemeClr val="tx1"/>
                </a:solidFill>
              </a:rPr>
              <a:t>We wish to test whether factor </a:t>
            </a:r>
            <a:r>
              <a:rPr lang="en-NZ" altLang="ja-JP" sz="1800" b="1" i="1" dirty="0">
                <a:solidFill>
                  <a:schemeClr val="tx1"/>
                </a:solidFill>
              </a:rPr>
              <a:t>A</a:t>
            </a:r>
            <a:r>
              <a:rPr lang="en-NZ" altLang="ja-JP" sz="1800" dirty="0">
                <a:solidFill>
                  <a:schemeClr val="tx1"/>
                </a:solidFill>
              </a:rPr>
              <a:t> has any effect on the response variable, i.e. we wish to test between the hypotheses:</a:t>
            </a:r>
          </a:p>
        </p:txBody>
      </p:sp>
      <mc:AlternateContent xmlns:mc="http://schemas.openxmlformats.org/markup-compatibility/2006" xmlns:a14="http://schemas.microsoft.com/office/drawing/2010/main">
        <mc:Choice Requires="a14">
          <p:sp>
            <p:nvSpPr>
              <p:cNvPr id="14" name="Text Placeholder 5">
                <a:extLst>
                  <a:ext uri="{FF2B5EF4-FFF2-40B4-BE49-F238E27FC236}">
                    <a16:creationId xmlns:a16="http://schemas.microsoft.com/office/drawing/2014/main" id="{5A1AFF55-57BD-398B-9EF6-580C1EC989EA}"/>
                  </a:ext>
                </a:extLst>
              </p:cNvPr>
              <p:cNvSpPr txBox="1">
                <a:spLocks/>
              </p:cNvSpPr>
              <p:nvPr/>
            </p:nvSpPr>
            <p:spPr>
              <a:xfrm>
                <a:off x="7172995" y="845034"/>
                <a:ext cx="3507477" cy="801442"/>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nSpc>
                    <a:spcPct val="100000"/>
                  </a:lnSpc>
                </a:pPr>
                <a14:m>
                  <m:oMath xmlns:m="http://schemas.openxmlformats.org/officeDocument/2006/math">
                    <m:sSub>
                      <m:sSubPr>
                        <m:ctrlPr>
                          <a:rPr lang="en-NZ" altLang="ja-JP" sz="2000" b="1" i="1" smtClean="0">
                            <a:solidFill>
                              <a:schemeClr val="tx1"/>
                            </a:solidFill>
                            <a:latin typeface="Cambria Math" panose="02040503050406030204" pitchFamily="18" charset="0"/>
                          </a:rPr>
                        </m:ctrlPr>
                      </m:sSubPr>
                      <m:e>
                        <m:r>
                          <a:rPr lang="en-NZ" altLang="ja-JP" sz="2000" b="1" i="1" smtClean="0">
                            <a:solidFill>
                              <a:schemeClr val="tx1"/>
                            </a:solidFill>
                            <a:latin typeface="Cambria Math" panose="02040503050406030204" pitchFamily="18" charset="0"/>
                          </a:rPr>
                          <m:t>𝑯</m:t>
                        </m:r>
                      </m:e>
                      <m:sub>
                        <m:r>
                          <a:rPr lang="en-NZ" altLang="ja-JP" sz="2000" b="1" i="1" smtClean="0">
                            <a:solidFill>
                              <a:schemeClr val="tx1"/>
                            </a:solidFill>
                            <a:latin typeface="Cambria Math" panose="02040503050406030204" pitchFamily="18" charset="0"/>
                          </a:rPr>
                          <m:t>𝟎</m:t>
                        </m:r>
                      </m:sub>
                    </m:sSub>
                    <m:r>
                      <a:rPr lang="en-NZ" altLang="ja-JP" sz="2000" b="1" i="1" smtClean="0">
                        <a:solidFill>
                          <a:schemeClr val="tx1"/>
                        </a:solidFill>
                        <a:latin typeface="Cambria Math" panose="02040503050406030204" pitchFamily="18" charset="0"/>
                      </a:rPr>
                      <m:t> :  </m:t>
                    </m:r>
                    <m:sSub>
                      <m:sSubPr>
                        <m:ctrlPr>
                          <a:rPr lang="en-NZ" altLang="ja-JP" sz="2000" b="1" i="1" smtClean="0">
                            <a:solidFill>
                              <a:schemeClr val="tx1"/>
                            </a:solidFill>
                            <a:latin typeface="Cambria Math" panose="02040503050406030204" pitchFamily="18" charset="0"/>
                          </a:rPr>
                        </m:ctrlPr>
                      </m:sSubPr>
                      <m:e>
                        <m:r>
                          <a:rPr lang="en-NZ" altLang="ja-JP" sz="2000" b="1" i="1" smtClean="0">
                            <a:solidFill>
                              <a:schemeClr val="tx1"/>
                            </a:solidFill>
                            <a:latin typeface="Cambria Math" panose="02040503050406030204" pitchFamily="18" charset="0"/>
                          </a:rPr>
                          <m:t>𝜶</m:t>
                        </m:r>
                      </m:e>
                      <m:sub>
                        <m:r>
                          <a:rPr lang="en-NZ" altLang="ja-JP" sz="2000" b="1" i="1" smtClean="0">
                            <a:solidFill>
                              <a:schemeClr val="tx1"/>
                            </a:solidFill>
                            <a:latin typeface="Cambria Math" panose="02040503050406030204" pitchFamily="18" charset="0"/>
                          </a:rPr>
                          <m:t>𝒊</m:t>
                        </m:r>
                      </m:sub>
                    </m:sSub>
                    <m:r>
                      <a:rPr lang="en-NZ" altLang="ja-JP" sz="2000" b="1" i="1" smtClean="0">
                        <a:solidFill>
                          <a:schemeClr val="tx1"/>
                        </a:solidFill>
                        <a:latin typeface="Cambria Math" panose="02040503050406030204" pitchFamily="18" charset="0"/>
                      </a:rPr>
                      <m:t>=</m:t>
                    </m:r>
                    <m:r>
                      <a:rPr lang="en-NZ" altLang="ja-JP" sz="2000" b="1" i="1" smtClean="0">
                        <a:solidFill>
                          <a:schemeClr val="tx1"/>
                        </a:solidFill>
                        <a:latin typeface="Cambria Math" panose="02040503050406030204" pitchFamily="18" charset="0"/>
                      </a:rPr>
                      <m:t>𝟎</m:t>
                    </m:r>
                  </m:oMath>
                </a14:m>
                <a:r>
                  <a:rPr lang="en-NZ" altLang="ja-JP" sz="2000" b="1" i="1" dirty="0">
                    <a:solidFill>
                      <a:schemeClr val="tx1"/>
                    </a:solidFill>
                    <a:latin typeface="Cambria Math" panose="02040503050406030204" pitchFamily="18" charset="0"/>
                  </a:rPr>
                  <a:t>  </a:t>
                </a:r>
                <a:r>
                  <a:rPr lang="en-NZ" altLang="ja-JP" sz="1600" dirty="0">
                    <a:solidFill>
                      <a:schemeClr val="tx1"/>
                    </a:solidFill>
                    <a:latin typeface="Cambria Math" panose="02040503050406030204" pitchFamily="18" charset="0"/>
                  </a:rPr>
                  <a:t>for all </a:t>
                </a:r>
                <a14:m>
                  <m:oMath xmlns:m="http://schemas.openxmlformats.org/officeDocument/2006/math">
                    <m:r>
                      <a:rPr lang="en-NZ" altLang="ja-JP" sz="1600" b="0" i="1" smtClean="0">
                        <a:solidFill>
                          <a:schemeClr val="tx1"/>
                        </a:solidFill>
                        <a:latin typeface="Cambria Math" panose="02040503050406030204" pitchFamily="18" charset="0"/>
                      </a:rPr>
                      <m:t>𝑖</m:t>
                    </m:r>
                    <m:r>
                      <a:rPr lang="en-NZ" altLang="ja-JP" sz="1600" b="0" i="1" smtClean="0">
                        <a:solidFill>
                          <a:schemeClr val="tx1"/>
                        </a:solidFill>
                        <a:latin typeface="Cambria Math" panose="02040503050406030204" pitchFamily="18" charset="0"/>
                      </a:rPr>
                      <m:t>=1, …, </m:t>
                    </m:r>
                    <m:r>
                      <a:rPr lang="en-NZ" altLang="ja-JP" sz="1600" b="0" i="1" smtClean="0">
                        <a:solidFill>
                          <a:schemeClr val="tx1"/>
                        </a:solidFill>
                        <a:latin typeface="Cambria Math" panose="02040503050406030204" pitchFamily="18" charset="0"/>
                      </a:rPr>
                      <m:t>𝑎</m:t>
                    </m:r>
                  </m:oMath>
                </a14:m>
                <a:r>
                  <a:rPr lang="en-NZ" altLang="ja-JP" sz="1600" dirty="0">
                    <a:solidFill>
                      <a:schemeClr val="tx1"/>
                    </a:solidFill>
                    <a:latin typeface="Cambria Math" panose="02040503050406030204" pitchFamily="18" charset="0"/>
                  </a:rPr>
                  <a:t> </a:t>
                </a:r>
                <a:br>
                  <a:rPr lang="en-NZ" altLang="ja-JP" sz="2000" b="1" i="1" dirty="0">
                    <a:solidFill>
                      <a:schemeClr val="tx1"/>
                    </a:solidFill>
                    <a:latin typeface="Cambria Math" panose="02040503050406030204" pitchFamily="18" charset="0"/>
                  </a:rPr>
                </a:br>
                <a14:m>
                  <m:oMath xmlns:m="http://schemas.openxmlformats.org/officeDocument/2006/math">
                    <m:sSub>
                      <m:sSubPr>
                        <m:ctrlPr>
                          <a:rPr lang="en-NZ" altLang="ja-JP" sz="2000" b="1" i="1">
                            <a:solidFill>
                              <a:schemeClr val="tx1"/>
                            </a:solidFill>
                            <a:latin typeface="Cambria Math" panose="02040503050406030204" pitchFamily="18" charset="0"/>
                          </a:rPr>
                        </m:ctrlPr>
                      </m:sSubPr>
                      <m:e>
                        <m:r>
                          <a:rPr lang="en-NZ" altLang="ja-JP" sz="2000" b="1" i="1">
                            <a:solidFill>
                              <a:schemeClr val="tx1"/>
                            </a:solidFill>
                            <a:latin typeface="Cambria Math" panose="02040503050406030204" pitchFamily="18" charset="0"/>
                          </a:rPr>
                          <m:t>𝑯</m:t>
                        </m:r>
                      </m:e>
                      <m:sub>
                        <m:r>
                          <a:rPr lang="en-NZ" altLang="ja-JP" sz="2000" b="1" i="1" smtClean="0">
                            <a:solidFill>
                              <a:schemeClr val="tx1"/>
                            </a:solidFill>
                            <a:latin typeface="Cambria Math" panose="02040503050406030204" pitchFamily="18" charset="0"/>
                          </a:rPr>
                          <m:t>𝟏</m:t>
                        </m:r>
                      </m:sub>
                    </m:sSub>
                    <m:r>
                      <a:rPr lang="en-NZ" altLang="ja-JP" sz="2000" b="1" i="1">
                        <a:solidFill>
                          <a:schemeClr val="tx1"/>
                        </a:solidFill>
                        <a:latin typeface="Cambria Math" panose="02040503050406030204" pitchFamily="18" charset="0"/>
                      </a:rPr>
                      <m:t> :  </m:t>
                    </m:r>
                    <m:sSub>
                      <m:sSubPr>
                        <m:ctrlPr>
                          <a:rPr lang="en-NZ" altLang="ja-JP" sz="2000" b="1" i="1" smtClean="0">
                            <a:solidFill>
                              <a:schemeClr val="tx1"/>
                            </a:solidFill>
                            <a:latin typeface="Cambria Math" panose="02040503050406030204" pitchFamily="18" charset="0"/>
                          </a:rPr>
                        </m:ctrlPr>
                      </m:sSubPr>
                      <m:e>
                        <m:r>
                          <a:rPr lang="en-NZ" altLang="ja-JP" sz="2000" b="1" i="1" smtClean="0">
                            <a:solidFill>
                              <a:schemeClr val="tx1"/>
                            </a:solidFill>
                            <a:latin typeface="Cambria Math" panose="02040503050406030204" pitchFamily="18" charset="0"/>
                          </a:rPr>
                          <m:t>𝜶</m:t>
                        </m:r>
                      </m:e>
                      <m:sub>
                        <m:r>
                          <a:rPr lang="en-NZ" altLang="ja-JP" sz="2000" b="1" i="1" smtClean="0">
                            <a:solidFill>
                              <a:schemeClr val="tx1"/>
                            </a:solidFill>
                            <a:latin typeface="Cambria Math" panose="02040503050406030204" pitchFamily="18" charset="0"/>
                          </a:rPr>
                          <m:t>𝒊</m:t>
                        </m:r>
                      </m:sub>
                    </m:sSub>
                    <m:r>
                      <a:rPr lang="en-NZ" altLang="ja-JP" sz="2000" b="1" i="1" smtClean="0">
                        <a:solidFill>
                          <a:schemeClr val="tx1"/>
                        </a:solidFill>
                        <a:latin typeface="Cambria Math" panose="02040503050406030204" pitchFamily="18" charset="0"/>
                      </a:rPr>
                      <m:t>≠</m:t>
                    </m:r>
                    <m:r>
                      <a:rPr lang="en-NZ" altLang="ja-JP" sz="2000" b="1" i="1" smtClean="0">
                        <a:solidFill>
                          <a:schemeClr val="tx1"/>
                        </a:solidFill>
                        <a:latin typeface="Cambria Math" panose="02040503050406030204" pitchFamily="18" charset="0"/>
                      </a:rPr>
                      <m:t>𝟎</m:t>
                    </m:r>
                  </m:oMath>
                </a14:m>
                <a:r>
                  <a:rPr lang="en-NZ" altLang="ja-JP" sz="2000" b="1" dirty="0">
                    <a:solidFill>
                      <a:schemeClr val="tx1"/>
                    </a:solidFill>
                  </a:rPr>
                  <a:t>  </a:t>
                </a:r>
                <a:r>
                  <a:rPr lang="en-NZ" altLang="ja-JP" sz="1600" dirty="0">
                    <a:solidFill>
                      <a:schemeClr val="tx1"/>
                    </a:solidFill>
                  </a:rPr>
                  <a:t>for some </a:t>
                </a:r>
                <a14:m>
                  <m:oMath xmlns:m="http://schemas.openxmlformats.org/officeDocument/2006/math">
                    <m:r>
                      <a:rPr lang="en-NZ" altLang="ja-JP" sz="1600" b="0" i="1" smtClean="0">
                        <a:solidFill>
                          <a:schemeClr val="tx1"/>
                        </a:solidFill>
                        <a:latin typeface="Cambria Math" panose="02040503050406030204" pitchFamily="18" charset="0"/>
                      </a:rPr>
                      <m:t>𝑖</m:t>
                    </m:r>
                  </m:oMath>
                </a14:m>
                <a:endParaRPr lang="en-NZ" altLang="ja-JP" sz="1600" dirty="0">
                  <a:solidFill>
                    <a:schemeClr val="tx1"/>
                  </a:solidFill>
                </a:endParaRPr>
              </a:p>
            </p:txBody>
          </p:sp>
        </mc:Choice>
        <mc:Fallback xmlns="">
          <p:sp>
            <p:nvSpPr>
              <p:cNvPr id="14" name="Text Placeholder 5">
                <a:extLst>
                  <a:ext uri="{FF2B5EF4-FFF2-40B4-BE49-F238E27FC236}">
                    <a16:creationId xmlns:a16="http://schemas.microsoft.com/office/drawing/2014/main" id="{5A1AFF55-57BD-398B-9EF6-580C1EC989EA}"/>
                  </a:ext>
                </a:extLst>
              </p:cNvPr>
              <p:cNvSpPr txBox="1">
                <a:spLocks noRot="1" noChangeAspect="1" noMove="1" noResize="1" noEditPoints="1" noAdjustHandles="1" noChangeArrowheads="1" noChangeShapeType="1" noTextEdit="1"/>
              </p:cNvSpPr>
              <p:nvPr/>
            </p:nvSpPr>
            <p:spPr>
              <a:xfrm>
                <a:off x="7172995" y="845034"/>
                <a:ext cx="3507477" cy="801442"/>
              </a:xfrm>
              <a:prstGeom prst="rect">
                <a:avLst/>
              </a:prstGeom>
              <a:blipFill>
                <a:blip r:embed="rId2"/>
                <a:stretch>
                  <a:fillRect/>
                </a:stretch>
              </a:blipFill>
            </p:spPr>
            <p:txBody>
              <a:bodyPr/>
              <a:lstStyle/>
              <a:p>
                <a:r>
                  <a:rPr lang="en-NZ">
                    <a:noFill/>
                  </a:rPr>
                  <a:t> </a:t>
                </a:r>
              </a:p>
            </p:txBody>
          </p:sp>
        </mc:Fallback>
      </mc:AlternateContent>
      <p:sp>
        <p:nvSpPr>
          <p:cNvPr id="15" name="Text Placeholder 5">
            <a:extLst>
              <a:ext uri="{FF2B5EF4-FFF2-40B4-BE49-F238E27FC236}">
                <a16:creationId xmlns:a16="http://schemas.microsoft.com/office/drawing/2014/main" id="{5B802D44-6F5C-0D30-70DA-33AF0E931355}"/>
              </a:ext>
            </a:extLst>
          </p:cNvPr>
          <p:cNvSpPr txBox="1">
            <a:spLocks/>
          </p:cNvSpPr>
          <p:nvPr/>
        </p:nvSpPr>
        <p:spPr>
          <a:xfrm>
            <a:off x="251224" y="1646476"/>
            <a:ext cx="4030492" cy="41823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1800" dirty="0">
                <a:solidFill>
                  <a:schemeClr val="tx1"/>
                </a:solidFill>
              </a:rPr>
              <a:t>The F-statistic for our hypothesis test is:    </a:t>
            </a:r>
          </a:p>
          <a:p>
            <a:pPr algn="just">
              <a:lnSpc>
                <a:spcPct val="100000"/>
              </a:lnSpc>
            </a:pPr>
            <a:endParaRPr lang="en-NZ" altLang="ja-JP" sz="1800" dirty="0">
              <a:solidFill>
                <a:schemeClr val="tx1"/>
              </a:solidFill>
            </a:endParaRPr>
          </a:p>
        </p:txBody>
      </p:sp>
      <mc:AlternateContent xmlns:mc="http://schemas.openxmlformats.org/markup-compatibility/2006" xmlns:a14="http://schemas.microsoft.com/office/drawing/2010/main">
        <mc:Choice Requires="a14">
          <p:sp>
            <p:nvSpPr>
              <p:cNvPr id="16" name="Text Placeholder 5">
                <a:extLst>
                  <a:ext uri="{FF2B5EF4-FFF2-40B4-BE49-F238E27FC236}">
                    <a16:creationId xmlns:a16="http://schemas.microsoft.com/office/drawing/2014/main" id="{376F4062-97CE-480D-5F16-9881DB18BF15}"/>
                  </a:ext>
                </a:extLst>
              </p:cNvPr>
              <p:cNvSpPr txBox="1">
                <a:spLocks/>
              </p:cNvSpPr>
              <p:nvPr/>
            </p:nvSpPr>
            <p:spPr>
              <a:xfrm>
                <a:off x="450795" y="1932427"/>
                <a:ext cx="11222321" cy="713831"/>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14:m>
                  <m:oMathPara xmlns:m="http://schemas.openxmlformats.org/officeDocument/2006/math">
                    <m:oMathParaPr>
                      <m:jc m:val="centerGroup"/>
                    </m:oMathParaPr>
                    <m:oMath xmlns:m="http://schemas.openxmlformats.org/officeDocument/2006/math">
                      <m:r>
                        <a:rPr lang="en-NZ" altLang="ja-JP" sz="1800" b="1" i="1" smtClean="0">
                          <a:solidFill>
                            <a:srgbClr val="C00000"/>
                          </a:solidFill>
                          <a:latin typeface="Cambria Math" panose="02040503050406030204" pitchFamily="18" charset="0"/>
                        </a:rPr>
                        <m:t>𝑭</m:t>
                      </m:r>
                      <m:r>
                        <a:rPr lang="en-NZ" altLang="ja-JP" sz="1800" b="1" i="1" smtClean="0">
                          <a:solidFill>
                            <a:srgbClr val="C00000"/>
                          </a:solidFill>
                          <a:latin typeface="Cambria Math" panose="02040503050406030204" pitchFamily="18" charset="0"/>
                        </a:rPr>
                        <m:t> =  </m:t>
                      </m:r>
                      <m:f>
                        <m:fPr>
                          <m:ctrlPr>
                            <a:rPr lang="en-NZ" altLang="ja-JP" sz="1800" b="1" i="1" smtClean="0">
                              <a:solidFill>
                                <a:srgbClr val="C00000"/>
                              </a:solidFill>
                              <a:latin typeface="Cambria Math" panose="02040503050406030204" pitchFamily="18" charset="0"/>
                            </a:rPr>
                          </m:ctrlPr>
                        </m:fPr>
                        <m:num>
                          <m:r>
                            <a:rPr lang="en-NZ" altLang="ja-JP" sz="1800" b="1" i="1" smtClean="0">
                              <a:solidFill>
                                <a:srgbClr val="C00000"/>
                              </a:solidFill>
                              <a:latin typeface="Cambria Math" panose="02040503050406030204" pitchFamily="18" charset="0"/>
                            </a:rPr>
                            <m:t>𝑴</m:t>
                          </m:r>
                          <m:sSub>
                            <m:sSubPr>
                              <m:ctrlPr>
                                <a:rPr lang="en-NZ" altLang="ja-JP" sz="1800" b="1" i="1" smtClean="0">
                                  <a:solidFill>
                                    <a:srgbClr val="C00000"/>
                                  </a:solidFill>
                                  <a:latin typeface="Cambria Math" panose="02040503050406030204" pitchFamily="18" charset="0"/>
                                </a:rPr>
                              </m:ctrlPr>
                            </m:sSubPr>
                            <m:e>
                              <m:r>
                                <a:rPr lang="en-NZ" altLang="ja-JP" sz="1800" b="1" i="1" smtClean="0">
                                  <a:solidFill>
                                    <a:srgbClr val="C00000"/>
                                  </a:solidFill>
                                  <a:latin typeface="Cambria Math" panose="02040503050406030204" pitchFamily="18" charset="0"/>
                                </a:rPr>
                                <m:t>𝑺</m:t>
                              </m:r>
                            </m:e>
                            <m:sub>
                              <m:r>
                                <a:rPr lang="en-NZ" altLang="ja-JP" sz="1800" b="1" i="1" smtClean="0">
                                  <a:solidFill>
                                    <a:srgbClr val="C00000"/>
                                  </a:solidFill>
                                  <a:latin typeface="Cambria Math" panose="02040503050406030204" pitchFamily="18" charset="0"/>
                                </a:rPr>
                                <m:t>𝑨</m:t>
                              </m:r>
                            </m:sub>
                          </m:sSub>
                        </m:num>
                        <m:den>
                          <m:r>
                            <a:rPr lang="en-NZ" altLang="ja-JP" sz="1800" b="1" i="1" smtClean="0">
                              <a:solidFill>
                                <a:srgbClr val="C00000"/>
                              </a:solidFill>
                              <a:latin typeface="Cambria Math" panose="02040503050406030204" pitchFamily="18" charset="0"/>
                            </a:rPr>
                            <m:t>𝑴</m:t>
                          </m:r>
                          <m:sSub>
                            <m:sSubPr>
                              <m:ctrlPr>
                                <a:rPr lang="en-NZ" altLang="ja-JP" sz="1800" b="1" i="1" smtClean="0">
                                  <a:solidFill>
                                    <a:srgbClr val="C00000"/>
                                  </a:solidFill>
                                  <a:latin typeface="Cambria Math" panose="02040503050406030204" pitchFamily="18" charset="0"/>
                                </a:rPr>
                              </m:ctrlPr>
                            </m:sSubPr>
                            <m:e>
                              <m:r>
                                <a:rPr lang="en-NZ" altLang="ja-JP" sz="1800" b="1" i="1" smtClean="0">
                                  <a:solidFill>
                                    <a:srgbClr val="C00000"/>
                                  </a:solidFill>
                                  <a:latin typeface="Cambria Math" panose="02040503050406030204" pitchFamily="18" charset="0"/>
                                </a:rPr>
                                <m:t>𝑺</m:t>
                              </m:r>
                            </m:e>
                            <m:sub>
                              <m:r>
                                <a:rPr lang="en-NZ" altLang="ja-JP" sz="1800" b="1" i="1" smtClean="0">
                                  <a:solidFill>
                                    <a:srgbClr val="C00000"/>
                                  </a:solidFill>
                                  <a:latin typeface="Cambria Math" panose="02040503050406030204" pitchFamily="18" charset="0"/>
                                </a:rPr>
                                <m:t>𝑩</m:t>
                              </m:r>
                              <m:d>
                                <m:dPr>
                                  <m:ctrlPr>
                                    <a:rPr lang="en-NZ" altLang="ja-JP" sz="1800" b="1" i="1" smtClean="0">
                                      <a:solidFill>
                                        <a:srgbClr val="C00000"/>
                                      </a:solidFill>
                                      <a:latin typeface="Cambria Math" panose="02040503050406030204" pitchFamily="18" charset="0"/>
                                    </a:rPr>
                                  </m:ctrlPr>
                                </m:dPr>
                                <m:e>
                                  <m:r>
                                    <a:rPr lang="en-NZ" altLang="ja-JP" sz="1800" b="1" i="1" smtClean="0">
                                      <a:solidFill>
                                        <a:srgbClr val="C00000"/>
                                      </a:solidFill>
                                      <a:latin typeface="Cambria Math" panose="02040503050406030204" pitchFamily="18" charset="0"/>
                                    </a:rPr>
                                    <m:t>𝑨</m:t>
                                  </m:r>
                                </m:e>
                              </m:d>
                            </m:sub>
                          </m:sSub>
                        </m:den>
                      </m:f>
                      <m:r>
                        <a:rPr lang="en-NZ" altLang="ja-JP" sz="1800" b="1" i="1" smtClean="0">
                          <a:solidFill>
                            <a:srgbClr val="C00000"/>
                          </a:solidFill>
                          <a:latin typeface="Cambria Math" panose="02040503050406030204" pitchFamily="18" charset="0"/>
                        </a:rPr>
                        <m:t>  =   </m:t>
                      </m:r>
                      <m:f>
                        <m:fPr>
                          <m:ctrlPr>
                            <a:rPr lang="en-NZ" altLang="ja-JP" sz="1800" b="1" i="1" smtClean="0">
                              <a:solidFill>
                                <a:srgbClr val="C00000"/>
                              </a:solidFill>
                              <a:latin typeface="Cambria Math" panose="02040503050406030204" pitchFamily="18" charset="0"/>
                            </a:rPr>
                          </m:ctrlPr>
                        </m:fPr>
                        <m:num>
                          <m:f>
                            <m:fPr>
                              <m:type m:val="lin"/>
                              <m:ctrlPr>
                                <a:rPr lang="en-NZ" altLang="ja-JP" sz="1800" b="1" i="1" smtClean="0">
                                  <a:solidFill>
                                    <a:srgbClr val="C00000"/>
                                  </a:solidFill>
                                  <a:latin typeface="Cambria Math" panose="02040503050406030204" pitchFamily="18" charset="0"/>
                                </a:rPr>
                              </m:ctrlPr>
                            </m:fPr>
                            <m:num>
                              <m:r>
                                <a:rPr lang="en-NZ" altLang="ja-JP" sz="1800" b="1" i="1" smtClean="0">
                                  <a:solidFill>
                                    <a:srgbClr val="C00000"/>
                                  </a:solidFill>
                                  <a:latin typeface="Cambria Math" panose="02040503050406030204" pitchFamily="18" charset="0"/>
                                </a:rPr>
                                <m:t>𝑺</m:t>
                              </m:r>
                              <m:sSub>
                                <m:sSubPr>
                                  <m:ctrlPr>
                                    <a:rPr lang="en-NZ" altLang="ja-JP" sz="1800" b="1" i="1" smtClean="0">
                                      <a:solidFill>
                                        <a:srgbClr val="C00000"/>
                                      </a:solidFill>
                                      <a:latin typeface="Cambria Math" panose="02040503050406030204" pitchFamily="18" charset="0"/>
                                    </a:rPr>
                                  </m:ctrlPr>
                                </m:sSubPr>
                                <m:e>
                                  <m:r>
                                    <a:rPr lang="en-NZ" altLang="ja-JP" sz="1800" b="1" i="1" smtClean="0">
                                      <a:solidFill>
                                        <a:srgbClr val="C00000"/>
                                      </a:solidFill>
                                      <a:latin typeface="Cambria Math" panose="02040503050406030204" pitchFamily="18" charset="0"/>
                                    </a:rPr>
                                    <m:t>𝑺</m:t>
                                  </m:r>
                                </m:e>
                                <m:sub>
                                  <m:r>
                                    <a:rPr lang="en-NZ" altLang="ja-JP" sz="1800" b="1" i="1" smtClean="0">
                                      <a:solidFill>
                                        <a:srgbClr val="C00000"/>
                                      </a:solidFill>
                                      <a:latin typeface="Cambria Math" panose="02040503050406030204" pitchFamily="18" charset="0"/>
                                    </a:rPr>
                                    <m:t>𝑨</m:t>
                                  </m:r>
                                </m:sub>
                              </m:sSub>
                              <m:r>
                                <a:rPr lang="en-NZ" altLang="ja-JP" sz="1800" b="1" i="1" smtClean="0">
                                  <a:solidFill>
                                    <a:srgbClr val="C00000"/>
                                  </a:solidFill>
                                  <a:latin typeface="Cambria Math" panose="02040503050406030204" pitchFamily="18" charset="0"/>
                                </a:rPr>
                                <m:t> </m:t>
                              </m:r>
                            </m:num>
                            <m:den>
                              <m:r>
                                <a:rPr lang="en-NZ" altLang="ja-JP" sz="1800" b="1" i="1" smtClean="0">
                                  <a:solidFill>
                                    <a:srgbClr val="C00000"/>
                                  </a:solidFill>
                                  <a:latin typeface="Cambria Math" panose="02040503050406030204" pitchFamily="18" charset="0"/>
                                </a:rPr>
                                <m:t> (</m:t>
                              </m:r>
                              <m:r>
                                <a:rPr lang="en-NZ" altLang="ja-JP" sz="1800" b="1" i="1" smtClean="0">
                                  <a:solidFill>
                                    <a:srgbClr val="C00000"/>
                                  </a:solidFill>
                                  <a:latin typeface="Cambria Math" panose="02040503050406030204" pitchFamily="18" charset="0"/>
                                </a:rPr>
                                <m:t>𝒂</m:t>
                              </m:r>
                              <m:r>
                                <a:rPr lang="en-NZ" altLang="ja-JP" sz="1800" b="1" i="1" smtClean="0">
                                  <a:solidFill>
                                    <a:srgbClr val="C00000"/>
                                  </a:solidFill>
                                  <a:latin typeface="Cambria Math" panose="02040503050406030204" pitchFamily="18" charset="0"/>
                                </a:rPr>
                                <m:t>−</m:t>
                              </m:r>
                              <m:r>
                                <a:rPr lang="en-NZ" altLang="ja-JP" sz="1800" b="1" i="1" smtClean="0">
                                  <a:solidFill>
                                    <a:srgbClr val="C00000"/>
                                  </a:solidFill>
                                  <a:latin typeface="Cambria Math" panose="02040503050406030204" pitchFamily="18" charset="0"/>
                                </a:rPr>
                                <m:t>𝟏</m:t>
                              </m:r>
                              <m:r>
                                <a:rPr lang="en-NZ" altLang="ja-JP" sz="1800" b="1" i="1" smtClean="0">
                                  <a:solidFill>
                                    <a:srgbClr val="C00000"/>
                                  </a:solidFill>
                                  <a:latin typeface="Cambria Math" panose="02040503050406030204" pitchFamily="18" charset="0"/>
                                </a:rPr>
                                <m:t>)</m:t>
                              </m:r>
                            </m:den>
                          </m:f>
                        </m:num>
                        <m:den>
                          <m:f>
                            <m:fPr>
                              <m:type m:val="lin"/>
                              <m:ctrlPr>
                                <a:rPr lang="en-NZ" altLang="ja-JP" sz="1800" b="1" i="1" smtClean="0">
                                  <a:solidFill>
                                    <a:srgbClr val="C00000"/>
                                  </a:solidFill>
                                  <a:latin typeface="Cambria Math" panose="02040503050406030204" pitchFamily="18" charset="0"/>
                                </a:rPr>
                              </m:ctrlPr>
                            </m:fPr>
                            <m:num>
                              <m:r>
                                <a:rPr lang="en-NZ" altLang="ja-JP" sz="1800" b="1" i="1" smtClean="0">
                                  <a:solidFill>
                                    <a:srgbClr val="C00000"/>
                                  </a:solidFill>
                                  <a:latin typeface="Cambria Math" panose="02040503050406030204" pitchFamily="18" charset="0"/>
                                </a:rPr>
                                <m:t>𝑺</m:t>
                              </m:r>
                              <m:sSub>
                                <m:sSubPr>
                                  <m:ctrlPr>
                                    <a:rPr lang="en-NZ" altLang="ja-JP" sz="1800" b="1" i="1" smtClean="0">
                                      <a:solidFill>
                                        <a:srgbClr val="C00000"/>
                                      </a:solidFill>
                                      <a:latin typeface="Cambria Math" panose="02040503050406030204" pitchFamily="18" charset="0"/>
                                    </a:rPr>
                                  </m:ctrlPr>
                                </m:sSubPr>
                                <m:e>
                                  <m:r>
                                    <a:rPr lang="en-NZ" altLang="ja-JP" sz="1800" b="1" i="1" smtClean="0">
                                      <a:solidFill>
                                        <a:srgbClr val="C00000"/>
                                      </a:solidFill>
                                      <a:latin typeface="Cambria Math" panose="02040503050406030204" pitchFamily="18" charset="0"/>
                                    </a:rPr>
                                    <m:t>𝑺</m:t>
                                  </m:r>
                                </m:e>
                                <m:sub>
                                  <m:r>
                                    <a:rPr lang="en-NZ" altLang="ja-JP" sz="1800" b="1" i="1" smtClean="0">
                                      <a:solidFill>
                                        <a:srgbClr val="C00000"/>
                                      </a:solidFill>
                                      <a:latin typeface="Cambria Math" panose="02040503050406030204" pitchFamily="18" charset="0"/>
                                    </a:rPr>
                                    <m:t>𝑩</m:t>
                                  </m:r>
                                  <m:d>
                                    <m:dPr>
                                      <m:ctrlPr>
                                        <a:rPr lang="en-NZ" altLang="ja-JP" sz="1800" b="1" i="1" smtClean="0">
                                          <a:solidFill>
                                            <a:srgbClr val="C00000"/>
                                          </a:solidFill>
                                          <a:latin typeface="Cambria Math" panose="02040503050406030204" pitchFamily="18" charset="0"/>
                                        </a:rPr>
                                      </m:ctrlPr>
                                    </m:dPr>
                                    <m:e>
                                      <m:r>
                                        <a:rPr lang="en-NZ" altLang="ja-JP" sz="1800" b="1" i="1" smtClean="0">
                                          <a:solidFill>
                                            <a:srgbClr val="C00000"/>
                                          </a:solidFill>
                                          <a:latin typeface="Cambria Math" panose="02040503050406030204" pitchFamily="18" charset="0"/>
                                        </a:rPr>
                                        <m:t>𝑨</m:t>
                                      </m:r>
                                    </m:e>
                                  </m:d>
                                </m:sub>
                              </m:sSub>
                              <m:r>
                                <a:rPr lang="en-NZ" altLang="ja-JP" sz="1800" b="1" i="1" smtClean="0">
                                  <a:solidFill>
                                    <a:srgbClr val="C00000"/>
                                  </a:solidFill>
                                  <a:latin typeface="Cambria Math" panose="02040503050406030204" pitchFamily="18" charset="0"/>
                                </a:rPr>
                                <m:t> </m:t>
                              </m:r>
                            </m:num>
                            <m:den>
                              <m:r>
                                <a:rPr lang="en-NZ" altLang="ja-JP" sz="1800" b="1" i="1" smtClean="0">
                                  <a:solidFill>
                                    <a:srgbClr val="C00000"/>
                                  </a:solidFill>
                                  <a:latin typeface="Cambria Math" panose="02040503050406030204" pitchFamily="18" charset="0"/>
                                </a:rPr>
                                <m:t> [ </m:t>
                              </m:r>
                              <m:r>
                                <a:rPr lang="en-NZ" altLang="ja-JP" sz="1800" b="1" i="1" smtClean="0">
                                  <a:solidFill>
                                    <a:srgbClr val="C00000"/>
                                  </a:solidFill>
                                  <a:latin typeface="Cambria Math" panose="02040503050406030204" pitchFamily="18" charset="0"/>
                                </a:rPr>
                                <m:t>𝒂</m:t>
                              </m:r>
                              <m:r>
                                <a:rPr lang="en-NZ" altLang="ja-JP" sz="1800" b="1" i="1" smtClean="0">
                                  <a:solidFill>
                                    <a:srgbClr val="C00000"/>
                                  </a:solidFill>
                                  <a:latin typeface="Cambria Math" panose="02040503050406030204" pitchFamily="18" charset="0"/>
                                </a:rPr>
                                <m:t> </m:t>
                              </m:r>
                              <m:d>
                                <m:dPr>
                                  <m:ctrlPr>
                                    <a:rPr lang="en-NZ" altLang="ja-JP" sz="1800" b="1" i="1" smtClean="0">
                                      <a:solidFill>
                                        <a:srgbClr val="C00000"/>
                                      </a:solidFill>
                                      <a:latin typeface="Cambria Math" panose="02040503050406030204" pitchFamily="18" charset="0"/>
                                    </a:rPr>
                                  </m:ctrlPr>
                                </m:dPr>
                                <m:e>
                                  <m:r>
                                    <a:rPr lang="en-NZ" altLang="ja-JP" sz="1800" b="1" i="1" smtClean="0">
                                      <a:solidFill>
                                        <a:srgbClr val="C00000"/>
                                      </a:solidFill>
                                      <a:latin typeface="Cambria Math" panose="02040503050406030204" pitchFamily="18" charset="0"/>
                                    </a:rPr>
                                    <m:t>𝒃</m:t>
                                  </m:r>
                                  <m:r>
                                    <a:rPr lang="en-NZ" altLang="ja-JP" sz="1800" b="1" i="1" smtClean="0">
                                      <a:solidFill>
                                        <a:srgbClr val="C00000"/>
                                      </a:solidFill>
                                      <a:latin typeface="Cambria Math" panose="02040503050406030204" pitchFamily="18" charset="0"/>
                                    </a:rPr>
                                    <m:t>−</m:t>
                                  </m:r>
                                  <m:r>
                                    <a:rPr lang="en-NZ" altLang="ja-JP" sz="1800" b="1" i="1" smtClean="0">
                                      <a:solidFill>
                                        <a:srgbClr val="C00000"/>
                                      </a:solidFill>
                                      <a:latin typeface="Cambria Math" panose="02040503050406030204" pitchFamily="18" charset="0"/>
                                    </a:rPr>
                                    <m:t>𝟏</m:t>
                                  </m:r>
                                </m:e>
                              </m:d>
                              <m:r>
                                <a:rPr lang="en-NZ" altLang="ja-JP" sz="1800" b="1" i="1" smtClean="0">
                                  <a:solidFill>
                                    <a:srgbClr val="C00000"/>
                                  </a:solidFill>
                                  <a:latin typeface="Cambria Math" panose="02040503050406030204" pitchFamily="18" charset="0"/>
                                </a:rPr>
                                <m:t> ]</m:t>
                              </m:r>
                            </m:den>
                          </m:f>
                        </m:den>
                      </m:f>
                    </m:oMath>
                  </m:oMathPara>
                </a14:m>
                <a:endParaRPr lang="en-NZ" altLang="ja-JP" sz="1800" b="1" dirty="0">
                  <a:solidFill>
                    <a:srgbClr val="C00000"/>
                  </a:solidFill>
                </a:endParaRPr>
              </a:p>
            </p:txBody>
          </p:sp>
        </mc:Choice>
        <mc:Fallback xmlns="">
          <p:sp>
            <p:nvSpPr>
              <p:cNvPr id="16" name="Text Placeholder 5">
                <a:extLst>
                  <a:ext uri="{FF2B5EF4-FFF2-40B4-BE49-F238E27FC236}">
                    <a16:creationId xmlns:a16="http://schemas.microsoft.com/office/drawing/2014/main" id="{376F4062-97CE-480D-5F16-9881DB18BF15}"/>
                  </a:ext>
                </a:extLst>
              </p:cNvPr>
              <p:cNvSpPr txBox="1">
                <a:spLocks noRot="1" noChangeAspect="1" noMove="1" noResize="1" noEditPoints="1" noAdjustHandles="1" noChangeArrowheads="1" noChangeShapeType="1" noTextEdit="1"/>
              </p:cNvSpPr>
              <p:nvPr/>
            </p:nvSpPr>
            <p:spPr>
              <a:xfrm>
                <a:off x="450795" y="1932427"/>
                <a:ext cx="11222321" cy="713831"/>
              </a:xfrm>
              <a:prstGeom prst="rect">
                <a:avLst/>
              </a:prstGeom>
              <a:blipFill>
                <a:blip r:embed="rId3"/>
                <a:stretch>
                  <a:fillRect/>
                </a:stretch>
              </a:blipFill>
            </p:spPr>
            <p:txBody>
              <a:bodyPr/>
              <a:lstStyle/>
              <a:p>
                <a:r>
                  <a:rPr lang="en-NZ">
                    <a:noFill/>
                  </a:rPr>
                  <a:t> </a:t>
                </a:r>
              </a:p>
            </p:txBody>
          </p:sp>
        </mc:Fallback>
      </mc:AlternateContent>
      <p:sp>
        <p:nvSpPr>
          <p:cNvPr id="17" name="Text Placeholder 5">
            <a:extLst>
              <a:ext uri="{FF2B5EF4-FFF2-40B4-BE49-F238E27FC236}">
                <a16:creationId xmlns:a16="http://schemas.microsoft.com/office/drawing/2014/main" id="{0EA64555-04E8-E51F-3EFE-B742B88F84D1}"/>
              </a:ext>
            </a:extLst>
          </p:cNvPr>
          <p:cNvSpPr txBox="1">
            <a:spLocks/>
          </p:cNvSpPr>
          <p:nvPr/>
        </p:nvSpPr>
        <p:spPr>
          <a:xfrm>
            <a:off x="251224" y="2722478"/>
            <a:ext cx="1795940" cy="41823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1600" dirty="0">
                <a:solidFill>
                  <a:schemeClr val="tx1"/>
                </a:solidFill>
              </a:rPr>
              <a:t>We note that:    </a:t>
            </a:r>
          </a:p>
          <a:p>
            <a:pPr algn="just">
              <a:lnSpc>
                <a:spcPct val="100000"/>
              </a:lnSpc>
            </a:pPr>
            <a:endParaRPr lang="en-NZ" altLang="ja-JP" sz="1600" dirty="0">
              <a:solidFill>
                <a:schemeClr val="tx1"/>
              </a:solidFill>
            </a:endParaRPr>
          </a:p>
        </p:txBody>
      </p:sp>
      <mc:AlternateContent xmlns:mc="http://schemas.openxmlformats.org/markup-compatibility/2006" xmlns:a14="http://schemas.microsoft.com/office/drawing/2010/main">
        <mc:Choice Requires="a14">
          <p:sp>
            <p:nvSpPr>
              <p:cNvPr id="18" name="Text Placeholder 5">
                <a:extLst>
                  <a:ext uri="{FF2B5EF4-FFF2-40B4-BE49-F238E27FC236}">
                    <a16:creationId xmlns:a16="http://schemas.microsoft.com/office/drawing/2014/main" id="{FBBABF70-8598-5F0F-7F93-020A38151BCF}"/>
                  </a:ext>
                </a:extLst>
              </p:cNvPr>
              <p:cNvSpPr txBox="1">
                <a:spLocks/>
              </p:cNvSpPr>
              <p:nvPr/>
            </p:nvSpPr>
            <p:spPr>
              <a:xfrm>
                <a:off x="376165" y="2960974"/>
                <a:ext cx="5110235" cy="769518"/>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1600" b="1" dirty="0">
                    <a:solidFill>
                      <a:schemeClr val="tx1"/>
                    </a:solidFill>
                  </a:rPr>
                  <a:t>         </a:t>
                </a:r>
                <a14:m>
                  <m:oMath xmlns:m="http://schemas.openxmlformats.org/officeDocument/2006/math">
                    <m:r>
                      <a:rPr lang="en-NZ" altLang="ja-JP" sz="1600" b="1" i="1" smtClean="0">
                        <a:solidFill>
                          <a:schemeClr val="tx1"/>
                        </a:solidFill>
                        <a:latin typeface="Cambria Math" panose="02040503050406030204" pitchFamily="18" charset="0"/>
                      </a:rPr>
                      <m:t>𝑬</m:t>
                    </m:r>
                    <m:d>
                      <m:dPr>
                        <m:begChr m:val="["/>
                        <m:endChr m:val="]"/>
                        <m:ctrlPr>
                          <a:rPr lang="en-NZ" altLang="ja-JP" sz="1600" b="1" i="1" smtClean="0">
                            <a:solidFill>
                              <a:schemeClr val="tx1"/>
                            </a:solidFill>
                            <a:latin typeface="Cambria Math" panose="02040503050406030204" pitchFamily="18" charset="0"/>
                          </a:rPr>
                        </m:ctrlPr>
                      </m:dPr>
                      <m:e>
                        <m:r>
                          <a:rPr lang="en-NZ" altLang="ja-JP" sz="1600" b="1" i="1" smtClean="0">
                            <a:solidFill>
                              <a:schemeClr val="tx1"/>
                            </a:solidFill>
                            <a:latin typeface="Cambria Math" panose="02040503050406030204" pitchFamily="18" charset="0"/>
                          </a:rPr>
                          <m:t> </m:t>
                        </m:r>
                        <m:r>
                          <a:rPr lang="en-NZ" altLang="ja-JP" sz="1600" b="1" i="1" smtClean="0">
                            <a:solidFill>
                              <a:schemeClr val="tx1"/>
                            </a:solidFill>
                            <a:latin typeface="Cambria Math" panose="02040503050406030204" pitchFamily="18" charset="0"/>
                          </a:rPr>
                          <m:t>𝑴</m:t>
                        </m:r>
                        <m:sSub>
                          <m:sSubPr>
                            <m:ctrlPr>
                              <a:rPr lang="en-NZ" altLang="ja-JP" sz="1600" b="1" i="1" smtClean="0">
                                <a:solidFill>
                                  <a:schemeClr val="tx1"/>
                                </a:solidFill>
                                <a:latin typeface="Cambria Math" panose="02040503050406030204" pitchFamily="18" charset="0"/>
                              </a:rPr>
                            </m:ctrlPr>
                          </m:sSubPr>
                          <m:e>
                            <m:r>
                              <a:rPr lang="en-NZ" altLang="ja-JP" sz="1600" b="1" i="1" smtClean="0">
                                <a:solidFill>
                                  <a:schemeClr val="tx1"/>
                                </a:solidFill>
                                <a:latin typeface="Cambria Math" panose="02040503050406030204" pitchFamily="18" charset="0"/>
                              </a:rPr>
                              <m:t>𝑺</m:t>
                            </m:r>
                          </m:e>
                          <m:sub>
                            <m:r>
                              <a:rPr lang="en-NZ" altLang="ja-JP" sz="1600" b="1" i="1" smtClean="0">
                                <a:solidFill>
                                  <a:schemeClr val="tx1"/>
                                </a:solidFill>
                                <a:latin typeface="Cambria Math" panose="02040503050406030204" pitchFamily="18" charset="0"/>
                              </a:rPr>
                              <m:t>𝑨</m:t>
                            </m:r>
                          </m:sub>
                        </m:sSub>
                        <m:r>
                          <a:rPr lang="en-NZ" altLang="ja-JP" sz="1600" b="1" i="1" smtClean="0">
                            <a:solidFill>
                              <a:schemeClr val="tx1"/>
                            </a:solidFill>
                            <a:latin typeface="Cambria Math" panose="02040503050406030204" pitchFamily="18" charset="0"/>
                          </a:rPr>
                          <m:t> </m:t>
                        </m:r>
                      </m:e>
                    </m:d>
                    <m:r>
                      <a:rPr lang="en-NZ" altLang="ja-JP" sz="1600" b="1" i="1" smtClean="0">
                        <a:solidFill>
                          <a:schemeClr val="tx1"/>
                        </a:solidFill>
                        <a:latin typeface="Cambria Math" panose="02040503050406030204" pitchFamily="18" charset="0"/>
                      </a:rPr>
                      <m:t>     =</m:t>
                    </m:r>
                    <m:sSup>
                      <m:sSupPr>
                        <m:ctrlPr>
                          <a:rPr lang="en-NZ" sz="1600" b="1" i="1">
                            <a:solidFill>
                              <a:schemeClr val="tx1"/>
                            </a:solidFill>
                            <a:latin typeface="Cambria Math" panose="02040503050406030204" pitchFamily="18" charset="0"/>
                          </a:rPr>
                        </m:ctrlPr>
                      </m:sSupPr>
                      <m:e>
                        <m:r>
                          <a:rPr lang="en-NZ" sz="1600" b="1" i="1">
                            <a:solidFill>
                              <a:schemeClr val="tx1"/>
                            </a:solidFill>
                            <a:latin typeface="Cambria Math" panose="02040503050406030204" pitchFamily="18" charset="0"/>
                          </a:rPr>
                          <m:t>𝝈</m:t>
                        </m:r>
                      </m:e>
                      <m:sup>
                        <m:r>
                          <a:rPr lang="en-NZ" sz="1600" b="1" i="1">
                            <a:solidFill>
                              <a:schemeClr val="tx1"/>
                            </a:solidFill>
                            <a:latin typeface="Cambria Math" panose="02040503050406030204" pitchFamily="18" charset="0"/>
                          </a:rPr>
                          <m:t>𝟐</m:t>
                        </m:r>
                      </m:sup>
                    </m:sSup>
                    <m:r>
                      <a:rPr lang="en-NZ" sz="1600" b="1" i="1">
                        <a:solidFill>
                          <a:schemeClr val="tx1"/>
                        </a:solidFill>
                        <a:latin typeface="Cambria Math" panose="02040503050406030204" pitchFamily="18" charset="0"/>
                      </a:rPr>
                      <m:t>+  </m:t>
                    </m:r>
                    <m:r>
                      <a:rPr lang="en-NZ" sz="1600" b="1" i="1">
                        <a:solidFill>
                          <a:schemeClr val="tx1"/>
                        </a:solidFill>
                        <a:latin typeface="Cambria Math" panose="02040503050406030204" pitchFamily="18" charset="0"/>
                      </a:rPr>
                      <m:t>𝒏</m:t>
                    </m:r>
                    <m:r>
                      <a:rPr lang="en-NZ" sz="1600" b="1" i="1">
                        <a:solidFill>
                          <a:schemeClr val="tx1"/>
                        </a:solidFill>
                        <a:latin typeface="Cambria Math" panose="02040503050406030204" pitchFamily="18" charset="0"/>
                      </a:rPr>
                      <m:t> </m:t>
                    </m:r>
                    <m:sSubSup>
                      <m:sSubSupPr>
                        <m:ctrlPr>
                          <a:rPr lang="en-NZ" sz="1600" b="1" i="1">
                            <a:solidFill>
                              <a:schemeClr val="tx1"/>
                            </a:solidFill>
                            <a:latin typeface="Cambria Math" panose="02040503050406030204" pitchFamily="18" charset="0"/>
                          </a:rPr>
                        </m:ctrlPr>
                      </m:sSubSupPr>
                      <m:e>
                        <m:r>
                          <a:rPr lang="en-NZ" sz="1600" b="1" i="1">
                            <a:solidFill>
                              <a:schemeClr val="tx1"/>
                            </a:solidFill>
                            <a:latin typeface="Cambria Math" panose="02040503050406030204" pitchFamily="18" charset="0"/>
                          </a:rPr>
                          <m:t>𝝈</m:t>
                        </m:r>
                      </m:e>
                      <m:sub>
                        <m:r>
                          <a:rPr lang="en-NZ" sz="1600" b="1" i="1">
                            <a:solidFill>
                              <a:schemeClr val="tx1"/>
                            </a:solidFill>
                            <a:latin typeface="Cambria Math" panose="02040503050406030204" pitchFamily="18" charset="0"/>
                          </a:rPr>
                          <m:t>𝑪</m:t>
                        </m:r>
                      </m:sub>
                      <m:sup>
                        <m:r>
                          <a:rPr lang="en-NZ" sz="1600" b="1" i="1">
                            <a:solidFill>
                              <a:schemeClr val="tx1"/>
                            </a:solidFill>
                            <a:latin typeface="Cambria Math" panose="02040503050406030204" pitchFamily="18" charset="0"/>
                          </a:rPr>
                          <m:t>𝟐</m:t>
                        </m:r>
                      </m:sup>
                    </m:sSubSup>
                    <m:r>
                      <a:rPr lang="en-NZ" sz="1600" b="1" i="1">
                        <a:solidFill>
                          <a:schemeClr val="tx1"/>
                        </a:solidFill>
                        <a:latin typeface="Cambria Math" panose="02040503050406030204" pitchFamily="18" charset="0"/>
                      </a:rPr>
                      <m:t>  +   </m:t>
                    </m:r>
                    <m:r>
                      <a:rPr lang="en-NZ" sz="1600" b="1" i="1">
                        <a:solidFill>
                          <a:schemeClr val="tx1"/>
                        </a:solidFill>
                        <a:latin typeface="Cambria Math" panose="02040503050406030204" pitchFamily="18" charset="0"/>
                      </a:rPr>
                      <m:t>𝒄𝒏</m:t>
                    </m:r>
                    <m:r>
                      <a:rPr lang="en-NZ" sz="1600" b="1" i="1">
                        <a:solidFill>
                          <a:schemeClr val="tx1"/>
                        </a:solidFill>
                        <a:latin typeface="Cambria Math" panose="02040503050406030204" pitchFamily="18" charset="0"/>
                      </a:rPr>
                      <m:t> </m:t>
                    </m:r>
                    <m:sSubSup>
                      <m:sSubSupPr>
                        <m:ctrlPr>
                          <a:rPr lang="en-NZ" sz="1600" b="1" i="1">
                            <a:solidFill>
                              <a:schemeClr val="tx1"/>
                            </a:solidFill>
                            <a:latin typeface="Cambria Math" panose="02040503050406030204" pitchFamily="18" charset="0"/>
                          </a:rPr>
                        </m:ctrlPr>
                      </m:sSubSupPr>
                      <m:e>
                        <m:r>
                          <a:rPr lang="en-NZ" sz="1600" b="1" i="1">
                            <a:solidFill>
                              <a:schemeClr val="tx1"/>
                            </a:solidFill>
                            <a:latin typeface="Cambria Math" panose="02040503050406030204" pitchFamily="18" charset="0"/>
                          </a:rPr>
                          <m:t>𝝈</m:t>
                        </m:r>
                      </m:e>
                      <m:sub>
                        <m:r>
                          <a:rPr lang="en-NZ" sz="1600" b="1" i="1">
                            <a:solidFill>
                              <a:schemeClr val="tx1"/>
                            </a:solidFill>
                            <a:latin typeface="Cambria Math" panose="02040503050406030204" pitchFamily="18" charset="0"/>
                          </a:rPr>
                          <m:t>𝑩</m:t>
                        </m:r>
                      </m:sub>
                      <m:sup>
                        <m:r>
                          <a:rPr lang="en-NZ" sz="1600" b="1" i="1">
                            <a:solidFill>
                              <a:schemeClr val="tx1"/>
                            </a:solidFill>
                            <a:latin typeface="Cambria Math" panose="02040503050406030204" pitchFamily="18" charset="0"/>
                          </a:rPr>
                          <m:t>𝟐</m:t>
                        </m:r>
                      </m:sup>
                    </m:sSubSup>
                    <m:r>
                      <a:rPr lang="en-NZ" sz="1600" b="1" i="1">
                        <a:solidFill>
                          <a:schemeClr val="tx1"/>
                        </a:solidFill>
                        <a:latin typeface="Cambria Math" panose="02040503050406030204" pitchFamily="18" charset="0"/>
                      </a:rPr>
                      <m:t> +  </m:t>
                    </m:r>
                    <m:r>
                      <a:rPr lang="en-NZ" sz="1600" b="1" i="1">
                        <a:solidFill>
                          <a:schemeClr val="tx1"/>
                        </a:solidFill>
                        <a:latin typeface="Cambria Math" panose="02040503050406030204" pitchFamily="18" charset="0"/>
                      </a:rPr>
                      <m:t>𝒃𝒄𝒏</m:t>
                    </m:r>
                    <m:r>
                      <a:rPr lang="en-NZ" sz="1600" b="1" i="1">
                        <a:solidFill>
                          <a:schemeClr val="tx1"/>
                        </a:solidFill>
                        <a:latin typeface="Cambria Math" panose="02040503050406030204" pitchFamily="18" charset="0"/>
                      </a:rPr>
                      <m:t> </m:t>
                    </m:r>
                    <m:r>
                      <a:rPr lang="en-NZ" sz="1600" b="1" i="1">
                        <a:solidFill>
                          <a:schemeClr val="tx1"/>
                        </a:solidFill>
                        <a:latin typeface="Cambria Math" panose="02040503050406030204" pitchFamily="18" charset="0"/>
                      </a:rPr>
                      <m:t>𝒗</m:t>
                    </m:r>
                    <m:d>
                      <m:dPr>
                        <m:ctrlPr>
                          <a:rPr lang="en-NZ" sz="1600" b="1" i="1">
                            <a:solidFill>
                              <a:schemeClr val="tx1"/>
                            </a:solidFill>
                            <a:latin typeface="Cambria Math" panose="02040503050406030204" pitchFamily="18" charset="0"/>
                          </a:rPr>
                        </m:ctrlPr>
                      </m:dPr>
                      <m:e>
                        <m:r>
                          <a:rPr lang="en-NZ" sz="1600" b="1" i="1">
                            <a:solidFill>
                              <a:schemeClr val="tx1"/>
                            </a:solidFill>
                            <a:latin typeface="Cambria Math" panose="02040503050406030204" pitchFamily="18" charset="0"/>
                          </a:rPr>
                          <m:t>𝜶</m:t>
                        </m:r>
                      </m:e>
                    </m:d>
                  </m:oMath>
                </a14:m>
                <a:endParaRPr lang="en-NZ" sz="1600" b="1" i="1" dirty="0">
                  <a:solidFill>
                    <a:schemeClr val="tx1"/>
                  </a:solidFill>
                  <a:latin typeface="Cambria Math" panose="02040503050406030204" pitchFamily="18" charset="0"/>
                </a:endParaRPr>
              </a:p>
              <a:p>
                <a:pPr algn="just">
                  <a:lnSpc>
                    <a:spcPct val="100000"/>
                  </a:lnSpc>
                </a:pPr>
                <a:endParaRPr lang="en-NZ" sz="200" b="1" i="1" dirty="0">
                  <a:solidFill>
                    <a:schemeClr val="tx1"/>
                  </a:solidFill>
                  <a:latin typeface="Cambria Math" panose="02040503050406030204" pitchFamily="18" charset="0"/>
                </a:endParaRPr>
              </a:p>
              <a:p>
                <a:pPr algn="just">
                  <a:lnSpc>
                    <a:spcPct val="100000"/>
                  </a:lnSpc>
                </a:pPr>
                <a:endParaRPr lang="en-NZ" sz="200" b="1" i="1" dirty="0">
                  <a:solidFill>
                    <a:schemeClr val="tx1"/>
                  </a:solidFill>
                  <a:latin typeface="Cambria Math" panose="02040503050406030204" pitchFamily="18" charset="0"/>
                </a:endParaRPr>
              </a:p>
              <a:p>
                <a:pPr algn="just">
                  <a:lnSpc>
                    <a:spcPct val="100000"/>
                  </a:lnSpc>
                </a:pPr>
                <a:r>
                  <a:rPr lang="en-NZ" sz="1600" dirty="0">
                    <a:solidFill>
                      <a:schemeClr val="tx1"/>
                    </a:solidFill>
                  </a:rPr>
                  <a:t>and  </a:t>
                </a:r>
                <a14:m>
                  <m:oMath xmlns:m="http://schemas.openxmlformats.org/officeDocument/2006/math">
                    <m:r>
                      <a:rPr lang="en-NZ" sz="1600" b="1" i="1" smtClean="0">
                        <a:solidFill>
                          <a:schemeClr val="tx1"/>
                        </a:solidFill>
                        <a:latin typeface="Cambria Math" panose="02040503050406030204" pitchFamily="18" charset="0"/>
                      </a:rPr>
                      <m:t>𝑬</m:t>
                    </m:r>
                    <m:d>
                      <m:dPr>
                        <m:begChr m:val="["/>
                        <m:endChr m:val="]"/>
                        <m:ctrlPr>
                          <a:rPr lang="en-NZ" sz="1600" b="1" i="1" smtClean="0">
                            <a:solidFill>
                              <a:schemeClr val="tx1"/>
                            </a:solidFill>
                            <a:latin typeface="Cambria Math" panose="02040503050406030204" pitchFamily="18" charset="0"/>
                          </a:rPr>
                        </m:ctrlPr>
                      </m:dPr>
                      <m:e>
                        <m:r>
                          <a:rPr lang="en-NZ" altLang="ja-JP" sz="1600" b="1" i="1">
                            <a:solidFill>
                              <a:schemeClr val="tx1"/>
                            </a:solidFill>
                            <a:latin typeface="Cambria Math" panose="02040503050406030204" pitchFamily="18" charset="0"/>
                          </a:rPr>
                          <m:t>𝑴</m:t>
                        </m:r>
                        <m:sSub>
                          <m:sSubPr>
                            <m:ctrlPr>
                              <a:rPr lang="en-NZ" altLang="ja-JP" sz="1600" b="1" i="1">
                                <a:solidFill>
                                  <a:schemeClr val="tx1"/>
                                </a:solidFill>
                                <a:latin typeface="Cambria Math" panose="02040503050406030204" pitchFamily="18" charset="0"/>
                              </a:rPr>
                            </m:ctrlPr>
                          </m:sSubPr>
                          <m:e>
                            <m:r>
                              <a:rPr lang="en-NZ" altLang="ja-JP" sz="1600" b="1" i="1">
                                <a:solidFill>
                                  <a:schemeClr val="tx1"/>
                                </a:solidFill>
                                <a:latin typeface="Cambria Math" panose="02040503050406030204" pitchFamily="18" charset="0"/>
                              </a:rPr>
                              <m:t>𝑺</m:t>
                            </m:r>
                          </m:e>
                          <m:sub>
                            <m:r>
                              <a:rPr lang="en-NZ" altLang="ja-JP" sz="1600" b="1" i="1">
                                <a:solidFill>
                                  <a:schemeClr val="tx1"/>
                                </a:solidFill>
                                <a:latin typeface="Cambria Math" panose="02040503050406030204" pitchFamily="18" charset="0"/>
                              </a:rPr>
                              <m:t>𝑩</m:t>
                            </m:r>
                            <m:d>
                              <m:dPr>
                                <m:ctrlPr>
                                  <a:rPr lang="en-NZ" altLang="ja-JP" sz="1600" b="1" i="1">
                                    <a:solidFill>
                                      <a:schemeClr val="tx1"/>
                                    </a:solidFill>
                                    <a:latin typeface="Cambria Math" panose="02040503050406030204" pitchFamily="18" charset="0"/>
                                  </a:rPr>
                                </m:ctrlPr>
                              </m:dPr>
                              <m:e>
                                <m:r>
                                  <a:rPr lang="en-NZ" altLang="ja-JP" sz="1600" b="1" i="1">
                                    <a:solidFill>
                                      <a:schemeClr val="tx1"/>
                                    </a:solidFill>
                                    <a:latin typeface="Cambria Math" panose="02040503050406030204" pitchFamily="18" charset="0"/>
                                  </a:rPr>
                                  <m:t>𝑨</m:t>
                                </m:r>
                              </m:e>
                            </m:d>
                            <m:r>
                              <a:rPr lang="en-NZ" altLang="ja-JP" sz="1600" b="1" i="1">
                                <a:solidFill>
                                  <a:schemeClr val="tx1"/>
                                </a:solidFill>
                                <a:latin typeface="Cambria Math" panose="02040503050406030204" pitchFamily="18" charset="0"/>
                              </a:rPr>
                              <m:t> </m:t>
                            </m:r>
                          </m:sub>
                        </m:sSub>
                      </m:e>
                    </m:d>
                    <m:r>
                      <a:rPr lang="en-NZ" sz="1600" b="1" i="1" smtClean="0">
                        <a:solidFill>
                          <a:schemeClr val="tx1"/>
                        </a:solidFill>
                        <a:latin typeface="Cambria Math" panose="02040503050406030204" pitchFamily="18" charset="0"/>
                      </a:rPr>
                      <m:t> = </m:t>
                    </m:r>
                    <m:sSup>
                      <m:sSupPr>
                        <m:ctrlPr>
                          <a:rPr lang="en-NZ" sz="1600" b="1" i="1">
                            <a:solidFill>
                              <a:schemeClr val="tx1"/>
                            </a:solidFill>
                            <a:latin typeface="Cambria Math" panose="02040503050406030204" pitchFamily="18" charset="0"/>
                          </a:rPr>
                        </m:ctrlPr>
                      </m:sSupPr>
                      <m:e>
                        <m:r>
                          <a:rPr lang="en-NZ" sz="1600" b="1" i="1">
                            <a:solidFill>
                              <a:schemeClr val="tx1"/>
                            </a:solidFill>
                            <a:latin typeface="Cambria Math" panose="02040503050406030204" pitchFamily="18" charset="0"/>
                          </a:rPr>
                          <m:t>𝝈</m:t>
                        </m:r>
                      </m:e>
                      <m:sup>
                        <m:r>
                          <a:rPr lang="en-NZ" sz="1600" b="1" i="1">
                            <a:solidFill>
                              <a:schemeClr val="tx1"/>
                            </a:solidFill>
                            <a:latin typeface="Cambria Math" panose="02040503050406030204" pitchFamily="18" charset="0"/>
                          </a:rPr>
                          <m:t>𝟐</m:t>
                        </m:r>
                      </m:sup>
                    </m:sSup>
                    <m:r>
                      <a:rPr lang="en-NZ" sz="1600" b="1" i="1">
                        <a:solidFill>
                          <a:schemeClr val="tx1"/>
                        </a:solidFill>
                        <a:latin typeface="Cambria Math" panose="02040503050406030204" pitchFamily="18" charset="0"/>
                      </a:rPr>
                      <m:t>+  </m:t>
                    </m:r>
                    <m:r>
                      <a:rPr lang="en-NZ" sz="1600" b="1" i="1">
                        <a:solidFill>
                          <a:schemeClr val="tx1"/>
                        </a:solidFill>
                        <a:latin typeface="Cambria Math" panose="02040503050406030204" pitchFamily="18" charset="0"/>
                      </a:rPr>
                      <m:t>𝒏</m:t>
                    </m:r>
                    <m:r>
                      <a:rPr lang="en-NZ" sz="1600" b="1" i="1">
                        <a:solidFill>
                          <a:schemeClr val="tx1"/>
                        </a:solidFill>
                        <a:latin typeface="Cambria Math" panose="02040503050406030204" pitchFamily="18" charset="0"/>
                      </a:rPr>
                      <m:t> </m:t>
                    </m:r>
                    <m:sSubSup>
                      <m:sSubSupPr>
                        <m:ctrlPr>
                          <a:rPr lang="en-NZ" sz="1600" b="1" i="1">
                            <a:solidFill>
                              <a:schemeClr val="tx1"/>
                            </a:solidFill>
                            <a:latin typeface="Cambria Math" panose="02040503050406030204" pitchFamily="18" charset="0"/>
                          </a:rPr>
                        </m:ctrlPr>
                      </m:sSubSupPr>
                      <m:e>
                        <m:r>
                          <a:rPr lang="en-NZ" sz="1600" b="1" i="1">
                            <a:solidFill>
                              <a:schemeClr val="tx1"/>
                            </a:solidFill>
                            <a:latin typeface="Cambria Math" panose="02040503050406030204" pitchFamily="18" charset="0"/>
                          </a:rPr>
                          <m:t>𝝈</m:t>
                        </m:r>
                      </m:e>
                      <m:sub>
                        <m:r>
                          <a:rPr lang="en-NZ" sz="1600" b="1" i="1">
                            <a:solidFill>
                              <a:schemeClr val="tx1"/>
                            </a:solidFill>
                            <a:latin typeface="Cambria Math" panose="02040503050406030204" pitchFamily="18" charset="0"/>
                          </a:rPr>
                          <m:t>𝑪</m:t>
                        </m:r>
                      </m:sub>
                      <m:sup>
                        <m:r>
                          <a:rPr lang="en-NZ" sz="1600" b="1" i="1">
                            <a:solidFill>
                              <a:schemeClr val="tx1"/>
                            </a:solidFill>
                            <a:latin typeface="Cambria Math" panose="02040503050406030204" pitchFamily="18" charset="0"/>
                          </a:rPr>
                          <m:t>𝟐</m:t>
                        </m:r>
                      </m:sup>
                    </m:sSubSup>
                    <m:r>
                      <a:rPr lang="en-NZ" sz="1600" b="1" i="1">
                        <a:solidFill>
                          <a:schemeClr val="tx1"/>
                        </a:solidFill>
                        <a:latin typeface="Cambria Math" panose="02040503050406030204" pitchFamily="18" charset="0"/>
                      </a:rPr>
                      <m:t>  +   </m:t>
                    </m:r>
                    <m:r>
                      <a:rPr lang="en-NZ" sz="1600" b="1" i="1">
                        <a:solidFill>
                          <a:schemeClr val="tx1"/>
                        </a:solidFill>
                        <a:latin typeface="Cambria Math" panose="02040503050406030204" pitchFamily="18" charset="0"/>
                      </a:rPr>
                      <m:t>𝒄𝒏</m:t>
                    </m:r>
                    <m:r>
                      <a:rPr lang="en-NZ" sz="1600" b="1" i="1">
                        <a:solidFill>
                          <a:schemeClr val="tx1"/>
                        </a:solidFill>
                        <a:latin typeface="Cambria Math" panose="02040503050406030204" pitchFamily="18" charset="0"/>
                      </a:rPr>
                      <m:t> </m:t>
                    </m:r>
                    <m:sSubSup>
                      <m:sSubSupPr>
                        <m:ctrlPr>
                          <a:rPr lang="en-NZ" sz="1600" b="1" i="1">
                            <a:solidFill>
                              <a:schemeClr val="tx1"/>
                            </a:solidFill>
                            <a:latin typeface="Cambria Math" panose="02040503050406030204" pitchFamily="18" charset="0"/>
                          </a:rPr>
                        </m:ctrlPr>
                      </m:sSubSupPr>
                      <m:e>
                        <m:r>
                          <a:rPr lang="en-NZ" sz="1600" b="1" i="1">
                            <a:solidFill>
                              <a:schemeClr val="tx1"/>
                            </a:solidFill>
                            <a:latin typeface="Cambria Math" panose="02040503050406030204" pitchFamily="18" charset="0"/>
                          </a:rPr>
                          <m:t>𝝈</m:t>
                        </m:r>
                      </m:e>
                      <m:sub>
                        <m:r>
                          <a:rPr lang="en-NZ" sz="1600" b="1" i="1">
                            <a:solidFill>
                              <a:schemeClr val="tx1"/>
                            </a:solidFill>
                            <a:latin typeface="Cambria Math" panose="02040503050406030204" pitchFamily="18" charset="0"/>
                          </a:rPr>
                          <m:t>𝑩</m:t>
                        </m:r>
                      </m:sub>
                      <m:sup>
                        <m:r>
                          <a:rPr lang="en-NZ" sz="1600" b="1" i="1">
                            <a:solidFill>
                              <a:schemeClr val="tx1"/>
                            </a:solidFill>
                            <a:latin typeface="Cambria Math" panose="02040503050406030204" pitchFamily="18" charset="0"/>
                          </a:rPr>
                          <m:t>𝟐</m:t>
                        </m:r>
                      </m:sup>
                    </m:sSubSup>
                  </m:oMath>
                </a14:m>
                <a:endParaRPr lang="en-NZ" sz="1600" b="1" i="1" dirty="0">
                  <a:solidFill>
                    <a:schemeClr val="tx1"/>
                  </a:solidFill>
                  <a:latin typeface="Cambria Math" panose="02040503050406030204" pitchFamily="18" charset="0"/>
                </a:endParaRPr>
              </a:p>
            </p:txBody>
          </p:sp>
        </mc:Choice>
        <mc:Fallback xmlns="">
          <p:sp>
            <p:nvSpPr>
              <p:cNvPr id="18" name="Text Placeholder 5">
                <a:extLst>
                  <a:ext uri="{FF2B5EF4-FFF2-40B4-BE49-F238E27FC236}">
                    <a16:creationId xmlns:a16="http://schemas.microsoft.com/office/drawing/2014/main" id="{FBBABF70-8598-5F0F-7F93-020A38151BCF}"/>
                  </a:ext>
                </a:extLst>
              </p:cNvPr>
              <p:cNvSpPr txBox="1">
                <a:spLocks noRot="1" noChangeAspect="1" noMove="1" noResize="1" noEditPoints="1" noAdjustHandles="1" noChangeArrowheads="1" noChangeShapeType="1" noTextEdit="1"/>
              </p:cNvSpPr>
              <p:nvPr/>
            </p:nvSpPr>
            <p:spPr>
              <a:xfrm>
                <a:off x="376165" y="2960974"/>
                <a:ext cx="5110235" cy="769518"/>
              </a:xfrm>
              <a:prstGeom prst="rect">
                <a:avLst/>
              </a:prstGeom>
              <a:blipFill>
                <a:blip r:embed="rId4"/>
                <a:stretch>
                  <a:fillRect l="-716"/>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20" name="Text Placeholder 5">
                <a:extLst>
                  <a:ext uri="{FF2B5EF4-FFF2-40B4-BE49-F238E27FC236}">
                    <a16:creationId xmlns:a16="http://schemas.microsoft.com/office/drawing/2014/main" id="{5339C500-3847-4D5C-B4AF-DD9D79E63B18}"/>
                  </a:ext>
                </a:extLst>
              </p:cNvPr>
              <p:cNvSpPr txBox="1">
                <a:spLocks/>
              </p:cNvSpPr>
              <p:nvPr/>
            </p:nvSpPr>
            <p:spPr>
              <a:xfrm>
                <a:off x="5699749" y="2899954"/>
                <a:ext cx="3080745" cy="67534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600" b="0" i="1" u="none" strike="noStrike" kern="1200" cap="none" spc="0" normalizeH="0" baseline="0" noProof="0" dirty="0">
                    <a:ln>
                      <a:noFill/>
                    </a:ln>
                    <a:solidFill>
                      <a:schemeClr val="bg2">
                        <a:lumMod val="50000"/>
                      </a:schemeClr>
                    </a:solidFill>
                    <a:effectLst/>
                    <a:uLnTx/>
                    <a:uFillTx/>
                    <a:ea typeface="游ゴシック" panose="020B0400000000000000" pitchFamily="34" charset="-128"/>
                    <a:cs typeface="+mn-cs"/>
                  </a:rPr>
                  <a:t>Where   </a:t>
                </a:r>
                <a14:m>
                  <m:oMath xmlns:m="http://schemas.openxmlformats.org/officeDocument/2006/math">
                    <m:r>
                      <a:rPr kumimoji="1" lang="en-NZ" altLang="ja-JP" sz="1600" b="1" i="1" u="none" strike="noStrike" kern="1200" cap="none" spc="0" normalizeH="0" baseline="0" noProof="0" smtClean="0">
                        <a:ln>
                          <a:noFill/>
                        </a:ln>
                        <a:solidFill>
                          <a:schemeClr val="bg2">
                            <a:lumMod val="50000"/>
                          </a:schemeClr>
                        </a:solidFill>
                        <a:effectLst/>
                        <a:uLnTx/>
                        <a:uFillTx/>
                        <a:latin typeface="Cambria Math" panose="02040503050406030204" pitchFamily="18" charset="0"/>
                        <a:ea typeface="游ゴシック" panose="020B0400000000000000" pitchFamily="34" charset="-128"/>
                        <a:cs typeface="+mn-cs"/>
                      </a:rPr>
                      <m:t>𝒗</m:t>
                    </m:r>
                    <m:d>
                      <m:dPr>
                        <m:ctrlPr>
                          <a:rPr kumimoji="1" lang="en-NZ" altLang="ja-JP" sz="1600" b="1" i="1" u="none" strike="noStrike" kern="1200" cap="none" spc="0" normalizeH="0" baseline="0" noProof="0" smtClean="0">
                            <a:ln>
                              <a:noFill/>
                            </a:ln>
                            <a:solidFill>
                              <a:schemeClr val="bg2">
                                <a:lumMod val="50000"/>
                              </a:schemeClr>
                            </a:solidFill>
                            <a:effectLst/>
                            <a:uLnTx/>
                            <a:uFillTx/>
                            <a:latin typeface="Cambria Math" panose="02040503050406030204" pitchFamily="18" charset="0"/>
                            <a:ea typeface="游ゴシック" panose="020B0400000000000000" pitchFamily="34" charset="-128"/>
                            <a:cs typeface="+mn-cs"/>
                          </a:rPr>
                        </m:ctrlPr>
                      </m:dPr>
                      <m:e>
                        <m:r>
                          <a:rPr kumimoji="1" lang="en-NZ" altLang="ja-JP" sz="1600" b="1" i="1" u="none" strike="noStrike" kern="1200" cap="none" spc="0" normalizeH="0" baseline="0" noProof="0" smtClean="0">
                            <a:ln>
                              <a:noFill/>
                            </a:ln>
                            <a:solidFill>
                              <a:schemeClr val="bg2">
                                <a:lumMod val="50000"/>
                              </a:schemeClr>
                            </a:solidFill>
                            <a:effectLst/>
                            <a:uLnTx/>
                            <a:uFillTx/>
                            <a:latin typeface="Cambria Math" panose="02040503050406030204" pitchFamily="18" charset="0"/>
                            <a:ea typeface="游ゴシック" panose="020B0400000000000000" pitchFamily="34" charset="-128"/>
                            <a:cs typeface="+mn-cs"/>
                          </a:rPr>
                          <m:t>𝜶</m:t>
                        </m:r>
                      </m:e>
                    </m:d>
                    <m:r>
                      <a:rPr kumimoji="1" lang="en-NZ" altLang="ja-JP" sz="1600" b="1" i="1" u="none" strike="noStrike" kern="1200" cap="none" spc="0" normalizeH="0" baseline="0" noProof="0" smtClean="0">
                        <a:ln>
                          <a:noFill/>
                        </a:ln>
                        <a:solidFill>
                          <a:schemeClr val="bg2">
                            <a:lumMod val="50000"/>
                          </a:schemeClr>
                        </a:solidFill>
                        <a:effectLst/>
                        <a:uLnTx/>
                        <a:uFillTx/>
                        <a:latin typeface="Cambria Math" panose="02040503050406030204" pitchFamily="18" charset="0"/>
                        <a:ea typeface="游ゴシック" panose="020B0400000000000000" pitchFamily="34" charset="-128"/>
                        <a:cs typeface="+mn-cs"/>
                      </a:rPr>
                      <m:t>= </m:t>
                    </m:r>
                    <m:nary>
                      <m:naryPr>
                        <m:chr m:val="∑"/>
                        <m:ctrlPr>
                          <a:rPr kumimoji="1" lang="en-NZ" altLang="ja-JP" sz="1600" b="1" i="1" u="none" strike="noStrike" kern="1200" cap="none" spc="0" normalizeH="0" baseline="0" noProof="0" smtClean="0">
                            <a:ln>
                              <a:noFill/>
                            </a:ln>
                            <a:solidFill>
                              <a:schemeClr val="bg2">
                                <a:lumMod val="50000"/>
                              </a:schemeClr>
                            </a:solidFill>
                            <a:effectLst/>
                            <a:uLnTx/>
                            <a:uFillTx/>
                            <a:latin typeface="Cambria Math" panose="02040503050406030204" pitchFamily="18" charset="0"/>
                            <a:ea typeface="游ゴシック" panose="020B0400000000000000" pitchFamily="34" charset="-128"/>
                            <a:cs typeface="+mn-cs"/>
                          </a:rPr>
                        </m:ctrlPr>
                      </m:naryPr>
                      <m:sub>
                        <m:r>
                          <m:rPr>
                            <m:brk m:alnAt="23"/>
                          </m:rPr>
                          <a:rPr kumimoji="1" lang="en-NZ" altLang="ja-JP" sz="1600" b="1" i="1" u="none" strike="noStrike" kern="1200" cap="none" spc="0" normalizeH="0" baseline="0" noProof="0" smtClean="0">
                            <a:ln>
                              <a:noFill/>
                            </a:ln>
                            <a:solidFill>
                              <a:schemeClr val="bg2">
                                <a:lumMod val="50000"/>
                              </a:schemeClr>
                            </a:solidFill>
                            <a:effectLst/>
                            <a:uLnTx/>
                            <a:uFillTx/>
                            <a:latin typeface="Cambria Math" panose="02040503050406030204" pitchFamily="18" charset="0"/>
                            <a:ea typeface="游ゴシック" panose="020B0400000000000000" pitchFamily="34" charset="-128"/>
                            <a:cs typeface="+mn-cs"/>
                          </a:rPr>
                          <m:t>𝒊</m:t>
                        </m:r>
                        <m:r>
                          <a:rPr kumimoji="1" lang="en-NZ" altLang="ja-JP" sz="1600" b="1" i="1" u="none" strike="noStrike" kern="1200" cap="none" spc="0" normalizeH="0" baseline="0" noProof="0" smtClean="0">
                            <a:ln>
                              <a:noFill/>
                            </a:ln>
                            <a:solidFill>
                              <a:schemeClr val="bg2">
                                <a:lumMod val="50000"/>
                              </a:schemeClr>
                            </a:solidFill>
                            <a:effectLst/>
                            <a:uLnTx/>
                            <a:uFillTx/>
                            <a:latin typeface="Cambria Math" panose="02040503050406030204" pitchFamily="18" charset="0"/>
                            <a:ea typeface="游ゴシック" panose="020B0400000000000000" pitchFamily="34" charset="-128"/>
                            <a:cs typeface="+mn-cs"/>
                          </a:rPr>
                          <m:t>=</m:t>
                        </m:r>
                        <m:r>
                          <a:rPr kumimoji="1" lang="en-NZ" altLang="ja-JP" sz="1600" b="1" i="1" u="none" strike="noStrike" kern="1200" cap="none" spc="0" normalizeH="0" baseline="0" noProof="0" smtClean="0">
                            <a:ln>
                              <a:noFill/>
                            </a:ln>
                            <a:solidFill>
                              <a:schemeClr val="bg2">
                                <a:lumMod val="50000"/>
                              </a:schemeClr>
                            </a:solidFill>
                            <a:effectLst/>
                            <a:uLnTx/>
                            <a:uFillTx/>
                            <a:latin typeface="Cambria Math" panose="02040503050406030204" pitchFamily="18" charset="0"/>
                            <a:ea typeface="游ゴシック" panose="020B0400000000000000" pitchFamily="34" charset="-128"/>
                            <a:cs typeface="+mn-cs"/>
                          </a:rPr>
                          <m:t>𝟏</m:t>
                        </m:r>
                      </m:sub>
                      <m:sup>
                        <m:r>
                          <a:rPr kumimoji="1" lang="en-NZ" altLang="ja-JP" sz="1600" b="1" i="1" u="none" strike="noStrike" kern="1200" cap="none" spc="0" normalizeH="0" baseline="0" noProof="0" smtClean="0">
                            <a:ln>
                              <a:noFill/>
                            </a:ln>
                            <a:solidFill>
                              <a:schemeClr val="bg2">
                                <a:lumMod val="50000"/>
                              </a:schemeClr>
                            </a:solidFill>
                            <a:effectLst/>
                            <a:uLnTx/>
                            <a:uFillTx/>
                            <a:latin typeface="Cambria Math" panose="02040503050406030204" pitchFamily="18" charset="0"/>
                            <a:ea typeface="游ゴシック" panose="020B0400000000000000" pitchFamily="34" charset="-128"/>
                            <a:cs typeface="+mn-cs"/>
                          </a:rPr>
                          <m:t>𝒂</m:t>
                        </m:r>
                      </m:sup>
                      <m:e>
                        <m:f>
                          <m:fPr>
                            <m:ctrlPr>
                              <a:rPr kumimoji="1" lang="en-NZ" altLang="ja-JP" sz="1600" b="1" i="1" u="none" strike="noStrike" kern="1200" cap="none" spc="0" normalizeH="0" baseline="0" noProof="0" smtClean="0">
                                <a:ln>
                                  <a:noFill/>
                                </a:ln>
                                <a:solidFill>
                                  <a:schemeClr val="bg2">
                                    <a:lumMod val="50000"/>
                                  </a:schemeClr>
                                </a:solidFill>
                                <a:effectLst/>
                                <a:uLnTx/>
                                <a:uFillTx/>
                                <a:latin typeface="Cambria Math" panose="02040503050406030204" pitchFamily="18" charset="0"/>
                                <a:ea typeface="游ゴシック" panose="020B0400000000000000" pitchFamily="34" charset="-128"/>
                                <a:cs typeface="+mn-cs"/>
                              </a:rPr>
                            </m:ctrlPr>
                          </m:fPr>
                          <m:num>
                            <m:sSubSup>
                              <m:sSubSupPr>
                                <m:ctrlPr>
                                  <a:rPr kumimoji="1" lang="en-NZ" altLang="ja-JP" sz="1600" b="1" i="1" u="none" strike="noStrike" kern="1200" cap="none" spc="0" normalizeH="0" baseline="0" noProof="0" smtClean="0">
                                    <a:ln>
                                      <a:noFill/>
                                    </a:ln>
                                    <a:solidFill>
                                      <a:schemeClr val="bg2">
                                        <a:lumMod val="50000"/>
                                      </a:schemeClr>
                                    </a:solidFill>
                                    <a:effectLst/>
                                    <a:uLnTx/>
                                    <a:uFillTx/>
                                    <a:latin typeface="Cambria Math" panose="02040503050406030204" pitchFamily="18" charset="0"/>
                                    <a:ea typeface="游ゴシック" panose="020B0400000000000000" pitchFamily="34" charset="-128"/>
                                    <a:cs typeface="+mn-cs"/>
                                  </a:rPr>
                                </m:ctrlPr>
                              </m:sSubSupPr>
                              <m:e>
                                <m:r>
                                  <a:rPr kumimoji="1" lang="en-NZ" altLang="ja-JP" sz="1600" b="1" i="1" u="none" strike="noStrike" kern="1200" cap="none" spc="0" normalizeH="0" baseline="0" noProof="0" smtClean="0">
                                    <a:ln>
                                      <a:noFill/>
                                    </a:ln>
                                    <a:solidFill>
                                      <a:schemeClr val="bg2">
                                        <a:lumMod val="50000"/>
                                      </a:schemeClr>
                                    </a:solidFill>
                                    <a:effectLst/>
                                    <a:uLnTx/>
                                    <a:uFillTx/>
                                    <a:latin typeface="Cambria Math" panose="02040503050406030204" pitchFamily="18" charset="0"/>
                                    <a:ea typeface="游ゴシック" panose="020B0400000000000000" pitchFamily="34" charset="-128"/>
                                    <a:cs typeface="+mn-cs"/>
                                  </a:rPr>
                                  <m:t>𝜶</m:t>
                                </m:r>
                              </m:e>
                              <m:sub>
                                <m:r>
                                  <a:rPr kumimoji="1" lang="en-NZ" altLang="ja-JP" sz="1600" b="1" i="1" u="none" strike="noStrike" kern="1200" cap="none" spc="0" normalizeH="0" baseline="0" noProof="0" smtClean="0">
                                    <a:ln>
                                      <a:noFill/>
                                    </a:ln>
                                    <a:solidFill>
                                      <a:schemeClr val="bg2">
                                        <a:lumMod val="50000"/>
                                      </a:schemeClr>
                                    </a:solidFill>
                                    <a:effectLst/>
                                    <a:uLnTx/>
                                    <a:uFillTx/>
                                    <a:latin typeface="Cambria Math" panose="02040503050406030204" pitchFamily="18" charset="0"/>
                                    <a:ea typeface="游ゴシック" panose="020B0400000000000000" pitchFamily="34" charset="-128"/>
                                    <a:cs typeface="+mn-cs"/>
                                  </a:rPr>
                                  <m:t>𝒊</m:t>
                                </m:r>
                              </m:sub>
                              <m:sup>
                                <m:r>
                                  <a:rPr kumimoji="1" lang="en-NZ" altLang="ja-JP" sz="1600" b="1" i="1" u="none" strike="noStrike" kern="1200" cap="none" spc="0" normalizeH="0" baseline="0" noProof="0" smtClean="0">
                                    <a:ln>
                                      <a:noFill/>
                                    </a:ln>
                                    <a:solidFill>
                                      <a:schemeClr val="bg2">
                                        <a:lumMod val="50000"/>
                                      </a:schemeClr>
                                    </a:solidFill>
                                    <a:effectLst/>
                                    <a:uLnTx/>
                                    <a:uFillTx/>
                                    <a:latin typeface="Cambria Math" panose="02040503050406030204" pitchFamily="18" charset="0"/>
                                    <a:ea typeface="游ゴシック" panose="020B0400000000000000" pitchFamily="34" charset="-128"/>
                                    <a:cs typeface="+mn-cs"/>
                                  </a:rPr>
                                  <m:t>𝟐</m:t>
                                </m:r>
                              </m:sup>
                            </m:sSubSup>
                          </m:num>
                          <m:den>
                            <m:r>
                              <a:rPr kumimoji="1" lang="en-NZ" altLang="ja-JP" sz="1600" b="1" i="1" u="none" strike="noStrike" kern="1200" cap="none" spc="0" normalizeH="0" baseline="0" noProof="0" smtClean="0">
                                <a:ln>
                                  <a:noFill/>
                                </a:ln>
                                <a:solidFill>
                                  <a:schemeClr val="bg2">
                                    <a:lumMod val="50000"/>
                                  </a:schemeClr>
                                </a:solidFill>
                                <a:effectLst/>
                                <a:uLnTx/>
                                <a:uFillTx/>
                                <a:latin typeface="Cambria Math" panose="02040503050406030204" pitchFamily="18" charset="0"/>
                                <a:ea typeface="游ゴシック" panose="020B0400000000000000" pitchFamily="34" charset="-128"/>
                                <a:cs typeface="+mn-cs"/>
                              </a:rPr>
                              <m:t>𝒂</m:t>
                            </m:r>
                            <m:r>
                              <a:rPr kumimoji="1" lang="en-NZ" altLang="ja-JP" sz="1600" b="1" i="1" u="none" strike="noStrike" kern="1200" cap="none" spc="0" normalizeH="0" baseline="0" noProof="0" smtClean="0">
                                <a:ln>
                                  <a:noFill/>
                                </a:ln>
                                <a:solidFill>
                                  <a:schemeClr val="bg2">
                                    <a:lumMod val="50000"/>
                                  </a:schemeClr>
                                </a:solidFill>
                                <a:effectLst/>
                                <a:uLnTx/>
                                <a:uFillTx/>
                                <a:latin typeface="Cambria Math" panose="02040503050406030204" pitchFamily="18" charset="0"/>
                                <a:ea typeface="游ゴシック" panose="020B0400000000000000" pitchFamily="34" charset="-128"/>
                                <a:cs typeface="+mn-cs"/>
                              </a:rPr>
                              <m:t>−</m:t>
                            </m:r>
                            <m:r>
                              <a:rPr kumimoji="1" lang="en-NZ" altLang="ja-JP" sz="1600" b="1" i="1" u="none" strike="noStrike" kern="1200" cap="none" spc="0" normalizeH="0" baseline="0" noProof="0" smtClean="0">
                                <a:ln>
                                  <a:noFill/>
                                </a:ln>
                                <a:solidFill>
                                  <a:schemeClr val="bg2">
                                    <a:lumMod val="50000"/>
                                  </a:schemeClr>
                                </a:solidFill>
                                <a:effectLst/>
                                <a:uLnTx/>
                                <a:uFillTx/>
                                <a:latin typeface="Cambria Math" panose="02040503050406030204" pitchFamily="18" charset="0"/>
                                <a:ea typeface="游ゴシック" panose="020B0400000000000000" pitchFamily="34" charset="-128"/>
                                <a:cs typeface="+mn-cs"/>
                              </a:rPr>
                              <m:t>𝟏</m:t>
                            </m:r>
                          </m:den>
                        </m:f>
                      </m:e>
                    </m:nary>
                  </m:oMath>
                </a14:m>
                <a:endParaRPr kumimoji="1" lang="en-NZ" altLang="ja-JP" sz="1600" b="1" i="1" u="none" strike="noStrike" kern="1200" cap="none" spc="0" normalizeH="0" baseline="0" noProof="0" dirty="0">
                  <a:ln>
                    <a:noFill/>
                  </a:ln>
                  <a:solidFill>
                    <a:schemeClr val="bg2">
                      <a:lumMod val="50000"/>
                    </a:schemeClr>
                  </a:solidFill>
                  <a:effectLst/>
                  <a:uLnTx/>
                  <a:uFillTx/>
                  <a:latin typeface="Calibri" panose="020F0502020204030204"/>
                  <a:ea typeface="游ゴシック" panose="020B0400000000000000" pitchFamily="34" charset="-128"/>
                  <a:cs typeface="+mn-cs"/>
                </a:endParaRPr>
              </a:p>
            </p:txBody>
          </p:sp>
        </mc:Choice>
        <mc:Fallback xmlns="">
          <p:sp>
            <p:nvSpPr>
              <p:cNvPr id="20" name="Text Placeholder 5">
                <a:extLst>
                  <a:ext uri="{FF2B5EF4-FFF2-40B4-BE49-F238E27FC236}">
                    <a16:creationId xmlns:a16="http://schemas.microsoft.com/office/drawing/2014/main" id="{5339C500-3847-4D5C-B4AF-DD9D79E63B18}"/>
                  </a:ext>
                </a:extLst>
              </p:cNvPr>
              <p:cNvSpPr txBox="1">
                <a:spLocks noRot="1" noChangeAspect="1" noMove="1" noResize="1" noEditPoints="1" noAdjustHandles="1" noChangeArrowheads="1" noChangeShapeType="1" noTextEdit="1"/>
              </p:cNvSpPr>
              <p:nvPr/>
            </p:nvSpPr>
            <p:spPr>
              <a:xfrm>
                <a:off x="5699749" y="2899954"/>
                <a:ext cx="3080745" cy="675343"/>
              </a:xfrm>
              <a:prstGeom prst="rect">
                <a:avLst/>
              </a:prstGeom>
              <a:blipFill>
                <a:blip r:embed="rId5"/>
                <a:stretch>
                  <a:fillRect l="-1188" t="-40000" b="-51818"/>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22" name="Text Placeholder 5">
                <a:extLst>
                  <a:ext uri="{FF2B5EF4-FFF2-40B4-BE49-F238E27FC236}">
                    <a16:creationId xmlns:a16="http://schemas.microsoft.com/office/drawing/2014/main" id="{1DA73B19-4F82-C9B6-C15F-ADC56FEFB721}"/>
                  </a:ext>
                </a:extLst>
              </p:cNvPr>
              <p:cNvSpPr txBox="1">
                <a:spLocks/>
              </p:cNvSpPr>
              <p:nvPr/>
            </p:nvSpPr>
            <p:spPr>
              <a:xfrm>
                <a:off x="202155" y="3897209"/>
                <a:ext cx="9052015" cy="41823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1600" dirty="0">
                    <a:solidFill>
                      <a:schemeClr val="tx1"/>
                    </a:solidFill>
                  </a:rPr>
                  <a:t>On the one hand  if </a:t>
                </a:r>
                <a:r>
                  <a:rPr lang="en-NZ" altLang="ja-JP" sz="1600" b="1" i="1" dirty="0">
                    <a:solidFill>
                      <a:schemeClr val="tx1"/>
                    </a:solidFill>
                  </a:rPr>
                  <a:t>H</a:t>
                </a:r>
                <a:r>
                  <a:rPr lang="en-NZ" altLang="ja-JP" sz="1600" b="1" i="1" baseline="-25000" dirty="0">
                    <a:solidFill>
                      <a:schemeClr val="tx1"/>
                    </a:solidFill>
                  </a:rPr>
                  <a:t>0</a:t>
                </a:r>
                <a:r>
                  <a:rPr lang="en-NZ" altLang="ja-JP" sz="1600" dirty="0">
                    <a:solidFill>
                      <a:schemeClr val="tx1"/>
                    </a:solidFill>
                  </a:rPr>
                  <a:t> is true        =&gt;      </a:t>
                </a:r>
                <a14:m>
                  <m:oMath xmlns:m="http://schemas.openxmlformats.org/officeDocument/2006/math">
                    <m:sSub>
                      <m:sSubPr>
                        <m:ctrlPr>
                          <a:rPr lang="en-NZ" altLang="ja-JP" sz="1600" b="1" i="1" smtClean="0">
                            <a:solidFill>
                              <a:schemeClr val="tx1"/>
                            </a:solidFill>
                            <a:latin typeface="Cambria Math" panose="02040503050406030204" pitchFamily="18" charset="0"/>
                          </a:rPr>
                        </m:ctrlPr>
                      </m:sSubPr>
                      <m:e>
                        <m:r>
                          <a:rPr lang="en-NZ" altLang="ja-JP" sz="1600" b="1" i="1" smtClean="0">
                            <a:solidFill>
                              <a:schemeClr val="tx1"/>
                            </a:solidFill>
                            <a:latin typeface="Cambria Math" panose="02040503050406030204" pitchFamily="18" charset="0"/>
                          </a:rPr>
                          <m:t>𝜶</m:t>
                        </m:r>
                      </m:e>
                      <m:sub>
                        <m:r>
                          <a:rPr lang="en-NZ" altLang="ja-JP" sz="1600" b="1" i="1" smtClean="0">
                            <a:solidFill>
                              <a:schemeClr val="tx1"/>
                            </a:solidFill>
                            <a:latin typeface="Cambria Math" panose="02040503050406030204" pitchFamily="18" charset="0"/>
                          </a:rPr>
                          <m:t>𝒊</m:t>
                        </m:r>
                      </m:sub>
                    </m:sSub>
                    <m:r>
                      <a:rPr lang="en-NZ" altLang="ja-JP" sz="1600" b="1" i="1" smtClean="0">
                        <a:solidFill>
                          <a:schemeClr val="tx1"/>
                        </a:solidFill>
                        <a:latin typeface="Cambria Math" panose="02040503050406030204" pitchFamily="18" charset="0"/>
                      </a:rPr>
                      <m:t> =  </m:t>
                    </m:r>
                    <m:r>
                      <a:rPr lang="en-NZ" altLang="ja-JP" sz="1600" b="1" i="1" smtClean="0">
                        <a:solidFill>
                          <a:schemeClr val="tx1"/>
                        </a:solidFill>
                        <a:latin typeface="Cambria Math" panose="02040503050406030204" pitchFamily="18" charset="0"/>
                      </a:rPr>
                      <m:t>𝟎</m:t>
                    </m:r>
                    <m:r>
                      <a:rPr lang="en-NZ" altLang="ja-JP" sz="1600" b="1" i="1" smtClean="0">
                        <a:solidFill>
                          <a:schemeClr val="tx1"/>
                        </a:solidFill>
                        <a:latin typeface="Cambria Math" panose="02040503050406030204" pitchFamily="18" charset="0"/>
                      </a:rPr>
                      <m:t>  ∀ </m:t>
                    </m:r>
                    <m:r>
                      <a:rPr lang="en-NZ" altLang="ja-JP" sz="1600" b="1" i="1" smtClean="0">
                        <a:solidFill>
                          <a:schemeClr val="tx1"/>
                        </a:solidFill>
                        <a:latin typeface="Cambria Math" panose="02040503050406030204" pitchFamily="18" charset="0"/>
                      </a:rPr>
                      <m:t>𝒊</m:t>
                    </m:r>
                    <m:r>
                      <a:rPr lang="en-NZ" altLang="ja-JP" sz="1600" b="1" i="1" smtClean="0">
                        <a:solidFill>
                          <a:schemeClr val="tx1"/>
                        </a:solidFill>
                        <a:latin typeface="Cambria Math" panose="02040503050406030204" pitchFamily="18" charset="0"/>
                      </a:rPr>
                      <m:t>=</m:t>
                    </m:r>
                    <m:r>
                      <a:rPr lang="en-NZ" altLang="ja-JP" sz="1600" b="1" i="1" smtClean="0">
                        <a:solidFill>
                          <a:schemeClr val="tx1"/>
                        </a:solidFill>
                        <a:latin typeface="Cambria Math" panose="02040503050406030204" pitchFamily="18" charset="0"/>
                      </a:rPr>
                      <m:t>𝟏</m:t>
                    </m:r>
                    <m:r>
                      <a:rPr lang="en-NZ" altLang="ja-JP" sz="1600" b="1" i="1" smtClean="0">
                        <a:solidFill>
                          <a:schemeClr val="tx1"/>
                        </a:solidFill>
                        <a:latin typeface="Cambria Math" panose="02040503050406030204" pitchFamily="18" charset="0"/>
                      </a:rPr>
                      <m:t>, …, </m:t>
                    </m:r>
                    <m:r>
                      <a:rPr lang="en-NZ" altLang="ja-JP" sz="1600" b="1" i="1" smtClean="0">
                        <a:solidFill>
                          <a:schemeClr val="tx1"/>
                        </a:solidFill>
                        <a:latin typeface="Cambria Math" panose="02040503050406030204" pitchFamily="18" charset="0"/>
                      </a:rPr>
                      <m:t>𝒂</m:t>
                    </m:r>
                  </m:oMath>
                </a14:m>
                <a:r>
                  <a:rPr lang="en-NZ" altLang="ja-JP" sz="1600" b="1" dirty="0">
                    <a:solidFill>
                      <a:schemeClr val="tx1"/>
                    </a:solidFill>
                  </a:rPr>
                  <a:t>       </a:t>
                </a:r>
                <a:r>
                  <a:rPr lang="en-NZ" altLang="ja-JP" sz="1600" dirty="0">
                    <a:solidFill>
                      <a:schemeClr val="tx1"/>
                    </a:solidFill>
                  </a:rPr>
                  <a:t>=&gt;</a:t>
                </a:r>
                <a:r>
                  <a:rPr lang="en-NZ" altLang="ja-JP" sz="1600" b="1" dirty="0">
                    <a:solidFill>
                      <a:schemeClr val="tx1"/>
                    </a:solidFill>
                  </a:rPr>
                  <a:t>       </a:t>
                </a:r>
                <a14:m>
                  <m:oMath xmlns:m="http://schemas.openxmlformats.org/officeDocument/2006/math">
                    <m:r>
                      <a:rPr lang="en-NZ" altLang="ja-JP" sz="1600" b="1" i="1" smtClean="0">
                        <a:solidFill>
                          <a:schemeClr val="tx1"/>
                        </a:solidFill>
                        <a:latin typeface="Cambria Math" panose="02040503050406030204" pitchFamily="18" charset="0"/>
                      </a:rPr>
                      <m:t>𝒗</m:t>
                    </m:r>
                    <m:d>
                      <m:dPr>
                        <m:ctrlPr>
                          <a:rPr lang="en-NZ" altLang="ja-JP" sz="1600" b="1" i="1" smtClean="0">
                            <a:solidFill>
                              <a:schemeClr val="tx1"/>
                            </a:solidFill>
                            <a:latin typeface="Cambria Math" panose="02040503050406030204" pitchFamily="18" charset="0"/>
                          </a:rPr>
                        </m:ctrlPr>
                      </m:dPr>
                      <m:e>
                        <m:r>
                          <a:rPr lang="en-NZ" altLang="ja-JP" sz="1600" b="1" i="1" smtClean="0">
                            <a:solidFill>
                              <a:schemeClr val="tx1"/>
                            </a:solidFill>
                            <a:latin typeface="Cambria Math" panose="02040503050406030204" pitchFamily="18" charset="0"/>
                          </a:rPr>
                          <m:t>𝜶</m:t>
                        </m:r>
                      </m:e>
                    </m:d>
                    <m:r>
                      <a:rPr lang="en-NZ" altLang="ja-JP" sz="1600" b="1" i="1" smtClean="0">
                        <a:solidFill>
                          <a:schemeClr val="tx1"/>
                        </a:solidFill>
                        <a:latin typeface="Cambria Math" panose="02040503050406030204" pitchFamily="18" charset="0"/>
                      </a:rPr>
                      <m:t>=</m:t>
                    </m:r>
                    <m:r>
                      <a:rPr lang="en-NZ" altLang="ja-JP" sz="1600" b="1" i="1" smtClean="0">
                        <a:solidFill>
                          <a:schemeClr val="tx1"/>
                        </a:solidFill>
                        <a:latin typeface="Cambria Math" panose="02040503050406030204" pitchFamily="18" charset="0"/>
                      </a:rPr>
                      <m:t>𝟎</m:t>
                    </m:r>
                  </m:oMath>
                </a14:m>
                <a:r>
                  <a:rPr lang="en-NZ" altLang="ja-JP" sz="1600" b="1" dirty="0">
                    <a:solidFill>
                      <a:schemeClr val="tx1"/>
                    </a:solidFill>
                  </a:rPr>
                  <a:t>       </a:t>
                </a:r>
                <a:r>
                  <a:rPr lang="en-NZ" altLang="ja-JP" sz="1600" dirty="0">
                    <a:solidFill>
                      <a:schemeClr val="tx1"/>
                    </a:solidFill>
                  </a:rPr>
                  <a:t>=&gt;      </a:t>
                </a:r>
                <a14:m>
                  <m:oMath xmlns:m="http://schemas.openxmlformats.org/officeDocument/2006/math">
                    <m:r>
                      <a:rPr lang="en-NZ" altLang="ja-JP" sz="1600" b="1" i="1" smtClean="0">
                        <a:solidFill>
                          <a:schemeClr val="tx1"/>
                        </a:solidFill>
                        <a:latin typeface="Cambria Math" panose="02040503050406030204" pitchFamily="18" charset="0"/>
                      </a:rPr>
                      <m:t>𝑬</m:t>
                    </m:r>
                    <m:r>
                      <a:rPr lang="en-NZ" altLang="ja-JP" sz="1600" b="1" i="1" smtClean="0">
                        <a:solidFill>
                          <a:schemeClr val="tx1"/>
                        </a:solidFill>
                        <a:latin typeface="Cambria Math" panose="02040503050406030204" pitchFamily="18" charset="0"/>
                      </a:rPr>
                      <m:t> </m:t>
                    </m:r>
                    <m:d>
                      <m:dPr>
                        <m:begChr m:val="["/>
                        <m:endChr m:val="]"/>
                        <m:ctrlPr>
                          <a:rPr lang="en-NZ" altLang="ja-JP" sz="1600" b="1" i="1" smtClean="0">
                            <a:solidFill>
                              <a:schemeClr val="tx1"/>
                            </a:solidFill>
                            <a:latin typeface="Cambria Math" panose="02040503050406030204" pitchFamily="18" charset="0"/>
                          </a:rPr>
                        </m:ctrlPr>
                      </m:dPr>
                      <m:e>
                        <m:r>
                          <a:rPr lang="en-NZ" altLang="ja-JP" sz="1600" b="1" i="1" smtClean="0">
                            <a:solidFill>
                              <a:schemeClr val="tx1"/>
                            </a:solidFill>
                            <a:latin typeface="Cambria Math" panose="02040503050406030204" pitchFamily="18" charset="0"/>
                          </a:rPr>
                          <m:t> </m:t>
                        </m:r>
                        <m:r>
                          <a:rPr lang="en-NZ" altLang="ja-JP" sz="1600" b="1" i="1" smtClean="0">
                            <a:solidFill>
                              <a:schemeClr val="tx1"/>
                            </a:solidFill>
                            <a:latin typeface="Cambria Math" panose="02040503050406030204" pitchFamily="18" charset="0"/>
                          </a:rPr>
                          <m:t>𝑭</m:t>
                        </m:r>
                        <m:r>
                          <a:rPr lang="en-NZ" altLang="ja-JP" sz="1600" b="1" i="1" smtClean="0">
                            <a:solidFill>
                              <a:schemeClr val="tx1"/>
                            </a:solidFill>
                            <a:latin typeface="Cambria Math" panose="02040503050406030204" pitchFamily="18" charset="0"/>
                          </a:rPr>
                          <m:t> </m:t>
                        </m:r>
                      </m:e>
                    </m:d>
                    <m:r>
                      <a:rPr lang="en-NZ" altLang="ja-JP" sz="1600" b="1" i="1" smtClean="0">
                        <a:solidFill>
                          <a:schemeClr val="tx1"/>
                        </a:solidFill>
                        <a:latin typeface="Cambria Math" panose="02040503050406030204" pitchFamily="18" charset="0"/>
                      </a:rPr>
                      <m:t>=  </m:t>
                    </m:r>
                    <m:r>
                      <a:rPr lang="en-NZ" altLang="ja-JP" sz="1600" b="1" i="1" smtClean="0">
                        <a:solidFill>
                          <a:schemeClr val="tx1"/>
                        </a:solidFill>
                        <a:latin typeface="Cambria Math" panose="02040503050406030204" pitchFamily="18" charset="0"/>
                      </a:rPr>
                      <m:t>𝟏</m:t>
                    </m:r>
                  </m:oMath>
                </a14:m>
                <a:r>
                  <a:rPr lang="en-NZ" altLang="ja-JP" sz="1600" b="1" i="1" dirty="0">
                    <a:solidFill>
                      <a:schemeClr val="tx1"/>
                    </a:solidFill>
                  </a:rPr>
                  <a:t>   </a:t>
                </a:r>
              </a:p>
              <a:p>
                <a:pPr algn="just">
                  <a:lnSpc>
                    <a:spcPct val="100000"/>
                  </a:lnSpc>
                </a:pPr>
                <a:endParaRPr lang="en-NZ" altLang="ja-JP" sz="1600" dirty="0">
                  <a:solidFill>
                    <a:schemeClr val="tx1"/>
                  </a:solidFill>
                </a:endParaRPr>
              </a:p>
            </p:txBody>
          </p:sp>
        </mc:Choice>
        <mc:Fallback xmlns="">
          <p:sp>
            <p:nvSpPr>
              <p:cNvPr id="22" name="Text Placeholder 5">
                <a:extLst>
                  <a:ext uri="{FF2B5EF4-FFF2-40B4-BE49-F238E27FC236}">
                    <a16:creationId xmlns:a16="http://schemas.microsoft.com/office/drawing/2014/main" id="{1DA73B19-4F82-C9B6-C15F-ADC56FEFB721}"/>
                  </a:ext>
                </a:extLst>
              </p:cNvPr>
              <p:cNvSpPr txBox="1">
                <a:spLocks noRot="1" noChangeAspect="1" noMove="1" noResize="1" noEditPoints="1" noAdjustHandles="1" noChangeArrowheads="1" noChangeShapeType="1" noTextEdit="1"/>
              </p:cNvSpPr>
              <p:nvPr/>
            </p:nvSpPr>
            <p:spPr>
              <a:xfrm>
                <a:off x="202155" y="3897209"/>
                <a:ext cx="9052015" cy="418233"/>
              </a:xfrm>
              <a:prstGeom prst="rect">
                <a:avLst/>
              </a:prstGeom>
              <a:blipFill>
                <a:blip r:embed="rId6"/>
                <a:stretch>
                  <a:fillRect l="-337" t="-4348"/>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28" name="Text Placeholder 5">
                <a:extLst>
                  <a:ext uri="{FF2B5EF4-FFF2-40B4-BE49-F238E27FC236}">
                    <a16:creationId xmlns:a16="http://schemas.microsoft.com/office/drawing/2014/main" id="{A9D99294-3630-383B-EA60-A4D10BBB393F}"/>
                  </a:ext>
                </a:extLst>
              </p:cNvPr>
              <p:cNvSpPr txBox="1">
                <a:spLocks/>
              </p:cNvSpPr>
              <p:nvPr/>
            </p:nvSpPr>
            <p:spPr>
              <a:xfrm>
                <a:off x="202155" y="4246725"/>
                <a:ext cx="8875744" cy="41823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1600" dirty="0">
                    <a:solidFill>
                      <a:schemeClr val="tx1"/>
                    </a:solidFill>
                  </a:rPr>
                  <a:t>On the other hand if </a:t>
                </a:r>
                <a:r>
                  <a:rPr lang="en-NZ" altLang="ja-JP" sz="1600" b="1" i="1" dirty="0">
                    <a:solidFill>
                      <a:schemeClr val="tx1"/>
                    </a:solidFill>
                  </a:rPr>
                  <a:t>H</a:t>
                </a:r>
                <a:r>
                  <a:rPr lang="en-NZ" altLang="ja-JP" sz="1600" b="1" i="1" baseline="-25000" dirty="0">
                    <a:solidFill>
                      <a:schemeClr val="tx1"/>
                    </a:solidFill>
                  </a:rPr>
                  <a:t>1</a:t>
                </a:r>
                <a:r>
                  <a:rPr lang="en-NZ" altLang="ja-JP" sz="1600" dirty="0">
                    <a:solidFill>
                      <a:schemeClr val="tx1"/>
                    </a:solidFill>
                  </a:rPr>
                  <a:t> is true      =&gt;      </a:t>
                </a:r>
                <a14:m>
                  <m:oMath xmlns:m="http://schemas.openxmlformats.org/officeDocument/2006/math">
                    <m:sSub>
                      <m:sSubPr>
                        <m:ctrlPr>
                          <a:rPr lang="en-NZ" altLang="ja-JP" sz="1600" b="1" i="1" smtClean="0">
                            <a:solidFill>
                              <a:schemeClr val="tx1"/>
                            </a:solidFill>
                            <a:latin typeface="Cambria Math" panose="02040503050406030204" pitchFamily="18" charset="0"/>
                          </a:rPr>
                        </m:ctrlPr>
                      </m:sSubPr>
                      <m:e>
                        <m:r>
                          <a:rPr lang="en-NZ" altLang="ja-JP" sz="1600" b="1" i="1" smtClean="0">
                            <a:solidFill>
                              <a:schemeClr val="tx1"/>
                            </a:solidFill>
                            <a:latin typeface="Cambria Math" panose="02040503050406030204" pitchFamily="18" charset="0"/>
                          </a:rPr>
                          <m:t>𝜶</m:t>
                        </m:r>
                      </m:e>
                      <m:sub>
                        <m:r>
                          <a:rPr lang="en-NZ" altLang="ja-JP" sz="1600" b="1" i="1" smtClean="0">
                            <a:solidFill>
                              <a:schemeClr val="tx1"/>
                            </a:solidFill>
                            <a:latin typeface="Cambria Math" panose="02040503050406030204" pitchFamily="18" charset="0"/>
                          </a:rPr>
                          <m:t>𝒊</m:t>
                        </m:r>
                      </m:sub>
                    </m:sSub>
                    <m:r>
                      <a:rPr lang="en-NZ" altLang="ja-JP" sz="1600" b="1" i="1" smtClean="0">
                        <a:solidFill>
                          <a:schemeClr val="tx1"/>
                        </a:solidFill>
                        <a:latin typeface="Cambria Math" panose="02040503050406030204" pitchFamily="18" charset="0"/>
                      </a:rPr>
                      <m:t>≠ </m:t>
                    </m:r>
                    <m:r>
                      <a:rPr lang="en-NZ" altLang="ja-JP" sz="1600" b="1" i="1" smtClean="0">
                        <a:solidFill>
                          <a:schemeClr val="tx1"/>
                        </a:solidFill>
                        <a:latin typeface="Cambria Math" panose="02040503050406030204" pitchFamily="18" charset="0"/>
                      </a:rPr>
                      <m:t>𝟎</m:t>
                    </m:r>
                    <m:r>
                      <a:rPr lang="en-NZ" altLang="ja-JP" sz="1600" b="1" i="1" smtClean="0">
                        <a:solidFill>
                          <a:schemeClr val="tx1"/>
                        </a:solidFill>
                        <a:latin typeface="Cambria Math" panose="02040503050406030204" pitchFamily="18" charset="0"/>
                      </a:rPr>
                      <m:t>  </m:t>
                    </m:r>
                  </m:oMath>
                </a14:m>
                <a:r>
                  <a:rPr lang="en-NZ" altLang="ja-JP" sz="1600" dirty="0">
                    <a:solidFill>
                      <a:schemeClr val="tx1"/>
                    </a:solidFill>
                  </a:rPr>
                  <a:t>for some </a:t>
                </a:r>
                <a:r>
                  <a:rPr lang="en-NZ" altLang="ja-JP" sz="1600" dirty="0" err="1">
                    <a:solidFill>
                      <a:schemeClr val="tx1"/>
                    </a:solidFill>
                  </a:rPr>
                  <a:t>i</a:t>
                </a:r>
                <a:r>
                  <a:rPr lang="en-NZ" altLang="ja-JP" sz="1600" b="1" dirty="0">
                    <a:solidFill>
                      <a:schemeClr val="tx1"/>
                    </a:solidFill>
                  </a:rPr>
                  <a:t>              </a:t>
                </a:r>
                <a:r>
                  <a:rPr lang="en-NZ" altLang="ja-JP" sz="1600" dirty="0">
                    <a:solidFill>
                      <a:schemeClr val="tx1"/>
                    </a:solidFill>
                  </a:rPr>
                  <a:t>=&gt;</a:t>
                </a:r>
                <a:r>
                  <a:rPr lang="en-NZ" altLang="ja-JP" sz="1600" b="1" dirty="0">
                    <a:solidFill>
                      <a:schemeClr val="tx1"/>
                    </a:solidFill>
                  </a:rPr>
                  <a:t>       </a:t>
                </a:r>
                <a14:m>
                  <m:oMath xmlns:m="http://schemas.openxmlformats.org/officeDocument/2006/math">
                    <m:r>
                      <a:rPr lang="en-NZ" altLang="ja-JP" sz="1600" b="1" i="1" smtClean="0">
                        <a:solidFill>
                          <a:schemeClr val="tx1"/>
                        </a:solidFill>
                        <a:latin typeface="Cambria Math" panose="02040503050406030204" pitchFamily="18" charset="0"/>
                      </a:rPr>
                      <m:t>𝒗</m:t>
                    </m:r>
                    <m:d>
                      <m:dPr>
                        <m:ctrlPr>
                          <a:rPr lang="en-NZ" altLang="ja-JP" sz="1600" b="1" i="1" smtClean="0">
                            <a:solidFill>
                              <a:schemeClr val="tx1"/>
                            </a:solidFill>
                            <a:latin typeface="Cambria Math" panose="02040503050406030204" pitchFamily="18" charset="0"/>
                          </a:rPr>
                        </m:ctrlPr>
                      </m:dPr>
                      <m:e>
                        <m:r>
                          <a:rPr lang="en-NZ" altLang="ja-JP" sz="1600" b="1" i="1" smtClean="0">
                            <a:solidFill>
                              <a:schemeClr val="tx1"/>
                            </a:solidFill>
                            <a:latin typeface="Cambria Math" panose="02040503050406030204" pitchFamily="18" charset="0"/>
                          </a:rPr>
                          <m:t>𝜶</m:t>
                        </m:r>
                      </m:e>
                    </m:d>
                    <m:r>
                      <a:rPr lang="en-NZ" altLang="ja-JP" sz="1600" b="1" i="1" smtClean="0">
                        <a:solidFill>
                          <a:schemeClr val="tx1"/>
                        </a:solidFill>
                        <a:latin typeface="Cambria Math" panose="02040503050406030204" pitchFamily="18" charset="0"/>
                      </a:rPr>
                      <m:t>&gt;</m:t>
                    </m:r>
                    <m:r>
                      <a:rPr lang="en-NZ" altLang="ja-JP" sz="1600" b="1" i="1" smtClean="0">
                        <a:solidFill>
                          <a:schemeClr val="tx1"/>
                        </a:solidFill>
                        <a:latin typeface="Cambria Math" panose="02040503050406030204" pitchFamily="18" charset="0"/>
                      </a:rPr>
                      <m:t>𝟎</m:t>
                    </m:r>
                  </m:oMath>
                </a14:m>
                <a:r>
                  <a:rPr lang="en-NZ" altLang="ja-JP" sz="1600" b="1" dirty="0">
                    <a:solidFill>
                      <a:schemeClr val="tx1"/>
                    </a:solidFill>
                  </a:rPr>
                  <a:t>        </a:t>
                </a:r>
                <a:r>
                  <a:rPr lang="en-NZ" altLang="ja-JP" sz="1600" dirty="0">
                    <a:solidFill>
                      <a:schemeClr val="tx1"/>
                    </a:solidFill>
                  </a:rPr>
                  <a:t>=&gt;      </a:t>
                </a:r>
                <a14:m>
                  <m:oMath xmlns:m="http://schemas.openxmlformats.org/officeDocument/2006/math">
                    <m:r>
                      <a:rPr lang="en-NZ" altLang="ja-JP" sz="1600" b="1" i="1" smtClean="0">
                        <a:solidFill>
                          <a:schemeClr val="tx1"/>
                        </a:solidFill>
                        <a:latin typeface="Cambria Math" panose="02040503050406030204" pitchFamily="18" charset="0"/>
                      </a:rPr>
                      <m:t>𝑬</m:t>
                    </m:r>
                    <m:r>
                      <a:rPr lang="en-NZ" altLang="ja-JP" sz="1600" b="1" i="1" smtClean="0">
                        <a:solidFill>
                          <a:schemeClr val="tx1"/>
                        </a:solidFill>
                        <a:latin typeface="Cambria Math" panose="02040503050406030204" pitchFamily="18" charset="0"/>
                      </a:rPr>
                      <m:t> </m:t>
                    </m:r>
                    <m:d>
                      <m:dPr>
                        <m:begChr m:val="["/>
                        <m:endChr m:val="]"/>
                        <m:ctrlPr>
                          <a:rPr lang="en-NZ" altLang="ja-JP" sz="1600" b="1" i="1" smtClean="0">
                            <a:solidFill>
                              <a:schemeClr val="tx1"/>
                            </a:solidFill>
                            <a:latin typeface="Cambria Math" panose="02040503050406030204" pitchFamily="18" charset="0"/>
                          </a:rPr>
                        </m:ctrlPr>
                      </m:dPr>
                      <m:e>
                        <m:r>
                          <a:rPr lang="en-NZ" altLang="ja-JP" sz="1600" b="1" i="1" smtClean="0">
                            <a:solidFill>
                              <a:schemeClr val="tx1"/>
                            </a:solidFill>
                            <a:latin typeface="Cambria Math" panose="02040503050406030204" pitchFamily="18" charset="0"/>
                          </a:rPr>
                          <m:t> </m:t>
                        </m:r>
                        <m:r>
                          <a:rPr lang="en-NZ" altLang="ja-JP" sz="1600" b="1" i="1" smtClean="0">
                            <a:solidFill>
                              <a:schemeClr val="tx1"/>
                            </a:solidFill>
                            <a:latin typeface="Cambria Math" panose="02040503050406030204" pitchFamily="18" charset="0"/>
                          </a:rPr>
                          <m:t>𝑭</m:t>
                        </m:r>
                        <m:r>
                          <a:rPr lang="en-NZ" altLang="ja-JP" sz="1600" b="1" i="1" smtClean="0">
                            <a:solidFill>
                              <a:schemeClr val="tx1"/>
                            </a:solidFill>
                            <a:latin typeface="Cambria Math" panose="02040503050406030204" pitchFamily="18" charset="0"/>
                          </a:rPr>
                          <m:t> </m:t>
                        </m:r>
                      </m:e>
                    </m:d>
                    <m:r>
                      <a:rPr lang="en-NZ" altLang="ja-JP" sz="1600" b="1" i="1" smtClean="0">
                        <a:solidFill>
                          <a:schemeClr val="tx1"/>
                        </a:solidFill>
                        <a:latin typeface="Cambria Math" panose="02040503050406030204" pitchFamily="18" charset="0"/>
                      </a:rPr>
                      <m:t>&gt;  </m:t>
                    </m:r>
                    <m:r>
                      <a:rPr lang="en-NZ" altLang="ja-JP" sz="1600" b="1" i="1" smtClean="0">
                        <a:solidFill>
                          <a:schemeClr val="tx1"/>
                        </a:solidFill>
                        <a:latin typeface="Cambria Math" panose="02040503050406030204" pitchFamily="18" charset="0"/>
                      </a:rPr>
                      <m:t>𝟏</m:t>
                    </m:r>
                  </m:oMath>
                </a14:m>
                <a:r>
                  <a:rPr lang="en-NZ" altLang="ja-JP" sz="1600" b="1" i="1" dirty="0">
                    <a:solidFill>
                      <a:schemeClr val="tx1"/>
                    </a:solidFill>
                  </a:rPr>
                  <a:t>   </a:t>
                </a:r>
              </a:p>
              <a:p>
                <a:pPr algn="just">
                  <a:lnSpc>
                    <a:spcPct val="100000"/>
                  </a:lnSpc>
                </a:pPr>
                <a:endParaRPr lang="en-NZ" altLang="ja-JP" sz="1600" dirty="0">
                  <a:solidFill>
                    <a:schemeClr val="tx1"/>
                  </a:solidFill>
                </a:endParaRPr>
              </a:p>
            </p:txBody>
          </p:sp>
        </mc:Choice>
        <mc:Fallback xmlns="">
          <p:sp>
            <p:nvSpPr>
              <p:cNvPr id="28" name="Text Placeholder 5">
                <a:extLst>
                  <a:ext uri="{FF2B5EF4-FFF2-40B4-BE49-F238E27FC236}">
                    <a16:creationId xmlns:a16="http://schemas.microsoft.com/office/drawing/2014/main" id="{A9D99294-3630-383B-EA60-A4D10BBB393F}"/>
                  </a:ext>
                </a:extLst>
              </p:cNvPr>
              <p:cNvSpPr txBox="1">
                <a:spLocks noRot="1" noChangeAspect="1" noMove="1" noResize="1" noEditPoints="1" noAdjustHandles="1" noChangeArrowheads="1" noChangeShapeType="1" noTextEdit="1"/>
              </p:cNvSpPr>
              <p:nvPr/>
            </p:nvSpPr>
            <p:spPr>
              <a:xfrm>
                <a:off x="202155" y="4246725"/>
                <a:ext cx="8875744" cy="418233"/>
              </a:xfrm>
              <a:prstGeom prst="rect">
                <a:avLst/>
              </a:prstGeom>
              <a:blipFill>
                <a:blip r:embed="rId7"/>
                <a:stretch>
                  <a:fillRect l="-343" t="-4412"/>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30" name="Text Placeholder 5">
                <a:extLst>
                  <a:ext uri="{FF2B5EF4-FFF2-40B4-BE49-F238E27FC236}">
                    <a16:creationId xmlns:a16="http://schemas.microsoft.com/office/drawing/2014/main" id="{4E99FB4B-33C5-6DE8-183F-900626DA577B}"/>
                  </a:ext>
                </a:extLst>
              </p:cNvPr>
              <p:cNvSpPr txBox="1">
                <a:spLocks/>
              </p:cNvSpPr>
              <p:nvPr/>
            </p:nvSpPr>
            <p:spPr>
              <a:xfrm>
                <a:off x="240535" y="5395899"/>
                <a:ext cx="6237383" cy="41823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1600" dirty="0">
                    <a:solidFill>
                      <a:schemeClr val="tx1"/>
                    </a:solidFill>
                  </a:rPr>
                  <a:t>If the usual ANOVA conditions hold in each cell then </a:t>
                </a:r>
                <a14:m>
                  <m:oMath xmlns:m="http://schemas.openxmlformats.org/officeDocument/2006/math">
                    <m:r>
                      <a:rPr lang="en-NZ" altLang="ja-JP" sz="1600" b="1" i="1" smtClean="0">
                        <a:solidFill>
                          <a:schemeClr val="tx1"/>
                        </a:solidFill>
                        <a:latin typeface="Cambria Math" panose="02040503050406030204" pitchFamily="18" charset="0"/>
                      </a:rPr>
                      <m:t>𝑭</m:t>
                    </m:r>
                    <m:r>
                      <a:rPr lang="en-NZ" altLang="ja-JP" sz="1600" b="1" i="1" smtClean="0">
                        <a:solidFill>
                          <a:schemeClr val="tx1"/>
                        </a:solidFill>
                        <a:latin typeface="Cambria Math" panose="02040503050406030204" pitchFamily="18" charset="0"/>
                      </a:rPr>
                      <m:t> ~ </m:t>
                    </m:r>
                    <m:sSub>
                      <m:sSubPr>
                        <m:ctrlPr>
                          <a:rPr lang="en-NZ" altLang="ja-JP" sz="1600" b="1" i="1" smtClean="0">
                            <a:solidFill>
                              <a:schemeClr val="tx1"/>
                            </a:solidFill>
                            <a:latin typeface="Cambria Math" panose="02040503050406030204" pitchFamily="18" charset="0"/>
                          </a:rPr>
                        </m:ctrlPr>
                      </m:sSubPr>
                      <m:e>
                        <m:r>
                          <a:rPr lang="en-NZ" altLang="ja-JP" sz="1600" b="1" i="1" smtClean="0">
                            <a:solidFill>
                              <a:schemeClr val="tx1"/>
                            </a:solidFill>
                            <a:latin typeface="Cambria Math" panose="02040503050406030204" pitchFamily="18" charset="0"/>
                          </a:rPr>
                          <m:t>𝑭</m:t>
                        </m:r>
                      </m:e>
                      <m:sub>
                        <m:r>
                          <a:rPr lang="en-NZ" altLang="ja-JP" sz="1600" b="1" i="1" smtClean="0">
                            <a:solidFill>
                              <a:schemeClr val="tx1"/>
                            </a:solidFill>
                            <a:latin typeface="Cambria Math" panose="02040503050406030204" pitchFamily="18" charset="0"/>
                          </a:rPr>
                          <m:t>𝒂</m:t>
                        </m:r>
                        <m:r>
                          <a:rPr lang="en-NZ" altLang="ja-JP" sz="1600" b="1" i="1" smtClean="0">
                            <a:solidFill>
                              <a:schemeClr val="tx1"/>
                            </a:solidFill>
                            <a:latin typeface="Cambria Math" panose="02040503050406030204" pitchFamily="18" charset="0"/>
                          </a:rPr>
                          <m:t>−</m:t>
                        </m:r>
                        <m:r>
                          <a:rPr lang="en-NZ" altLang="ja-JP" sz="1600" b="1" i="1" smtClean="0">
                            <a:solidFill>
                              <a:schemeClr val="tx1"/>
                            </a:solidFill>
                            <a:latin typeface="Cambria Math" panose="02040503050406030204" pitchFamily="18" charset="0"/>
                          </a:rPr>
                          <m:t>𝟏</m:t>
                        </m:r>
                        <m:r>
                          <a:rPr lang="en-NZ" altLang="ja-JP" sz="1600" b="1" i="1" smtClean="0">
                            <a:solidFill>
                              <a:schemeClr val="tx1"/>
                            </a:solidFill>
                            <a:latin typeface="Cambria Math" panose="02040503050406030204" pitchFamily="18" charset="0"/>
                          </a:rPr>
                          <m:t> ,   </m:t>
                        </m:r>
                        <m:r>
                          <a:rPr lang="en-NZ" altLang="ja-JP" sz="1600" b="1" i="1" smtClean="0">
                            <a:solidFill>
                              <a:schemeClr val="tx1"/>
                            </a:solidFill>
                            <a:latin typeface="Cambria Math" panose="02040503050406030204" pitchFamily="18" charset="0"/>
                          </a:rPr>
                          <m:t>𝒂</m:t>
                        </m:r>
                        <m:r>
                          <a:rPr lang="en-NZ" altLang="ja-JP" sz="1600" b="1" i="1" smtClean="0">
                            <a:solidFill>
                              <a:schemeClr val="tx1"/>
                            </a:solidFill>
                            <a:latin typeface="Cambria Math" panose="02040503050406030204" pitchFamily="18" charset="0"/>
                          </a:rPr>
                          <m:t>(</m:t>
                        </m:r>
                        <m:r>
                          <a:rPr lang="en-NZ" altLang="ja-JP" sz="1600" b="1" i="1" smtClean="0">
                            <a:solidFill>
                              <a:schemeClr val="tx1"/>
                            </a:solidFill>
                            <a:latin typeface="Cambria Math" panose="02040503050406030204" pitchFamily="18" charset="0"/>
                          </a:rPr>
                          <m:t>𝒃</m:t>
                        </m:r>
                        <m:r>
                          <a:rPr lang="en-NZ" altLang="ja-JP" sz="1600" b="1" i="1" smtClean="0">
                            <a:solidFill>
                              <a:schemeClr val="tx1"/>
                            </a:solidFill>
                            <a:latin typeface="Cambria Math" panose="02040503050406030204" pitchFamily="18" charset="0"/>
                          </a:rPr>
                          <m:t>−</m:t>
                        </m:r>
                        <m:r>
                          <a:rPr lang="en-NZ" altLang="ja-JP" sz="1600" b="1" i="1" smtClean="0">
                            <a:solidFill>
                              <a:schemeClr val="tx1"/>
                            </a:solidFill>
                            <a:latin typeface="Cambria Math" panose="02040503050406030204" pitchFamily="18" charset="0"/>
                          </a:rPr>
                          <m:t>𝟏</m:t>
                        </m:r>
                        <m:r>
                          <a:rPr lang="en-NZ" altLang="ja-JP" sz="1600" b="1" i="1" smtClean="0">
                            <a:solidFill>
                              <a:schemeClr val="tx1"/>
                            </a:solidFill>
                            <a:latin typeface="Cambria Math" panose="02040503050406030204" pitchFamily="18" charset="0"/>
                          </a:rPr>
                          <m:t>)</m:t>
                        </m:r>
                      </m:sub>
                    </m:sSub>
                  </m:oMath>
                </a14:m>
                <a:r>
                  <a:rPr lang="en-NZ" altLang="ja-JP" sz="1600" dirty="0">
                    <a:solidFill>
                      <a:schemeClr val="tx1"/>
                    </a:solidFill>
                  </a:rPr>
                  <a:t> </a:t>
                </a:r>
              </a:p>
              <a:p>
                <a:pPr algn="just">
                  <a:lnSpc>
                    <a:spcPct val="100000"/>
                  </a:lnSpc>
                </a:pPr>
                <a:endParaRPr lang="en-NZ" altLang="ja-JP" sz="1600" dirty="0">
                  <a:solidFill>
                    <a:schemeClr val="tx1"/>
                  </a:solidFill>
                </a:endParaRPr>
              </a:p>
            </p:txBody>
          </p:sp>
        </mc:Choice>
        <mc:Fallback xmlns="">
          <p:sp>
            <p:nvSpPr>
              <p:cNvPr id="30" name="Text Placeholder 5">
                <a:extLst>
                  <a:ext uri="{FF2B5EF4-FFF2-40B4-BE49-F238E27FC236}">
                    <a16:creationId xmlns:a16="http://schemas.microsoft.com/office/drawing/2014/main" id="{4E99FB4B-33C5-6DE8-183F-900626DA577B}"/>
                  </a:ext>
                </a:extLst>
              </p:cNvPr>
              <p:cNvSpPr txBox="1">
                <a:spLocks noRot="1" noChangeAspect="1" noMove="1" noResize="1" noEditPoints="1" noAdjustHandles="1" noChangeArrowheads="1" noChangeShapeType="1" noTextEdit="1"/>
              </p:cNvSpPr>
              <p:nvPr/>
            </p:nvSpPr>
            <p:spPr>
              <a:xfrm>
                <a:off x="240535" y="5395899"/>
                <a:ext cx="6237383" cy="418233"/>
              </a:xfrm>
              <a:prstGeom prst="rect">
                <a:avLst/>
              </a:prstGeom>
              <a:blipFill>
                <a:blip r:embed="rId8"/>
                <a:stretch>
                  <a:fillRect l="-488" t="-2899"/>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31" name="Text Placeholder 5">
                <a:extLst>
                  <a:ext uri="{FF2B5EF4-FFF2-40B4-BE49-F238E27FC236}">
                    <a16:creationId xmlns:a16="http://schemas.microsoft.com/office/drawing/2014/main" id="{A8F0C493-86A7-3B79-6E29-C72C0666E721}"/>
                  </a:ext>
                </a:extLst>
              </p:cNvPr>
              <p:cNvSpPr txBox="1">
                <a:spLocks/>
              </p:cNvSpPr>
              <p:nvPr/>
            </p:nvSpPr>
            <p:spPr>
              <a:xfrm>
                <a:off x="202155" y="5727885"/>
                <a:ext cx="7402352" cy="77280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1600" dirty="0">
                    <a:solidFill>
                      <a:schemeClr val="tx1"/>
                    </a:solidFill>
                  </a:rPr>
                  <a:t>We calculate the value of </a:t>
                </a:r>
                <a:r>
                  <a:rPr lang="en-NZ" altLang="ja-JP" sz="1600" b="1" i="1" dirty="0">
                    <a:solidFill>
                      <a:schemeClr val="tx1"/>
                    </a:solidFill>
                  </a:rPr>
                  <a:t>F</a:t>
                </a:r>
                <a:r>
                  <a:rPr lang="en-NZ" altLang="ja-JP" sz="1600" b="1" i="1" baseline="-25000" dirty="0">
                    <a:solidFill>
                      <a:schemeClr val="tx1"/>
                    </a:solidFill>
                  </a:rPr>
                  <a:t>obs</a:t>
                </a:r>
                <a:r>
                  <a:rPr lang="en-NZ" altLang="ja-JP" sz="1600" dirty="0">
                    <a:solidFill>
                      <a:schemeClr val="tx1"/>
                    </a:solidFill>
                  </a:rPr>
                  <a:t> and see where this lies in the distribution of </a:t>
                </a:r>
                <a14:m>
                  <m:oMath xmlns:m="http://schemas.openxmlformats.org/officeDocument/2006/math">
                    <m:sSub>
                      <m:sSubPr>
                        <m:ctrlPr>
                          <a:rPr lang="en-NZ" altLang="ja-JP" sz="1600" b="1" i="1">
                            <a:solidFill>
                              <a:schemeClr val="tx1"/>
                            </a:solidFill>
                            <a:latin typeface="Cambria Math" panose="02040503050406030204" pitchFamily="18" charset="0"/>
                          </a:rPr>
                        </m:ctrlPr>
                      </m:sSubPr>
                      <m:e>
                        <m:r>
                          <a:rPr lang="en-NZ" altLang="ja-JP" sz="1600" b="1" i="1">
                            <a:solidFill>
                              <a:schemeClr val="tx1"/>
                            </a:solidFill>
                            <a:latin typeface="Cambria Math" panose="02040503050406030204" pitchFamily="18" charset="0"/>
                          </a:rPr>
                          <m:t>𝑭</m:t>
                        </m:r>
                      </m:e>
                      <m:sub>
                        <m:r>
                          <a:rPr lang="en-NZ" altLang="ja-JP" sz="1600" b="1" i="1">
                            <a:solidFill>
                              <a:schemeClr val="tx1"/>
                            </a:solidFill>
                            <a:latin typeface="Cambria Math" panose="02040503050406030204" pitchFamily="18" charset="0"/>
                          </a:rPr>
                          <m:t>𝒂</m:t>
                        </m:r>
                        <m:r>
                          <a:rPr lang="en-NZ" altLang="ja-JP" sz="1600" b="1" i="1">
                            <a:solidFill>
                              <a:schemeClr val="tx1"/>
                            </a:solidFill>
                            <a:latin typeface="Cambria Math" panose="02040503050406030204" pitchFamily="18" charset="0"/>
                          </a:rPr>
                          <m:t>−</m:t>
                        </m:r>
                        <m:r>
                          <a:rPr lang="en-NZ" altLang="ja-JP" sz="1600" b="1" i="1">
                            <a:solidFill>
                              <a:schemeClr val="tx1"/>
                            </a:solidFill>
                            <a:latin typeface="Cambria Math" panose="02040503050406030204" pitchFamily="18" charset="0"/>
                          </a:rPr>
                          <m:t>𝟏</m:t>
                        </m:r>
                        <m:r>
                          <a:rPr lang="en-NZ" altLang="ja-JP" sz="1600" b="1" i="1">
                            <a:solidFill>
                              <a:schemeClr val="tx1"/>
                            </a:solidFill>
                            <a:latin typeface="Cambria Math" panose="02040503050406030204" pitchFamily="18" charset="0"/>
                          </a:rPr>
                          <m:t> , </m:t>
                        </m:r>
                        <m:r>
                          <a:rPr lang="en-NZ" altLang="ja-JP" sz="1600" b="1" i="1" smtClean="0">
                            <a:solidFill>
                              <a:schemeClr val="tx1"/>
                            </a:solidFill>
                            <a:latin typeface="Cambria Math" panose="02040503050406030204" pitchFamily="18" charset="0"/>
                          </a:rPr>
                          <m:t>𝒂</m:t>
                        </m:r>
                        <m:r>
                          <a:rPr lang="en-NZ" altLang="ja-JP" sz="1600" b="1" i="1" smtClean="0">
                            <a:solidFill>
                              <a:schemeClr val="tx1"/>
                            </a:solidFill>
                            <a:latin typeface="Cambria Math" panose="02040503050406030204" pitchFamily="18" charset="0"/>
                          </a:rPr>
                          <m:t>(</m:t>
                        </m:r>
                        <m:r>
                          <a:rPr lang="en-NZ" altLang="ja-JP" sz="1600" b="1" i="1" smtClean="0">
                            <a:solidFill>
                              <a:schemeClr val="tx1"/>
                            </a:solidFill>
                            <a:latin typeface="Cambria Math" panose="02040503050406030204" pitchFamily="18" charset="0"/>
                          </a:rPr>
                          <m:t>𝒃</m:t>
                        </m:r>
                        <m:r>
                          <a:rPr lang="en-NZ" altLang="ja-JP" sz="1600" b="1" i="1" smtClean="0">
                            <a:solidFill>
                              <a:schemeClr val="tx1"/>
                            </a:solidFill>
                            <a:latin typeface="Cambria Math" panose="02040503050406030204" pitchFamily="18" charset="0"/>
                          </a:rPr>
                          <m:t>−</m:t>
                        </m:r>
                        <m:r>
                          <a:rPr lang="en-NZ" altLang="ja-JP" sz="1600" b="1" i="1" smtClean="0">
                            <a:solidFill>
                              <a:schemeClr val="tx1"/>
                            </a:solidFill>
                            <a:latin typeface="Cambria Math" panose="02040503050406030204" pitchFamily="18" charset="0"/>
                          </a:rPr>
                          <m:t>𝟏</m:t>
                        </m:r>
                        <m:r>
                          <a:rPr lang="en-NZ" altLang="ja-JP" sz="1600" b="1" i="1" smtClean="0">
                            <a:solidFill>
                              <a:schemeClr val="tx1"/>
                            </a:solidFill>
                            <a:latin typeface="Cambria Math" panose="02040503050406030204" pitchFamily="18" charset="0"/>
                          </a:rPr>
                          <m:t>)</m:t>
                        </m:r>
                      </m:sub>
                    </m:sSub>
                  </m:oMath>
                </a14:m>
                <a:endParaRPr lang="en-NZ" altLang="ja-JP" sz="1600" dirty="0">
                  <a:solidFill>
                    <a:schemeClr val="tx1"/>
                  </a:solidFill>
                </a:endParaRPr>
              </a:p>
              <a:p>
                <a:pPr algn="just">
                  <a:lnSpc>
                    <a:spcPct val="100000"/>
                  </a:lnSpc>
                </a:pPr>
                <a:r>
                  <a:rPr lang="en-NZ" altLang="ja-JP" sz="1600" dirty="0">
                    <a:solidFill>
                      <a:schemeClr val="tx1"/>
                    </a:solidFill>
                  </a:rPr>
                  <a:t>The smaller the p-value </a:t>
                </a:r>
                <a14:m>
                  <m:oMath xmlns:m="http://schemas.openxmlformats.org/officeDocument/2006/math">
                    <m:r>
                      <a:rPr lang="en-NZ" altLang="ja-JP" sz="1600" b="1" i="1" smtClean="0">
                        <a:solidFill>
                          <a:schemeClr val="tx1"/>
                        </a:solidFill>
                        <a:latin typeface="Cambria Math" panose="02040503050406030204" pitchFamily="18" charset="0"/>
                      </a:rPr>
                      <m:t>𝑷</m:t>
                    </m:r>
                    <m:r>
                      <a:rPr lang="en-NZ" altLang="ja-JP" sz="1600" b="1" i="1" smtClean="0">
                        <a:solidFill>
                          <a:schemeClr val="tx1"/>
                        </a:solidFill>
                        <a:latin typeface="Cambria Math" panose="02040503050406030204" pitchFamily="18" charset="0"/>
                      </a:rPr>
                      <m:t>( </m:t>
                    </m:r>
                    <m:r>
                      <a:rPr lang="en-NZ" altLang="ja-JP" sz="1600" b="1" i="1" smtClean="0">
                        <a:solidFill>
                          <a:schemeClr val="tx1"/>
                        </a:solidFill>
                        <a:latin typeface="Cambria Math" panose="02040503050406030204" pitchFamily="18" charset="0"/>
                      </a:rPr>
                      <m:t>𝑭</m:t>
                    </m:r>
                    <m:r>
                      <a:rPr lang="en-NZ" altLang="ja-JP" sz="1600" b="1" i="1" smtClean="0">
                        <a:solidFill>
                          <a:schemeClr val="tx1"/>
                        </a:solidFill>
                        <a:latin typeface="Cambria Math" panose="02040503050406030204" pitchFamily="18" charset="0"/>
                      </a:rPr>
                      <m:t>≥</m:t>
                    </m:r>
                    <m:sSub>
                      <m:sSubPr>
                        <m:ctrlPr>
                          <a:rPr lang="en-NZ" altLang="ja-JP" sz="1600" b="1" i="1" smtClean="0">
                            <a:solidFill>
                              <a:schemeClr val="tx1"/>
                            </a:solidFill>
                            <a:latin typeface="Cambria Math" panose="02040503050406030204" pitchFamily="18" charset="0"/>
                          </a:rPr>
                        </m:ctrlPr>
                      </m:sSubPr>
                      <m:e>
                        <m:r>
                          <a:rPr lang="en-NZ" altLang="ja-JP" sz="1600" b="1" i="1" smtClean="0">
                            <a:solidFill>
                              <a:schemeClr val="tx1"/>
                            </a:solidFill>
                            <a:latin typeface="Cambria Math" panose="02040503050406030204" pitchFamily="18" charset="0"/>
                          </a:rPr>
                          <m:t>𝑭</m:t>
                        </m:r>
                      </m:e>
                      <m:sub>
                        <m:r>
                          <a:rPr lang="en-NZ" altLang="ja-JP" sz="1600" b="1" i="1" smtClean="0">
                            <a:solidFill>
                              <a:schemeClr val="tx1"/>
                            </a:solidFill>
                            <a:latin typeface="Cambria Math" panose="02040503050406030204" pitchFamily="18" charset="0"/>
                          </a:rPr>
                          <m:t>𝒐𝒃𝒔</m:t>
                        </m:r>
                      </m:sub>
                    </m:sSub>
                    <m:r>
                      <a:rPr lang="en-NZ" altLang="ja-JP" sz="1600" b="1" i="1" smtClean="0">
                        <a:solidFill>
                          <a:schemeClr val="tx1"/>
                        </a:solidFill>
                        <a:latin typeface="Cambria Math" panose="02040503050406030204" pitchFamily="18" charset="0"/>
                      </a:rPr>
                      <m:t>)</m:t>
                    </m:r>
                  </m:oMath>
                </a14:m>
                <a:r>
                  <a:rPr lang="en-NZ" altLang="ja-JP" sz="1600" b="1" dirty="0">
                    <a:solidFill>
                      <a:schemeClr val="tx1"/>
                    </a:solidFill>
                  </a:rPr>
                  <a:t> </a:t>
                </a:r>
                <a:r>
                  <a:rPr lang="en-NZ" altLang="ja-JP" sz="1600" dirty="0">
                    <a:solidFill>
                      <a:schemeClr val="tx1"/>
                    </a:solidFill>
                  </a:rPr>
                  <a:t>the more evidence we have against the null hypothesis. </a:t>
                </a:r>
              </a:p>
              <a:p>
                <a:pPr algn="just">
                  <a:lnSpc>
                    <a:spcPct val="100000"/>
                  </a:lnSpc>
                </a:pPr>
                <a:endParaRPr lang="en-NZ" altLang="ja-JP" sz="1600" dirty="0">
                  <a:solidFill>
                    <a:schemeClr val="tx1"/>
                  </a:solidFill>
                </a:endParaRPr>
              </a:p>
            </p:txBody>
          </p:sp>
        </mc:Choice>
        <mc:Fallback xmlns="">
          <p:sp>
            <p:nvSpPr>
              <p:cNvPr id="31" name="Text Placeholder 5">
                <a:extLst>
                  <a:ext uri="{FF2B5EF4-FFF2-40B4-BE49-F238E27FC236}">
                    <a16:creationId xmlns:a16="http://schemas.microsoft.com/office/drawing/2014/main" id="{A8F0C493-86A7-3B79-6E29-C72C0666E721}"/>
                  </a:ext>
                </a:extLst>
              </p:cNvPr>
              <p:cNvSpPr txBox="1">
                <a:spLocks noRot="1" noChangeAspect="1" noMove="1" noResize="1" noEditPoints="1" noAdjustHandles="1" noChangeArrowheads="1" noChangeShapeType="1" noTextEdit="1"/>
              </p:cNvSpPr>
              <p:nvPr/>
            </p:nvSpPr>
            <p:spPr>
              <a:xfrm>
                <a:off x="202155" y="5727885"/>
                <a:ext cx="7402352" cy="772806"/>
              </a:xfrm>
              <a:prstGeom prst="rect">
                <a:avLst/>
              </a:prstGeom>
              <a:blipFill>
                <a:blip r:embed="rId9"/>
                <a:stretch>
                  <a:fillRect l="-412" t="-1587" r="-494" b="-20635"/>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32" name="Text Placeholder 5">
                <a:extLst>
                  <a:ext uri="{FF2B5EF4-FFF2-40B4-BE49-F238E27FC236}">
                    <a16:creationId xmlns:a16="http://schemas.microsoft.com/office/drawing/2014/main" id="{486FDDED-D51B-6EFC-08BF-A12C86BFF8DC}"/>
                  </a:ext>
                </a:extLst>
              </p:cNvPr>
              <p:cNvSpPr txBox="1">
                <a:spLocks/>
              </p:cNvSpPr>
              <p:nvPr/>
            </p:nvSpPr>
            <p:spPr>
              <a:xfrm>
                <a:off x="202154" y="4630158"/>
                <a:ext cx="7950328" cy="41823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1600" dirty="0">
                    <a:solidFill>
                      <a:schemeClr val="tx1"/>
                    </a:solidFill>
                  </a:rPr>
                  <a:t>The larger the observed test statistic </a:t>
                </a:r>
                <a14:m>
                  <m:oMath xmlns:m="http://schemas.openxmlformats.org/officeDocument/2006/math">
                    <m:sSub>
                      <m:sSubPr>
                        <m:ctrlPr>
                          <a:rPr lang="en-NZ" altLang="ja-JP" sz="1600" b="1" i="1" smtClean="0">
                            <a:solidFill>
                              <a:schemeClr val="tx1"/>
                            </a:solidFill>
                            <a:latin typeface="Cambria Math" panose="02040503050406030204" pitchFamily="18" charset="0"/>
                          </a:rPr>
                        </m:ctrlPr>
                      </m:sSubPr>
                      <m:e>
                        <m:r>
                          <a:rPr lang="en-NZ" altLang="ja-JP" sz="1600" b="1" i="1" smtClean="0">
                            <a:solidFill>
                              <a:schemeClr val="tx1"/>
                            </a:solidFill>
                            <a:latin typeface="Cambria Math" panose="02040503050406030204" pitchFamily="18" charset="0"/>
                          </a:rPr>
                          <m:t>𝑭</m:t>
                        </m:r>
                      </m:e>
                      <m:sub>
                        <m:r>
                          <a:rPr lang="en-NZ" altLang="ja-JP" sz="1600" b="1" i="1" smtClean="0">
                            <a:solidFill>
                              <a:schemeClr val="tx1"/>
                            </a:solidFill>
                            <a:latin typeface="Cambria Math" panose="02040503050406030204" pitchFamily="18" charset="0"/>
                          </a:rPr>
                          <m:t>𝒐𝒃𝒔</m:t>
                        </m:r>
                      </m:sub>
                    </m:sSub>
                  </m:oMath>
                </a14:m>
                <a:r>
                  <a:rPr lang="en-NZ" altLang="ja-JP" sz="1600" dirty="0">
                    <a:solidFill>
                      <a:schemeClr val="tx1"/>
                    </a:solidFill>
                  </a:rPr>
                  <a:t> the less likely it is that the null hypothesis is true.</a:t>
                </a:r>
              </a:p>
              <a:p>
                <a:pPr algn="just">
                  <a:lnSpc>
                    <a:spcPct val="100000"/>
                  </a:lnSpc>
                </a:pPr>
                <a:endParaRPr lang="en-NZ" altLang="ja-JP" sz="1600" dirty="0">
                  <a:solidFill>
                    <a:schemeClr val="tx1"/>
                  </a:solidFill>
                </a:endParaRPr>
              </a:p>
            </p:txBody>
          </p:sp>
        </mc:Choice>
        <mc:Fallback xmlns="">
          <p:sp>
            <p:nvSpPr>
              <p:cNvPr id="32" name="Text Placeholder 5">
                <a:extLst>
                  <a:ext uri="{FF2B5EF4-FFF2-40B4-BE49-F238E27FC236}">
                    <a16:creationId xmlns:a16="http://schemas.microsoft.com/office/drawing/2014/main" id="{486FDDED-D51B-6EFC-08BF-A12C86BFF8DC}"/>
                  </a:ext>
                </a:extLst>
              </p:cNvPr>
              <p:cNvSpPr txBox="1">
                <a:spLocks noRot="1" noChangeAspect="1" noMove="1" noResize="1" noEditPoints="1" noAdjustHandles="1" noChangeArrowheads="1" noChangeShapeType="1" noTextEdit="1"/>
              </p:cNvSpPr>
              <p:nvPr/>
            </p:nvSpPr>
            <p:spPr>
              <a:xfrm>
                <a:off x="202154" y="4630158"/>
                <a:ext cx="7950328" cy="418233"/>
              </a:xfrm>
              <a:prstGeom prst="rect">
                <a:avLst/>
              </a:prstGeom>
              <a:blipFill>
                <a:blip r:embed="rId10"/>
                <a:stretch>
                  <a:fillRect l="-383" t="-4412"/>
                </a:stretch>
              </a:blipFill>
            </p:spPr>
            <p:txBody>
              <a:bodyPr/>
              <a:lstStyle/>
              <a:p>
                <a:r>
                  <a:rPr lang="en-NZ">
                    <a:noFill/>
                  </a:rPr>
                  <a:t> </a:t>
                </a:r>
              </a:p>
            </p:txBody>
          </p:sp>
        </mc:Fallback>
      </mc:AlternateContent>
      <p:sp>
        <p:nvSpPr>
          <p:cNvPr id="19" name="Footer Placeholder 2">
            <a:extLst>
              <a:ext uri="{FF2B5EF4-FFF2-40B4-BE49-F238E27FC236}">
                <a16:creationId xmlns:a16="http://schemas.microsoft.com/office/drawing/2014/main" id="{99470291-2788-8DA8-48DE-58AB6F6C82ED}"/>
              </a:ext>
            </a:extLst>
          </p:cNvPr>
          <p:cNvSpPr txBox="1">
            <a:spLocks/>
          </p:cNvSpPr>
          <p:nvPr/>
        </p:nvSpPr>
        <p:spPr>
          <a:xfrm>
            <a:off x="8775510" y="86139"/>
            <a:ext cx="3313855"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rPr>
              <a:t>5.4 – 3-Stage Nested Design</a:t>
            </a:r>
            <a:endParaRPr kumimoji="1" lang="ja-JP" altLang="en-US"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endParaRPr>
          </a:p>
        </p:txBody>
      </p:sp>
      <p:pic>
        <p:nvPicPr>
          <p:cNvPr id="3" name="Picture 2" descr="F Distribution - MATLAB &amp; Simulink">
            <a:extLst>
              <a:ext uri="{FF2B5EF4-FFF2-40B4-BE49-F238E27FC236}">
                <a16:creationId xmlns:a16="http://schemas.microsoft.com/office/drawing/2014/main" id="{B2C5129C-9F8B-0286-54CC-F58415846068}"/>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7604507" y="5204772"/>
            <a:ext cx="3878825" cy="1653228"/>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4" name="Text Placeholder 5">
                <a:extLst>
                  <a:ext uri="{FF2B5EF4-FFF2-40B4-BE49-F238E27FC236}">
                    <a16:creationId xmlns:a16="http://schemas.microsoft.com/office/drawing/2014/main" id="{2661E3A0-C3F2-191A-8A5E-CFDF70A563C0}"/>
                  </a:ext>
                </a:extLst>
              </p:cNvPr>
              <p:cNvSpPr txBox="1">
                <a:spLocks/>
              </p:cNvSpPr>
              <p:nvPr/>
            </p:nvSpPr>
            <p:spPr>
              <a:xfrm>
                <a:off x="8862725" y="6075366"/>
                <a:ext cx="372509" cy="235696"/>
              </a:xfrm>
              <a:prstGeom prst="rect">
                <a:avLst/>
              </a:prstGeom>
              <a:noFill/>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l" defTabSz="914324" rtl="0" eaLnBrk="1" fontAlgn="auto" latinLnBrk="0" hangingPunct="1">
                  <a:lnSpc>
                    <a:spcPct val="100000"/>
                  </a:lnSpc>
                  <a:spcBef>
                    <a:spcPts val="0"/>
                  </a:spcBef>
                  <a:spcAft>
                    <a:spcPts val="0"/>
                  </a:spcAft>
                  <a:buClrTx/>
                  <a:buSzTx/>
                  <a:buFont typeface="Arial" panose="020B0604020202020204" pitchFamily="34" charset="0"/>
                  <a:buNone/>
                  <a:tabLst/>
                  <a:defRPr/>
                </a:pPr>
                <a14:m>
                  <m:oMathPara xmlns:m="http://schemas.openxmlformats.org/officeDocument/2006/math">
                    <m:oMathParaPr>
                      <m:jc m:val="centerGroup"/>
                    </m:oMathParaPr>
                    <m:oMath xmlns:m="http://schemas.openxmlformats.org/officeDocument/2006/math">
                      <m:sSub>
                        <m:sSubPr>
                          <m:ctrlPr>
                            <a:rPr kumimoji="1" lang="en-NZ" altLang="ja-JP" sz="1600" b="1" i="1" u="none" strike="noStrike" kern="1200" cap="none" spc="0" normalizeH="0" baseline="0" noProof="0" smtClean="0">
                              <a:ln>
                                <a:noFill/>
                              </a:ln>
                              <a:solidFill>
                                <a:srgbClr val="C00000"/>
                              </a:solidFill>
                              <a:effectLst/>
                              <a:uLnTx/>
                              <a:uFillTx/>
                              <a:latin typeface="Cambria Math" panose="02040503050406030204" pitchFamily="18" charset="0"/>
                              <a:cs typeface="+mn-cs"/>
                            </a:rPr>
                          </m:ctrlPr>
                        </m:sSubPr>
                        <m:e>
                          <m:r>
                            <a:rPr kumimoji="1" lang="en-NZ" altLang="ja-JP" sz="16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𝑭</m:t>
                          </m:r>
                        </m:e>
                        <m:sub>
                          <m:r>
                            <a:rPr kumimoji="1" lang="en-NZ" altLang="ja-JP" sz="16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𝒐𝒃𝒔</m:t>
                          </m:r>
                        </m:sub>
                      </m:sSub>
                    </m:oMath>
                  </m:oMathPara>
                </a14:m>
                <a:endParaRPr kumimoji="1" lang="en-NZ" altLang="ja-JP" sz="1600" b="0" i="0"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mc:Choice>
        <mc:Fallback xmlns="">
          <p:sp>
            <p:nvSpPr>
              <p:cNvPr id="4" name="Text Placeholder 5">
                <a:extLst>
                  <a:ext uri="{FF2B5EF4-FFF2-40B4-BE49-F238E27FC236}">
                    <a16:creationId xmlns:a16="http://schemas.microsoft.com/office/drawing/2014/main" id="{2661E3A0-C3F2-191A-8A5E-CFDF70A563C0}"/>
                  </a:ext>
                </a:extLst>
              </p:cNvPr>
              <p:cNvSpPr txBox="1">
                <a:spLocks noRot="1" noChangeAspect="1" noMove="1" noResize="1" noEditPoints="1" noAdjustHandles="1" noChangeArrowheads="1" noChangeShapeType="1" noTextEdit="1"/>
              </p:cNvSpPr>
              <p:nvPr/>
            </p:nvSpPr>
            <p:spPr>
              <a:xfrm>
                <a:off x="8862725" y="6075366"/>
                <a:ext cx="372509" cy="235696"/>
              </a:xfrm>
              <a:prstGeom prst="rect">
                <a:avLst/>
              </a:prstGeom>
              <a:blipFill>
                <a:blip r:embed="rId12"/>
                <a:stretch>
                  <a:fillRect r="-40984" b="-44737"/>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5" name="Text Placeholder 5">
                <a:extLst>
                  <a:ext uri="{FF2B5EF4-FFF2-40B4-BE49-F238E27FC236}">
                    <a16:creationId xmlns:a16="http://schemas.microsoft.com/office/drawing/2014/main" id="{9EF92F36-756B-E6F9-AA59-C2EFC23F3BB5}"/>
                  </a:ext>
                </a:extLst>
              </p:cNvPr>
              <p:cNvSpPr txBox="1">
                <a:spLocks/>
              </p:cNvSpPr>
              <p:nvPr/>
            </p:nvSpPr>
            <p:spPr>
              <a:xfrm>
                <a:off x="9480084" y="6182657"/>
                <a:ext cx="1317247" cy="264895"/>
              </a:xfrm>
              <a:prstGeom prst="rect">
                <a:avLst/>
              </a:prstGeom>
              <a:noFill/>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l" defTabSz="914324" rtl="0" eaLnBrk="1" fontAlgn="auto" latinLnBrk="0" hangingPunct="1">
                  <a:lnSpc>
                    <a:spcPct val="100000"/>
                  </a:lnSpc>
                  <a:spcBef>
                    <a:spcPts val="0"/>
                  </a:spcBef>
                  <a:spcAft>
                    <a:spcPts val="0"/>
                  </a:spcAft>
                  <a:buClrTx/>
                  <a:buSzTx/>
                  <a:buFont typeface="Arial" panose="020B0604020202020204" pitchFamily="34" charset="0"/>
                  <a:buNone/>
                  <a:tabLst/>
                  <a:defRPr/>
                </a:pPr>
                <a14:m>
                  <m:oMathPara xmlns:m="http://schemas.openxmlformats.org/officeDocument/2006/math">
                    <m:oMathParaPr>
                      <m:jc m:val="centerGroup"/>
                    </m:oMathParaPr>
                    <m:oMath xmlns:m="http://schemas.openxmlformats.org/officeDocument/2006/math">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𝑷</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𝑭</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sSub>
                        <m:sSubPr>
                          <m:ctrl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𝑭</m:t>
                          </m:r>
                        </m:e>
                        <m:sub>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𝒐𝒃𝒔</m:t>
                          </m:r>
                        </m:sub>
                      </m:sSub>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oMath>
                  </m:oMathPara>
                </a14:m>
                <a:endPar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p:txBody>
          </p:sp>
        </mc:Choice>
        <mc:Fallback xmlns="">
          <p:sp>
            <p:nvSpPr>
              <p:cNvPr id="5" name="Text Placeholder 5">
                <a:extLst>
                  <a:ext uri="{FF2B5EF4-FFF2-40B4-BE49-F238E27FC236}">
                    <a16:creationId xmlns:a16="http://schemas.microsoft.com/office/drawing/2014/main" id="{9EF92F36-756B-E6F9-AA59-C2EFC23F3BB5}"/>
                  </a:ext>
                </a:extLst>
              </p:cNvPr>
              <p:cNvSpPr txBox="1">
                <a:spLocks noRot="1" noChangeAspect="1" noMove="1" noResize="1" noEditPoints="1" noAdjustHandles="1" noChangeArrowheads="1" noChangeShapeType="1" noTextEdit="1"/>
              </p:cNvSpPr>
              <p:nvPr/>
            </p:nvSpPr>
            <p:spPr>
              <a:xfrm>
                <a:off x="9480084" y="6182657"/>
                <a:ext cx="1317247" cy="264895"/>
              </a:xfrm>
              <a:prstGeom prst="rect">
                <a:avLst/>
              </a:prstGeom>
              <a:blipFill>
                <a:blip r:embed="rId13"/>
                <a:stretch>
                  <a:fillRect b="-38636"/>
                </a:stretch>
              </a:blipFill>
            </p:spPr>
            <p:txBody>
              <a:bodyPr/>
              <a:lstStyle/>
              <a:p>
                <a:r>
                  <a:rPr lang="en-NZ">
                    <a:noFill/>
                  </a:rPr>
                  <a:t> </a:t>
                </a:r>
              </a:p>
            </p:txBody>
          </p:sp>
        </mc:Fallback>
      </mc:AlternateContent>
      <p:cxnSp>
        <p:nvCxnSpPr>
          <p:cNvPr id="6" name="Straight Connector 5">
            <a:extLst>
              <a:ext uri="{FF2B5EF4-FFF2-40B4-BE49-F238E27FC236}">
                <a16:creationId xmlns:a16="http://schemas.microsoft.com/office/drawing/2014/main" id="{1B24A2E7-44E7-CB0B-BBB8-A401833B6B54}"/>
              </a:ext>
            </a:extLst>
          </p:cNvPr>
          <p:cNvCxnSpPr>
            <a:cxnSpLocks/>
          </p:cNvCxnSpPr>
          <p:nvPr/>
        </p:nvCxnSpPr>
        <p:spPr>
          <a:xfrm>
            <a:off x="8990384" y="6413611"/>
            <a:ext cx="0" cy="273214"/>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106182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0"/>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1"/>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6"/>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4"/>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18" grpId="0"/>
      <p:bldP spid="20" grpId="0"/>
      <p:bldP spid="22" grpId="0"/>
      <p:bldP spid="28" grpId="0"/>
      <p:bldP spid="30" grpId="0"/>
      <p:bldP spid="31" grpId="0"/>
      <p:bldP spid="32" grpId="0"/>
      <p:bldP spid="4" grpId="0"/>
      <p:bldP spid="5" grpId="0"/>
    </p:bldLst>
  </p:timing>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1" name="Rectangle 70">
            <a:extLst>
              <a:ext uri="{FF2B5EF4-FFF2-40B4-BE49-F238E27FC236}">
                <a16:creationId xmlns:a16="http://schemas.microsoft.com/office/drawing/2014/main" id="{AB8C311F-7253-4AED-9701-7FC0708C4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030" name="Rectangle 72">
            <a:extLst>
              <a:ext uri="{FF2B5EF4-FFF2-40B4-BE49-F238E27FC236}">
                <a16:creationId xmlns:a16="http://schemas.microsoft.com/office/drawing/2014/main" id="{FD073016-B734-483B-8953-5BADEE1451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38600" y="0"/>
            <a:ext cx="8157458" cy="6858000"/>
          </a:xfrm>
          <a:prstGeom prst="rect">
            <a:avLst/>
          </a:prstGeom>
          <a:gradFill>
            <a:gsLst>
              <a:gs pos="2000">
                <a:schemeClr val="accent1"/>
              </a:gs>
              <a:gs pos="78000">
                <a:schemeClr val="accent1">
                  <a:lumMod val="50000"/>
                </a:schemeClr>
              </a:gs>
              <a:gs pos="100000">
                <a:srgbClr val="000000">
                  <a:alpha val="85000"/>
                </a:srgb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031" name="Rectangle 74">
            <a:extLst>
              <a:ext uri="{FF2B5EF4-FFF2-40B4-BE49-F238E27FC236}">
                <a16:creationId xmlns:a16="http://schemas.microsoft.com/office/drawing/2014/main" id="{90A7EAB6-59D3-4325-8DE6-E0CA4009CE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4537" y="1839884"/>
            <a:ext cx="8157460" cy="5017687"/>
          </a:xfrm>
          <a:prstGeom prst="rect">
            <a:avLst/>
          </a:prstGeom>
          <a:gradFill>
            <a:gsLst>
              <a:gs pos="0">
                <a:schemeClr val="accent1">
                  <a:lumMod val="60000"/>
                  <a:lumOff val="40000"/>
                  <a:alpha val="30000"/>
                </a:schemeClr>
              </a:gs>
              <a:gs pos="100000">
                <a:srgbClr val="000000">
                  <a:alpha val="44000"/>
                </a:srgbClr>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032" name="Rectangle 76">
            <a:extLst>
              <a:ext uri="{FF2B5EF4-FFF2-40B4-BE49-F238E27FC236}">
                <a16:creationId xmlns:a16="http://schemas.microsoft.com/office/drawing/2014/main" id="{A8D57A06-A426-446D-B02C-A2DC6B62E4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063179" y="-33131"/>
            <a:ext cx="6857999" cy="6923403"/>
          </a:xfrm>
          <a:prstGeom prst="rect">
            <a:avLst/>
          </a:prstGeom>
          <a:gradFill>
            <a:gsLst>
              <a:gs pos="56000">
                <a:schemeClr val="accent1">
                  <a:lumMod val="60000"/>
                  <a:lumOff val="40000"/>
                  <a:alpha val="0"/>
                </a:schemeClr>
              </a:gs>
              <a:gs pos="100000">
                <a:schemeClr val="accent1"/>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9" name="TextBox 8">
            <a:extLst>
              <a:ext uri="{FF2B5EF4-FFF2-40B4-BE49-F238E27FC236}">
                <a16:creationId xmlns:a16="http://schemas.microsoft.com/office/drawing/2014/main" id="{7F14062D-E1C1-4F63-B0FD-D013BDA5782B}"/>
              </a:ext>
            </a:extLst>
          </p:cNvPr>
          <p:cNvSpPr txBox="1"/>
          <p:nvPr/>
        </p:nvSpPr>
        <p:spPr>
          <a:xfrm>
            <a:off x="43707" y="2844225"/>
            <a:ext cx="12104586" cy="1477328"/>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NZ" sz="4500" b="1" dirty="0">
                <a:solidFill>
                  <a:srgbClr val="FFC000"/>
                </a:solidFill>
                <a:latin typeface="Calibri" panose="020F0502020204030204"/>
              </a:rPr>
              <a:t>5</a:t>
            </a:r>
            <a:r>
              <a:rPr kumimoji="0" lang="en-NZ" sz="4500" b="1" i="0" u="none" strike="noStrike" kern="1200" cap="none" spc="0" normalizeH="0" baseline="0" noProof="0" dirty="0">
                <a:ln>
                  <a:noFill/>
                </a:ln>
                <a:solidFill>
                  <a:srgbClr val="FFC000"/>
                </a:solidFill>
                <a:effectLst/>
                <a:uLnTx/>
                <a:uFillTx/>
                <a:latin typeface="Calibri" panose="020F0502020204030204"/>
                <a:ea typeface="+mn-ea"/>
                <a:cs typeface="+mn-cs"/>
              </a:rPr>
              <a:t>.5 – Computational Example of a Mixed Effects Model for a </a:t>
            </a:r>
            <a:r>
              <a:rPr lang="en-NZ" sz="4500" b="1" dirty="0">
                <a:solidFill>
                  <a:srgbClr val="FFC000"/>
                </a:solidFill>
                <a:latin typeface="Calibri" panose="020F0502020204030204"/>
              </a:rPr>
              <a:t>Three</a:t>
            </a:r>
            <a:r>
              <a:rPr kumimoji="0" lang="en-NZ" sz="4500" b="1" i="0" u="none" strike="noStrike" kern="1200" cap="none" spc="0" normalizeH="0" baseline="0" noProof="0" dirty="0">
                <a:ln>
                  <a:noFill/>
                </a:ln>
                <a:solidFill>
                  <a:srgbClr val="FFC000"/>
                </a:solidFill>
                <a:effectLst/>
                <a:uLnTx/>
                <a:uFillTx/>
                <a:latin typeface="Calibri" panose="020F0502020204030204"/>
                <a:ea typeface="+mn-ea"/>
                <a:cs typeface="+mn-cs"/>
              </a:rPr>
              <a:t>-Stage Nested Design</a:t>
            </a:r>
          </a:p>
        </p:txBody>
      </p:sp>
      <p:pic>
        <p:nvPicPr>
          <p:cNvPr id="10" name="Picture 2" descr="Te Herenga Waka—Victoria University of Wellington | Universities New  Zealand - Te Pōkai Tara">
            <a:extLst>
              <a:ext uri="{FF2B5EF4-FFF2-40B4-BE49-F238E27FC236}">
                <a16:creationId xmlns:a16="http://schemas.microsoft.com/office/drawing/2014/main" id="{078A8151-9BD3-4B62-8210-A87BCD0941E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116733"/>
            <a:ext cx="2185386" cy="7412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9753429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Slide Number Placeholder 3">
            <a:extLst>
              <a:ext uri="{FF2B5EF4-FFF2-40B4-BE49-F238E27FC236}">
                <a16:creationId xmlns:a16="http://schemas.microsoft.com/office/drawing/2014/main" id="{B0C9041D-77F0-4656-90D4-0E84B7AC6B27}"/>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54AD89C-DF1E-4948-B597-5DD47B34A9CA}" type="slidenum">
              <a:rPr kumimoji="1" lang="ja-JP" altLang="en-US" sz="4000" b="0" i="0" u="none" strike="noStrike" kern="1200" cap="none" spc="0" normalizeH="0" baseline="0" noProof="0" smtClean="0">
                <a:ln>
                  <a:noFill/>
                </a:ln>
                <a:solidFill>
                  <a:srgbClr val="575454">
                    <a:lumMod val="20000"/>
                    <a:lumOff val="80000"/>
                  </a:srgbClr>
                </a:solidFill>
                <a:effectLst/>
                <a:uLnTx/>
                <a:uFillTx/>
                <a:latin typeface="Coo Hew"/>
                <a:ea typeface="游ゴシック" panose="020B0400000000000000"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38</a:t>
            </a:fld>
            <a:endParaRPr kumimoji="1" lang="ja-JP" altLang="en-US" sz="4000" b="0" i="0" u="none" strike="noStrike" kern="1200" cap="none" spc="0" normalizeH="0" baseline="0" noProof="0" dirty="0">
              <a:ln>
                <a:noFill/>
              </a:ln>
              <a:solidFill>
                <a:srgbClr val="575454">
                  <a:lumMod val="20000"/>
                  <a:lumOff val="80000"/>
                </a:srgbClr>
              </a:solidFill>
              <a:effectLst/>
              <a:uLnTx/>
              <a:uFillTx/>
              <a:latin typeface="Coo Hew"/>
              <a:ea typeface="游ゴシック" panose="020B0400000000000000" pitchFamily="34" charset="-128"/>
              <a:cs typeface="+mn-cs"/>
            </a:endParaRPr>
          </a:p>
        </p:txBody>
      </p:sp>
      <p:sp>
        <p:nvSpPr>
          <p:cNvPr id="19" name="Footer Placeholder 2">
            <a:extLst>
              <a:ext uri="{FF2B5EF4-FFF2-40B4-BE49-F238E27FC236}">
                <a16:creationId xmlns:a16="http://schemas.microsoft.com/office/drawing/2014/main" id="{8FB48505-B142-67B9-4256-51388315A7EF}"/>
              </a:ext>
            </a:extLst>
          </p:cNvPr>
          <p:cNvSpPr txBox="1">
            <a:spLocks/>
          </p:cNvSpPr>
          <p:nvPr/>
        </p:nvSpPr>
        <p:spPr>
          <a:xfrm>
            <a:off x="7397088" y="86139"/>
            <a:ext cx="4692278"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rPr>
              <a:t>5.5 – Computational Example 3-Stage Nested Design</a:t>
            </a:r>
            <a:endParaRPr kumimoji="1" lang="ja-JP" altLang="en-US"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endParaRPr>
          </a:p>
        </p:txBody>
      </p:sp>
      <p:sp>
        <p:nvSpPr>
          <p:cNvPr id="21" name="Title 6">
            <a:extLst>
              <a:ext uri="{FF2B5EF4-FFF2-40B4-BE49-F238E27FC236}">
                <a16:creationId xmlns:a16="http://schemas.microsoft.com/office/drawing/2014/main" id="{7C963C88-6E6E-2444-9663-776716CBAA9D}"/>
              </a:ext>
            </a:extLst>
          </p:cNvPr>
          <p:cNvSpPr txBox="1">
            <a:spLocks/>
          </p:cNvSpPr>
          <p:nvPr/>
        </p:nvSpPr>
        <p:spPr>
          <a:xfrm>
            <a:off x="251224" y="237833"/>
            <a:ext cx="6654543" cy="607201"/>
          </a:xfrm>
          <a:prstGeom prst="rect">
            <a:avLst/>
          </a:prstGeom>
        </p:spPr>
        <p:txBody>
          <a:bodyPr anchor="t">
            <a:normAutofit/>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pPr marL="0" marR="0" lvl="0" indent="0" algn="l" defTabSz="914324" rtl="0" eaLnBrk="1" fontAlgn="auto" latinLnBrk="0" hangingPunct="1">
              <a:lnSpc>
                <a:spcPct val="90000"/>
              </a:lnSpc>
              <a:spcBef>
                <a:spcPct val="0"/>
              </a:spcBef>
              <a:spcAft>
                <a:spcPts val="0"/>
              </a:spcAft>
              <a:buClrTx/>
              <a:buSzTx/>
              <a:buFontTx/>
              <a:buNone/>
              <a:tabLst/>
              <a:defRPr/>
            </a:pPr>
            <a:r>
              <a:rPr kumimoji="1" lang="en-US" altLang="ja-JP"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rPr>
              <a:t>5.5a – Burger Fat Example:</a:t>
            </a:r>
            <a:endParaRPr kumimoji="1" lang="ja-JP" altLang="en-US"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endParaRPr>
          </a:p>
        </p:txBody>
      </p:sp>
      <p:sp>
        <p:nvSpPr>
          <p:cNvPr id="11" name="Text Placeholder 5">
            <a:extLst>
              <a:ext uri="{FF2B5EF4-FFF2-40B4-BE49-F238E27FC236}">
                <a16:creationId xmlns:a16="http://schemas.microsoft.com/office/drawing/2014/main" id="{7B5CEE78-46DE-D327-3299-AC3CD2863429}"/>
              </a:ext>
            </a:extLst>
          </p:cNvPr>
          <p:cNvSpPr txBox="1">
            <a:spLocks/>
          </p:cNvSpPr>
          <p:nvPr/>
        </p:nvSpPr>
        <p:spPr>
          <a:xfrm>
            <a:off x="3011606" y="6520328"/>
            <a:ext cx="6168789" cy="30855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200" b="0" i="0"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rPr>
              <a:t>Associated code = 5.5 - Burger Fat (Three Stage Nested Design Example)</a:t>
            </a:r>
            <a:endParaRPr kumimoji="1" lang="en-US" altLang="ja-JP" sz="1200" b="1"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p:sp>
        <p:nvSpPr>
          <p:cNvPr id="12" name="Text Placeholder 5">
            <a:extLst>
              <a:ext uri="{FF2B5EF4-FFF2-40B4-BE49-F238E27FC236}">
                <a16:creationId xmlns:a16="http://schemas.microsoft.com/office/drawing/2014/main" id="{287CC0BA-E2DD-1FBC-E311-B0DAE248517D}"/>
              </a:ext>
            </a:extLst>
          </p:cNvPr>
          <p:cNvSpPr txBox="1">
            <a:spLocks/>
          </p:cNvSpPr>
          <p:nvPr/>
        </p:nvSpPr>
        <p:spPr>
          <a:xfrm>
            <a:off x="251223" y="941503"/>
            <a:ext cx="11432776" cy="1706164"/>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600" b="0" i="0" u="none" strike="noStrike" kern="1200" cap="none" spc="0" normalizeH="0" baseline="0" noProof="0" dirty="0">
                <a:ln>
                  <a:noFill/>
                </a:ln>
                <a:solidFill>
                  <a:srgbClr val="0070C0"/>
                </a:solidFill>
                <a:effectLst/>
                <a:uLnTx/>
                <a:uFillTx/>
                <a:latin typeface="Calibri" panose="020F0502020204030204"/>
                <a:ea typeface="游ゴシック" panose="020B0400000000000000" pitchFamily="34" charset="-128"/>
                <a:cs typeface="+mn-cs"/>
              </a:rPr>
              <a:t> An experiment is conducted to study the fat content of popular burgers from a large fast food restaurant chain. Particular interest centres on whether fat content varies significantly with geographic region, town or restaurant. Three towns are randomly selected in the North and three more are selected in the South. In each town, three restaurants are randomly chosen and at each restaurant, five burgers are randomly chosen and prepared in a typical fashion. Each burger is then ground up, and the total amount of fat is determined. The response is expressed in a coded scale for computational convenience.</a:t>
            </a: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200" b="0" i="0" u="none" strike="noStrike" kern="1200" cap="none" spc="0" normalizeH="0" baseline="0" noProof="0" dirty="0">
              <a:ln>
                <a:noFill/>
              </a:ln>
              <a:solidFill>
                <a:srgbClr val="0070C0"/>
              </a:solidFill>
              <a:effectLst/>
              <a:uLnTx/>
              <a:uFillTx/>
              <a:latin typeface="Calibri" panose="020F0502020204030204"/>
              <a:ea typeface="游ゴシック" panose="020B0400000000000000" pitchFamily="34" charset="-128"/>
              <a:cs typeface="+mn-cs"/>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600" b="0" i="0" u="none" strike="noStrike" kern="1200" cap="none" spc="0" normalizeH="0" baseline="0" noProof="0" dirty="0">
                <a:ln>
                  <a:noFill/>
                </a:ln>
                <a:solidFill>
                  <a:srgbClr val="0070C0"/>
                </a:solidFill>
                <a:effectLst/>
                <a:uLnTx/>
                <a:uFillTx/>
                <a:latin typeface="Calibri" panose="020F0502020204030204"/>
                <a:ea typeface="游ゴシック" panose="020B0400000000000000" pitchFamily="34" charset="-128"/>
                <a:cs typeface="+mn-cs"/>
              </a:rPr>
              <a:t>The data pertaining to these trials is available in the csv data set entitled 'burger’ but is also shown below.</a:t>
            </a:r>
          </a:p>
        </p:txBody>
      </p:sp>
      <p:sp>
        <p:nvSpPr>
          <p:cNvPr id="15" name="Text Placeholder 5">
            <a:extLst>
              <a:ext uri="{FF2B5EF4-FFF2-40B4-BE49-F238E27FC236}">
                <a16:creationId xmlns:a16="http://schemas.microsoft.com/office/drawing/2014/main" id="{7BFF34E6-4F81-C838-62AB-A85F213BD500}"/>
              </a:ext>
            </a:extLst>
          </p:cNvPr>
          <p:cNvSpPr txBox="1">
            <a:spLocks/>
          </p:cNvSpPr>
          <p:nvPr/>
        </p:nvSpPr>
        <p:spPr>
          <a:xfrm>
            <a:off x="634828" y="4599342"/>
            <a:ext cx="5887334" cy="2004398"/>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6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Response Variable </a:t>
            </a:r>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Fat content </a:t>
            </a:r>
            <a:r>
              <a:rPr lang="en-NZ" altLang="ja-JP" sz="1600" dirty="0">
                <a:solidFill>
                  <a:prstClr val="black"/>
                </a:solidFill>
                <a:latin typeface="Calibri" panose="020F0502020204030204"/>
                <a:ea typeface="游ゴシック" panose="020B0400000000000000" pitchFamily="34" charset="-128"/>
              </a:rPr>
              <a:t>(grams)</a:t>
            </a:r>
            <a:endPar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6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Factor A</a:t>
            </a:r>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Region</a:t>
            </a: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6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Factor A Levels     	 </a:t>
            </a:r>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North, South </a:t>
            </a:r>
            <a:r>
              <a:rPr kumimoji="1" lang="en-NZ" altLang="ja-JP" sz="16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 = 2</a:t>
            </a:r>
            <a:endPar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6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Factor B</a:t>
            </a:r>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a:t>
            </a:r>
            <a:r>
              <a:rPr lang="en-NZ" altLang="ja-JP" sz="1600" dirty="0">
                <a:solidFill>
                  <a:prstClr val="black"/>
                </a:solidFill>
                <a:latin typeface="Calibri" panose="020F0502020204030204"/>
                <a:ea typeface="游ゴシック" panose="020B0400000000000000" pitchFamily="34" charset="-128"/>
              </a:rPr>
              <a:t> Town</a:t>
            </a:r>
            <a:endPar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6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Factor B Levels </a:t>
            </a:r>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Town 1 – Town 6 (nested in Region) </a:t>
            </a:r>
            <a:r>
              <a:rPr kumimoji="1" lang="en-NZ" altLang="ja-JP" sz="16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b = 3</a:t>
            </a:r>
            <a:endPar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6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Factor C</a:t>
            </a:r>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a:t>
            </a:r>
            <a:r>
              <a:rPr lang="en-NZ" altLang="ja-JP" sz="1600" dirty="0">
                <a:solidFill>
                  <a:prstClr val="black"/>
                </a:solidFill>
                <a:latin typeface="Calibri" panose="020F0502020204030204"/>
                <a:ea typeface="游ゴシック" panose="020B0400000000000000" pitchFamily="34" charset="-128"/>
              </a:rPr>
              <a:t> Restaurant</a:t>
            </a:r>
            <a:endPar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6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Factor C Levels </a:t>
            </a:r>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Restaurant 1 – Town 18 (nested in Town) </a:t>
            </a:r>
            <a:r>
              <a:rPr kumimoji="1" lang="en-NZ" altLang="ja-JP" sz="16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c = 3</a:t>
            </a:r>
            <a:endPar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p:txBody>
      </p:sp>
      <p:sp>
        <p:nvSpPr>
          <p:cNvPr id="16" name="Text Placeholder 5">
            <a:extLst>
              <a:ext uri="{FF2B5EF4-FFF2-40B4-BE49-F238E27FC236}">
                <a16:creationId xmlns:a16="http://schemas.microsoft.com/office/drawing/2014/main" id="{44747E65-B454-0DCE-5598-8E219AD0866E}"/>
              </a:ext>
            </a:extLst>
          </p:cNvPr>
          <p:cNvSpPr txBox="1">
            <a:spLocks/>
          </p:cNvSpPr>
          <p:nvPr/>
        </p:nvSpPr>
        <p:spPr>
          <a:xfrm>
            <a:off x="6673755" y="4955873"/>
            <a:ext cx="5415611" cy="1147282"/>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600" b="0" i="1" u="none" strike="noStrike" kern="1200" cap="none" spc="0" normalizeH="0" baseline="0" noProof="0" dirty="0">
                <a:ln>
                  <a:noFill/>
                </a:ln>
                <a:solidFill>
                  <a:schemeClr val="bg2">
                    <a:lumMod val="50000"/>
                  </a:schemeClr>
                </a:solidFill>
                <a:effectLst/>
                <a:uLnTx/>
                <a:uFillTx/>
                <a:latin typeface="Calibri" panose="020F0502020204030204"/>
                <a:ea typeface="游ゴシック" panose="020B0400000000000000" pitchFamily="34" charset="-128"/>
                <a:cs typeface="+mn-cs"/>
              </a:rPr>
              <a:t>Note that since:</a:t>
            </a:r>
          </a:p>
          <a:p>
            <a:pPr marR="0" lvl="0" algn="just" defTabSz="914324" rtl="0" eaLnBrk="1" fontAlgn="auto" latinLnBrk="0" hangingPunct="1">
              <a:lnSpc>
                <a:spcPct val="100000"/>
              </a:lnSpc>
              <a:spcBef>
                <a:spcPts val="0"/>
              </a:spcBef>
              <a:spcAft>
                <a:spcPts val="0"/>
              </a:spcAft>
              <a:buClrTx/>
              <a:buSzTx/>
              <a:tabLst/>
              <a:defRPr/>
            </a:pPr>
            <a:r>
              <a:rPr kumimoji="1" lang="en-NZ" altLang="ja-JP" sz="1600" b="0" i="1" u="none" strike="noStrike" kern="1200" cap="none" spc="0" normalizeH="0" baseline="0" noProof="0" dirty="0">
                <a:ln>
                  <a:noFill/>
                </a:ln>
                <a:solidFill>
                  <a:schemeClr val="bg2">
                    <a:lumMod val="50000"/>
                  </a:schemeClr>
                </a:solidFill>
                <a:effectLst/>
                <a:uLnTx/>
                <a:uFillTx/>
                <a:latin typeface="Calibri" panose="020F0502020204030204"/>
                <a:ea typeface="游ゴシック" panose="020B0400000000000000" pitchFamily="34" charset="-128"/>
                <a:cs typeface="+mn-cs"/>
              </a:rPr>
              <a:t>  each Town (Factor </a:t>
            </a:r>
            <a:r>
              <a:rPr kumimoji="1" lang="en-NZ" altLang="ja-JP" sz="1600" b="1" i="1" u="none" strike="noStrike" kern="1200" cap="none" spc="0" normalizeH="0" baseline="0" noProof="0" dirty="0">
                <a:ln>
                  <a:noFill/>
                </a:ln>
                <a:solidFill>
                  <a:schemeClr val="bg2">
                    <a:lumMod val="50000"/>
                  </a:schemeClr>
                </a:solidFill>
                <a:effectLst/>
                <a:uLnTx/>
                <a:uFillTx/>
                <a:latin typeface="Calibri" panose="020F0502020204030204"/>
                <a:ea typeface="游ゴシック" panose="020B0400000000000000" pitchFamily="34" charset="-128"/>
                <a:cs typeface="+mn-cs"/>
              </a:rPr>
              <a:t>B</a:t>
            </a:r>
            <a:r>
              <a:rPr kumimoji="1" lang="en-NZ" altLang="ja-JP" sz="1600" i="1" u="none" strike="noStrike" kern="1200" cap="none" spc="0" normalizeH="0" baseline="0" noProof="0" dirty="0">
                <a:ln>
                  <a:noFill/>
                </a:ln>
                <a:solidFill>
                  <a:schemeClr val="bg2">
                    <a:lumMod val="50000"/>
                  </a:schemeClr>
                </a:solidFill>
                <a:effectLst/>
                <a:uLnTx/>
                <a:uFillTx/>
                <a:latin typeface="Calibri" panose="020F0502020204030204"/>
                <a:ea typeface="游ゴシック" panose="020B0400000000000000" pitchFamily="34" charset="-128"/>
                <a:cs typeface="+mn-cs"/>
              </a:rPr>
              <a:t>) is nested in each Region (Factor </a:t>
            </a:r>
            <a:r>
              <a:rPr kumimoji="1" lang="en-NZ" altLang="ja-JP" sz="1600" b="1" i="1" u="none" strike="noStrike" kern="1200" cap="none" spc="0" normalizeH="0" baseline="0" noProof="0" dirty="0">
                <a:ln>
                  <a:noFill/>
                </a:ln>
                <a:solidFill>
                  <a:schemeClr val="bg2">
                    <a:lumMod val="50000"/>
                  </a:schemeClr>
                </a:solidFill>
                <a:effectLst/>
                <a:uLnTx/>
                <a:uFillTx/>
                <a:latin typeface="Calibri" panose="020F0502020204030204"/>
                <a:ea typeface="游ゴシック" panose="020B0400000000000000" pitchFamily="34" charset="-128"/>
                <a:cs typeface="+mn-cs"/>
              </a:rPr>
              <a:t>A</a:t>
            </a:r>
            <a:r>
              <a:rPr kumimoji="1" lang="en-NZ" altLang="ja-JP" sz="1600" i="1" u="none" strike="noStrike" kern="1200" cap="none" spc="0" normalizeH="0" baseline="0" noProof="0" dirty="0">
                <a:ln>
                  <a:noFill/>
                </a:ln>
                <a:solidFill>
                  <a:schemeClr val="bg2">
                    <a:lumMod val="50000"/>
                  </a:schemeClr>
                </a:solidFill>
                <a:effectLst/>
                <a:uLnTx/>
                <a:uFillTx/>
                <a:latin typeface="Calibri" panose="020F0502020204030204"/>
                <a:ea typeface="游ゴシック" panose="020B0400000000000000" pitchFamily="34" charset="-128"/>
                <a:cs typeface="+mn-cs"/>
              </a:rPr>
              <a:t>)</a:t>
            </a:r>
          </a:p>
          <a:p>
            <a:pPr marR="0" lvl="0" algn="just" defTabSz="914324" rtl="0" eaLnBrk="1" fontAlgn="auto" latinLnBrk="0" hangingPunct="1">
              <a:lnSpc>
                <a:spcPct val="100000"/>
              </a:lnSpc>
              <a:spcBef>
                <a:spcPts val="0"/>
              </a:spcBef>
              <a:spcAft>
                <a:spcPts val="0"/>
              </a:spcAft>
              <a:buClrTx/>
              <a:buSzTx/>
              <a:tabLst/>
              <a:defRPr/>
            </a:pPr>
            <a:r>
              <a:rPr lang="en-NZ" altLang="ja-JP" sz="1600" b="0" i="1" dirty="0">
                <a:solidFill>
                  <a:schemeClr val="bg2">
                    <a:lumMod val="50000"/>
                  </a:schemeClr>
                </a:solidFill>
                <a:latin typeface="Calibri" panose="020F0502020204030204"/>
                <a:ea typeface="游ゴシック" panose="020B0400000000000000" pitchFamily="34" charset="-128"/>
              </a:rPr>
              <a:t>  each Restaurant (Factor </a:t>
            </a:r>
            <a:r>
              <a:rPr lang="en-NZ" altLang="ja-JP" sz="1600" b="1" i="1" dirty="0">
                <a:solidFill>
                  <a:schemeClr val="bg2">
                    <a:lumMod val="50000"/>
                  </a:schemeClr>
                </a:solidFill>
                <a:latin typeface="Calibri" panose="020F0502020204030204"/>
                <a:ea typeface="游ゴシック" panose="020B0400000000000000" pitchFamily="34" charset="-128"/>
              </a:rPr>
              <a:t>C</a:t>
            </a:r>
            <a:r>
              <a:rPr lang="en-NZ" altLang="ja-JP" sz="1600" i="1" dirty="0">
                <a:solidFill>
                  <a:schemeClr val="bg2">
                    <a:lumMod val="50000"/>
                  </a:schemeClr>
                </a:solidFill>
                <a:latin typeface="Calibri" panose="020F0502020204030204"/>
                <a:ea typeface="游ゴシック" panose="020B0400000000000000" pitchFamily="34" charset="-128"/>
              </a:rPr>
              <a:t>) is nested in each Town (Factor </a:t>
            </a:r>
            <a:r>
              <a:rPr lang="en-NZ" altLang="ja-JP" sz="1600" b="1" i="1" dirty="0">
                <a:solidFill>
                  <a:schemeClr val="bg2">
                    <a:lumMod val="50000"/>
                  </a:schemeClr>
                </a:solidFill>
                <a:latin typeface="Calibri" panose="020F0502020204030204"/>
                <a:ea typeface="游ゴシック" panose="020B0400000000000000" pitchFamily="34" charset="-128"/>
              </a:rPr>
              <a:t>B</a:t>
            </a:r>
            <a:r>
              <a:rPr lang="en-NZ" altLang="ja-JP" sz="1600" i="1" dirty="0">
                <a:solidFill>
                  <a:schemeClr val="bg2">
                    <a:lumMod val="50000"/>
                  </a:schemeClr>
                </a:solidFill>
                <a:latin typeface="Calibri" panose="020F0502020204030204"/>
                <a:ea typeface="游ゴシック" panose="020B0400000000000000" pitchFamily="34" charset="-128"/>
              </a:rPr>
              <a:t>)</a:t>
            </a:r>
          </a:p>
          <a:p>
            <a:pPr marR="0" lvl="0" algn="just" defTabSz="914324" rtl="0" eaLnBrk="1" fontAlgn="auto" latinLnBrk="0" hangingPunct="1">
              <a:lnSpc>
                <a:spcPct val="100000"/>
              </a:lnSpc>
              <a:spcBef>
                <a:spcPts val="0"/>
              </a:spcBef>
              <a:spcAft>
                <a:spcPts val="0"/>
              </a:spcAft>
              <a:buClrTx/>
              <a:buSzTx/>
              <a:tabLst/>
              <a:defRPr/>
            </a:pPr>
            <a:r>
              <a:rPr kumimoji="1" lang="en-NZ" altLang="ja-JP" sz="1600" b="0" i="1" u="none" strike="noStrike" kern="1200" cap="none" spc="0" normalizeH="0" baseline="0" noProof="0" dirty="0">
                <a:ln>
                  <a:noFill/>
                </a:ln>
                <a:solidFill>
                  <a:schemeClr val="bg2">
                    <a:lumMod val="50000"/>
                  </a:schemeClr>
                </a:solidFill>
                <a:effectLst/>
                <a:uLnTx/>
                <a:uFillTx/>
                <a:latin typeface="Calibri" panose="020F0502020204030204"/>
                <a:ea typeface="游ゴシック" panose="020B0400000000000000" pitchFamily="34" charset="-128"/>
                <a:cs typeface="+mn-cs"/>
              </a:rPr>
              <a:t>This is a 3-stage nested design.</a:t>
            </a:r>
          </a:p>
        </p:txBody>
      </p:sp>
      <p:graphicFrame>
        <p:nvGraphicFramePr>
          <p:cNvPr id="3" name="Table 2">
            <a:extLst>
              <a:ext uri="{FF2B5EF4-FFF2-40B4-BE49-F238E27FC236}">
                <a16:creationId xmlns:a16="http://schemas.microsoft.com/office/drawing/2014/main" id="{3A9BF970-08DA-EEEC-A12D-3D2EB2AF041D}"/>
              </a:ext>
            </a:extLst>
          </p:cNvPr>
          <p:cNvGraphicFramePr>
            <a:graphicFrameLocks noGrp="1"/>
          </p:cNvGraphicFramePr>
          <p:nvPr>
            <p:extLst>
              <p:ext uri="{D42A27DB-BD31-4B8C-83A1-F6EECF244321}">
                <p14:modId xmlns:p14="http://schemas.microsoft.com/office/powerpoint/2010/main" val="12724378"/>
              </p:ext>
            </p:extLst>
          </p:nvPr>
        </p:nvGraphicFramePr>
        <p:xfrm>
          <a:off x="408295" y="2630789"/>
          <a:ext cx="11432772" cy="1783080"/>
        </p:xfrm>
        <a:graphic>
          <a:graphicData uri="http://schemas.openxmlformats.org/drawingml/2006/table">
            <a:tbl>
              <a:tblPr/>
              <a:tblGrid>
                <a:gridCol w="635154">
                  <a:extLst>
                    <a:ext uri="{9D8B030D-6E8A-4147-A177-3AD203B41FA5}">
                      <a16:colId xmlns:a16="http://schemas.microsoft.com/office/drawing/2014/main" val="261370890"/>
                    </a:ext>
                  </a:extLst>
                </a:gridCol>
                <a:gridCol w="635154">
                  <a:extLst>
                    <a:ext uri="{9D8B030D-6E8A-4147-A177-3AD203B41FA5}">
                      <a16:colId xmlns:a16="http://schemas.microsoft.com/office/drawing/2014/main" val="2655997257"/>
                    </a:ext>
                  </a:extLst>
                </a:gridCol>
                <a:gridCol w="635154">
                  <a:extLst>
                    <a:ext uri="{9D8B030D-6E8A-4147-A177-3AD203B41FA5}">
                      <a16:colId xmlns:a16="http://schemas.microsoft.com/office/drawing/2014/main" val="1684677619"/>
                    </a:ext>
                  </a:extLst>
                </a:gridCol>
                <a:gridCol w="635154">
                  <a:extLst>
                    <a:ext uri="{9D8B030D-6E8A-4147-A177-3AD203B41FA5}">
                      <a16:colId xmlns:a16="http://schemas.microsoft.com/office/drawing/2014/main" val="3828664979"/>
                    </a:ext>
                  </a:extLst>
                </a:gridCol>
                <a:gridCol w="635154">
                  <a:extLst>
                    <a:ext uri="{9D8B030D-6E8A-4147-A177-3AD203B41FA5}">
                      <a16:colId xmlns:a16="http://schemas.microsoft.com/office/drawing/2014/main" val="176550081"/>
                    </a:ext>
                  </a:extLst>
                </a:gridCol>
                <a:gridCol w="635154">
                  <a:extLst>
                    <a:ext uri="{9D8B030D-6E8A-4147-A177-3AD203B41FA5}">
                      <a16:colId xmlns:a16="http://schemas.microsoft.com/office/drawing/2014/main" val="193245256"/>
                    </a:ext>
                  </a:extLst>
                </a:gridCol>
                <a:gridCol w="635154">
                  <a:extLst>
                    <a:ext uri="{9D8B030D-6E8A-4147-A177-3AD203B41FA5}">
                      <a16:colId xmlns:a16="http://schemas.microsoft.com/office/drawing/2014/main" val="1048273245"/>
                    </a:ext>
                  </a:extLst>
                </a:gridCol>
                <a:gridCol w="635154">
                  <a:extLst>
                    <a:ext uri="{9D8B030D-6E8A-4147-A177-3AD203B41FA5}">
                      <a16:colId xmlns:a16="http://schemas.microsoft.com/office/drawing/2014/main" val="798472114"/>
                    </a:ext>
                  </a:extLst>
                </a:gridCol>
                <a:gridCol w="635154">
                  <a:extLst>
                    <a:ext uri="{9D8B030D-6E8A-4147-A177-3AD203B41FA5}">
                      <a16:colId xmlns:a16="http://schemas.microsoft.com/office/drawing/2014/main" val="491702833"/>
                    </a:ext>
                  </a:extLst>
                </a:gridCol>
                <a:gridCol w="635154">
                  <a:extLst>
                    <a:ext uri="{9D8B030D-6E8A-4147-A177-3AD203B41FA5}">
                      <a16:colId xmlns:a16="http://schemas.microsoft.com/office/drawing/2014/main" val="1013895529"/>
                    </a:ext>
                  </a:extLst>
                </a:gridCol>
                <a:gridCol w="635154">
                  <a:extLst>
                    <a:ext uri="{9D8B030D-6E8A-4147-A177-3AD203B41FA5}">
                      <a16:colId xmlns:a16="http://schemas.microsoft.com/office/drawing/2014/main" val="413692198"/>
                    </a:ext>
                  </a:extLst>
                </a:gridCol>
                <a:gridCol w="635154">
                  <a:extLst>
                    <a:ext uri="{9D8B030D-6E8A-4147-A177-3AD203B41FA5}">
                      <a16:colId xmlns:a16="http://schemas.microsoft.com/office/drawing/2014/main" val="995235578"/>
                    </a:ext>
                  </a:extLst>
                </a:gridCol>
                <a:gridCol w="635154">
                  <a:extLst>
                    <a:ext uri="{9D8B030D-6E8A-4147-A177-3AD203B41FA5}">
                      <a16:colId xmlns:a16="http://schemas.microsoft.com/office/drawing/2014/main" val="2454732399"/>
                    </a:ext>
                  </a:extLst>
                </a:gridCol>
                <a:gridCol w="635154">
                  <a:extLst>
                    <a:ext uri="{9D8B030D-6E8A-4147-A177-3AD203B41FA5}">
                      <a16:colId xmlns:a16="http://schemas.microsoft.com/office/drawing/2014/main" val="1075191167"/>
                    </a:ext>
                  </a:extLst>
                </a:gridCol>
                <a:gridCol w="635154">
                  <a:extLst>
                    <a:ext uri="{9D8B030D-6E8A-4147-A177-3AD203B41FA5}">
                      <a16:colId xmlns:a16="http://schemas.microsoft.com/office/drawing/2014/main" val="1814771076"/>
                    </a:ext>
                  </a:extLst>
                </a:gridCol>
                <a:gridCol w="635154">
                  <a:extLst>
                    <a:ext uri="{9D8B030D-6E8A-4147-A177-3AD203B41FA5}">
                      <a16:colId xmlns:a16="http://schemas.microsoft.com/office/drawing/2014/main" val="3875642416"/>
                    </a:ext>
                  </a:extLst>
                </a:gridCol>
                <a:gridCol w="635154">
                  <a:extLst>
                    <a:ext uri="{9D8B030D-6E8A-4147-A177-3AD203B41FA5}">
                      <a16:colId xmlns:a16="http://schemas.microsoft.com/office/drawing/2014/main" val="258005433"/>
                    </a:ext>
                  </a:extLst>
                </a:gridCol>
                <a:gridCol w="635154">
                  <a:extLst>
                    <a:ext uri="{9D8B030D-6E8A-4147-A177-3AD203B41FA5}">
                      <a16:colId xmlns:a16="http://schemas.microsoft.com/office/drawing/2014/main" val="3371536499"/>
                    </a:ext>
                  </a:extLst>
                </a:gridCol>
              </a:tblGrid>
              <a:tr h="190500">
                <a:tc gridSpan="9">
                  <a:txBody>
                    <a:bodyPr/>
                    <a:lstStyle/>
                    <a:p>
                      <a:pPr algn="ctr" fontAlgn="ctr"/>
                      <a:r>
                        <a:rPr lang="en-NZ" sz="1400" b="1" i="0" u="none" strike="noStrike" dirty="0">
                          <a:solidFill>
                            <a:srgbClr val="FFFFFF"/>
                          </a:solidFill>
                          <a:effectLst/>
                          <a:latin typeface="Calibri" panose="020F0502020204030204" pitchFamily="34" charset="0"/>
                        </a:rPr>
                        <a:t>North</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2060"/>
                    </a:solidFill>
                  </a:tcPr>
                </a:tc>
                <a:tc hMerge="1">
                  <a:txBody>
                    <a:bodyPr/>
                    <a:lstStyle/>
                    <a:p>
                      <a:endParaRPr lang="en-NZ"/>
                    </a:p>
                  </a:txBody>
                  <a:tcPr/>
                </a:tc>
                <a:tc hMerge="1">
                  <a:txBody>
                    <a:bodyPr/>
                    <a:lstStyle/>
                    <a:p>
                      <a:endParaRPr lang="en-NZ"/>
                    </a:p>
                  </a:txBody>
                  <a:tcPr/>
                </a:tc>
                <a:tc hMerge="1">
                  <a:txBody>
                    <a:bodyPr/>
                    <a:lstStyle/>
                    <a:p>
                      <a:endParaRPr lang="en-NZ"/>
                    </a:p>
                  </a:txBody>
                  <a:tcPr/>
                </a:tc>
                <a:tc hMerge="1">
                  <a:txBody>
                    <a:bodyPr/>
                    <a:lstStyle/>
                    <a:p>
                      <a:endParaRPr lang="en-NZ"/>
                    </a:p>
                  </a:txBody>
                  <a:tcPr/>
                </a:tc>
                <a:tc hMerge="1">
                  <a:txBody>
                    <a:bodyPr/>
                    <a:lstStyle/>
                    <a:p>
                      <a:endParaRPr lang="en-NZ"/>
                    </a:p>
                  </a:txBody>
                  <a:tcPr/>
                </a:tc>
                <a:tc hMerge="1">
                  <a:txBody>
                    <a:bodyPr/>
                    <a:lstStyle/>
                    <a:p>
                      <a:endParaRPr lang="en-NZ"/>
                    </a:p>
                  </a:txBody>
                  <a:tcPr/>
                </a:tc>
                <a:tc hMerge="1">
                  <a:txBody>
                    <a:bodyPr/>
                    <a:lstStyle/>
                    <a:p>
                      <a:endParaRPr lang="en-NZ"/>
                    </a:p>
                  </a:txBody>
                  <a:tcPr/>
                </a:tc>
                <a:tc hMerge="1">
                  <a:txBody>
                    <a:bodyPr/>
                    <a:lstStyle/>
                    <a:p>
                      <a:endParaRPr lang="en-NZ"/>
                    </a:p>
                  </a:txBody>
                  <a:tcPr/>
                </a:tc>
                <a:tc gridSpan="9">
                  <a:txBody>
                    <a:bodyPr/>
                    <a:lstStyle/>
                    <a:p>
                      <a:pPr algn="ctr" fontAlgn="ctr"/>
                      <a:r>
                        <a:rPr lang="en-NZ" sz="1400" b="1" i="0" u="none" strike="noStrike">
                          <a:solidFill>
                            <a:srgbClr val="FFFFFF"/>
                          </a:solidFill>
                          <a:effectLst/>
                          <a:latin typeface="Calibri" panose="020F0502020204030204" pitchFamily="34" charset="0"/>
                        </a:rPr>
                        <a:t>South</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2060"/>
                    </a:solidFill>
                  </a:tcPr>
                </a:tc>
                <a:tc hMerge="1">
                  <a:txBody>
                    <a:bodyPr/>
                    <a:lstStyle/>
                    <a:p>
                      <a:endParaRPr lang="en-NZ"/>
                    </a:p>
                  </a:txBody>
                  <a:tcPr/>
                </a:tc>
                <a:tc hMerge="1">
                  <a:txBody>
                    <a:bodyPr/>
                    <a:lstStyle/>
                    <a:p>
                      <a:endParaRPr lang="en-NZ"/>
                    </a:p>
                  </a:txBody>
                  <a:tcPr/>
                </a:tc>
                <a:tc hMerge="1">
                  <a:txBody>
                    <a:bodyPr/>
                    <a:lstStyle/>
                    <a:p>
                      <a:endParaRPr lang="en-NZ"/>
                    </a:p>
                  </a:txBody>
                  <a:tcPr/>
                </a:tc>
                <a:tc hMerge="1">
                  <a:txBody>
                    <a:bodyPr/>
                    <a:lstStyle/>
                    <a:p>
                      <a:endParaRPr lang="en-NZ"/>
                    </a:p>
                  </a:txBody>
                  <a:tcPr/>
                </a:tc>
                <a:tc hMerge="1">
                  <a:txBody>
                    <a:bodyPr/>
                    <a:lstStyle/>
                    <a:p>
                      <a:endParaRPr lang="en-NZ"/>
                    </a:p>
                  </a:txBody>
                  <a:tcPr/>
                </a:tc>
                <a:tc hMerge="1">
                  <a:txBody>
                    <a:bodyPr/>
                    <a:lstStyle/>
                    <a:p>
                      <a:endParaRPr lang="en-NZ"/>
                    </a:p>
                  </a:txBody>
                  <a:tcPr/>
                </a:tc>
                <a:tc hMerge="1">
                  <a:txBody>
                    <a:bodyPr/>
                    <a:lstStyle/>
                    <a:p>
                      <a:endParaRPr lang="en-NZ"/>
                    </a:p>
                  </a:txBody>
                  <a:tcPr/>
                </a:tc>
                <a:tc hMerge="1">
                  <a:txBody>
                    <a:bodyPr/>
                    <a:lstStyle/>
                    <a:p>
                      <a:endParaRPr lang="en-NZ"/>
                    </a:p>
                  </a:txBody>
                  <a:tcPr/>
                </a:tc>
                <a:extLst>
                  <a:ext uri="{0D108BD9-81ED-4DB2-BD59-A6C34878D82A}">
                    <a16:rowId xmlns:a16="http://schemas.microsoft.com/office/drawing/2014/main" val="637372361"/>
                  </a:ext>
                </a:extLst>
              </a:tr>
              <a:tr h="190500">
                <a:tc gridSpan="3">
                  <a:txBody>
                    <a:bodyPr/>
                    <a:lstStyle/>
                    <a:p>
                      <a:pPr algn="ctr" fontAlgn="ctr"/>
                      <a:r>
                        <a:rPr lang="en-NZ" sz="1400" b="1" i="0" u="none" strike="noStrike" dirty="0">
                          <a:solidFill>
                            <a:srgbClr val="FFFFFF"/>
                          </a:solidFill>
                          <a:effectLst/>
                          <a:latin typeface="Calibri" panose="020F0502020204030204" pitchFamily="34" charset="0"/>
                        </a:rPr>
                        <a:t>Town1</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1F4E78"/>
                    </a:solidFill>
                  </a:tcPr>
                </a:tc>
                <a:tc hMerge="1">
                  <a:txBody>
                    <a:bodyPr/>
                    <a:lstStyle/>
                    <a:p>
                      <a:endParaRPr lang="en-NZ"/>
                    </a:p>
                  </a:txBody>
                  <a:tcPr/>
                </a:tc>
                <a:tc hMerge="1">
                  <a:txBody>
                    <a:bodyPr/>
                    <a:lstStyle/>
                    <a:p>
                      <a:endParaRPr lang="en-NZ"/>
                    </a:p>
                  </a:txBody>
                  <a:tcPr/>
                </a:tc>
                <a:tc gridSpan="3">
                  <a:txBody>
                    <a:bodyPr/>
                    <a:lstStyle/>
                    <a:p>
                      <a:pPr algn="ctr" fontAlgn="ctr"/>
                      <a:r>
                        <a:rPr lang="en-NZ" sz="1400" b="1" i="0" u="none" strike="noStrike" dirty="0">
                          <a:solidFill>
                            <a:srgbClr val="FFFFFF"/>
                          </a:solidFill>
                          <a:effectLst/>
                          <a:latin typeface="Calibri" panose="020F0502020204030204" pitchFamily="34" charset="0"/>
                        </a:rPr>
                        <a:t>Town2</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1F4E78"/>
                    </a:solidFill>
                  </a:tcPr>
                </a:tc>
                <a:tc hMerge="1">
                  <a:txBody>
                    <a:bodyPr/>
                    <a:lstStyle/>
                    <a:p>
                      <a:endParaRPr lang="en-NZ"/>
                    </a:p>
                  </a:txBody>
                  <a:tcPr/>
                </a:tc>
                <a:tc hMerge="1">
                  <a:txBody>
                    <a:bodyPr/>
                    <a:lstStyle/>
                    <a:p>
                      <a:endParaRPr lang="en-NZ"/>
                    </a:p>
                  </a:txBody>
                  <a:tcPr/>
                </a:tc>
                <a:tc gridSpan="3">
                  <a:txBody>
                    <a:bodyPr/>
                    <a:lstStyle/>
                    <a:p>
                      <a:pPr algn="ctr" fontAlgn="ctr"/>
                      <a:r>
                        <a:rPr lang="en-NZ" sz="1400" b="1" i="0" u="none" strike="noStrike">
                          <a:solidFill>
                            <a:srgbClr val="FFFFFF"/>
                          </a:solidFill>
                          <a:effectLst/>
                          <a:latin typeface="Calibri" panose="020F0502020204030204" pitchFamily="34" charset="0"/>
                        </a:rPr>
                        <a:t>Town3</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1F4E78"/>
                    </a:solidFill>
                  </a:tcPr>
                </a:tc>
                <a:tc hMerge="1">
                  <a:txBody>
                    <a:bodyPr/>
                    <a:lstStyle/>
                    <a:p>
                      <a:endParaRPr lang="en-NZ"/>
                    </a:p>
                  </a:txBody>
                  <a:tcPr/>
                </a:tc>
                <a:tc hMerge="1">
                  <a:txBody>
                    <a:bodyPr/>
                    <a:lstStyle/>
                    <a:p>
                      <a:endParaRPr lang="en-NZ"/>
                    </a:p>
                  </a:txBody>
                  <a:tcPr/>
                </a:tc>
                <a:tc gridSpan="3">
                  <a:txBody>
                    <a:bodyPr/>
                    <a:lstStyle/>
                    <a:p>
                      <a:pPr algn="ctr" fontAlgn="ctr"/>
                      <a:r>
                        <a:rPr lang="en-NZ" sz="1400" b="1" i="0" u="none" strike="noStrike">
                          <a:solidFill>
                            <a:srgbClr val="FFFFFF"/>
                          </a:solidFill>
                          <a:effectLst/>
                          <a:latin typeface="Calibri" panose="020F0502020204030204" pitchFamily="34" charset="0"/>
                        </a:rPr>
                        <a:t>Town4</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1F4E78"/>
                    </a:solidFill>
                  </a:tcPr>
                </a:tc>
                <a:tc hMerge="1">
                  <a:txBody>
                    <a:bodyPr/>
                    <a:lstStyle/>
                    <a:p>
                      <a:endParaRPr lang="en-NZ"/>
                    </a:p>
                  </a:txBody>
                  <a:tcPr/>
                </a:tc>
                <a:tc hMerge="1">
                  <a:txBody>
                    <a:bodyPr/>
                    <a:lstStyle/>
                    <a:p>
                      <a:endParaRPr lang="en-NZ"/>
                    </a:p>
                  </a:txBody>
                  <a:tcPr/>
                </a:tc>
                <a:tc gridSpan="3">
                  <a:txBody>
                    <a:bodyPr/>
                    <a:lstStyle/>
                    <a:p>
                      <a:pPr algn="ctr" fontAlgn="ctr"/>
                      <a:r>
                        <a:rPr lang="en-NZ" sz="1400" b="1" i="0" u="none" strike="noStrike">
                          <a:solidFill>
                            <a:srgbClr val="FFFFFF"/>
                          </a:solidFill>
                          <a:effectLst/>
                          <a:latin typeface="Calibri" panose="020F0502020204030204" pitchFamily="34" charset="0"/>
                        </a:rPr>
                        <a:t>Town5</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1F4E78"/>
                    </a:solidFill>
                  </a:tcPr>
                </a:tc>
                <a:tc hMerge="1">
                  <a:txBody>
                    <a:bodyPr/>
                    <a:lstStyle/>
                    <a:p>
                      <a:endParaRPr lang="en-NZ"/>
                    </a:p>
                  </a:txBody>
                  <a:tcPr/>
                </a:tc>
                <a:tc hMerge="1">
                  <a:txBody>
                    <a:bodyPr/>
                    <a:lstStyle/>
                    <a:p>
                      <a:endParaRPr lang="en-NZ"/>
                    </a:p>
                  </a:txBody>
                  <a:tcPr/>
                </a:tc>
                <a:tc gridSpan="3">
                  <a:txBody>
                    <a:bodyPr/>
                    <a:lstStyle/>
                    <a:p>
                      <a:pPr algn="ctr" fontAlgn="ctr"/>
                      <a:r>
                        <a:rPr lang="en-NZ" sz="1400" b="1" i="0" u="none" strike="noStrike">
                          <a:solidFill>
                            <a:srgbClr val="FFFFFF"/>
                          </a:solidFill>
                          <a:effectLst/>
                          <a:latin typeface="Calibri" panose="020F0502020204030204" pitchFamily="34" charset="0"/>
                        </a:rPr>
                        <a:t>Town6</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1F4E78"/>
                    </a:solidFill>
                  </a:tcPr>
                </a:tc>
                <a:tc hMerge="1">
                  <a:txBody>
                    <a:bodyPr/>
                    <a:lstStyle/>
                    <a:p>
                      <a:endParaRPr lang="en-NZ"/>
                    </a:p>
                  </a:txBody>
                  <a:tcPr/>
                </a:tc>
                <a:tc hMerge="1">
                  <a:txBody>
                    <a:bodyPr/>
                    <a:lstStyle/>
                    <a:p>
                      <a:endParaRPr lang="en-NZ"/>
                    </a:p>
                  </a:txBody>
                  <a:tcPr/>
                </a:tc>
                <a:extLst>
                  <a:ext uri="{0D108BD9-81ED-4DB2-BD59-A6C34878D82A}">
                    <a16:rowId xmlns:a16="http://schemas.microsoft.com/office/drawing/2014/main" val="450866263"/>
                  </a:ext>
                </a:extLst>
              </a:tr>
              <a:tr h="190500">
                <a:tc>
                  <a:txBody>
                    <a:bodyPr/>
                    <a:lstStyle/>
                    <a:p>
                      <a:pPr algn="ctr" fontAlgn="ctr"/>
                      <a:r>
                        <a:rPr lang="en-NZ" sz="1400" b="1" i="0" u="none" strike="noStrike">
                          <a:solidFill>
                            <a:srgbClr val="FFFFFF"/>
                          </a:solidFill>
                          <a:effectLst/>
                          <a:latin typeface="Calibri" panose="020F0502020204030204" pitchFamily="34" charset="0"/>
                        </a:rPr>
                        <a:t>Rest1</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2F75B5"/>
                    </a:solidFill>
                  </a:tcPr>
                </a:tc>
                <a:tc>
                  <a:txBody>
                    <a:bodyPr/>
                    <a:lstStyle/>
                    <a:p>
                      <a:pPr algn="ctr" fontAlgn="ctr"/>
                      <a:r>
                        <a:rPr lang="en-NZ" sz="1400" b="1" i="0" u="none" strike="noStrike">
                          <a:solidFill>
                            <a:srgbClr val="FFFFFF"/>
                          </a:solidFill>
                          <a:effectLst/>
                          <a:latin typeface="Calibri" panose="020F0502020204030204" pitchFamily="34" charset="0"/>
                        </a:rPr>
                        <a:t>Rest2</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2F75B5"/>
                    </a:solidFill>
                  </a:tcPr>
                </a:tc>
                <a:tc>
                  <a:txBody>
                    <a:bodyPr/>
                    <a:lstStyle/>
                    <a:p>
                      <a:pPr algn="ctr" fontAlgn="ctr"/>
                      <a:r>
                        <a:rPr lang="en-NZ" sz="1400" b="1" i="0" u="none" strike="noStrike">
                          <a:solidFill>
                            <a:srgbClr val="FFFFFF"/>
                          </a:solidFill>
                          <a:effectLst/>
                          <a:latin typeface="Calibri" panose="020F0502020204030204" pitchFamily="34" charset="0"/>
                        </a:rPr>
                        <a:t>Rest3</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2F75B5"/>
                    </a:solidFill>
                  </a:tcPr>
                </a:tc>
                <a:tc>
                  <a:txBody>
                    <a:bodyPr/>
                    <a:lstStyle/>
                    <a:p>
                      <a:pPr algn="ctr" fontAlgn="ctr"/>
                      <a:r>
                        <a:rPr lang="en-NZ" sz="1400" b="1" i="0" u="none" strike="noStrike" dirty="0">
                          <a:solidFill>
                            <a:srgbClr val="FFFFFF"/>
                          </a:solidFill>
                          <a:effectLst/>
                          <a:latin typeface="Calibri" panose="020F0502020204030204" pitchFamily="34" charset="0"/>
                        </a:rPr>
                        <a:t>Rest4</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2F75B5"/>
                    </a:solidFill>
                  </a:tcPr>
                </a:tc>
                <a:tc>
                  <a:txBody>
                    <a:bodyPr/>
                    <a:lstStyle/>
                    <a:p>
                      <a:pPr algn="ctr" fontAlgn="ctr"/>
                      <a:r>
                        <a:rPr lang="en-NZ" sz="1400" b="1" i="0" u="none" strike="noStrike">
                          <a:solidFill>
                            <a:srgbClr val="FFFFFF"/>
                          </a:solidFill>
                          <a:effectLst/>
                          <a:latin typeface="Calibri" panose="020F0502020204030204" pitchFamily="34" charset="0"/>
                        </a:rPr>
                        <a:t>Rest5</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2F75B5"/>
                    </a:solidFill>
                  </a:tcPr>
                </a:tc>
                <a:tc>
                  <a:txBody>
                    <a:bodyPr/>
                    <a:lstStyle/>
                    <a:p>
                      <a:pPr algn="ctr" fontAlgn="ctr"/>
                      <a:r>
                        <a:rPr lang="en-NZ" sz="1400" b="1" i="0" u="none" strike="noStrike">
                          <a:solidFill>
                            <a:srgbClr val="FFFFFF"/>
                          </a:solidFill>
                          <a:effectLst/>
                          <a:latin typeface="Calibri" panose="020F0502020204030204" pitchFamily="34" charset="0"/>
                        </a:rPr>
                        <a:t>Rest6</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2F75B5"/>
                    </a:solidFill>
                  </a:tcPr>
                </a:tc>
                <a:tc>
                  <a:txBody>
                    <a:bodyPr/>
                    <a:lstStyle/>
                    <a:p>
                      <a:pPr algn="ctr" fontAlgn="ctr"/>
                      <a:r>
                        <a:rPr lang="en-NZ" sz="1400" b="1" i="0" u="none" strike="noStrike" dirty="0">
                          <a:solidFill>
                            <a:srgbClr val="FFFFFF"/>
                          </a:solidFill>
                          <a:effectLst/>
                          <a:latin typeface="Calibri" panose="020F0502020204030204" pitchFamily="34" charset="0"/>
                        </a:rPr>
                        <a:t>Rest7</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2F75B5"/>
                    </a:solidFill>
                  </a:tcPr>
                </a:tc>
                <a:tc>
                  <a:txBody>
                    <a:bodyPr/>
                    <a:lstStyle/>
                    <a:p>
                      <a:pPr algn="ctr" fontAlgn="ctr"/>
                      <a:r>
                        <a:rPr lang="en-NZ" sz="1400" b="1" i="0" u="none" strike="noStrike">
                          <a:solidFill>
                            <a:srgbClr val="FFFFFF"/>
                          </a:solidFill>
                          <a:effectLst/>
                          <a:latin typeface="Calibri" panose="020F0502020204030204" pitchFamily="34" charset="0"/>
                        </a:rPr>
                        <a:t>Rest8</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2F75B5"/>
                    </a:solidFill>
                  </a:tcPr>
                </a:tc>
                <a:tc>
                  <a:txBody>
                    <a:bodyPr/>
                    <a:lstStyle/>
                    <a:p>
                      <a:pPr algn="ctr" fontAlgn="ctr"/>
                      <a:r>
                        <a:rPr lang="en-NZ" sz="1400" b="1" i="0" u="none" strike="noStrike">
                          <a:solidFill>
                            <a:srgbClr val="FFFFFF"/>
                          </a:solidFill>
                          <a:effectLst/>
                          <a:latin typeface="Calibri" panose="020F0502020204030204" pitchFamily="34" charset="0"/>
                        </a:rPr>
                        <a:t>Rest9</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2F75B5"/>
                    </a:solidFill>
                  </a:tcPr>
                </a:tc>
                <a:tc>
                  <a:txBody>
                    <a:bodyPr/>
                    <a:lstStyle/>
                    <a:p>
                      <a:pPr algn="ctr" fontAlgn="ctr"/>
                      <a:r>
                        <a:rPr lang="en-NZ" sz="1400" b="1" i="0" u="none" strike="noStrike">
                          <a:solidFill>
                            <a:srgbClr val="FFFFFF"/>
                          </a:solidFill>
                          <a:effectLst/>
                          <a:latin typeface="Calibri" panose="020F0502020204030204" pitchFamily="34" charset="0"/>
                        </a:rPr>
                        <a:t>Rest10</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2F75B5"/>
                    </a:solidFill>
                  </a:tcPr>
                </a:tc>
                <a:tc>
                  <a:txBody>
                    <a:bodyPr/>
                    <a:lstStyle/>
                    <a:p>
                      <a:pPr algn="ctr" fontAlgn="ctr"/>
                      <a:r>
                        <a:rPr lang="en-NZ" sz="1400" b="1" i="0" u="none" strike="noStrike">
                          <a:solidFill>
                            <a:srgbClr val="FFFFFF"/>
                          </a:solidFill>
                          <a:effectLst/>
                          <a:latin typeface="Calibri" panose="020F0502020204030204" pitchFamily="34" charset="0"/>
                        </a:rPr>
                        <a:t>Rest11</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2F75B5"/>
                    </a:solidFill>
                  </a:tcPr>
                </a:tc>
                <a:tc>
                  <a:txBody>
                    <a:bodyPr/>
                    <a:lstStyle/>
                    <a:p>
                      <a:pPr algn="ctr" fontAlgn="ctr"/>
                      <a:r>
                        <a:rPr lang="en-NZ" sz="1400" b="1" i="0" u="none" strike="noStrike">
                          <a:solidFill>
                            <a:srgbClr val="FFFFFF"/>
                          </a:solidFill>
                          <a:effectLst/>
                          <a:latin typeface="Calibri" panose="020F0502020204030204" pitchFamily="34" charset="0"/>
                        </a:rPr>
                        <a:t>Rest12</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2F75B5"/>
                    </a:solidFill>
                  </a:tcPr>
                </a:tc>
                <a:tc>
                  <a:txBody>
                    <a:bodyPr/>
                    <a:lstStyle/>
                    <a:p>
                      <a:pPr algn="ctr" fontAlgn="ctr"/>
                      <a:r>
                        <a:rPr lang="en-NZ" sz="1400" b="1" i="0" u="none" strike="noStrike">
                          <a:solidFill>
                            <a:srgbClr val="FFFFFF"/>
                          </a:solidFill>
                          <a:effectLst/>
                          <a:latin typeface="Calibri" panose="020F0502020204030204" pitchFamily="34" charset="0"/>
                        </a:rPr>
                        <a:t>Rest13</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2F75B5"/>
                    </a:solidFill>
                  </a:tcPr>
                </a:tc>
                <a:tc>
                  <a:txBody>
                    <a:bodyPr/>
                    <a:lstStyle/>
                    <a:p>
                      <a:pPr algn="ctr" fontAlgn="ctr"/>
                      <a:r>
                        <a:rPr lang="en-NZ" sz="1400" b="1" i="0" u="none" strike="noStrike">
                          <a:solidFill>
                            <a:srgbClr val="FFFFFF"/>
                          </a:solidFill>
                          <a:effectLst/>
                          <a:latin typeface="Calibri" panose="020F0502020204030204" pitchFamily="34" charset="0"/>
                        </a:rPr>
                        <a:t>Rest14</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2F75B5"/>
                    </a:solidFill>
                  </a:tcPr>
                </a:tc>
                <a:tc>
                  <a:txBody>
                    <a:bodyPr/>
                    <a:lstStyle/>
                    <a:p>
                      <a:pPr algn="ctr" fontAlgn="ctr"/>
                      <a:r>
                        <a:rPr lang="en-NZ" sz="1400" b="1" i="0" u="none" strike="noStrike">
                          <a:solidFill>
                            <a:srgbClr val="FFFFFF"/>
                          </a:solidFill>
                          <a:effectLst/>
                          <a:latin typeface="Calibri" panose="020F0502020204030204" pitchFamily="34" charset="0"/>
                        </a:rPr>
                        <a:t>Rest15</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2F75B5"/>
                    </a:solidFill>
                  </a:tcPr>
                </a:tc>
                <a:tc>
                  <a:txBody>
                    <a:bodyPr/>
                    <a:lstStyle/>
                    <a:p>
                      <a:pPr algn="ctr" fontAlgn="ctr"/>
                      <a:r>
                        <a:rPr lang="en-NZ" sz="1400" b="1" i="0" u="none" strike="noStrike">
                          <a:solidFill>
                            <a:srgbClr val="FFFFFF"/>
                          </a:solidFill>
                          <a:effectLst/>
                          <a:latin typeface="Calibri" panose="020F0502020204030204" pitchFamily="34" charset="0"/>
                        </a:rPr>
                        <a:t>Rest16</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2F75B5"/>
                    </a:solidFill>
                  </a:tcPr>
                </a:tc>
                <a:tc>
                  <a:txBody>
                    <a:bodyPr/>
                    <a:lstStyle/>
                    <a:p>
                      <a:pPr algn="ctr" fontAlgn="ctr"/>
                      <a:r>
                        <a:rPr lang="en-NZ" sz="1400" b="1" i="0" u="none" strike="noStrike">
                          <a:solidFill>
                            <a:srgbClr val="FFFFFF"/>
                          </a:solidFill>
                          <a:effectLst/>
                          <a:latin typeface="Calibri" panose="020F0502020204030204" pitchFamily="34" charset="0"/>
                        </a:rPr>
                        <a:t>Rest17</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2F75B5"/>
                    </a:solidFill>
                  </a:tcPr>
                </a:tc>
                <a:tc>
                  <a:txBody>
                    <a:bodyPr/>
                    <a:lstStyle/>
                    <a:p>
                      <a:pPr algn="ctr" fontAlgn="ctr"/>
                      <a:r>
                        <a:rPr lang="en-NZ" sz="1400" b="1" i="0" u="none" strike="noStrike">
                          <a:solidFill>
                            <a:srgbClr val="FFFFFF"/>
                          </a:solidFill>
                          <a:effectLst/>
                          <a:latin typeface="Calibri" panose="020F0502020204030204" pitchFamily="34" charset="0"/>
                        </a:rPr>
                        <a:t>Rest18</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2F75B5"/>
                    </a:solidFill>
                  </a:tcPr>
                </a:tc>
                <a:extLst>
                  <a:ext uri="{0D108BD9-81ED-4DB2-BD59-A6C34878D82A}">
                    <a16:rowId xmlns:a16="http://schemas.microsoft.com/office/drawing/2014/main" val="2768085936"/>
                  </a:ext>
                </a:extLst>
              </a:tr>
              <a:tr h="190500">
                <a:tc>
                  <a:txBody>
                    <a:bodyPr/>
                    <a:lstStyle/>
                    <a:p>
                      <a:pPr algn="ctr" fontAlgn="ctr"/>
                      <a:r>
                        <a:rPr lang="en-NZ" sz="1400" b="0" i="0" u="none" strike="noStrike" dirty="0">
                          <a:solidFill>
                            <a:srgbClr val="000000"/>
                          </a:solidFill>
                          <a:effectLst/>
                          <a:latin typeface="Calibri" panose="020F0502020204030204" pitchFamily="34" charset="0"/>
                        </a:rPr>
                        <a:t>4</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3</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4</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7</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dirty="0">
                          <a:solidFill>
                            <a:srgbClr val="000000"/>
                          </a:solidFill>
                          <a:effectLst/>
                          <a:latin typeface="Calibri" panose="020F0502020204030204" pitchFamily="34" charset="0"/>
                        </a:rPr>
                        <a:t>8</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7</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4</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dirty="0">
                          <a:solidFill>
                            <a:srgbClr val="000000"/>
                          </a:solidFill>
                          <a:effectLst/>
                          <a:latin typeface="Calibri" panose="020F0502020204030204" pitchFamily="34" charset="0"/>
                        </a:rPr>
                        <a:t>5</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dirty="0">
                          <a:solidFill>
                            <a:srgbClr val="000000"/>
                          </a:solidFill>
                          <a:effectLst/>
                          <a:latin typeface="Calibri" panose="020F0502020204030204" pitchFamily="34" charset="0"/>
                        </a:rPr>
                        <a:t>9</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7</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8</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4</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3</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6</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3</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11</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9</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4</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1149506764"/>
                  </a:ext>
                </a:extLst>
              </a:tr>
              <a:tr h="190500">
                <a:tc>
                  <a:txBody>
                    <a:bodyPr/>
                    <a:lstStyle/>
                    <a:p>
                      <a:pPr algn="ctr" fontAlgn="ctr"/>
                      <a:r>
                        <a:rPr lang="en-NZ" sz="1400" b="0" i="0" u="none" strike="noStrike" dirty="0">
                          <a:solidFill>
                            <a:srgbClr val="000000"/>
                          </a:solidFill>
                          <a:effectLst/>
                          <a:latin typeface="Calibri" panose="020F0502020204030204" pitchFamily="34" charset="0"/>
                        </a:rPr>
                        <a:t>6</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4</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5</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9</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7</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6</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dirty="0">
                          <a:solidFill>
                            <a:srgbClr val="000000"/>
                          </a:solidFill>
                          <a:effectLst/>
                          <a:latin typeface="Calibri" panose="020F0502020204030204" pitchFamily="34" charset="0"/>
                        </a:rPr>
                        <a:t>6</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dirty="0">
                          <a:solidFill>
                            <a:srgbClr val="000000"/>
                          </a:solidFill>
                          <a:effectLst/>
                          <a:latin typeface="Calibri" panose="020F0502020204030204" pitchFamily="34" charset="0"/>
                        </a:rPr>
                        <a:t>7</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dirty="0">
                          <a:solidFill>
                            <a:srgbClr val="000000"/>
                          </a:solidFill>
                          <a:effectLst/>
                          <a:latin typeface="Calibri" panose="020F0502020204030204" pitchFamily="34" charset="0"/>
                        </a:rPr>
                        <a:t>4</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dirty="0">
                          <a:solidFill>
                            <a:srgbClr val="000000"/>
                          </a:solidFill>
                          <a:effectLst/>
                          <a:latin typeface="Calibri" panose="020F0502020204030204" pitchFamily="34" charset="0"/>
                        </a:rPr>
                        <a:t>10</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6</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7</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5</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7</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2</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12</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8</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5</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422887839"/>
                  </a:ext>
                </a:extLst>
              </a:tr>
              <a:tr h="190500">
                <a:tc>
                  <a:txBody>
                    <a:bodyPr/>
                    <a:lstStyle/>
                    <a:p>
                      <a:pPr algn="ctr" fontAlgn="ctr"/>
                      <a:r>
                        <a:rPr lang="en-NZ" sz="1400" b="0" i="0" u="none" strike="noStrike" dirty="0">
                          <a:solidFill>
                            <a:srgbClr val="000000"/>
                          </a:solidFill>
                          <a:effectLst/>
                          <a:latin typeface="Calibri" panose="020F0502020204030204" pitchFamily="34" charset="0"/>
                        </a:rPr>
                        <a:t>5</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4</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7</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11</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9</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10</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7</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dirty="0">
                          <a:solidFill>
                            <a:srgbClr val="000000"/>
                          </a:solidFill>
                          <a:effectLst/>
                          <a:latin typeface="Calibri" panose="020F0502020204030204" pitchFamily="34" charset="0"/>
                        </a:rPr>
                        <a:t>3</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dirty="0">
                          <a:solidFill>
                            <a:srgbClr val="000000"/>
                          </a:solidFill>
                          <a:effectLst/>
                          <a:latin typeface="Calibri" panose="020F0502020204030204" pitchFamily="34" charset="0"/>
                        </a:rPr>
                        <a:t>8</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dirty="0">
                          <a:solidFill>
                            <a:srgbClr val="000000"/>
                          </a:solidFill>
                          <a:effectLst/>
                          <a:latin typeface="Calibri" panose="020F0502020204030204" pitchFamily="34" charset="0"/>
                        </a:rPr>
                        <a:t>10</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dirty="0">
                          <a:solidFill>
                            <a:srgbClr val="000000"/>
                          </a:solidFill>
                          <a:effectLst/>
                          <a:latin typeface="Calibri" panose="020F0502020204030204" pitchFamily="34" charset="0"/>
                        </a:rPr>
                        <a:t>9</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dirty="0">
                          <a:solidFill>
                            <a:srgbClr val="000000"/>
                          </a:solidFill>
                          <a:effectLst/>
                          <a:latin typeface="Calibri" panose="020F0502020204030204" pitchFamily="34" charset="0"/>
                        </a:rPr>
                        <a:t>8</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4</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4</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5</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9</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10</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5</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2500079231"/>
                  </a:ext>
                </a:extLst>
              </a:tr>
              <a:tr h="190500">
                <a:tc>
                  <a:txBody>
                    <a:bodyPr/>
                    <a:lstStyle/>
                    <a:p>
                      <a:pPr algn="ctr" fontAlgn="ctr"/>
                      <a:r>
                        <a:rPr lang="en-NZ" sz="1400" b="0" i="0" u="none" strike="noStrike" dirty="0">
                          <a:solidFill>
                            <a:srgbClr val="000000"/>
                          </a:solidFill>
                          <a:effectLst/>
                          <a:latin typeface="Calibri" panose="020F0502020204030204" pitchFamily="34" charset="0"/>
                        </a:rPr>
                        <a:t>4</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dirty="0">
                          <a:solidFill>
                            <a:srgbClr val="000000"/>
                          </a:solidFill>
                          <a:effectLst/>
                          <a:latin typeface="Calibri" panose="020F0502020204030204" pitchFamily="34" charset="0"/>
                        </a:rPr>
                        <a:t>5</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dirty="0">
                          <a:solidFill>
                            <a:srgbClr val="000000"/>
                          </a:solidFill>
                          <a:effectLst/>
                          <a:latin typeface="Calibri" panose="020F0502020204030204" pitchFamily="34" charset="0"/>
                        </a:rPr>
                        <a:t>4</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dirty="0">
                          <a:solidFill>
                            <a:srgbClr val="000000"/>
                          </a:solidFill>
                          <a:effectLst/>
                          <a:latin typeface="Calibri" panose="020F0502020204030204" pitchFamily="34" charset="0"/>
                        </a:rPr>
                        <a:t>10</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dirty="0">
                          <a:solidFill>
                            <a:srgbClr val="000000"/>
                          </a:solidFill>
                          <a:effectLst/>
                          <a:latin typeface="Calibri" panose="020F0502020204030204" pitchFamily="34" charset="0"/>
                        </a:rPr>
                        <a:t>6</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dirty="0">
                          <a:solidFill>
                            <a:srgbClr val="000000"/>
                          </a:solidFill>
                          <a:effectLst/>
                          <a:latin typeface="Calibri" panose="020F0502020204030204" pitchFamily="34" charset="0"/>
                        </a:rPr>
                        <a:t>8</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7</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6</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6</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9</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dirty="0">
                          <a:solidFill>
                            <a:srgbClr val="000000"/>
                          </a:solidFill>
                          <a:effectLst/>
                          <a:latin typeface="Calibri" panose="020F0502020204030204" pitchFamily="34" charset="0"/>
                        </a:rPr>
                        <a:t>10</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dirty="0">
                          <a:solidFill>
                            <a:srgbClr val="000000"/>
                          </a:solidFill>
                          <a:effectLst/>
                          <a:latin typeface="Calibri" panose="020F0502020204030204" pitchFamily="34" charset="0"/>
                        </a:rPr>
                        <a:t>8</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dirty="0">
                          <a:solidFill>
                            <a:srgbClr val="000000"/>
                          </a:solidFill>
                          <a:effectLst/>
                          <a:latin typeface="Calibri" panose="020F0502020204030204" pitchFamily="34" charset="0"/>
                        </a:rPr>
                        <a:t>5</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dirty="0">
                          <a:solidFill>
                            <a:srgbClr val="000000"/>
                          </a:solidFill>
                          <a:effectLst/>
                          <a:latin typeface="Calibri" panose="020F0502020204030204" pitchFamily="34" charset="0"/>
                        </a:rPr>
                        <a:t>5</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6</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9</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10</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8</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3124236880"/>
                  </a:ext>
                </a:extLst>
              </a:tr>
              <a:tr h="190500">
                <a:tc>
                  <a:txBody>
                    <a:bodyPr/>
                    <a:lstStyle/>
                    <a:p>
                      <a:pPr algn="ctr" fontAlgn="ctr"/>
                      <a:r>
                        <a:rPr lang="en-NZ" sz="1400" b="0" i="0" u="none" strike="noStrike">
                          <a:solidFill>
                            <a:srgbClr val="000000"/>
                          </a:solidFill>
                          <a:effectLst/>
                          <a:latin typeface="Calibri" panose="020F0502020204030204" pitchFamily="34" charset="0"/>
                        </a:rPr>
                        <a:t>3</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3</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6</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12</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10</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dirty="0">
                          <a:solidFill>
                            <a:srgbClr val="000000"/>
                          </a:solidFill>
                          <a:effectLst/>
                          <a:latin typeface="Calibri" panose="020F0502020204030204" pitchFamily="34" charset="0"/>
                        </a:rPr>
                        <a:t>9</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dirty="0">
                          <a:solidFill>
                            <a:srgbClr val="000000"/>
                          </a:solidFill>
                          <a:effectLst/>
                          <a:latin typeface="Calibri" panose="020F0502020204030204" pitchFamily="34" charset="0"/>
                        </a:rPr>
                        <a:t>6</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dirty="0">
                          <a:solidFill>
                            <a:srgbClr val="000000"/>
                          </a:solidFill>
                          <a:effectLst/>
                          <a:latin typeface="Calibri" panose="020F0502020204030204" pitchFamily="34" charset="0"/>
                        </a:rPr>
                        <a:t>4</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dirty="0">
                          <a:solidFill>
                            <a:srgbClr val="000000"/>
                          </a:solidFill>
                          <a:effectLst/>
                          <a:latin typeface="Calibri" panose="020F0502020204030204" pitchFamily="34" charset="0"/>
                        </a:rPr>
                        <a:t>7</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dirty="0">
                          <a:solidFill>
                            <a:srgbClr val="000000"/>
                          </a:solidFill>
                          <a:effectLst/>
                          <a:latin typeface="Calibri" panose="020F0502020204030204" pitchFamily="34" charset="0"/>
                        </a:rPr>
                        <a:t>11</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dirty="0">
                          <a:solidFill>
                            <a:srgbClr val="000000"/>
                          </a:solidFill>
                          <a:effectLst/>
                          <a:latin typeface="Calibri" panose="020F0502020204030204" pitchFamily="34" charset="0"/>
                        </a:rPr>
                        <a:t>9</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dirty="0">
                          <a:solidFill>
                            <a:srgbClr val="000000"/>
                          </a:solidFill>
                          <a:effectLst/>
                          <a:latin typeface="Calibri" panose="020F0502020204030204" pitchFamily="34" charset="0"/>
                        </a:rPr>
                        <a:t>9</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dirty="0">
                          <a:solidFill>
                            <a:srgbClr val="000000"/>
                          </a:solidFill>
                          <a:effectLst/>
                          <a:latin typeface="Calibri" panose="020F0502020204030204" pitchFamily="34" charset="0"/>
                        </a:rPr>
                        <a:t>4</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dirty="0">
                          <a:solidFill>
                            <a:srgbClr val="000000"/>
                          </a:solidFill>
                          <a:effectLst/>
                          <a:latin typeface="Calibri" panose="020F0502020204030204" pitchFamily="34" charset="0"/>
                        </a:rPr>
                        <a:t>6</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dirty="0">
                          <a:solidFill>
                            <a:srgbClr val="000000"/>
                          </a:solidFill>
                          <a:effectLst/>
                          <a:latin typeface="Calibri" panose="020F0502020204030204" pitchFamily="34" charset="0"/>
                        </a:rPr>
                        <a:t>4</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dirty="0">
                          <a:solidFill>
                            <a:srgbClr val="000000"/>
                          </a:solidFill>
                          <a:effectLst/>
                          <a:latin typeface="Calibri" panose="020F0502020204030204" pitchFamily="34" charset="0"/>
                        </a:rPr>
                        <a:t>10</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dirty="0">
                          <a:solidFill>
                            <a:srgbClr val="000000"/>
                          </a:solidFill>
                          <a:effectLst/>
                          <a:latin typeface="Calibri" panose="020F0502020204030204" pitchFamily="34" charset="0"/>
                        </a:rPr>
                        <a:t>8</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dirty="0">
                          <a:solidFill>
                            <a:srgbClr val="000000"/>
                          </a:solidFill>
                          <a:effectLst/>
                          <a:latin typeface="Calibri" panose="020F0502020204030204" pitchFamily="34" charset="0"/>
                        </a:rPr>
                        <a:t>4</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866534134"/>
                  </a:ext>
                </a:extLst>
              </a:tr>
            </a:tbl>
          </a:graphicData>
        </a:graphic>
      </p:graphicFrame>
    </p:spTree>
    <p:extLst>
      <p:ext uri="{BB962C8B-B14F-4D97-AF65-F5344CB8AC3E}">
        <p14:creationId xmlns:p14="http://schemas.microsoft.com/office/powerpoint/2010/main" val="17497986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6"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Slide Number Placeholder 3">
            <a:extLst>
              <a:ext uri="{FF2B5EF4-FFF2-40B4-BE49-F238E27FC236}">
                <a16:creationId xmlns:a16="http://schemas.microsoft.com/office/drawing/2014/main" id="{B0C9041D-77F0-4656-90D4-0E84B7AC6B27}"/>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54AD89C-DF1E-4948-B597-5DD47B34A9CA}" type="slidenum">
              <a:rPr kumimoji="1" lang="ja-JP" altLang="en-US" sz="4000" b="0" i="0" u="none" strike="noStrike" kern="1200" cap="none" spc="0" normalizeH="0" baseline="0" noProof="0" smtClean="0">
                <a:ln>
                  <a:noFill/>
                </a:ln>
                <a:solidFill>
                  <a:srgbClr val="575454">
                    <a:lumMod val="20000"/>
                    <a:lumOff val="80000"/>
                  </a:srgbClr>
                </a:solidFill>
                <a:effectLst/>
                <a:uLnTx/>
                <a:uFillTx/>
                <a:latin typeface="Coo Hew"/>
                <a:ea typeface="游ゴシック" panose="020B0400000000000000"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39</a:t>
            </a:fld>
            <a:endParaRPr kumimoji="1" lang="ja-JP" altLang="en-US" sz="4000" b="0" i="0" u="none" strike="noStrike" kern="1200" cap="none" spc="0" normalizeH="0" baseline="0" noProof="0" dirty="0">
              <a:ln>
                <a:noFill/>
              </a:ln>
              <a:solidFill>
                <a:srgbClr val="575454">
                  <a:lumMod val="20000"/>
                  <a:lumOff val="80000"/>
                </a:srgbClr>
              </a:solidFill>
              <a:effectLst/>
              <a:uLnTx/>
              <a:uFillTx/>
              <a:latin typeface="Coo Hew"/>
              <a:ea typeface="游ゴシック" panose="020B0400000000000000" pitchFamily="34" charset="-128"/>
              <a:cs typeface="+mn-cs"/>
            </a:endParaRPr>
          </a:p>
        </p:txBody>
      </p:sp>
      <p:sp>
        <p:nvSpPr>
          <p:cNvPr id="19" name="Footer Placeholder 2">
            <a:extLst>
              <a:ext uri="{FF2B5EF4-FFF2-40B4-BE49-F238E27FC236}">
                <a16:creationId xmlns:a16="http://schemas.microsoft.com/office/drawing/2014/main" id="{8FB48505-B142-67B9-4256-51388315A7EF}"/>
              </a:ext>
            </a:extLst>
          </p:cNvPr>
          <p:cNvSpPr txBox="1">
            <a:spLocks/>
          </p:cNvSpPr>
          <p:nvPr/>
        </p:nvSpPr>
        <p:spPr>
          <a:xfrm>
            <a:off x="7397088" y="86139"/>
            <a:ext cx="4692278"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rPr>
              <a:t>5.5 – Computational Example 3-Stage Nested Design</a:t>
            </a:r>
            <a:endParaRPr kumimoji="1" lang="ja-JP" altLang="en-US"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endParaRPr>
          </a:p>
        </p:txBody>
      </p:sp>
      <p:sp>
        <p:nvSpPr>
          <p:cNvPr id="21" name="Title 6">
            <a:extLst>
              <a:ext uri="{FF2B5EF4-FFF2-40B4-BE49-F238E27FC236}">
                <a16:creationId xmlns:a16="http://schemas.microsoft.com/office/drawing/2014/main" id="{7C963C88-6E6E-2444-9663-776716CBAA9D}"/>
              </a:ext>
            </a:extLst>
          </p:cNvPr>
          <p:cNvSpPr txBox="1">
            <a:spLocks/>
          </p:cNvSpPr>
          <p:nvPr/>
        </p:nvSpPr>
        <p:spPr>
          <a:xfrm>
            <a:off x="251224" y="237833"/>
            <a:ext cx="6654543" cy="607201"/>
          </a:xfrm>
          <a:prstGeom prst="rect">
            <a:avLst/>
          </a:prstGeom>
        </p:spPr>
        <p:txBody>
          <a:bodyPr anchor="t">
            <a:normAutofit/>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pPr marL="0" marR="0" lvl="0" indent="0" algn="l" defTabSz="914324" rtl="0" eaLnBrk="1" fontAlgn="auto" latinLnBrk="0" hangingPunct="1">
              <a:lnSpc>
                <a:spcPct val="90000"/>
              </a:lnSpc>
              <a:spcBef>
                <a:spcPct val="0"/>
              </a:spcBef>
              <a:spcAft>
                <a:spcPts val="0"/>
              </a:spcAft>
              <a:buClrTx/>
              <a:buSzTx/>
              <a:buFontTx/>
              <a:buNone/>
              <a:tabLst/>
              <a:defRPr/>
            </a:pPr>
            <a:r>
              <a:rPr kumimoji="1" lang="en-US" altLang="ja-JP"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rPr>
              <a:t>5.5a – Burger Fat Example:</a:t>
            </a:r>
            <a:endParaRPr kumimoji="1" lang="ja-JP" altLang="en-US"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endParaRPr>
          </a:p>
        </p:txBody>
      </p:sp>
      <p:sp>
        <p:nvSpPr>
          <p:cNvPr id="11" name="Text Placeholder 5">
            <a:extLst>
              <a:ext uri="{FF2B5EF4-FFF2-40B4-BE49-F238E27FC236}">
                <a16:creationId xmlns:a16="http://schemas.microsoft.com/office/drawing/2014/main" id="{7B5CEE78-46DE-D327-3299-AC3CD2863429}"/>
              </a:ext>
            </a:extLst>
          </p:cNvPr>
          <p:cNvSpPr txBox="1">
            <a:spLocks/>
          </p:cNvSpPr>
          <p:nvPr/>
        </p:nvSpPr>
        <p:spPr>
          <a:xfrm>
            <a:off x="3011606" y="6520328"/>
            <a:ext cx="6168789" cy="30855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200" b="0" i="0"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rPr>
              <a:t>Associated code = 5.5 - Burger Fat (Three Stage Nested Design Example)</a:t>
            </a:r>
            <a:endParaRPr kumimoji="1" lang="en-US" altLang="ja-JP" sz="1200" b="1"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p:sp>
        <p:nvSpPr>
          <p:cNvPr id="12" name="Text Placeholder 5">
            <a:extLst>
              <a:ext uri="{FF2B5EF4-FFF2-40B4-BE49-F238E27FC236}">
                <a16:creationId xmlns:a16="http://schemas.microsoft.com/office/drawing/2014/main" id="{287CC0BA-E2DD-1FBC-E311-B0DAE248517D}"/>
              </a:ext>
            </a:extLst>
          </p:cNvPr>
          <p:cNvSpPr txBox="1">
            <a:spLocks/>
          </p:cNvSpPr>
          <p:nvPr/>
        </p:nvSpPr>
        <p:spPr>
          <a:xfrm>
            <a:off x="251223" y="941503"/>
            <a:ext cx="11432776" cy="1706164"/>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600" b="0" i="0" u="none" strike="noStrike" kern="1200" cap="none" spc="0" normalizeH="0" baseline="0" noProof="0" dirty="0">
                <a:ln>
                  <a:noFill/>
                </a:ln>
                <a:solidFill>
                  <a:srgbClr val="0070C0"/>
                </a:solidFill>
                <a:effectLst/>
                <a:uLnTx/>
                <a:uFillTx/>
                <a:latin typeface="Calibri" panose="020F0502020204030204"/>
                <a:ea typeface="游ゴシック" panose="020B0400000000000000" pitchFamily="34" charset="-128"/>
                <a:cs typeface="+mn-cs"/>
              </a:rPr>
              <a:t> An experiment is conducted to study the fat content of popular burgers from a large fast food restaurant chain. Particular interest centres on whether fat content varies significantly with geographic region, town or restaurant. Three towns are randomly selected in the North and three more are selected in the South. In each town, three restaurants are randomly chosen and at each restaurant, five burgers are randomly chosen and prepared in a typical fashion. Each burger is then ground up, and the total amount of fat is determined. The response is expressed in a coded scale for computational convenience.</a:t>
            </a: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200" b="0" i="0" u="none" strike="noStrike" kern="1200" cap="none" spc="0" normalizeH="0" baseline="0" noProof="0" dirty="0">
              <a:ln>
                <a:noFill/>
              </a:ln>
              <a:solidFill>
                <a:srgbClr val="0070C0"/>
              </a:solidFill>
              <a:effectLst/>
              <a:uLnTx/>
              <a:uFillTx/>
              <a:latin typeface="Calibri" panose="020F0502020204030204"/>
              <a:ea typeface="游ゴシック" panose="020B0400000000000000" pitchFamily="34" charset="-128"/>
              <a:cs typeface="+mn-cs"/>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600" b="0" i="0" u="none" strike="noStrike" kern="1200" cap="none" spc="0" normalizeH="0" baseline="0" noProof="0" dirty="0">
                <a:ln>
                  <a:noFill/>
                </a:ln>
                <a:solidFill>
                  <a:srgbClr val="0070C0"/>
                </a:solidFill>
                <a:effectLst/>
                <a:uLnTx/>
                <a:uFillTx/>
                <a:latin typeface="Calibri" panose="020F0502020204030204"/>
                <a:ea typeface="游ゴシック" panose="020B0400000000000000" pitchFamily="34" charset="-128"/>
                <a:cs typeface="+mn-cs"/>
              </a:rPr>
              <a:t>The data pertaining to these trials is available in the csv data set entitled 'burger’ but is also shown below.</a:t>
            </a:r>
          </a:p>
        </p:txBody>
      </p:sp>
      <p:graphicFrame>
        <p:nvGraphicFramePr>
          <p:cNvPr id="3" name="Table 2">
            <a:extLst>
              <a:ext uri="{FF2B5EF4-FFF2-40B4-BE49-F238E27FC236}">
                <a16:creationId xmlns:a16="http://schemas.microsoft.com/office/drawing/2014/main" id="{3A9BF970-08DA-EEEC-A12D-3D2EB2AF041D}"/>
              </a:ext>
            </a:extLst>
          </p:cNvPr>
          <p:cNvGraphicFramePr>
            <a:graphicFrameLocks noGrp="1"/>
          </p:cNvGraphicFramePr>
          <p:nvPr/>
        </p:nvGraphicFramePr>
        <p:xfrm>
          <a:off x="408295" y="2630789"/>
          <a:ext cx="11432772" cy="1783080"/>
        </p:xfrm>
        <a:graphic>
          <a:graphicData uri="http://schemas.openxmlformats.org/drawingml/2006/table">
            <a:tbl>
              <a:tblPr/>
              <a:tblGrid>
                <a:gridCol w="635154">
                  <a:extLst>
                    <a:ext uri="{9D8B030D-6E8A-4147-A177-3AD203B41FA5}">
                      <a16:colId xmlns:a16="http://schemas.microsoft.com/office/drawing/2014/main" val="261370890"/>
                    </a:ext>
                  </a:extLst>
                </a:gridCol>
                <a:gridCol w="635154">
                  <a:extLst>
                    <a:ext uri="{9D8B030D-6E8A-4147-A177-3AD203B41FA5}">
                      <a16:colId xmlns:a16="http://schemas.microsoft.com/office/drawing/2014/main" val="2655997257"/>
                    </a:ext>
                  </a:extLst>
                </a:gridCol>
                <a:gridCol w="635154">
                  <a:extLst>
                    <a:ext uri="{9D8B030D-6E8A-4147-A177-3AD203B41FA5}">
                      <a16:colId xmlns:a16="http://schemas.microsoft.com/office/drawing/2014/main" val="1684677619"/>
                    </a:ext>
                  </a:extLst>
                </a:gridCol>
                <a:gridCol w="635154">
                  <a:extLst>
                    <a:ext uri="{9D8B030D-6E8A-4147-A177-3AD203B41FA5}">
                      <a16:colId xmlns:a16="http://schemas.microsoft.com/office/drawing/2014/main" val="3828664979"/>
                    </a:ext>
                  </a:extLst>
                </a:gridCol>
                <a:gridCol w="635154">
                  <a:extLst>
                    <a:ext uri="{9D8B030D-6E8A-4147-A177-3AD203B41FA5}">
                      <a16:colId xmlns:a16="http://schemas.microsoft.com/office/drawing/2014/main" val="176550081"/>
                    </a:ext>
                  </a:extLst>
                </a:gridCol>
                <a:gridCol w="635154">
                  <a:extLst>
                    <a:ext uri="{9D8B030D-6E8A-4147-A177-3AD203B41FA5}">
                      <a16:colId xmlns:a16="http://schemas.microsoft.com/office/drawing/2014/main" val="193245256"/>
                    </a:ext>
                  </a:extLst>
                </a:gridCol>
                <a:gridCol w="635154">
                  <a:extLst>
                    <a:ext uri="{9D8B030D-6E8A-4147-A177-3AD203B41FA5}">
                      <a16:colId xmlns:a16="http://schemas.microsoft.com/office/drawing/2014/main" val="1048273245"/>
                    </a:ext>
                  </a:extLst>
                </a:gridCol>
                <a:gridCol w="635154">
                  <a:extLst>
                    <a:ext uri="{9D8B030D-6E8A-4147-A177-3AD203B41FA5}">
                      <a16:colId xmlns:a16="http://schemas.microsoft.com/office/drawing/2014/main" val="798472114"/>
                    </a:ext>
                  </a:extLst>
                </a:gridCol>
                <a:gridCol w="635154">
                  <a:extLst>
                    <a:ext uri="{9D8B030D-6E8A-4147-A177-3AD203B41FA5}">
                      <a16:colId xmlns:a16="http://schemas.microsoft.com/office/drawing/2014/main" val="491702833"/>
                    </a:ext>
                  </a:extLst>
                </a:gridCol>
                <a:gridCol w="635154">
                  <a:extLst>
                    <a:ext uri="{9D8B030D-6E8A-4147-A177-3AD203B41FA5}">
                      <a16:colId xmlns:a16="http://schemas.microsoft.com/office/drawing/2014/main" val="1013895529"/>
                    </a:ext>
                  </a:extLst>
                </a:gridCol>
                <a:gridCol w="635154">
                  <a:extLst>
                    <a:ext uri="{9D8B030D-6E8A-4147-A177-3AD203B41FA5}">
                      <a16:colId xmlns:a16="http://schemas.microsoft.com/office/drawing/2014/main" val="413692198"/>
                    </a:ext>
                  </a:extLst>
                </a:gridCol>
                <a:gridCol w="635154">
                  <a:extLst>
                    <a:ext uri="{9D8B030D-6E8A-4147-A177-3AD203B41FA5}">
                      <a16:colId xmlns:a16="http://schemas.microsoft.com/office/drawing/2014/main" val="995235578"/>
                    </a:ext>
                  </a:extLst>
                </a:gridCol>
                <a:gridCol w="635154">
                  <a:extLst>
                    <a:ext uri="{9D8B030D-6E8A-4147-A177-3AD203B41FA5}">
                      <a16:colId xmlns:a16="http://schemas.microsoft.com/office/drawing/2014/main" val="2454732399"/>
                    </a:ext>
                  </a:extLst>
                </a:gridCol>
                <a:gridCol w="635154">
                  <a:extLst>
                    <a:ext uri="{9D8B030D-6E8A-4147-A177-3AD203B41FA5}">
                      <a16:colId xmlns:a16="http://schemas.microsoft.com/office/drawing/2014/main" val="1075191167"/>
                    </a:ext>
                  </a:extLst>
                </a:gridCol>
                <a:gridCol w="635154">
                  <a:extLst>
                    <a:ext uri="{9D8B030D-6E8A-4147-A177-3AD203B41FA5}">
                      <a16:colId xmlns:a16="http://schemas.microsoft.com/office/drawing/2014/main" val="1814771076"/>
                    </a:ext>
                  </a:extLst>
                </a:gridCol>
                <a:gridCol w="635154">
                  <a:extLst>
                    <a:ext uri="{9D8B030D-6E8A-4147-A177-3AD203B41FA5}">
                      <a16:colId xmlns:a16="http://schemas.microsoft.com/office/drawing/2014/main" val="3875642416"/>
                    </a:ext>
                  </a:extLst>
                </a:gridCol>
                <a:gridCol w="635154">
                  <a:extLst>
                    <a:ext uri="{9D8B030D-6E8A-4147-A177-3AD203B41FA5}">
                      <a16:colId xmlns:a16="http://schemas.microsoft.com/office/drawing/2014/main" val="258005433"/>
                    </a:ext>
                  </a:extLst>
                </a:gridCol>
                <a:gridCol w="635154">
                  <a:extLst>
                    <a:ext uri="{9D8B030D-6E8A-4147-A177-3AD203B41FA5}">
                      <a16:colId xmlns:a16="http://schemas.microsoft.com/office/drawing/2014/main" val="3371536499"/>
                    </a:ext>
                  </a:extLst>
                </a:gridCol>
              </a:tblGrid>
              <a:tr h="190500">
                <a:tc gridSpan="9">
                  <a:txBody>
                    <a:bodyPr/>
                    <a:lstStyle/>
                    <a:p>
                      <a:pPr algn="ctr" fontAlgn="ctr"/>
                      <a:r>
                        <a:rPr lang="en-NZ" sz="1400" b="1" i="0" u="none" strike="noStrike">
                          <a:solidFill>
                            <a:srgbClr val="FFFFFF"/>
                          </a:solidFill>
                          <a:effectLst/>
                          <a:latin typeface="Calibri" panose="020F0502020204030204" pitchFamily="34" charset="0"/>
                        </a:rPr>
                        <a:t>North</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2060"/>
                    </a:solidFill>
                  </a:tcPr>
                </a:tc>
                <a:tc hMerge="1">
                  <a:txBody>
                    <a:bodyPr/>
                    <a:lstStyle/>
                    <a:p>
                      <a:endParaRPr lang="en-NZ"/>
                    </a:p>
                  </a:txBody>
                  <a:tcPr/>
                </a:tc>
                <a:tc hMerge="1">
                  <a:txBody>
                    <a:bodyPr/>
                    <a:lstStyle/>
                    <a:p>
                      <a:endParaRPr lang="en-NZ"/>
                    </a:p>
                  </a:txBody>
                  <a:tcPr/>
                </a:tc>
                <a:tc hMerge="1">
                  <a:txBody>
                    <a:bodyPr/>
                    <a:lstStyle/>
                    <a:p>
                      <a:endParaRPr lang="en-NZ"/>
                    </a:p>
                  </a:txBody>
                  <a:tcPr/>
                </a:tc>
                <a:tc hMerge="1">
                  <a:txBody>
                    <a:bodyPr/>
                    <a:lstStyle/>
                    <a:p>
                      <a:endParaRPr lang="en-NZ"/>
                    </a:p>
                  </a:txBody>
                  <a:tcPr/>
                </a:tc>
                <a:tc hMerge="1">
                  <a:txBody>
                    <a:bodyPr/>
                    <a:lstStyle/>
                    <a:p>
                      <a:endParaRPr lang="en-NZ"/>
                    </a:p>
                  </a:txBody>
                  <a:tcPr/>
                </a:tc>
                <a:tc hMerge="1">
                  <a:txBody>
                    <a:bodyPr/>
                    <a:lstStyle/>
                    <a:p>
                      <a:endParaRPr lang="en-NZ"/>
                    </a:p>
                  </a:txBody>
                  <a:tcPr/>
                </a:tc>
                <a:tc hMerge="1">
                  <a:txBody>
                    <a:bodyPr/>
                    <a:lstStyle/>
                    <a:p>
                      <a:endParaRPr lang="en-NZ"/>
                    </a:p>
                  </a:txBody>
                  <a:tcPr/>
                </a:tc>
                <a:tc hMerge="1">
                  <a:txBody>
                    <a:bodyPr/>
                    <a:lstStyle/>
                    <a:p>
                      <a:endParaRPr lang="en-NZ"/>
                    </a:p>
                  </a:txBody>
                  <a:tcPr/>
                </a:tc>
                <a:tc gridSpan="9">
                  <a:txBody>
                    <a:bodyPr/>
                    <a:lstStyle/>
                    <a:p>
                      <a:pPr algn="ctr" fontAlgn="ctr"/>
                      <a:r>
                        <a:rPr lang="en-NZ" sz="1400" b="1" i="0" u="none" strike="noStrike">
                          <a:solidFill>
                            <a:srgbClr val="FFFFFF"/>
                          </a:solidFill>
                          <a:effectLst/>
                          <a:latin typeface="Calibri" panose="020F0502020204030204" pitchFamily="34" charset="0"/>
                        </a:rPr>
                        <a:t>South</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2060"/>
                    </a:solidFill>
                  </a:tcPr>
                </a:tc>
                <a:tc hMerge="1">
                  <a:txBody>
                    <a:bodyPr/>
                    <a:lstStyle/>
                    <a:p>
                      <a:endParaRPr lang="en-NZ"/>
                    </a:p>
                  </a:txBody>
                  <a:tcPr/>
                </a:tc>
                <a:tc hMerge="1">
                  <a:txBody>
                    <a:bodyPr/>
                    <a:lstStyle/>
                    <a:p>
                      <a:endParaRPr lang="en-NZ"/>
                    </a:p>
                  </a:txBody>
                  <a:tcPr/>
                </a:tc>
                <a:tc hMerge="1">
                  <a:txBody>
                    <a:bodyPr/>
                    <a:lstStyle/>
                    <a:p>
                      <a:endParaRPr lang="en-NZ"/>
                    </a:p>
                  </a:txBody>
                  <a:tcPr/>
                </a:tc>
                <a:tc hMerge="1">
                  <a:txBody>
                    <a:bodyPr/>
                    <a:lstStyle/>
                    <a:p>
                      <a:endParaRPr lang="en-NZ"/>
                    </a:p>
                  </a:txBody>
                  <a:tcPr/>
                </a:tc>
                <a:tc hMerge="1">
                  <a:txBody>
                    <a:bodyPr/>
                    <a:lstStyle/>
                    <a:p>
                      <a:endParaRPr lang="en-NZ"/>
                    </a:p>
                  </a:txBody>
                  <a:tcPr/>
                </a:tc>
                <a:tc hMerge="1">
                  <a:txBody>
                    <a:bodyPr/>
                    <a:lstStyle/>
                    <a:p>
                      <a:endParaRPr lang="en-NZ"/>
                    </a:p>
                  </a:txBody>
                  <a:tcPr/>
                </a:tc>
                <a:tc hMerge="1">
                  <a:txBody>
                    <a:bodyPr/>
                    <a:lstStyle/>
                    <a:p>
                      <a:endParaRPr lang="en-NZ"/>
                    </a:p>
                  </a:txBody>
                  <a:tcPr/>
                </a:tc>
                <a:tc hMerge="1">
                  <a:txBody>
                    <a:bodyPr/>
                    <a:lstStyle/>
                    <a:p>
                      <a:endParaRPr lang="en-NZ"/>
                    </a:p>
                  </a:txBody>
                  <a:tcPr/>
                </a:tc>
                <a:extLst>
                  <a:ext uri="{0D108BD9-81ED-4DB2-BD59-A6C34878D82A}">
                    <a16:rowId xmlns:a16="http://schemas.microsoft.com/office/drawing/2014/main" val="637372361"/>
                  </a:ext>
                </a:extLst>
              </a:tr>
              <a:tr h="190500">
                <a:tc gridSpan="3">
                  <a:txBody>
                    <a:bodyPr/>
                    <a:lstStyle/>
                    <a:p>
                      <a:pPr algn="ctr" fontAlgn="ctr"/>
                      <a:r>
                        <a:rPr lang="en-NZ" sz="1400" b="1" i="0" u="none" strike="noStrike">
                          <a:solidFill>
                            <a:srgbClr val="FFFFFF"/>
                          </a:solidFill>
                          <a:effectLst/>
                          <a:latin typeface="Calibri" panose="020F0502020204030204" pitchFamily="34" charset="0"/>
                        </a:rPr>
                        <a:t>Town1</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1F4E78"/>
                    </a:solidFill>
                  </a:tcPr>
                </a:tc>
                <a:tc hMerge="1">
                  <a:txBody>
                    <a:bodyPr/>
                    <a:lstStyle/>
                    <a:p>
                      <a:endParaRPr lang="en-NZ"/>
                    </a:p>
                  </a:txBody>
                  <a:tcPr/>
                </a:tc>
                <a:tc hMerge="1">
                  <a:txBody>
                    <a:bodyPr/>
                    <a:lstStyle/>
                    <a:p>
                      <a:endParaRPr lang="en-NZ"/>
                    </a:p>
                  </a:txBody>
                  <a:tcPr/>
                </a:tc>
                <a:tc gridSpan="3">
                  <a:txBody>
                    <a:bodyPr/>
                    <a:lstStyle/>
                    <a:p>
                      <a:pPr algn="ctr" fontAlgn="ctr"/>
                      <a:r>
                        <a:rPr lang="en-NZ" sz="1400" b="1" i="0" u="none" strike="noStrike">
                          <a:solidFill>
                            <a:srgbClr val="FFFFFF"/>
                          </a:solidFill>
                          <a:effectLst/>
                          <a:latin typeface="Calibri" panose="020F0502020204030204" pitchFamily="34" charset="0"/>
                        </a:rPr>
                        <a:t>Town2</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1F4E78"/>
                    </a:solidFill>
                  </a:tcPr>
                </a:tc>
                <a:tc hMerge="1">
                  <a:txBody>
                    <a:bodyPr/>
                    <a:lstStyle/>
                    <a:p>
                      <a:endParaRPr lang="en-NZ"/>
                    </a:p>
                  </a:txBody>
                  <a:tcPr/>
                </a:tc>
                <a:tc hMerge="1">
                  <a:txBody>
                    <a:bodyPr/>
                    <a:lstStyle/>
                    <a:p>
                      <a:endParaRPr lang="en-NZ"/>
                    </a:p>
                  </a:txBody>
                  <a:tcPr/>
                </a:tc>
                <a:tc gridSpan="3">
                  <a:txBody>
                    <a:bodyPr/>
                    <a:lstStyle/>
                    <a:p>
                      <a:pPr algn="ctr" fontAlgn="ctr"/>
                      <a:r>
                        <a:rPr lang="en-NZ" sz="1400" b="1" i="0" u="none" strike="noStrike">
                          <a:solidFill>
                            <a:srgbClr val="FFFFFF"/>
                          </a:solidFill>
                          <a:effectLst/>
                          <a:latin typeface="Calibri" panose="020F0502020204030204" pitchFamily="34" charset="0"/>
                        </a:rPr>
                        <a:t>Town3</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1F4E78"/>
                    </a:solidFill>
                  </a:tcPr>
                </a:tc>
                <a:tc hMerge="1">
                  <a:txBody>
                    <a:bodyPr/>
                    <a:lstStyle/>
                    <a:p>
                      <a:endParaRPr lang="en-NZ"/>
                    </a:p>
                  </a:txBody>
                  <a:tcPr/>
                </a:tc>
                <a:tc hMerge="1">
                  <a:txBody>
                    <a:bodyPr/>
                    <a:lstStyle/>
                    <a:p>
                      <a:endParaRPr lang="en-NZ"/>
                    </a:p>
                  </a:txBody>
                  <a:tcPr/>
                </a:tc>
                <a:tc gridSpan="3">
                  <a:txBody>
                    <a:bodyPr/>
                    <a:lstStyle/>
                    <a:p>
                      <a:pPr algn="ctr" fontAlgn="ctr"/>
                      <a:r>
                        <a:rPr lang="en-NZ" sz="1400" b="1" i="0" u="none" strike="noStrike">
                          <a:solidFill>
                            <a:srgbClr val="FFFFFF"/>
                          </a:solidFill>
                          <a:effectLst/>
                          <a:latin typeface="Calibri" panose="020F0502020204030204" pitchFamily="34" charset="0"/>
                        </a:rPr>
                        <a:t>Town4</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1F4E78"/>
                    </a:solidFill>
                  </a:tcPr>
                </a:tc>
                <a:tc hMerge="1">
                  <a:txBody>
                    <a:bodyPr/>
                    <a:lstStyle/>
                    <a:p>
                      <a:endParaRPr lang="en-NZ"/>
                    </a:p>
                  </a:txBody>
                  <a:tcPr/>
                </a:tc>
                <a:tc hMerge="1">
                  <a:txBody>
                    <a:bodyPr/>
                    <a:lstStyle/>
                    <a:p>
                      <a:endParaRPr lang="en-NZ"/>
                    </a:p>
                  </a:txBody>
                  <a:tcPr/>
                </a:tc>
                <a:tc gridSpan="3">
                  <a:txBody>
                    <a:bodyPr/>
                    <a:lstStyle/>
                    <a:p>
                      <a:pPr algn="ctr" fontAlgn="ctr"/>
                      <a:r>
                        <a:rPr lang="en-NZ" sz="1400" b="1" i="0" u="none" strike="noStrike">
                          <a:solidFill>
                            <a:srgbClr val="FFFFFF"/>
                          </a:solidFill>
                          <a:effectLst/>
                          <a:latin typeface="Calibri" panose="020F0502020204030204" pitchFamily="34" charset="0"/>
                        </a:rPr>
                        <a:t>Town5</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1F4E78"/>
                    </a:solidFill>
                  </a:tcPr>
                </a:tc>
                <a:tc hMerge="1">
                  <a:txBody>
                    <a:bodyPr/>
                    <a:lstStyle/>
                    <a:p>
                      <a:endParaRPr lang="en-NZ"/>
                    </a:p>
                  </a:txBody>
                  <a:tcPr/>
                </a:tc>
                <a:tc hMerge="1">
                  <a:txBody>
                    <a:bodyPr/>
                    <a:lstStyle/>
                    <a:p>
                      <a:endParaRPr lang="en-NZ"/>
                    </a:p>
                  </a:txBody>
                  <a:tcPr/>
                </a:tc>
                <a:tc gridSpan="3">
                  <a:txBody>
                    <a:bodyPr/>
                    <a:lstStyle/>
                    <a:p>
                      <a:pPr algn="ctr" fontAlgn="ctr"/>
                      <a:r>
                        <a:rPr lang="en-NZ" sz="1400" b="1" i="0" u="none" strike="noStrike">
                          <a:solidFill>
                            <a:srgbClr val="FFFFFF"/>
                          </a:solidFill>
                          <a:effectLst/>
                          <a:latin typeface="Calibri" panose="020F0502020204030204" pitchFamily="34" charset="0"/>
                        </a:rPr>
                        <a:t>Town6</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1F4E78"/>
                    </a:solidFill>
                  </a:tcPr>
                </a:tc>
                <a:tc hMerge="1">
                  <a:txBody>
                    <a:bodyPr/>
                    <a:lstStyle/>
                    <a:p>
                      <a:endParaRPr lang="en-NZ"/>
                    </a:p>
                  </a:txBody>
                  <a:tcPr/>
                </a:tc>
                <a:tc hMerge="1">
                  <a:txBody>
                    <a:bodyPr/>
                    <a:lstStyle/>
                    <a:p>
                      <a:endParaRPr lang="en-NZ"/>
                    </a:p>
                  </a:txBody>
                  <a:tcPr/>
                </a:tc>
                <a:extLst>
                  <a:ext uri="{0D108BD9-81ED-4DB2-BD59-A6C34878D82A}">
                    <a16:rowId xmlns:a16="http://schemas.microsoft.com/office/drawing/2014/main" val="450866263"/>
                  </a:ext>
                </a:extLst>
              </a:tr>
              <a:tr h="190500">
                <a:tc>
                  <a:txBody>
                    <a:bodyPr/>
                    <a:lstStyle/>
                    <a:p>
                      <a:pPr algn="ctr" fontAlgn="ctr"/>
                      <a:r>
                        <a:rPr lang="en-NZ" sz="1400" b="1" i="0" u="none" strike="noStrike">
                          <a:solidFill>
                            <a:srgbClr val="FFFFFF"/>
                          </a:solidFill>
                          <a:effectLst/>
                          <a:latin typeface="Calibri" panose="020F0502020204030204" pitchFamily="34" charset="0"/>
                        </a:rPr>
                        <a:t>Rest1</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2F75B5"/>
                    </a:solidFill>
                  </a:tcPr>
                </a:tc>
                <a:tc>
                  <a:txBody>
                    <a:bodyPr/>
                    <a:lstStyle/>
                    <a:p>
                      <a:pPr algn="ctr" fontAlgn="ctr"/>
                      <a:r>
                        <a:rPr lang="en-NZ" sz="1400" b="1" i="0" u="none" strike="noStrike">
                          <a:solidFill>
                            <a:srgbClr val="FFFFFF"/>
                          </a:solidFill>
                          <a:effectLst/>
                          <a:latin typeface="Calibri" panose="020F0502020204030204" pitchFamily="34" charset="0"/>
                        </a:rPr>
                        <a:t>Rest2</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2F75B5"/>
                    </a:solidFill>
                  </a:tcPr>
                </a:tc>
                <a:tc>
                  <a:txBody>
                    <a:bodyPr/>
                    <a:lstStyle/>
                    <a:p>
                      <a:pPr algn="ctr" fontAlgn="ctr"/>
                      <a:r>
                        <a:rPr lang="en-NZ" sz="1400" b="1" i="0" u="none" strike="noStrike">
                          <a:solidFill>
                            <a:srgbClr val="FFFFFF"/>
                          </a:solidFill>
                          <a:effectLst/>
                          <a:latin typeface="Calibri" panose="020F0502020204030204" pitchFamily="34" charset="0"/>
                        </a:rPr>
                        <a:t>Rest3</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2F75B5"/>
                    </a:solidFill>
                  </a:tcPr>
                </a:tc>
                <a:tc>
                  <a:txBody>
                    <a:bodyPr/>
                    <a:lstStyle/>
                    <a:p>
                      <a:pPr algn="ctr" fontAlgn="ctr"/>
                      <a:r>
                        <a:rPr lang="en-NZ" sz="1400" b="1" i="0" u="none" strike="noStrike">
                          <a:solidFill>
                            <a:srgbClr val="FFFFFF"/>
                          </a:solidFill>
                          <a:effectLst/>
                          <a:latin typeface="Calibri" panose="020F0502020204030204" pitchFamily="34" charset="0"/>
                        </a:rPr>
                        <a:t>Rest4</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2F75B5"/>
                    </a:solidFill>
                  </a:tcPr>
                </a:tc>
                <a:tc>
                  <a:txBody>
                    <a:bodyPr/>
                    <a:lstStyle/>
                    <a:p>
                      <a:pPr algn="ctr" fontAlgn="ctr"/>
                      <a:r>
                        <a:rPr lang="en-NZ" sz="1400" b="1" i="0" u="none" strike="noStrike">
                          <a:solidFill>
                            <a:srgbClr val="FFFFFF"/>
                          </a:solidFill>
                          <a:effectLst/>
                          <a:latin typeface="Calibri" panose="020F0502020204030204" pitchFamily="34" charset="0"/>
                        </a:rPr>
                        <a:t>Rest5</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2F75B5"/>
                    </a:solidFill>
                  </a:tcPr>
                </a:tc>
                <a:tc>
                  <a:txBody>
                    <a:bodyPr/>
                    <a:lstStyle/>
                    <a:p>
                      <a:pPr algn="ctr" fontAlgn="ctr"/>
                      <a:r>
                        <a:rPr lang="en-NZ" sz="1400" b="1" i="0" u="none" strike="noStrike">
                          <a:solidFill>
                            <a:srgbClr val="FFFFFF"/>
                          </a:solidFill>
                          <a:effectLst/>
                          <a:latin typeface="Calibri" panose="020F0502020204030204" pitchFamily="34" charset="0"/>
                        </a:rPr>
                        <a:t>Rest6</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2F75B5"/>
                    </a:solidFill>
                  </a:tcPr>
                </a:tc>
                <a:tc>
                  <a:txBody>
                    <a:bodyPr/>
                    <a:lstStyle/>
                    <a:p>
                      <a:pPr algn="ctr" fontAlgn="ctr"/>
                      <a:r>
                        <a:rPr lang="en-NZ" sz="1400" b="1" i="0" u="none" strike="noStrike">
                          <a:solidFill>
                            <a:srgbClr val="FFFFFF"/>
                          </a:solidFill>
                          <a:effectLst/>
                          <a:latin typeface="Calibri" panose="020F0502020204030204" pitchFamily="34" charset="0"/>
                        </a:rPr>
                        <a:t>Rest7</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2F75B5"/>
                    </a:solidFill>
                  </a:tcPr>
                </a:tc>
                <a:tc>
                  <a:txBody>
                    <a:bodyPr/>
                    <a:lstStyle/>
                    <a:p>
                      <a:pPr algn="ctr" fontAlgn="ctr"/>
                      <a:r>
                        <a:rPr lang="en-NZ" sz="1400" b="1" i="0" u="none" strike="noStrike">
                          <a:solidFill>
                            <a:srgbClr val="FFFFFF"/>
                          </a:solidFill>
                          <a:effectLst/>
                          <a:latin typeface="Calibri" panose="020F0502020204030204" pitchFamily="34" charset="0"/>
                        </a:rPr>
                        <a:t>Rest8</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2F75B5"/>
                    </a:solidFill>
                  </a:tcPr>
                </a:tc>
                <a:tc>
                  <a:txBody>
                    <a:bodyPr/>
                    <a:lstStyle/>
                    <a:p>
                      <a:pPr algn="ctr" fontAlgn="ctr"/>
                      <a:r>
                        <a:rPr lang="en-NZ" sz="1400" b="1" i="0" u="none" strike="noStrike">
                          <a:solidFill>
                            <a:srgbClr val="FFFFFF"/>
                          </a:solidFill>
                          <a:effectLst/>
                          <a:latin typeface="Calibri" panose="020F0502020204030204" pitchFamily="34" charset="0"/>
                        </a:rPr>
                        <a:t>Rest9</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2F75B5"/>
                    </a:solidFill>
                  </a:tcPr>
                </a:tc>
                <a:tc>
                  <a:txBody>
                    <a:bodyPr/>
                    <a:lstStyle/>
                    <a:p>
                      <a:pPr algn="ctr" fontAlgn="ctr"/>
                      <a:r>
                        <a:rPr lang="en-NZ" sz="1400" b="1" i="0" u="none" strike="noStrike">
                          <a:solidFill>
                            <a:srgbClr val="FFFFFF"/>
                          </a:solidFill>
                          <a:effectLst/>
                          <a:latin typeface="Calibri" panose="020F0502020204030204" pitchFamily="34" charset="0"/>
                        </a:rPr>
                        <a:t>Rest10</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2F75B5"/>
                    </a:solidFill>
                  </a:tcPr>
                </a:tc>
                <a:tc>
                  <a:txBody>
                    <a:bodyPr/>
                    <a:lstStyle/>
                    <a:p>
                      <a:pPr algn="ctr" fontAlgn="ctr"/>
                      <a:r>
                        <a:rPr lang="en-NZ" sz="1400" b="1" i="0" u="none" strike="noStrike">
                          <a:solidFill>
                            <a:srgbClr val="FFFFFF"/>
                          </a:solidFill>
                          <a:effectLst/>
                          <a:latin typeface="Calibri" panose="020F0502020204030204" pitchFamily="34" charset="0"/>
                        </a:rPr>
                        <a:t>Rest11</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2F75B5"/>
                    </a:solidFill>
                  </a:tcPr>
                </a:tc>
                <a:tc>
                  <a:txBody>
                    <a:bodyPr/>
                    <a:lstStyle/>
                    <a:p>
                      <a:pPr algn="ctr" fontAlgn="ctr"/>
                      <a:r>
                        <a:rPr lang="en-NZ" sz="1400" b="1" i="0" u="none" strike="noStrike">
                          <a:solidFill>
                            <a:srgbClr val="FFFFFF"/>
                          </a:solidFill>
                          <a:effectLst/>
                          <a:latin typeface="Calibri" panose="020F0502020204030204" pitchFamily="34" charset="0"/>
                        </a:rPr>
                        <a:t>Rest12</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2F75B5"/>
                    </a:solidFill>
                  </a:tcPr>
                </a:tc>
                <a:tc>
                  <a:txBody>
                    <a:bodyPr/>
                    <a:lstStyle/>
                    <a:p>
                      <a:pPr algn="ctr" fontAlgn="ctr"/>
                      <a:r>
                        <a:rPr lang="en-NZ" sz="1400" b="1" i="0" u="none" strike="noStrike">
                          <a:solidFill>
                            <a:srgbClr val="FFFFFF"/>
                          </a:solidFill>
                          <a:effectLst/>
                          <a:latin typeface="Calibri" panose="020F0502020204030204" pitchFamily="34" charset="0"/>
                        </a:rPr>
                        <a:t>Rest13</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2F75B5"/>
                    </a:solidFill>
                  </a:tcPr>
                </a:tc>
                <a:tc>
                  <a:txBody>
                    <a:bodyPr/>
                    <a:lstStyle/>
                    <a:p>
                      <a:pPr algn="ctr" fontAlgn="ctr"/>
                      <a:r>
                        <a:rPr lang="en-NZ" sz="1400" b="1" i="0" u="none" strike="noStrike">
                          <a:solidFill>
                            <a:srgbClr val="FFFFFF"/>
                          </a:solidFill>
                          <a:effectLst/>
                          <a:latin typeface="Calibri" panose="020F0502020204030204" pitchFamily="34" charset="0"/>
                        </a:rPr>
                        <a:t>Rest14</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2F75B5"/>
                    </a:solidFill>
                  </a:tcPr>
                </a:tc>
                <a:tc>
                  <a:txBody>
                    <a:bodyPr/>
                    <a:lstStyle/>
                    <a:p>
                      <a:pPr algn="ctr" fontAlgn="ctr"/>
                      <a:r>
                        <a:rPr lang="en-NZ" sz="1400" b="1" i="0" u="none" strike="noStrike">
                          <a:solidFill>
                            <a:srgbClr val="FFFFFF"/>
                          </a:solidFill>
                          <a:effectLst/>
                          <a:latin typeface="Calibri" panose="020F0502020204030204" pitchFamily="34" charset="0"/>
                        </a:rPr>
                        <a:t>Rest15</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2F75B5"/>
                    </a:solidFill>
                  </a:tcPr>
                </a:tc>
                <a:tc>
                  <a:txBody>
                    <a:bodyPr/>
                    <a:lstStyle/>
                    <a:p>
                      <a:pPr algn="ctr" fontAlgn="ctr"/>
                      <a:r>
                        <a:rPr lang="en-NZ" sz="1400" b="1" i="0" u="none" strike="noStrike">
                          <a:solidFill>
                            <a:srgbClr val="FFFFFF"/>
                          </a:solidFill>
                          <a:effectLst/>
                          <a:latin typeface="Calibri" panose="020F0502020204030204" pitchFamily="34" charset="0"/>
                        </a:rPr>
                        <a:t>Rest16</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2F75B5"/>
                    </a:solidFill>
                  </a:tcPr>
                </a:tc>
                <a:tc>
                  <a:txBody>
                    <a:bodyPr/>
                    <a:lstStyle/>
                    <a:p>
                      <a:pPr algn="ctr" fontAlgn="ctr"/>
                      <a:r>
                        <a:rPr lang="en-NZ" sz="1400" b="1" i="0" u="none" strike="noStrike">
                          <a:solidFill>
                            <a:srgbClr val="FFFFFF"/>
                          </a:solidFill>
                          <a:effectLst/>
                          <a:latin typeface="Calibri" panose="020F0502020204030204" pitchFamily="34" charset="0"/>
                        </a:rPr>
                        <a:t>Rest17</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2F75B5"/>
                    </a:solidFill>
                  </a:tcPr>
                </a:tc>
                <a:tc>
                  <a:txBody>
                    <a:bodyPr/>
                    <a:lstStyle/>
                    <a:p>
                      <a:pPr algn="ctr" fontAlgn="ctr"/>
                      <a:r>
                        <a:rPr lang="en-NZ" sz="1400" b="1" i="0" u="none" strike="noStrike">
                          <a:solidFill>
                            <a:srgbClr val="FFFFFF"/>
                          </a:solidFill>
                          <a:effectLst/>
                          <a:latin typeface="Calibri" panose="020F0502020204030204" pitchFamily="34" charset="0"/>
                        </a:rPr>
                        <a:t>Rest18</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2F75B5"/>
                    </a:solidFill>
                  </a:tcPr>
                </a:tc>
                <a:extLst>
                  <a:ext uri="{0D108BD9-81ED-4DB2-BD59-A6C34878D82A}">
                    <a16:rowId xmlns:a16="http://schemas.microsoft.com/office/drawing/2014/main" val="2768085936"/>
                  </a:ext>
                </a:extLst>
              </a:tr>
              <a:tr h="190500">
                <a:tc>
                  <a:txBody>
                    <a:bodyPr/>
                    <a:lstStyle/>
                    <a:p>
                      <a:pPr algn="ctr" fontAlgn="ctr"/>
                      <a:r>
                        <a:rPr lang="en-NZ" sz="1400" b="0" i="0" u="none" strike="noStrike">
                          <a:solidFill>
                            <a:srgbClr val="000000"/>
                          </a:solidFill>
                          <a:effectLst/>
                          <a:latin typeface="Calibri" panose="020F0502020204030204" pitchFamily="34" charset="0"/>
                        </a:rPr>
                        <a:t>4</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3</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4</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7</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8</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7</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4</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5</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9</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7</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8</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4</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3</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6</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3</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11</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9</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4</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1149506764"/>
                  </a:ext>
                </a:extLst>
              </a:tr>
              <a:tr h="190500">
                <a:tc>
                  <a:txBody>
                    <a:bodyPr/>
                    <a:lstStyle/>
                    <a:p>
                      <a:pPr algn="ctr" fontAlgn="ctr"/>
                      <a:r>
                        <a:rPr lang="en-NZ" sz="1400" b="0" i="0" u="none" strike="noStrike">
                          <a:solidFill>
                            <a:srgbClr val="000000"/>
                          </a:solidFill>
                          <a:effectLst/>
                          <a:latin typeface="Calibri" panose="020F0502020204030204" pitchFamily="34" charset="0"/>
                        </a:rPr>
                        <a:t>6</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4</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5</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9</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7</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6</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6</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7</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4</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10</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6</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7</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5</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7</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2</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12</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8</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5</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422887839"/>
                  </a:ext>
                </a:extLst>
              </a:tr>
              <a:tr h="190500">
                <a:tc>
                  <a:txBody>
                    <a:bodyPr/>
                    <a:lstStyle/>
                    <a:p>
                      <a:pPr algn="ctr" fontAlgn="ctr"/>
                      <a:r>
                        <a:rPr lang="en-NZ" sz="1400" b="0" i="0" u="none" strike="noStrike">
                          <a:solidFill>
                            <a:srgbClr val="000000"/>
                          </a:solidFill>
                          <a:effectLst/>
                          <a:latin typeface="Calibri" panose="020F0502020204030204" pitchFamily="34" charset="0"/>
                        </a:rPr>
                        <a:t>5</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4</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7</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11</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9</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10</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7</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3</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8</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10</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9</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8</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4</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4</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5</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9</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10</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5</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2500079231"/>
                  </a:ext>
                </a:extLst>
              </a:tr>
              <a:tr h="190500">
                <a:tc>
                  <a:txBody>
                    <a:bodyPr/>
                    <a:lstStyle/>
                    <a:p>
                      <a:pPr algn="ctr" fontAlgn="ctr"/>
                      <a:r>
                        <a:rPr lang="en-NZ" sz="1400" b="0" i="0" u="none" strike="noStrike">
                          <a:solidFill>
                            <a:srgbClr val="000000"/>
                          </a:solidFill>
                          <a:effectLst/>
                          <a:latin typeface="Calibri" panose="020F0502020204030204" pitchFamily="34" charset="0"/>
                        </a:rPr>
                        <a:t>4</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5</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4</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10</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6</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8</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7</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6</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6</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9</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10</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8</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5</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5</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6</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9</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10</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8</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3124236880"/>
                  </a:ext>
                </a:extLst>
              </a:tr>
              <a:tr h="190500">
                <a:tc>
                  <a:txBody>
                    <a:bodyPr/>
                    <a:lstStyle/>
                    <a:p>
                      <a:pPr algn="ctr" fontAlgn="ctr"/>
                      <a:r>
                        <a:rPr lang="en-NZ" sz="1400" b="0" i="0" u="none" strike="noStrike">
                          <a:solidFill>
                            <a:srgbClr val="000000"/>
                          </a:solidFill>
                          <a:effectLst/>
                          <a:latin typeface="Calibri" panose="020F0502020204030204" pitchFamily="34" charset="0"/>
                        </a:rPr>
                        <a:t>3</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3</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6</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12</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10</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9</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6</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4</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7</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11</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9</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9</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4</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6</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4</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10</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a:solidFill>
                            <a:srgbClr val="000000"/>
                          </a:solidFill>
                          <a:effectLst/>
                          <a:latin typeface="Calibri" panose="020F0502020204030204" pitchFamily="34" charset="0"/>
                        </a:rPr>
                        <a:t>8</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400" b="0" i="0" u="none" strike="noStrike" dirty="0">
                          <a:solidFill>
                            <a:srgbClr val="000000"/>
                          </a:solidFill>
                          <a:effectLst/>
                          <a:latin typeface="Calibri" panose="020F0502020204030204" pitchFamily="34" charset="0"/>
                        </a:rPr>
                        <a:t>4</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866534134"/>
                  </a:ext>
                </a:extLst>
              </a:tr>
            </a:tbl>
          </a:graphicData>
        </a:graphic>
      </p:graphicFrame>
      <mc:AlternateContent xmlns:mc="http://schemas.openxmlformats.org/markup-compatibility/2006" xmlns:a14="http://schemas.microsoft.com/office/drawing/2010/main">
        <mc:Choice Requires="a14">
          <p:sp>
            <p:nvSpPr>
              <p:cNvPr id="2" name="Text Placeholder 5">
                <a:extLst>
                  <a:ext uri="{FF2B5EF4-FFF2-40B4-BE49-F238E27FC236}">
                    <a16:creationId xmlns:a16="http://schemas.microsoft.com/office/drawing/2014/main" id="{DB1844BD-2477-8C51-DFE0-E9E27FC8D32C}"/>
                  </a:ext>
                </a:extLst>
              </p:cNvPr>
              <p:cNvSpPr txBox="1">
                <a:spLocks/>
              </p:cNvSpPr>
              <p:nvPr/>
            </p:nvSpPr>
            <p:spPr>
              <a:xfrm>
                <a:off x="469578" y="4538950"/>
                <a:ext cx="8432051" cy="1643708"/>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1600" dirty="0">
                    <a:solidFill>
                      <a:srgbClr val="0070C0"/>
                    </a:solidFill>
                  </a:rPr>
                  <a:t>We want to do two things:</a:t>
                </a:r>
              </a:p>
              <a:p>
                <a:pPr algn="just">
                  <a:lnSpc>
                    <a:spcPct val="100000"/>
                  </a:lnSpc>
                </a:pPr>
                <a:endParaRPr lang="en-NZ" altLang="ja-JP" sz="200" dirty="0">
                  <a:solidFill>
                    <a:srgbClr val="0070C0"/>
                  </a:solidFill>
                </a:endParaRPr>
              </a:p>
              <a:p>
                <a:pPr algn="just">
                  <a:lnSpc>
                    <a:spcPct val="100000"/>
                  </a:lnSpc>
                </a:pPr>
                <a:endParaRPr lang="en-NZ" altLang="ja-JP" sz="200" dirty="0">
                  <a:solidFill>
                    <a:srgbClr val="0070C0"/>
                  </a:solidFill>
                </a:endParaRPr>
              </a:p>
              <a:p>
                <a:pPr algn="just">
                  <a:lnSpc>
                    <a:spcPct val="100000"/>
                  </a:lnSpc>
                </a:pPr>
                <a:endParaRPr lang="en-NZ" altLang="ja-JP" sz="200" dirty="0">
                  <a:solidFill>
                    <a:srgbClr val="0070C0"/>
                  </a:solidFill>
                </a:endParaRPr>
              </a:p>
              <a:p>
                <a:pPr marL="342900" indent="-342900" algn="just">
                  <a:lnSpc>
                    <a:spcPct val="100000"/>
                  </a:lnSpc>
                  <a:buFont typeface="+mj-lt"/>
                  <a:buAutoNum type="arabicPeriod"/>
                </a:pPr>
                <a:r>
                  <a:rPr lang="en-NZ" altLang="ja-JP" sz="1600" dirty="0">
                    <a:solidFill>
                      <a:srgbClr val="0070C0"/>
                    </a:solidFill>
                  </a:rPr>
                  <a:t>Test for the effect of Factor A (Region) on fat content.</a:t>
                </a:r>
              </a:p>
              <a:p>
                <a:pPr marL="342900" indent="-342900" algn="just">
                  <a:lnSpc>
                    <a:spcPct val="100000"/>
                  </a:lnSpc>
                  <a:buFont typeface="+mj-lt"/>
                  <a:buAutoNum type="arabicPeriod"/>
                </a:pPr>
                <a:endParaRPr lang="en-NZ" altLang="ja-JP" sz="200" dirty="0">
                  <a:solidFill>
                    <a:srgbClr val="0070C0"/>
                  </a:solidFill>
                </a:endParaRPr>
              </a:p>
              <a:p>
                <a:pPr marL="342900" indent="-342900" algn="just">
                  <a:lnSpc>
                    <a:spcPct val="100000"/>
                  </a:lnSpc>
                  <a:buFont typeface="+mj-lt"/>
                  <a:buAutoNum type="arabicPeriod"/>
                </a:pPr>
                <a:endParaRPr lang="en-NZ" altLang="ja-JP" sz="200" dirty="0">
                  <a:solidFill>
                    <a:srgbClr val="0070C0"/>
                  </a:solidFill>
                </a:endParaRPr>
              </a:p>
              <a:p>
                <a:pPr marL="342900" indent="-342900" algn="just">
                  <a:lnSpc>
                    <a:spcPct val="100000"/>
                  </a:lnSpc>
                  <a:buFont typeface="+mj-lt"/>
                  <a:buAutoNum type="arabicPeriod"/>
                </a:pPr>
                <a:endParaRPr lang="en-NZ" altLang="ja-JP" sz="200" dirty="0">
                  <a:solidFill>
                    <a:srgbClr val="0070C0"/>
                  </a:solidFill>
                </a:endParaRPr>
              </a:p>
              <a:p>
                <a:pPr marL="342900" indent="-342900">
                  <a:lnSpc>
                    <a:spcPct val="100000"/>
                  </a:lnSpc>
                  <a:buFont typeface="+mj-lt"/>
                  <a:buAutoNum type="arabicPeriod"/>
                </a:pPr>
                <a:r>
                  <a:rPr lang="en-NZ" altLang="ja-JP" sz="1600" dirty="0">
                    <a:solidFill>
                      <a:srgbClr val="0070C0"/>
                    </a:solidFill>
                  </a:rPr>
                  <a:t>We are also interested in the proportion of variance (after allowing for Factor A) that is due to</a:t>
                </a:r>
                <a:br>
                  <a:rPr lang="en-NZ" altLang="ja-JP" sz="1600" dirty="0">
                    <a:solidFill>
                      <a:srgbClr val="0070C0"/>
                    </a:solidFill>
                  </a:rPr>
                </a:br>
                <a:r>
                  <a:rPr lang="en-NZ" altLang="ja-JP" sz="1600" dirty="0">
                    <a:solidFill>
                      <a:srgbClr val="0070C0"/>
                    </a:solidFill>
                  </a:rPr>
                  <a:t>     Factor B   </a:t>
                </a:r>
                <a14:m>
                  <m:oMath xmlns:m="http://schemas.openxmlformats.org/officeDocument/2006/math">
                    <m:f>
                      <m:fPr>
                        <m:type m:val="lin"/>
                        <m:ctrlPr>
                          <a:rPr lang="en-NZ" altLang="ja-JP" sz="1600" i="1" smtClean="0">
                            <a:solidFill>
                              <a:srgbClr val="0070C0"/>
                            </a:solidFill>
                            <a:latin typeface="Cambria Math" panose="02040503050406030204" pitchFamily="18" charset="0"/>
                          </a:rPr>
                        </m:ctrlPr>
                      </m:fPr>
                      <m:num>
                        <m:sSubSup>
                          <m:sSubSupPr>
                            <m:ctrlPr>
                              <a:rPr lang="en-NZ" altLang="ja-JP" sz="1600" b="1" i="1">
                                <a:solidFill>
                                  <a:srgbClr val="0070C0"/>
                                </a:solidFill>
                                <a:latin typeface="Cambria Math" panose="02040503050406030204" pitchFamily="18" charset="0"/>
                              </a:rPr>
                            </m:ctrlPr>
                          </m:sSubSupPr>
                          <m:e>
                            <m:r>
                              <a:rPr lang="en-NZ" altLang="ja-JP" sz="1600" b="1" i="1">
                                <a:solidFill>
                                  <a:srgbClr val="0070C0"/>
                                </a:solidFill>
                                <a:latin typeface="Cambria Math" panose="02040503050406030204" pitchFamily="18" charset="0"/>
                              </a:rPr>
                              <m:t>𝝈</m:t>
                            </m:r>
                          </m:e>
                          <m:sub>
                            <m:r>
                              <a:rPr lang="en-NZ" altLang="ja-JP" sz="1600" b="1" i="1">
                                <a:solidFill>
                                  <a:srgbClr val="0070C0"/>
                                </a:solidFill>
                                <a:latin typeface="Cambria Math" panose="02040503050406030204" pitchFamily="18" charset="0"/>
                              </a:rPr>
                              <m:t>𝑩</m:t>
                            </m:r>
                          </m:sub>
                          <m:sup>
                            <m:r>
                              <a:rPr lang="en-NZ" altLang="ja-JP" sz="1600" b="1" i="1">
                                <a:solidFill>
                                  <a:srgbClr val="0070C0"/>
                                </a:solidFill>
                                <a:latin typeface="Cambria Math" panose="02040503050406030204" pitchFamily="18" charset="0"/>
                              </a:rPr>
                              <m:t>𝟐</m:t>
                            </m:r>
                          </m:sup>
                        </m:sSubSup>
                        <m:r>
                          <a:rPr lang="en-NZ" altLang="ja-JP" sz="1600" b="1" i="1">
                            <a:solidFill>
                              <a:srgbClr val="0070C0"/>
                            </a:solidFill>
                            <a:latin typeface="Cambria Math" panose="02040503050406030204" pitchFamily="18" charset="0"/>
                          </a:rPr>
                          <m:t> </m:t>
                        </m:r>
                      </m:num>
                      <m:den>
                        <m:r>
                          <a:rPr lang="en-NZ" altLang="ja-JP" sz="1600" b="0" i="1" smtClean="0">
                            <a:solidFill>
                              <a:srgbClr val="0070C0"/>
                            </a:solidFill>
                            <a:latin typeface="Cambria Math" panose="02040503050406030204" pitchFamily="18" charset="0"/>
                          </a:rPr>
                          <m:t>( </m:t>
                        </m:r>
                        <m:sSubSup>
                          <m:sSubSupPr>
                            <m:ctrlPr>
                              <a:rPr lang="en-NZ" altLang="ja-JP" sz="1600" b="1" i="1">
                                <a:solidFill>
                                  <a:srgbClr val="0070C0"/>
                                </a:solidFill>
                                <a:latin typeface="Cambria Math" panose="02040503050406030204" pitchFamily="18" charset="0"/>
                              </a:rPr>
                            </m:ctrlPr>
                          </m:sSubSupPr>
                          <m:e>
                            <m:r>
                              <a:rPr lang="en-NZ" altLang="ja-JP" sz="1600" b="1" i="1">
                                <a:solidFill>
                                  <a:srgbClr val="0070C0"/>
                                </a:solidFill>
                                <a:latin typeface="Cambria Math" panose="02040503050406030204" pitchFamily="18" charset="0"/>
                              </a:rPr>
                              <m:t>𝝈</m:t>
                            </m:r>
                          </m:e>
                          <m:sub>
                            <m:r>
                              <a:rPr lang="en-NZ" altLang="ja-JP" sz="1600" b="1" i="1">
                                <a:solidFill>
                                  <a:srgbClr val="0070C0"/>
                                </a:solidFill>
                                <a:latin typeface="Cambria Math" panose="02040503050406030204" pitchFamily="18" charset="0"/>
                              </a:rPr>
                              <m:t>𝑩</m:t>
                            </m:r>
                          </m:sub>
                          <m:sup>
                            <m:r>
                              <a:rPr lang="en-NZ" altLang="ja-JP" sz="1600" b="1" i="1">
                                <a:solidFill>
                                  <a:srgbClr val="0070C0"/>
                                </a:solidFill>
                                <a:latin typeface="Cambria Math" panose="02040503050406030204" pitchFamily="18" charset="0"/>
                              </a:rPr>
                              <m:t>𝟐</m:t>
                            </m:r>
                          </m:sup>
                        </m:sSubSup>
                        <m:r>
                          <a:rPr lang="en-NZ" altLang="ja-JP" sz="1600" b="1" i="1">
                            <a:solidFill>
                              <a:srgbClr val="0070C0"/>
                            </a:solidFill>
                            <a:latin typeface="Cambria Math" panose="02040503050406030204" pitchFamily="18" charset="0"/>
                          </a:rPr>
                          <m:t> +</m:t>
                        </m:r>
                        <m:sSubSup>
                          <m:sSubSupPr>
                            <m:ctrlPr>
                              <a:rPr lang="en-NZ" altLang="ja-JP" sz="1600" b="1" i="1">
                                <a:solidFill>
                                  <a:srgbClr val="0070C0"/>
                                </a:solidFill>
                                <a:latin typeface="Cambria Math" panose="02040503050406030204" pitchFamily="18" charset="0"/>
                              </a:rPr>
                            </m:ctrlPr>
                          </m:sSubSupPr>
                          <m:e>
                            <m:r>
                              <a:rPr lang="en-NZ" altLang="ja-JP" sz="1600" b="1" i="1">
                                <a:solidFill>
                                  <a:srgbClr val="0070C0"/>
                                </a:solidFill>
                                <a:latin typeface="Cambria Math" panose="02040503050406030204" pitchFamily="18" charset="0"/>
                              </a:rPr>
                              <m:t>𝝈</m:t>
                            </m:r>
                          </m:e>
                          <m:sub>
                            <m:r>
                              <a:rPr lang="en-NZ" altLang="ja-JP" sz="1600" b="1" i="1" smtClean="0">
                                <a:solidFill>
                                  <a:srgbClr val="0070C0"/>
                                </a:solidFill>
                                <a:latin typeface="Cambria Math" panose="02040503050406030204" pitchFamily="18" charset="0"/>
                              </a:rPr>
                              <m:t>𝑪</m:t>
                            </m:r>
                          </m:sub>
                          <m:sup>
                            <m:r>
                              <a:rPr lang="en-NZ" altLang="ja-JP" sz="1600" b="1" i="1">
                                <a:solidFill>
                                  <a:srgbClr val="0070C0"/>
                                </a:solidFill>
                                <a:latin typeface="Cambria Math" panose="02040503050406030204" pitchFamily="18" charset="0"/>
                              </a:rPr>
                              <m:t>𝟐</m:t>
                            </m:r>
                          </m:sup>
                        </m:sSubSup>
                        <m:r>
                          <a:rPr lang="en-NZ" altLang="ja-JP" sz="1600" b="1" i="1" smtClean="0">
                            <a:solidFill>
                              <a:srgbClr val="0070C0"/>
                            </a:solidFill>
                            <a:latin typeface="Cambria Math" panose="02040503050406030204" pitchFamily="18" charset="0"/>
                          </a:rPr>
                          <m:t>+</m:t>
                        </m:r>
                        <m:sSup>
                          <m:sSupPr>
                            <m:ctrlPr>
                              <a:rPr lang="en-NZ" altLang="ja-JP" sz="1600" b="1" i="1">
                                <a:solidFill>
                                  <a:srgbClr val="0070C0"/>
                                </a:solidFill>
                                <a:latin typeface="Cambria Math" panose="02040503050406030204" pitchFamily="18" charset="0"/>
                              </a:rPr>
                            </m:ctrlPr>
                          </m:sSupPr>
                          <m:e>
                            <m:r>
                              <a:rPr lang="en-NZ" altLang="ja-JP" sz="1600" b="1" i="1">
                                <a:solidFill>
                                  <a:srgbClr val="0070C0"/>
                                </a:solidFill>
                                <a:latin typeface="Cambria Math" panose="02040503050406030204" pitchFamily="18" charset="0"/>
                              </a:rPr>
                              <m:t>𝝈</m:t>
                            </m:r>
                          </m:e>
                          <m:sup>
                            <m:r>
                              <a:rPr lang="en-NZ" altLang="ja-JP" sz="1600" b="1" i="1">
                                <a:solidFill>
                                  <a:srgbClr val="0070C0"/>
                                </a:solidFill>
                                <a:latin typeface="Cambria Math" panose="02040503050406030204" pitchFamily="18" charset="0"/>
                              </a:rPr>
                              <m:t>𝟐</m:t>
                            </m:r>
                          </m:sup>
                        </m:sSup>
                        <m:r>
                          <a:rPr lang="en-NZ" altLang="ja-JP" sz="1600" b="1" i="1" smtClean="0">
                            <a:solidFill>
                              <a:srgbClr val="0070C0"/>
                            </a:solidFill>
                            <a:latin typeface="Cambria Math" panose="02040503050406030204" pitchFamily="18" charset="0"/>
                          </a:rPr>
                          <m:t> )</m:t>
                        </m:r>
                      </m:den>
                    </m:f>
                  </m:oMath>
                </a14:m>
                <a:br>
                  <a:rPr lang="en-NZ" altLang="ja-JP" sz="1600" dirty="0">
                    <a:solidFill>
                      <a:srgbClr val="0070C0"/>
                    </a:solidFill>
                  </a:rPr>
                </a:br>
                <a:r>
                  <a:rPr lang="en-NZ" altLang="ja-JP" sz="1600" dirty="0">
                    <a:solidFill>
                      <a:srgbClr val="0070C0"/>
                    </a:solidFill>
                  </a:rPr>
                  <a:t>     Factor C   </a:t>
                </a:r>
                <a14:m>
                  <m:oMath xmlns:m="http://schemas.openxmlformats.org/officeDocument/2006/math">
                    <m:f>
                      <m:fPr>
                        <m:type m:val="lin"/>
                        <m:ctrlPr>
                          <a:rPr lang="en-NZ" altLang="ja-JP" sz="1600" i="1">
                            <a:solidFill>
                              <a:srgbClr val="0070C0"/>
                            </a:solidFill>
                            <a:latin typeface="Cambria Math" panose="02040503050406030204" pitchFamily="18" charset="0"/>
                          </a:rPr>
                        </m:ctrlPr>
                      </m:fPr>
                      <m:num>
                        <m:sSubSup>
                          <m:sSubSupPr>
                            <m:ctrlPr>
                              <a:rPr lang="en-NZ" altLang="ja-JP" sz="1600" b="1" i="1">
                                <a:solidFill>
                                  <a:srgbClr val="0070C0"/>
                                </a:solidFill>
                                <a:latin typeface="Cambria Math" panose="02040503050406030204" pitchFamily="18" charset="0"/>
                              </a:rPr>
                            </m:ctrlPr>
                          </m:sSubSupPr>
                          <m:e>
                            <m:r>
                              <a:rPr lang="en-NZ" altLang="ja-JP" sz="1600" b="1" i="1">
                                <a:solidFill>
                                  <a:srgbClr val="0070C0"/>
                                </a:solidFill>
                                <a:latin typeface="Cambria Math" panose="02040503050406030204" pitchFamily="18" charset="0"/>
                              </a:rPr>
                              <m:t>𝝈</m:t>
                            </m:r>
                          </m:e>
                          <m:sub>
                            <m:r>
                              <a:rPr lang="en-NZ" altLang="ja-JP" sz="1600" b="1" i="1" smtClean="0">
                                <a:solidFill>
                                  <a:srgbClr val="0070C0"/>
                                </a:solidFill>
                                <a:latin typeface="Cambria Math" panose="02040503050406030204" pitchFamily="18" charset="0"/>
                              </a:rPr>
                              <m:t>𝑪</m:t>
                            </m:r>
                          </m:sub>
                          <m:sup>
                            <m:r>
                              <a:rPr lang="en-NZ" altLang="ja-JP" sz="1600" b="1" i="1">
                                <a:solidFill>
                                  <a:srgbClr val="0070C0"/>
                                </a:solidFill>
                                <a:latin typeface="Cambria Math" panose="02040503050406030204" pitchFamily="18" charset="0"/>
                              </a:rPr>
                              <m:t>𝟐</m:t>
                            </m:r>
                          </m:sup>
                        </m:sSubSup>
                        <m:r>
                          <a:rPr lang="en-NZ" altLang="ja-JP" sz="1600" b="1" i="1">
                            <a:solidFill>
                              <a:srgbClr val="0070C0"/>
                            </a:solidFill>
                            <a:latin typeface="Cambria Math" panose="02040503050406030204" pitchFamily="18" charset="0"/>
                          </a:rPr>
                          <m:t> </m:t>
                        </m:r>
                      </m:num>
                      <m:den>
                        <m:r>
                          <a:rPr lang="en-NZ" altLang="ja-JP" sz="1600" i="1">
                            <a:solidFill>
                              <a:srgbClr val="0070C0"/>
                            </a:solidFill>
                            <a:latin typeface="Cambria Math" panose="02040503050406030204" pitchFamily="18" charset="0"/>
                          </a:rPr>
                          <m:t>( </m:t>
                        </m:r>
                        <m:sSubSup>
                          <m:sSubSupPr>
                            <m:ctrlPr>
                              <a:rPr lang="en-NZ" altLang="ja-JP" sz="1600" b="1" i="1">
                                <a:solidFill>
                                  <a:srgbClr val="0070C0"/>
                                </a:solidFill>
                                <a:latin typeface="Cambria Math" panose="02040503050406030204" pitchFamily="18" charset="0"/>
                              </a:rPr>
                            </m:ctrlPr>
                          </m:sSubSupPr>
                          <m:e>
                            <m:r>
                              <a:rPr lang="en-NZ" altLang="ja-JP" sz="1600" b="1" i="1">
                                <a:solidFill>
                                  <a:srgbClr val="0070C0"/>
                                </a:solidFill>
                                <a:latin typeface="Cambria Math" panose="02040503050406030204" pitchFamily="18" charset="0"/>
                              </a:rPr>
                              <m:t>𝝈</m:t>
                            </m:r>
                          </m:e>
                          <m:sub>
                            <m:r>
                              <a:rPr lang="en-NZ" altLang="ja-JP" sz="1600" b="1" i="1">
                                <a:solidFill>
                                  <a:srgbClr val="0070C0"/>
                                </a:solidFill>
                                <a:latin typeface="Cambria Math" panose="02040503050406030204" pitchFamily="18" charset="0"/>
                              </a:rPr>
                              <m:t>𝑩</m:t>
                            </m:r>
                          </m:sub>
                          <m:sup>
                            <m:r>
                              <a:rPr lang="en-NZ" altLang="ja-JP" sz="1600" b="1" i="1">
                                <a:solidFill>
                                  <a:srgbClr val="0070C0"/>
                                </a:solidFill>
                                <a:latin typeface="Cambria Math" panose="02040503050406030204" pitchFamily="18" charset="0"/>
                              </a:rPr>
                              <m:t>𝟐</m:t>
                            </m:r>
                          </m:sup>
                        </m:sSubSup>
                        <m:r>
                          <a:rPr lang="en-NZ" altLang="ja-JP" sz="1600" b="1" i="1">
                            <a:solidFill>
                              <a:srgbClr val="0070C0"/>
                            </a:solidFill>
                            <a:latin typeface="Cambria Math" panose="02040503050406030204" pitchFamily="18" charset="0"/>
                          </a:rPr>
                          <m:t> +</m:t>
                        </m:r>
                        <m:sSubSup>
                          <m:sSubSupPr>
                            <m:ctrlPr>
                              <a:rPr lang="en-NZ" altLang="ja-JP" sz="1600" b="1" i="1">
                                <a:solidFill>
                                  <a:srgbClr val="0070C0"/>
                                </a:solidFill>
                                <a:latin typeface="Cambria Math" panose="02040503050406030204" pitchFamily="18" charset="0"/>
                              </a:rPr>
                            </m:ctrlPr>
                          </m:sSubSupPr>
                          <m:e>
                            <m:r>
                              <a:rPr lang="en-NZ" altLang="ja-JP" sz="1600" b="1" i="1">
                                <a:solidFill>
                                  <a:srgbClr val="0070C0"/>
                                </a:solidFill>
                                <a:latin typeface="Cambria Math" panose="02040503050406030204" pitchFamily="18" charset="0"/>
                              </a:rPr>
                              <m:t>𝝈</m:t>
                            </m:r>
                          </m:e>
                          <m:sub>
                            <m:r>
                              <a:rPr lang="en-NZ" altLang="ja-JP" sz="1600" b="1" i="1">
                                <a:solidFill>
                                  <a:srgbClr val="0070C0"/>
                                </a:solidFill>
                                <a:latin typeface="Cambria Math" panose="02040503050406030204" pitchFamily="18" charset="0"/>
                              </a:rPr>
                              <m:t>𝑪</m:t>
                            </m:r>
                          </m:sub>
                          <m:sup>
                            <m:r>
                              <a:rPr lang="en-NZ" altLang="ja-JP" sz="1600" b="1" i="1">
                                <a:solidFill>
                                  <a:srgbClr val="0070C0"/>
                                </a:solidFill>
                                <a:latin typeface="Cambria Math" panose="02040503050406030204" pitchFamily="18" charset="0"/>
                              </a:rPr>
                              <m:t>𝟐</m:t>
                            </m:r>
                          </m:sup>
                        </m:sSubSup>
                        <m:r>
                          <a:rPr lang="en-NZ" altLang="ja-JP" sz="1600" b="1" i="1">
                            <a:solidFill>
                              <a:srgbClr val="0070C0"/>
                            </a:solidFill>
                            <a:latin typeface="Cambria Math" panose="02040503050406030204" pitchFamily="18" charset="0"/>
                          </a:rPr>
                          <m:t>+</m:t>
                        </m:r>
                        <m:sSup>
                          <m:sSupPr>
                            <m:ctrlPr>
                              <a:rPr lang="en-NZ" altLang="ja-JP" sz="1600" b="1" i="1">
                                <a:solidFill>
                                  <a:srgbClr val="0070C0"/>
                                </a:solidFill>
                                <a:latin typeface="Cambria Math" panose="02040503050406030204" pitchFamily="18" charset="0"/>
                              </a:rPr>
                            </m:ctrlPr>
                          </m:sSupPr>
                          <m:e>
                            <m:r>
                              <a:rPr lang="en-NZ" altLang="ja-JP" sz="1600" b="1" i="1">
                                <a:solidFill>
                                  <a:srgbClr val="0070C0"/>
                                </a:solidFill>
                                <a:latin typeface="Cambria Math" panose="02040503050406030204" pitchFamily="18" charset="0"/>
                              </a:rPr>
                              <m:t>𝝈</m:t>
                            </m:r>
                          </m:e>
                          <m:sup>
                            <m:r>
                              <a:rPr lang="en-NZ" altLang="ja-JP" sz="1600" b="1" i="1">
                                <a:solidFill>
                                  <a:srgbClr val="0070C0"/>
                                </a:solidFill>
                                <a:latin typeface="Cambria Math" panose="02040503050406030204" pitchFamily="18" charset="0"/>
                              </a:rPr>
                              <m:t>𝟐</m:t>
                            </m:r>
                          </m:sup>
                        </m:sSup>
                        <m:r>
                          <a:rPr lang="en-NZ" altLang="ja-JP" sz="1600" b="1" i="1">
                            <a:solidFill>
                              <a:srgbClr val="0070C0"/>
                            </a:solidFill>
                            <a:latin typeface="Cambria Math" panose="02040503050406030204" pitchFamily="18" charset="0"/>
                          </a:rPr>
                          <m:t> )</m:t>
                        </m:r>
                      </m:den>
                    </m:f>
                  </m:oMath>
                </a14:m>
                <a:br>
                  <a:rPr lang="en-NZ" altLang="ja-JP" sz="1600" dirty="0">
                    <a:solidFill>
                      <a:srgbClr val="0070C0"/>
                    </a:solidFill>
                  </a:rPr>
                </a:br>
                <a:r>
                  <a:rPr lang="en-NZ" altLang="ja-JP" sz="1600" dirty="0">
                    <a:solidFill>
                      <a:srgbClr val="0070C0"/>
                    </a:solidFill>
                  </a:rPr>
                  <a:t>     Residual unexplained variation  </a:t>
                </a:r>
                <a14:m>
                  <m:oMath xmlns:m="http://schemas.openxmlformats.org/officeDocument/2006/math">
                    <m:f>
                      <m:fPr>
                        <m:type m:val="lin"/>
                        <m:ctrlPr>
                          <a:rPr lang="en-NZ" altLang="ja-JP" sz="1600" i="1" smtClean="0">
                            <a:solidFill>
                              <a:srgbClr val="0070C0"/>
                            </a:solidFill>
                            <a:latin typeface="Cambria Math" panose="02040503050406030204" pitchFamily="18" charset="0"/>
                          </a:rPr>
                        </m:ctrlPr>
                      </m:fPr>
                      <m:num>
                        <m:sSup>
                          <m:sSupPr>
                            <m:ctrlPr>
                              <a:rPr lang="en-NZ" altLang="ja-JP" sz="1600" b="1" i="1" smtClean="0">
                                <a:solidFill>
                                  <a:srgbClr val="0070C0"/>
                                </a:solidFill>
                                <a:latin typeface="Cambria Math" panose="02040503050406030204" pitchFamily="18" charset="0"/>
                              </a:rPr>
                            </m:ctrlPr>
                          </m:sSupPr>
                          <m:e>
                            <m:r>
                              <a:rPr lang="en-NZ" altLang="ja-JP" sz="1600" b="1" i="1" smtClean="0">
                                <a:solidFill>
                                  <a:srgbClr val="0070C0"/>
                                </a:solidFill>
                                <a:latin typeface="Cambria Math" panose="02040503050406030204" pitchFamily="18" charset="0"/>
                              </a:rPr>
                              <m:t>𝝈</m:t>
                            </m:r>
                          </m:e>
                          <m:sup>
                            <m:r>
                              <a:rPr lang="en-NZ" altLang="ja-JP" sz="1600" b="1" i="1" smtClean="0">
                                <a:solidFill>
                                  <a:srgbClr val="0070C0"/>
                                </a:solidFill>
                                <a:latin typeface="Cambria Math" panose="02040503050406030204" pitchFamily="18" charset="0"/>
                              </a:rPr>
                              <m:t>𝟐</m:t>
                            </m:r>
                          </m:sup>
                        </m:sSup>
                        <m:r>
                          <a:rPr lang="en-NZ" altLang="ja-JP" sz="1600" b="1" i="1">
                            <a:solidFill>
                              <a:srgbClr val="0070C0"/>
                            </a:solidFill>
                            <a:latin typeface="Cambria Math" panose="02040503050406030204" pitchFamily="18" charset="0"/>
                          </a:rPr>
                          <m:t> </m:t>
                        </m:r>
                      </m:num>
                      <m:den>
                        <m:r>
                          <a:rPr lang="en-NZ" altLang="ja-JP" sz="1600" b="1" i="1" smtClean="0">
                            <a:solidFill>
                              <a:srgbClr val="0070C0"/>
                            </a:solidFill>
                            <a:latin typeface="Cambria Math" panose="02040503050406030204" pitchFamily="18" charset="0"/>
                          </a:rPr>
                          <m:t> </m:t>
                        </m:r>
                        <m:r>
                          <a:rPr lang="en-NZ" altLang="ja-JP" sz="1600" b="0" i="1" smtClean="0">
                            <a:solidFill>
                              <a:srgbClr val="0070C0"/>
                            </a:solidFill>
                            <a:latin typeface="Cambria Math" panose="02040503050406030204" pitchFamily="18" charset="0"/>
                          </a:rPr>
                          <m:t>(</m:t>
                        </m:r>
                        <m:sSubSup>
                          <m:sSubSupPr>
                            <m:ctrlPr>
                              <a:rPr lang="en-NZ" altLang="ja-JP" sz="1600" b="1" i="1">
                                <a:solidFill>
                                  <a:srgbClr val="0070C0"/>
                                </a:solidFill>
                                <a:latin typeface="Cambria Math" panose="02040503050406030204" pitchFamily="18" charset="0"/>
                              </a:rPr>
                            </m:ctrlPr>
                          </m:sSubSupPr>
                          <m:e>
                            <m:r>
                              <a:rPr lang="en-NZ" altLang="ja-JP" sz="1600" b="1" i="1">
                                <a:solidFill>
                                  <a:srgbClr val="0070C0"/>
                                </a:solidFill>
                                <a:latin typeface="Cambria Math" panose="02040503050406030204" pitchFamily="18" charset="0"/>
                              </a:rPr>
                              <m:t>𝝈</m:t>
                            </m:r>
                          </m:e>
                          <m:sub>
                            <m:r>
                              <a:rPr lang="en-NZ" altLang="ja-JP" sz="1600" b="1" i="1">
                                <a:solidFill>
                                  <a:srgbClr val="0070C0"/>
                                </a:solidFill>
                                <a:latin typeface="Cambria Math" panose="02040503050406030204" pitchFamily="18" charset="0"/>
                              </a:rPr>
                              <m:t>𝑩</m:t>
                            </m:r>
                          </m:sub>
                          <m:sup>
                            <m:r>
                              <a:rPr lang="en-NZ" altLang="ja-JP" sz="1600" b="1" i="1">
                                <a:solidFill>
                                  <a:srgbClr val="0070C0"/>
                                </a:solidFill>
                                <a:latin typeface="Cambria Math" panose="02040503050406030204" pitchFamily="18" charset="0"/>
                              </a:rPr>
                              <m:t>𝟐</m:t>
                            </m:r>
                          </m:sup>
                        </m:sSubSup>
                        <m:r>
                          <a:rPr lang="en-NZ" altLang="ja-JP" sz="1600" b="1" i="1">
                            <a:solidFill>
                              <a:srgbClr val="0070C0"/>
                            </a:solidFill>
                            <a:latin typeface="Cambria Math" panose="02040503050406030204" pitchFamily="18" charset="0"/>
                          </a:rPr>
                          <m:t> +</m:t>
                        </m:r>
                        <m:sSubSup>
                          <m:sSubSupPr>
                            <m:ctrlPr>
                              <a:rPr lang="en-NZ" altLang="ja-JP" sz="1600" b="1" i="1">
                                <a:solidFill>
                                  <a:srgbClr val="0070C0"/>
                                </a:solidFill>
                                <a:latin typeface="Cambria Math" panose="02040503050406030204" pitchFamily="18" charset="0"/>
                              </a:rPr>
                            </m:ctrlPr>
                          </m:sSubSupPr>
                          <m:e>
                            <m:r>
                              <a:rPr lang="en-NZ" altLang="ja-JP" sz="1600" b="1" i="1">
                                <a:solidFill>
                                  <a:srgbClr val="0070C0"/>
                                </a:solidFill>
                                <a:latin typeface="Cambria Math" panose="02040503050406030204" pitchFamily="18" charset="0"/>
                              </a:rPr>
                              <m:t>𝝈</m:t>
                            </m:r>
                          </m:e>
                          <m:sub>
                            <m:r>
                              <a:rPr lang="en-NZ" altLang="ja-JP" sz="1600" b="1" i="1">
                                <a:solidFill>
                                  <a:srgbClr val="0070C0"/>
                                </a:solidFill>
                                <a:latin typeface="Cambria Math" panose="02040503050406030204" pitchFamily="18" charset="0"/>
                              </a:rPr>
                              <m:t>𝑪</m:t>
                            </m:r>
                          </m:sub>
                          <m:sup>
                            <m:r>
                              <a:rPr lang="en-NZ" altLang="ja-JP" sz="1600" b="1" i="1">
                                <a:solidFill>
                                  <a:srgbClr val="0070C0"/>
                                </a:solidFill>
                                <a:latin typeface="Cambria Math" panose="02040503050406030204" pitchFamily="18" charset="0"/>
                              </a:rPr>
                              <m:t>𝟐</m:t>
                            </m:r>
                          </m:sup>
                        </m:sSubSup>
                        <m:r>
                          <a:rPr lang="en-NZ" altLang="ja-JP" sz="1600" b="1" i="1">
                            <a:solidFill>
                              <a:srgbClr val="0070C0"/>
                            </a:solidFill>
                            <a:latin typeface="Cambria Math" panose="02040503050406030204" pitchFamily="18" charset="0"/>
                          </a:rPr>
                          <m:t>+</m:t>
                        </m:r>
                        <m:sSup>
                          <m:sSupPr>
                            <m:ctrlPr>
                              <a:rPr lang="en-NZ" altLang="ja-JP" sz="1600" b="1" i="1">
                                <a:solidFill>
                                  <a:srgbClr val="0070C0"/>
                                </a:solidFill>
                                <a:latin typeface="Cambria Math" panose="02040503050406030204" pitchFamily="18" charset="0"/>
                              </a:rPr>
                            </m:ctrlPr>
                          </m:sSupPr>
                          <m:e>
                            <m:r>
                              <a:rPr lang="en-NZ" altLang="ja-JP" sz="1600" b="1" i="1">
                                <a:solidFill>
                                  <a:srgbClr val="0070C0"/>
                                </a:solidFill>
                                <a:latin typeface="Cambria Math" panose="02040503050406030204" pitchFamily="18" charset="0"/>
                              </a:rPr>
                              <m:t>𝝈</m:t>
                            </m:r>
                          </m:e>
                          <m:sup>
                            <m:r>
                              <a:rPr lang="en-NZ" altLang="ja-JP" sz="1600" b="1" i="1">
                                <a:solidFill>
                                  <a:srgbClr val="0070C0"/>
                                </a:solidFill>
                                <a:latin typeface="Cambria Math" panose="02040503050406030204" pitchFamily="18" charset="0"/>
                              </a:rPr>
                              <m:t>𝟐</m:t>
                            </m:r>
                          </m:sup>
                        </m:sSup>
                        <m:r>
                          <a:rPr lang="en-NZ" altLang="ja-JP" sz="1600" b="1" i="1" smtClean="0">
                            <a:solidFill>
                              <a:srgbClr val="0070C0"/>
                            </a:solidFill>
                            <a:latin typeface="Cambria Math" panose="02040503050406030204" pitchFamily="18" charset="0"/>
                          </a:rPr>
                          <m:t>)</m:t>
                        </m:r>
                      </m:den>
                    </m:f>
                  </m:oMath>
                </a14:m>
                <a:endParaRPr lang="en-NZ" altLang="ja-JP" sz="1600" dirty="0">
                  <a:solidFill>
                    <a:srgbClr val="0070C0"/>
                  </a:solidFill>
                </a:endParaRPr>
              </a:p>
            </p:txBody>
          </p:sp>
        </mc:Choice>
        <mc:Fallback xmlns="">
          <p:sp>
            <p:nvSpPr>
              <p:cNvPr id="2" name="Text Placeholder 5">
                <a:extLst>
                  <a:ext uri="{FF2B5EF4-FFF2-40B4-BE49-F238E27FC236}">
                    <a16:creationId xmlns:a16="http://schemas.microsoft.com/office/drawing/2014/main" id="{DB1844BD-2477-8C51-DFE0-E9E27FC8D32C}"/>
                  </a:ext>
                </a:extLst>
              </p:cNvPr>
              <p:cNvSpPr txBox="1">
                <a:spLocks noRot="1" noChangeAspect="1" noMove="1" noResize="1" noEditPoints="1" noAdjustHandles="1" noChangeArrowheads="1" noChangeShapeType="1" noTextEdit="1"/>
              </p:cNvSpPr>
              <p:nvPr/>
            </p:nvSpPr>
            <p:spPr>
              <a:xfrm>
                <a:off x="469578" y="4538950"/>
                <a:ext cx="8432051" cy="1643708"/>
              </a:xfrm>
              <a:prstGeom prst="rect">
                <a:avLst/>
              </a:prstGeom>
              <a:blipFill>
                <a:blip r:embed="rId2"/>
                <a:stretch>
                  <a:fillRect l="-362" t="-1115" b="-44238"/>
                </a:stretch>
              </a:blipFill>
            </p:spPr>
            <p:txBody>
              <a:bodyPr/>
              <a:lstStyle/>
              <a:p>
                <a:r>
                  <a:rPr lang="en-NZ">
                    <a:noFill/>
                  </a:rPr>
                  <a:t> </a:t>
                </a:r>
              </a:p>
            </p:txBody>
          </p:sp>
        </mc:Fallback>
      </mc:AlternateContent>
      <p:sp>
        <p:nvSpPr>
          <p:cNvPr id="4" name="Text Placeholder 5">
            <a:extLst>
              <a:ext uri="{FF2B5EF4-FFF2-40B4-BE49-F238E27FC236}">
                <a16:creationId xmlns:a16="http://schemas.microsoft.com/office/drawing/2014/main" id="{5C8E6F60-65EF-0CA4-28CF-2856E4665EAE}"/>
              </a:ext>
            </a:extLst>
          </p:cNvPr>
          <p:cNvSpPr txBox="1">
            <a:spLocks/>
          </p:cNvSpPr>
          <p:nvPr/>
        </p:nvSpPr>
        <p:spPr>
          <a:xfrm>
            <a:off x="8930918" y="5118897"/>
            <a:ext cx="3158448" cy="894925"/>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1600" dirty="0">
                <a:solidFill>
                  <a:schemeClr val="bg2">
                    <a:lumMod val="50000"/>
                  </a:schemeClr>
                </a:solidFill>
              </a:rPr>
              <a:t>There are two ways of doing this</a:t>
            </a:r>
          </a:p>
          <a:p>
            <a:pPr algn="just">
              <a:lnSpc>
                <a:spcPct val="100000"/>
              </a:lnSpc>
            </a:pPr>
            <a:r>
              <a:rPr lang="en-NZ" altLang="ja-JP" sz="1600" b="1" dirty="0">
                <a:solidFill>
                  <a:schemeClr val="bg2">
                    <a:lumMod val="50000"/>
                  </a:schemeClr>
                </a:solidFill>
              </a:rPr>
              <a:t> - </a:t>
            </a:r>
            <a:r>
              <a:rPr lang="en-NZ" altLang="ja-JP" sz="1600" dirty="0">
                <a:solidFill>
                  <a:schemeClr val="bg2">
                    <a:lumMod val="50000"/>
                  </a:schemeClr>
                </a:solidFill>
              </a:rPr>
              <a:t>With the </a:t>
            </a:r>
            <a:r>
              <a:rPr lang="en-NZ" altLang="ja-JP" sz="1600" b="1" i="1" dirty="0" err="1">
                <a:solidFill>
                  <a:schemeClr val="bg2">
                    <a:lumMod val="50000"/>
                  </a:schemeClr>
                </a:solidFill>
              </a:rPr>
              <a:t>nlme</a:t>
            </a:r>
            <a:r>
              <a:rPr lang="en-NZ" altLang="ja-JP" sz="1600" b="1" i="1" dirty="0">
                <a:solidFill>
                  <a:schemeClr val="bg2">
                    <a:lumMod val="50000"/>
                  </a:schemeClr>
                </a:solidFill>
              </a:rPr>
              <a:t>()</a:t>
            </a:r>
            <a:r>
              <a:rPr lang="en-NZ" altLang="ja-JP" sz="1600" dirty="0">
                <a:solidFill>
                  <a:schemeClr val="bg2">
                    <a:lumMod val="50000"/>
                  </a:schemeClr>
                </a:solidFill>
              </a:rPr>
              <a:t> package  </a:t>
            </a:r>
            <a:r>
              <a:rPr lang="en-NZ" altLang="ja-JP" sz="1600" dirty="0">
                <a:solidFill>
                  <a:srgbClr val="00B050"/>
                </a:solidFill>
                <a:sym typeface="Wingdings" panose="05000000000000000000" pitchFamily="2" charset="2"/>
              </a:rPr>
              <a:t></a:t>
            </a:r>
            <a:endParaRPr lang="en-NZ" altLang="ja-JP" sz="1600" dirty="0">
              <a:solidFill>
                <a:srgbClr val="00B050"/>
              </a:solidFill>
            </a:endParaRPr>
          </a:p>
          <a:p>
            <a:pPr algn="just">
              <a:lnSpc>
                <a:spcPct val="100000"/>
              </a:lnSpc>
            </a:pPr>
            <a:r>
              <a:rPr lang="en-NZ" altLang="ja-JP" sz="1600" dirty="0">
                <a:solidFill>
                  <a:schemeClr val="bg2">
                    <a:lumMod val="50000"/>
                  </a:schemeClr>
                </a:solidFill>
              </a:rPr>
              <a:t> - With the </a:t>
            </a:r>
            <a:r>
              <a:rPr lang="en-NZ" altLang="ja-JP" sz="1600" b="1" i="1" dirty="0" err="1">
                <a:solidFill>
                  <a:schemeClr val="bg2">
                    <a:lumMod val="50000"/>
                  </a:schemeClr>
                </a:solidFill>
              </a:rPr>
              <a:t>aov</a:t>
            </a:r>
            <a:r>
              <a:rPr lang="en-NZ" altLang="ja-JP" sz="1600" b="1" i="1" dirty="0">
                <a:solidFill>
                  <a:schemeClr val="bg2">
                    <a:lumMod val="50000"/>
                  </a:schemeClr>
                </a:solidFill>
              </a:rPr>
              <a:t>() </a:t>
            </a:r>
            <a:r>
              <a:rPr lang="en-NZ" altLang="ja-JP" sz="1600" dirty="0">
                <a:solidFill>
                  <a:schemeClr val="bg2">
                    <a:lumMod val="50000"/>
                  </a:schemeClr>
                </a:solidFill>
              </a:rPr>
              <a:t>command </a:t>
            </a:r>
            <a:r>
              <a:rPr lang="en-NZ" altLang="ja-JP" sz="1600" dirty="0">
                <a:solidFill>
                  <a:srgbClr val="C00000"/>
                </a:solidFill>
                <a:sym typeface="Wingdings" panose="05000000000000000000" pitchFamily="2" charset="2"/>
              </a:rPr>
              <a:t></a:t>
            </a:r>
            <a:endParaRPr lang="en-NZ" altLang="ja-JP" sz="1600" dirty="0">
              <a:solidFill>
                <a:srgbClr val="C00000"/>
              </a:solidFill>
            </a:endParaRPr>
          </a:p>
          <a:p>
            <a:pPr algn="just">
              <a:lnSpc>
                <a:spcPct val="100000"/>
              </a:lnSpc>
            </a:pPr>
            <a:endParaRPr lang="en-NZ" altLang="ja-JP" sz="1600" dirty="0">
              <a:solidFill>
                <a:schemeClr val="bg2">
                  <a:lumMod val="50000"/>
                </a:schemeClr>
              </a:solidFill>
            </a:endParaRPr>
          </a:p>
        </p:txBody>
      </p:sp>
    </p:spTree>
    <p:extLst>
      <p:ext uri="{BB962C8B-B14F-4D97-AF65-F5344CB8AC3E}">
        <p14:creationId xmlns:p14="http://schemas.microsoft.com/office/powerpoint/2010/main" val="316702450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A87B516-C2B7-78FF-D8C3-33D8ADB04B0D}"/>
              </a:ext>
            </a:extLst>
          </p:cNvPr>
          <p:cNvPicPr>
            <a:picLocks noChangeAspect="1"/>
          </p:cNvPicPr>
          <p:nvPr/>
        </p:nvPicPr>
        <p:blipFill>
          <a:blip r:embed="rId2"/>
          <a:stretch>
            <a:fillRect/>
          </a:stretch>
        </p:blipFill>
        <p:spPr>
          <a:xfrm>
            <a:off x="6353905" y="2569844"/>
            <a:ext cx="5838095" cy="4104762"/>
          </a:xfrm>
          <a:prstGeom prst="rect">
            <a:avLst/>
          </a:prstGeom>
        </p:spPr>
      </p:pic>
      <p:sp>
        <p:nvSpPr>
          <p:cNvPr id="10" name="Slide Number Placeholder 3">
            <a:extLst>
              <a:ext uri="{FF2B5EF4-FFF2-40B4-BE49-F238E27FC236}">
                <a16:creationId xmlns:a16="http://schemas.microsoft.com/office/drawing/2014/main" id="{B0C9041D-77F0-4656-90D4-0E84B7AC6B27}"/>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54AD89C-DF1E-4948-B597-5DD47B34A9CA}" type="slidenum">
              <a:rPr kumimoji="1" lang="ja-JP" altLang="en-US" sz="4000" b="0" i="0" u="none" strike="noStrike" kern="1200" cap="none" spc="0" normalizeH="0" baseline="0" noProof="0" smtClean="0">
                <a:ln>
                  <a:noFill/>
                </a:ln>
                <a:solidFill>
                  <a:srgbClr val="575454">
                    <a:lumMod val="20000"/>
                    <a:lumOff val="80000"/>
                  </a:srgbClr>
                </a:solidFill>
                <a:effectLst/>
                <a:uLnTx/>
                <a:uFillTx/>
                <a:latin typeface="Coo Hew"/>
                <a:ea typeface="游ゴシック" panose="020B0400000000000000"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40</a:t>
            </a:fld>
            <a:endParaRPr kumimoji="1" lang="ja-JP" altLang="en-US" sz="4000" b="0" i="0" u="none" strike="noStrike" kern="1200" cap="none" spc="0" normalizeH="0" baseline="0" noProof="0" dirty="0">
              <a:ln>
                <a:noFill/>
              </a:ln>
              <a:solidFill>
                <a:srgbClr val="575454">
                  <a:lumMod val="20000"/>
                  <a:lumOff val="80000"/>
                </a:srgbClr>
              </a:solidFill>
              <a:effectLst/>
              <a:uLnTx/>
              <a:uFillTx/>
              <a:latin typeface="Coo Hew"/>
              <a:ea typeface="游ゴシック" panose="020B0400000000000000" pitchFamily="34" charset="-128"/>
              <a:cs typeface="+mn-cs"/>
            </a:endParaRPr>
          </a:p>
        </p:txBody>
      </p:sp>
      <p:sp>
        <p:nvSpPr>
          <p:cNvPr id="20" name="Text Placeholder 5">
            <a:extLst>
              <a:ext uri="{FF2B5EF4-FFF2-40B4-BE49-F238E27FC236}">
                <a16:creationId xmlns:a16="http://schemas.microsoft.com/office/drawing/2014/main" id="{40B5F946-3388-2CDF-CF32-83474F9BF913}"/>
              </a:ext>
            </a:extLst>
          </p:cNvPr>
          <p:cNvSpPr txBox="1">
            <a:spLocks/>
          </p:cNvSpPr>
          <p:nvPr/>
        </p:nvSpPr>
        <p:spPr>
          <a:xfrm>
            <a:off x="350220" y="894138"/>
            <a:ext cx="5894348" cy="504967"/>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1800" b="1" dirty="0">
                <a:solidFill>
                  <a:schemeClr val="tx1"/>
                </a:solidFill>
              </a:rPr>
              <a:t>Checking ANOVA Assumptions</a:t>
            </a:r>
            <a:endParaRPr lang="en-NZ" altLang="ja-JP" sz="1800" b="1" dirty="0">
              <a:solidFill>
                <a:srgbClr val="0070C0"/>
              </a:solidFill>
            </a:endParaRPr>
          </a:p>
        </p:txBody>
      </p:sp>
      <p:sp>
        <p:nvSpPr>
          <p:cNvPr id="22" name="Text Placeholder 5">
            <a:extLst>
              <a:ext uri="{FF2B5EF4-FFF2-40B4-BE49-F238E27FC236}">
                <a16:creationId xmlns:a16="http://schemas.microsoft.com/office/drawing/2014/main" id="{3F6E79FA-C997-FF76-DEA4-2ECAAA191B73}"/>
              </a:ext>
            </a:extLst>
          </p:cNvPr>
          <p:cNvSpPr txBox="1">
            <a:spLocks/>
          </p:cNvSpPr>
          <p:nvPr/>
        </p:nvSpPr>
        <p:spPr>
          <a:xfrm>
            <a:off x="350220" y="4911309"/>
            <a:ext cx="5894348" cy="1610657"/>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285750" indent="-285750" algn="just">
              <a:lnSpc>
                <a:spcPct val="100000"/>
              </a:lnSpc>
              <a:buFont typeface="Symbol" panose="05050102010706020507" pitchFamily="18" charset="2"/>
              <a:buChar char="Þ"/>
            </a:pPr>
            <a:r>
              <a:rPr lang="en-NZ" altLang="ja-JP" sz="1400" dirty="0">
                <a:solidFill>
                  <a:srgbClr val="0070C0"/>
                </a:solidFill>
              </a:rPr>
              <a:t>Fitted vs Residual plot suggests constant(</a:t>
            </a:r>
            <a:r>
              <a:rPr lang="en-NZ" altLang="ja-JP" sz="1400" dirty="0" err="1">
                <a:solidFill>
                  <a:srgbClr val="0070C0"/>
                </a:solidFill>
              </a:rPr>
              <a:t>ish</a:t>
            </a:r>
            <a:r>
              <a:rPr lang="en-NZ" altLang="ja-JP" sz="1400" dirty="0">
                <a:solidFill>
                  <a:srgbClr val="0070C0"/>
                </a:solidFill>
              </a:rPr>
              <a:t>) variance</a:t>
            </a:r>
          </a:p>
          <a:p>
            <a:pPr algn="just">
              <a:lnSpc>
                <a:spcPct val="100000"/>
              </a:lnSpc>
            </a:pPr>
            <a:endParaRPr lang="en-NZ" altLang="ja-JP" sz="1400" dirty="0">
              <a:solidFill>
                <a:srgbClr val="0070C0"/>
              </a:solidFill>
            </a:endParaRPr>
          </a:p>
          <a:p>
            <a:pPr marL="285750" indent="-285750" algn="just">
              <a:lnSpc>
                <a:spcPct val="100000"/>
              </a:lnSpc>
              <a:buFont typeface="Symbol" panose="05050102010706020507" pitchFamily="18" charset="2"/>
              <a:buChar char="Þ"/>
            </a:pPr>
            <a:r>
              <a:rPr lang="en-NZ" altLang="ja-JP" sz="1400" dirty="0">
                <a:solidFill>
                  <a:srgbClr val="0070C0"/>
                </a:solidFill>
              </a:rPr>
              <a:t>QQ-plot suggests that their may be a departure from normality in the tails of the distribution</a:t>
            </a:r>
          </a:p>
          <a:p>
            <a:pPr marL="285750" indent="-285750" algn="just">
              <a:lnSpc>
                <a:spcPct val="100000"/>
              </a:lnSpc>
              <a:buFont typeface="Symbol" panose="05050102010706020507" pitchFamily="18" charset="2"/>
              <a:buChar char="Þ"/>
            </a:pPr>
            <a:endParaRPr lang="en-NZ" altLang="ja-JP" sz="1400" dirty="0">
              <a:solidFill>
                <a:srgbClr val="0070C0"/>
              </a:solidFill>
            </a:endParaRPr>
          </a:p>
          <a:p>
            <a:pPr marL="285750" indent="-285750" algn="just">
              <a:lnSpc>
                <a:spcPct val="100000"/>
              </a:lnSpc>
              <a:buFont typeface="Symbol" panose="05050102010706020507" pitchFamily="18" charset="2"/>
              <a:buChar char="Þ"/>
            </a:pPr>
            <a:r>
              <a:rPr lang="en-NZ" altLang="ja-JP" sz="1400" dirty="0">
                <a:solidFill>
                  <a:srgbClr val="0070C0"/>
                </a:solidFill>
              </a:rPr>
              <a:t>Shapiro-Wilks test shows no evidence that the data is not normally distributed</a:t>
            </a:r>
          </a:p>
        </p:txBody>
      </p:sp>
      <p:sp>
        <p:nvSpPr>
          <p:cNvPr id="12" name="Title 6">
            <a:extLst>
              <a:ext uri="{FF2B5EF4-FFF2-40B4-BE49-F238E27FC236}">
                <a16:creationId xmlns:a16="http://schemas.microsoft.com/office/drawing/2014/main" id="{E29C48A5-6C7D-116A-5690-3554252D2CFE}"/>
              </a:ext>
            </a:extLst>
          </p:cNvPr>
          <p:cNvSpPr txBox="1">
            <a:spLocks/>
          </p:cNvSpPr>
          <p:nvPr/>
        </p:nvSpPr>
        <p:spPr>
          <a:xfrm>
            <a:off x="251224" y="237833"/>
            <a:ext cx="6654543" cy="607201"/>
          </a:xfrm>
          <a:prstGeom prst="rect">
            <a:avLst/>
          </a:prstGeom>
        </p:spPr>
        <p:txBody>
          <a:bodyPr anchor="t">
            <a:normAutofit/>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pPr marL="0" marR="0" lvl="0" indent="0" algn="l" defTabSz="914324" rtl="0" eaLnBrk="1" fontAlgn="auto" latinLnBrk="0" hangingPunct="1">
              <a:lnSpc>
                <a:spcPct val="90000"/>
              </a:lnSpc>
              <a:spcBef>
                <a:spcPct val="0"/>
              </a:spcBef>
              <a:spcAft>
                <a:spcPts val="0"/>
              </a:spcAft>
              <a:buClrTx/>
              <a:buSzTx/>
              <a:buFontTx/>
              <a:buNone/>
              <a:tabLst/>
              <a:defRPr/>
            </a:pPr>
            <a:r>
              <a:rPr kumimoji="1" lang="en-US" altLang="ja-JP"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rPr>
              <a:t>5.5a – Burger Fat Example:</a:t>
            </a:r>
            <a:endParaRPr kumimoji="1" lang="ja-JP" altLang="en-US"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endParaRPr>
          </a:p>
        </p:txBody>
      </p:sp>
      <p:sp>
        <p:nvSpPr>
          <p:cNvPr id="14" name="Text Placeholder 5">
            <a:extLst>
              <a:ext uri="{FF2B5EF4-FFF2-40B4-BE49-F238E27FC236}">
                <a16:creationId xmlns:a16="http://schemas.microsoft.com/office/drawing/2014/main" id="{AB91BE18-6422-025C-1A72-2B5785815ECA}"/>
              </a:ext>
            </a:extLst>
          </p:cNvPr>
          <p:cNvSpPr txBox="1">
            <a:spLocks/>
          </p:cNvSpPr>
          <p:nvPr/>
        </p:nvSpPr>
        <p:spPr>
          <a:xfrm>
            <a:off x="3011606" y="6520328"/>
            <a:ext cx="6168789" cy="30855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200" b="0" i="0"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rPr>
              <a:t>Associated code = 5.5 - Burger Fat (Three Stage Nested Design Example)</a:t>
            </a:r>
            <a:endParaRPr kumimoji="1" lang="en-US" altLang="ja-JP" sz="1200" b="1"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p:pic>
        <p:nvPicPr>
          <p:cNvPr id="3" name="Picture 2">
            <a:extLst>
              <a:ext uri="{FF2B5EF4-FFF2-40B4-BE49-F238E27FC236}">
                <a16:creationId xmlns:a16="http://schemas.microsoft.com/office/drawing/2014/main" id="{2C5DB238-9C48-8D0B-50BB-04F90B457065}"/>
              </a:ext>
            </a:extLst>
          </p:cNvPr>
          <p:cNvPicPr>
            <a:picLocks noChangeAspect="1"/>
          </p:cNvPicPr>
          <p:nvPr/>
        </p:nvPicPr>
        <p:blipFill>
          <a:blip r:embed="rId3"/>
          <a:stretch>
            <a:fillRect/>
          </a:stretch>
        </p:blipFill>
        <p:spPr>
          <a:xfrm>
            <a:off x="434929" y="1391780"/>
            <a:ext cx="8271535" cy="1788440"/>
          </a:xfrm>
          <a:prstGeom prst="rect">
            <a:avLst/>
          </a:prstGeom>
        </p:spPr>
      </p:pic>
      <p:pic>
        <p:nvPicPr>
          <p:cNvPr id="9" name="Picture 8">
            <a:extLst>
              <a:ext uri="{FF2B5EF4-FFF2-40B4-BE49-F238E27FC236}">
                <a16:creationId xmlns:a16="http://schemas.microsoft.com/office/drawing/2014/main" id="{05B69679-662E-9B38-9DCE-0A1B7A999659}"/>
              </a:ext>
            </a:extLst>
          </p:cNvPr>
          <p:cNvPicPr>
            <a:picLocks noChangeAspect="1"/>
          </p:cNvPicPr>
          <p:nvPr/>
        </p:nvPicPr>
        <p:blipFill>
          <a:blip r:embed="rId4"/>
          <a:stretch>
            <a:fillRect/>
          </a:stretch>
        </p:blipFill>
        <p:spPr>
          <a:xfrm>
            <a:off x="1126127" y="3887437"/>
            <a:ext cx="3770957" cy="902023"/>
          </a:xfrm>
          <a:prstGeom prst="rect">
            <a:avLst/>
          </a:prstGeom>
        </p:spPr>
      </p:pic>
      <p:pic>
        <p:nvPicPr>
          <p:cNvPr id="16" name="Picture 15">
            <a:extLst>
              <a:ext uri="{FF2B5EF4-FFF2-40B4-BE49-F238E27FC236}">
                <a16:creationId xmlns:a16="http://schemas.microsoft.com/office/drawing/2014/main" id="{34E9723A-E04D-4097-7F12-F37AA87CD72F}"/>
              </a:ext>
            </a:extLst>
          </p:cNvPr>
          <p:cNvPicPr>
            <a:picLocks noChangeAspect="1"/>
          </p:cNvPicPr>
          <p:nvPr/>
        </p:nvPicPr>
        <p:blipFill>
          <a:blip r:embed="rId5"/>
          <a:stretch>
            <a:fillRect/>
          </a:stretch>
        </p:blipFill>
        <p:spPr>
          <a:xfrm>
            <a:off x="434929" y="3345548"/>
            <a:ext cx="5162960" cy="445266"/>
          </a:xfrm>
          <a:prstGeom prst="rect">
            <a:avLst/>
          </a:prstGeom>
        </p:spPr>
      </p:pic>
      <p:sp>
        <p:nvSpPr>
          <p:cNvPr id="15" name="Footer Placeholder 2">
            <a:extLst>
              <a:ext uri="{FF2B5EF4-FFF2-40B4-BE49-F238E27FC236}">
                <a16:creationId xmlns:a16="http://schemas.microsoft.com/office/drawing/2014/main" id="{FB96FBBD-7190-588E-5046-1EB1D3D96485}"/>
              </a:ext>
            </a:extLst>
          </p:cNvPr>
          <p:cNvSpPr txBox="1">
            <a:spLocks/>
          </p:cNvSpPr>
          <p:nvPr/>
        </p:nvSpPr>
        <p:spPr>
          <a:xfrm>
            <a:off x="7397088" y="86139"/>
            <a:ext cx="4692278"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rPr>
              <a:t>5.5 – Computational Example 3-Stage Nested Design</a:t>
            </a:r>
            <a:endParaRPr kumimoji="1" lang="ja-JP" altLang="en-US"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endParaRPr>
          </a:p>
        </p:txBody>
      </p:sp>
    </p:spTree>
    <p:extLst>
      <p:ext uri="{BB962C8B-B14F-4D97-AF65-F5344CB8AC3E}">
        <p14:creationId xmlns:p14="http://schemas.microsoft.com/office/powerpoint/2010/main" val="161549178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Slide Number Placeholder 3">
            <a:extLst>
              <a:ext uri="{FF2B5EF4-FFF2-40B4-BE49-F238E27FC236}">
                <a16:creationId xmlns:a16="http://schemas.microsoft.com/office/drawing/2014/main" id="{B0C9041D-77F0-4656-90D4-0E84B7AC6B27}"/>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54AD89C-DF1E-4948-B597-5DD47B34A9CA}" type="slidenum">
              <a:rPr kumimoji="1" lang="ja-JP" altLang="en-US" sz="4000" b="0" i="0" u="none" strike="noStrike" kern="1200" cap="none" spc="0" normalizeH="0" baseline="0" noProof="0" smtClean="0">
                <a:ln>
                  <a:noFill/>
                </a:ln>
                <a:solidFill>
                  <a:srgbClr val="575454">
                    <a:lumMod val="20000"/>
                    <a:lumOff val="80000"/>
                  </a:srgbClr>
                </a:solidFill>
                <a:effectLst/>
                <a:uLnTx/>
                <a:uFillTx/>
                <a:latin typeface="Coo Hew"/>
                <a:ea typeface="游ゴシック" panose="020B0400000000000000"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41</a:t>
            </a:fld>
            <a:endParaRPr kumimoji="1" lang="ja-JP" altLang="en-US" sz="4000" b="0" i="0" u="none" strike="noStrike" kern="1200" cap="none" spc="0" normalizeH="0" baseline="0" noProof="0" dirty="0">
              <a:ln>
                <a:noFill/>
              </a:ln>
              <a:solidFill>
                <a:srgbClr val="575454">
                  <a:lumMod val="20000"/>
                  <a:lumOff val="80000"/>
                </a:srgbClr>
              </a:solidFill>
              <a:effectLst/>
              <a:uLnTx/>
              <a:uFillTx/>
              <a:latin typeface="Coo Hew"/>
              <a:ea typeface="游ゴシック" panose="020B0400000000000000" pitchFamily="34" charset="-128"/>
              <a:cs typeface="+mn-cs"/>
            </a:endParaRPr>
          </a:p>
        </p:txBody>
      </p:sp>
      <p:sp>
        <p:nvSpPr>
          <p:cNvPr id="12" name="Title 6">
            <a:extLst>
              <a:ext uri="{FF2B5EF4-FFF2-40B4-BE49-F238E27FC236}">
                <a16:creationId xmlns:a16="http://schemas.microsoft.com/office/drawing/2014/main" id="{E29C48A5-6C7D-116A-5690-3554252D2CFE}"/>
              </a:ext>
            </a:extLst>
          </p:cNvPr>
          <p:cNvSpPr txBox="1">
            <a:spLocks/>
          </p:cNvSpPr>
          <p:nvPr/>
        </p:nvSpPr>
        <p:spPr>
          <a:xfrm>
            <a:off x="251224" y="237833"/>
            <a:ext cx="6654543" cy="607201"/>
          </a:xfrm>
          <a:prstGeom prst="rect">
            <a:avLst/>
          </a:prstGeom>
        </p:spPr>
        <p:txBody>
          <a:bodyPr anchor="t">
            <a:normAutofit/>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pPr marL="0" marR="0" lvl="0" indent="0" algn="l" defTabSz="914324" rtl="0" eaLnBrk="1" fontAlgn="auto" latinLnBrk="0" hangingPunct="1">
              <a:lnSpc>
                <a:spcPct val="90000"/>
              </a:lnSpc>
              <a:spcBef>
                <a:spcPct val="0"/>
              </a:spcBef>
              <a:spcAft>
                <a:spcPts val="0"/>
              </a:spcAft>
              <a:buClrTx/>
              <a:buSzTx/>
              <a:buFontTx/>
              <a:buNone/>
              <a:tabLst/>
              <a:defRPr/>
            </a:pPr>
            <a:r>
              <a:rPr kumimoji="1" lang="en-US" altLang="ja-JP"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rPr>
              <a:t>5.5a – Burger Fat Example:</a:t>
            </a:r>
            <a:endParaRPr kumimoji="1" lang="ja-JP" altLang="en-US"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endParaRPr>
          </a:p>
        </p:txBody>
      </p:sp>
      <p:sp>
        <p:nvSpPr>
          <p:cNvPr id="14" name="Text Placeholder 5">
            <a:extLst>
              <a:ext uri="{FF2B5EF4-FFF2-40B4-BE49-F238E27FC236}">
                <a16:creationId xmlns:a16="http://schemas.microsoft.com/office/drawing/2014/main" id="{AB91BE18-6422-025C-1A72-2B5785815ECA}"/>
              </a:ext>
            </a:extLst>
          </p:cNvPr>
          <p:cNvSpPr txBox="1">
            <a:spLocks/>
          </p:cNvSpPr>
          <p:nvPr/>
        </p:nvSpPr>
        <p:spPr>
          <a:xfrm>
            <a:off x="3011606" y="6520328"/>
            <a:ext cx="6168789" cy="30855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200" b="0" i="0"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rPr>
              <a:t>Associated code = 5.5 - Burger Fat (Three Stage Nested Design Example)</a:t>
            </a:r>
            <a:endParaRPr kumimoji="1" lang="en-US" altLang="ja-JP" sz="1200" b="1"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p:pic>
        <p:nvPicPr>
          <p:cNvPr id="4" name="Picture 3">
            <a:extLst>
              <a:ext uri="{FF2B5EF4-FFF2-40B4-BE49-F238E27FC236}">
                <a16:creationId xmlns:a16="http://schemas.microsoft.com/office/drawing/2014/main" id="{41030AE9-5596-FF75-4EF7-DB4FCFCAA4EB}"/>
              </a:ext>
            </a:extLst>
          </p:cNvPr>
          <p:cNvPicPr>
            <a:picLocks noChangeAspect="1"/>
          </p:cNvPicPr>
          <p:nvPr/>
        </p:nvPicPr>
        <p:blipFill>
          <a:blip r:embed="rId2"/>
          <a:stretch>
            <a:fillRect/>
          </a:stretch>
        </p:blipFill>
        <p:spPr>
          <a:xfrm>
            <a:off x="350220" y="1457107"/>
            <a:ext cx="8893030" cy="504967"/>
          </a:xfrm>
          <a:prstGeom prst="rect">
            <a:avLst/>
          </a:prstGeom>
        </p:spPr>
      </p:pic>
      <p:pic>
        <p:nvPicPr>
          <p:cNvPr id="7" name="Picture 6">
            <a:extLst>
              <a:ext uri="{FF2B5EF4-FFF2-40B4-BE49-F238E27FC236}">
                <a16:creationId xmlns:a16="http://schemas.microsoft.com/office/drawing/2014/main" id="{2A0ABD35-621C-3A82-F3AC-59EC15A7FA44}"/>
              </a:ext>
            </a:extLst>
          </p:cNvPr>
          <p:cNvPicPr>
            <a:picLocks noChangeAspect="1"/>
          </p:cNvPicPr>
          <p:nvPr/>
        </p:nvPicPr>
        <p:blipFill>
          <a:blip r:embed="rId3"/>
          <a:stretch>
            <a:fillRect/>
          </a:stretch>
        </p:blipFill>
        <p:spPr>
          <a:xfrm>
            <a:off x="674285" y="2203960"/>
            <a:ext cx="5854318" cy="860113"/>
          </a:xfrm>
          <a:prstGeom prst="rect">
            <a:avLst/>
          </a:prstGeom>
        </p:spPr>
      </p:pic>
      <p:sp>
        <p:nvSpPr>
          <p:cNvPr id="17" name="Text Placeholder 5">
            <a:extLst>
              <a:ext uri="{FF2B5EF4-FFF2-40B4-BE49-F238E27FC236}">
                <a16:creationId xmlns:a16="http://schemas.microsoft.com/office/drawing/2014/main" id="{55F0FD2D-341B-1F60-0CAB-A232FF307F6A}"/>
              </a:ext>
            </a:extLst>
          </p:cNvPr>
          <p:cNvSpPr txBox="1">
            <a:spLocks/>
          </p:cNvSpPr>
          <p:nvPr/>
        </p:nvSpPr>
        <p:spPr>
          <a:xfrm>
            <a:off x="430834" y="3525067"/>
            <a:ext cx="10064294" cy="187582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285750" indent="-285750">
              <a:lnSpc>
                <a:spcPct val="100000"/>
              </a:lnSpc>
              <a:buFont typeface="Symbol" panose="05050102010706020507" pitchFamily="18" charset="2"/>
              <a:buChar char="Þ"/>
            </a:pPr>
            <a:r>
              <a:rPr lang="en-NZ" altLang="ja-JP" sz="1800" dirty="0">
                <a:solidFill>
                  <a:srgbClr val="0070C0"/>
                </a:solidFill>
              </a:rPr>
              <a:t>F-value = 0.16176,  p-value = 0.7081.</a:t>
            </a:r>
            <a:br>
              <a:rPr lang="en-NZ" altLang="ja-JP" sz="1800" dirty="0">
                <a:solidFill>
                  <a:srgbClr val="0070C0"/>
                </a:solidFill>
              </a:rPr>
            </a:br>
            <a:r>
              <a:rPr lang="en-NZ" altLang="ja-JP" sz="1800" dirty="0">
                <a:solidFill>
                  <a:srgbClr val="0070C0"/>
                </a:solidFill>
              </a:rPr>
              <a:t>No evidence against the null hypothesis</a:t>
            </a:r>
            <a:br>
              <a:rPr lang="en-NZ" altLang="ja-JP" sz="1800" dirty="0">
                <a:solidFill>
                  <a:srgbClr val="0070C0"/>
                </a:solidFill>
              </a:rPr>
            </a:br>
            <a:r>
              <a:rPr lang="en-NZ" altLang="ja-JP" sz="1800" dirty="0">
                <a:solidFill>
                  <a:srgbClr val="0070C0"/>
                </a:solidFill>
              </a:rPr>
              <a:t>No evidence that fat content differs between region</a:t>
            </a:r>
          </a:p>
          <a:p>
            <a:pPr marL="285750" indent="-285750">
              <a:lnSpc>
                <a:spcPct val="100000"/>
              </a:lnSpc>
              <a:buFont typeface="Symbol" panose="05050102010706020507" pitchFamily="18" charset="2"/>
              <a:buChar char="Þ"/>
            </a:pPr>
            <a:endParaRPr lang="en-NZ" altLang="ja-JP" sz="1800" dirty="0">
              <a:solidFill>
                <a:srgbClr val="0070C0"/>
              </a:solidFill>
            </a:endParaRPr>
          </a:p>
          <a:p>
            <a:pPr marL="285750" indent="-285750">
              <a:lnSpc>
                <a:spcPct val="100000"/>
              </a:lnSpc>
              <a:buFont typeface="Symbol" panose="05050102010706020507" pitchFamily="18" charset="2"/>
              <a:buChar char="Þ"/>
            </a:pPr>
            <a:r>
              <a:rPr lang="en-NZ" altLang="ja-JP" sz="1800" dirty="0" err="1">
                <a:solidFill>
                  <a:srgbClr val="0070C0"/>
                </a:solidFill>
              </a:rPr>
              <a:t>lme</a:t>
            </a:r>
            <a:r>
              <a:rPr lang="en-NZ" altLang="ja-JP" sz="1800" dirty="0">
                <a:solidFill>
                  <a:srgbClr val="0070C0"/>
                </a:solidFill>
              </a:rPr>
              <a:t>() creates an ANOVA table for the fixed effect factor only.</a:t>
            </a:r>
            <a:br>
              <a:rPr lang="en-NZ" altLang="ja-JP" sz="1800" dirty="0">
                <a:solidFill>
                  <a:srgbClr val="0070C0"/>
                </a:solidFill>
              </a:rPr>
            </a:br>
            <a:r>
              <a:rPr lang="en-NZ" altLang="ja-JP" sz="1800" dirty="0">
                <a:solidFill>
                  <a:srgbClr val="0070C0"/>
                </a:solidFill>
              </a:rPr>
              <a:t>Variation due to random effects can be calculated using variance components (see next slide).</a:t>
            </a:r>
          </a:p>
        </p:txBody>
      </p:sp>
      <p:sp>
        <p:nvSpPr>
          <p:cNvPr id="18" name="Oval 17">
            <a:extLst>
              <a:ext uri="{FF2B5EF4-FFF2-40B4-BE49-F238E27FC236}">
                <a16:creationId xmlns:a16="http://schemas.microsoft.com/office/drawing/2014/main" id="{E1151897-3020-7A79-7F80-B96E96AAD6E8}"/>
              </a:ext>
            </a:extLst>
          </p:cNvPr>
          <p:cNvSpPr/>
          <p:nvPr/>
        </p:nvSpPr>
        <p:spPr>
          <a:xfrm>
            <a:off x="3297394" y="2820127"/>
            <a:ext cx="2066176" cy="221692"/>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11" name="Footer Placeholder 2">
            <a:extLst>
              <a:ext uri="{FF2B5EF4-FFF2-40B4-BE49-F238E27FC236}">
                <a16:creationId xmlns:a16="http://schemas.microsoft.com/office/drawing/2014/main" id="{527EB9CA-01E2-AA3E-2BB8-567051479362}"/>
              </a:ext>
            </a:extLst>
          </p:cNvPr>
          <p:cNvSpPr txBox="1">
            <a:spLocks/>
          </p:cNvSpPr>
          <p:nvPr/>
        </p:nvSpPr>
        <p:spPr>
          <a:xfrm>
            <a:off x="7397088" y="86139"/>
            <a:ext cx="4692278"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rPr>
              <a:t>5.5 – Computational Example 3-Stage Nested Design</a:t>
            </a:r>
            <a:endParaRPr kumimoji="1" lang="ja-JP" altLang="en-US"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endParaRPr>
          </a:p>
        </p:txBody>
      </p:sp>
      <p:sp>
        <p:nvSpPr>
          <p:cNvPr id="2" name="Text Placeholder 5">
            <a:extLst>
              <a:ext uri="{FF2B5EF4-FFF2-40B4-BE49-F238E27FC236}">
                <a16:creationId xmlns:a16="http://schemas.microsoft.com/office/drawing/2014/main" id="{D3D5608D-2F6F-8A78-640F-626B68C4BA2C}"/>
              </a:ext>
            </a:extLst>
          </p:cNvPr>
          <p:cNvSpPr txBox="1">
            <a:spLocks/>
          </p:cNvSpPr>
          <p:nvPr/>
        </p:nvSpPr>
        <p:spPr>
          <a:xfrm>
            <a:off x="350220" y="996113"/>
            <a:ext cx="5894348" cy="42608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1800" b="1" dirty="0">
                <a:solidFill>
                  <a:schemeClr val="tx1"/>
                </a:solidFill>
              </a:rPr>
              <a:t>Test of Factor A effects using the </a:t>
            </a:r>
            <a:r>
              <a:rPr lang="en-NZ" altLang="ja-JP" sz="1800" b="1" dirty="0" err="1">
                <a:solidFill>
                  <a:schemeClr val="tx1"/>
                </a:solidFill>
              </a:rPr>
              <a:t>nlme</a:t>
            </a:r>
            <a:r>
              <a:rPr lang="en-NZ" altLang="ja-JP" sz="1800" b="1" dirty="0">
                <a:solidFill>
                  <a:schemeClr val="tx1"/>
                </a:solidFill>
              </a:rPr>
              <a:t> package </a:t>
            </a:r>
            <a:r>
              <a:rPr lang="en-NZ" altLang="ja-JP" sz="1800" dirty="0">
                <a:solidFill>
                  <a:srgbClr val="00B050"/>
                </a:solidFill>
                <a:sym typeface="Wingdings" panose="05000000000000000000" pitchFamily="2" charset="2"/>
              </a:rPr>
              <a:t></a:t>
            </a:r>
            <a:endParaRPr lang="en-NZ" altLang="ja-JP" sz="1800" b="1" dirty="0">
              <a:solidFill>
                <a:srgbClr val="0070C0"/>
              </a:solidFill>
            </a:endParaRPr>
          </a:p>
        </p:txBody>
      </p:sp>
    </p:spTree>
    <p:extLst>
      <p:ext uri="{BB962C8B-B14F-4D97-AF65-F5344CB8AC3E}">
        <p14:creationId xmlns:p14="http://schemas.microsoft.com/office/powerpoint/2010/main" val="21091537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18"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Slide Number Placeholder 3">
            <a:extLst>
              <a:ext uri="{FF2B5EF4-FFF2-40B4-BE49-F238E27FC236}">
                <a16:creationId xmlns:a16="http://schemas.microsoft.com/office/drawing/2014/main" id="{B0C9041D-77F0-4656-90D4-0E84B7AC6B27}"/>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54AD89C-DF1E-4948-B597-5DD47B34A9CA}" type="slidenum">
              <a:rPr kumimoji="1" lang="ja-JP" altLang="en-US" sz="4000" b="0" i="0" u="none" strike="noStrike" kern="1200" cap="none" spc="0" normalizeH="0" baseline="0" noProof="0" smtClean="0">
                <a:ln>
                  <a:noFill/>
                </a:ln>
                <a:solidFill>
                  <a:srgbClr val="575454">
                    <a:lumMod val="20000"/>
                    <a:lumOff val="80000"/>
                  </a:srgbClr>
                </a:solidFill>
                <a:effectLst/>
                <a:uLnTx/>
                <a:uFillTx/>
                <a:latin typeface="Coo Hew"/>
                <a:ea typeface="游ゴシック" panose="020B0400000000000000"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42</a:t>
            </a:fld>
            <a:endParaRPr kumimoji="1" lang="ja-JP" altLang="en-US" sz="4000" b="0" i="0" u="none" strike="noStrike" kern="1200" cap="none" spc="0" normalizeH="0" baseline="0" noProof="0" dirty="0">
              <a:ln>
                <a:noFill/>
              </a:ln>
              <a:solidFill>
                <a:srgbClr val="575454">
                  <a:lumMod val="20000"/>
                  <a:lumOff val="80000"/>
                </a:srgbClr>
              </a:solidFill>
              <a:effectLst/>
              <a:uLnTx/>
              <a:uFillTx/>
              <a:latin typeface="Coo Hew"/>
              <a:ea typeface="游ゴシック" panose="020B0400000000000000" pitchFamily="34" charset="-128"/>
              <a:cs typeface="+mn-cs"/>
            </a:endParaRPr>
          </a:p>
        </p:txBody>
      </p:sp>
      <p:sp>
        <p:nvSpPr>
          <p:cNvPr id="12" name="Title 6">
            <a:extLst>
              <a:ext uri="{FF2B5EF4-FFF2-40B4-BE49-F238E27FC236}">
                <a16:creationId xmlns:a16="http://schemas.microsoft.com/office/drawing/2014/main" id="{E29C48A5-6C7D-116A-5690-3554252D2CFE}"/>
              </a:ext>
            </a:extLst>
          </p:cNvPr>
          <p:cNvSpPr txBox="1">
            <a:spLocks/>
          </p:cNvSpPr>
          <p:nvPr/>
        </p:nvSpPr>
        <p:spPr>
          <a:xfrm>
            <a:off x="251224" y="237833"/>
            <a:ext cx="6654543" cy="607201"/>
          </a:xfrm>
          <a:prstGeom prst="rect">
            <a:avLst/>
          </a:prstGeom>
        </p:spPr>
        <p:txBody>
          <a:bodyPr anchor="t">
            <a:normAutofit/>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pPr marL="0" marR="0" lvl="0" indent="0" algn="l" defTabSz="914324" rtl="0" eaLnBrk="1" fontAlgn="auto" latinLnBrk="0" hangingPunct="1">
              <a:lnSpc>
                <a:spcPct val="90000"/>
              </a:lnSpc>
              <a:spcBef>
                <a:spcPct val="0"/>
              </a:spcBef>
              <a:spcAft>
                <a:spcPts val="0"/>
              </a:spcAft>
              <a:buClrTx/>
              <a:buSzTx/>
              <a:buFontTx/>
              <a:buNone/>
              <a:tabLst/>
              <a:defRPr/>
            </a:pPr>
            <a:r>
              <a:rPr kumimoji="1" lang="en-US" altLang="ja-JP"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rPr>
              <a:t>5.5a – Burger Fat Example:</a:t>
            </a:r>
            <a:endParaRPr kumimoji="1" lang="ja-JP" altLang="en-US"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endParaRPr>
          </a:p>
        </p:txBody>
      </p:sp>
      <p:sp>
        <p:nvSpPr>
          <p:cNvPr id="14" name="Text Placeholder 5">
            <a:extLst>
              <a:ext uri="{FF2B5EF4-FFF2-40B4-BE49-F238E27FC236}">
                <a16:creationId xmlns:a16="http://schemas.microsoft.com/office/drawing/2014/main" id="{AB91BE18-6422-025C-1A72-2B5785815ECA}"/>
              </a:ext>
            </a:extLst>
          </p:cNvPr>
          <p:cNvSpPr txBox="1">
            <a:spLocks/>
          </p:cNvSpPr>
          <p:nvPr/>
        </p:nvSpPr>
        <p:spPr>
          <a:xfrm>
            <a:off x="3011606" y="6520328"/>
            <a:ext cx="6168789" cy="30855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200" b="0" i="0"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rPr>
              <a:t>Associated code = 5.5 - Burger Fat (Three Stage Nested Design Example)</a:t>
            </a:r>
            <a:endParaRPr kumimoji="1" lang="en-US" altLang="ja-JP" sz="1200" b="1"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p:pic>
        <p:nvPicPr>
          <p:cNvPr id="3" name="Picture 2">
            <a:extLst>
              <a:ext uri="{FF2B5EF4-FFF2-40B4-BE49-F238E27FC236}">
                <a16:creationId xmlns:a16="http://schemas.microsoft.com/office/drawing/2014/main" id="{A9CB5864-FB1A-4486-1C77-A7D4AA818E44}"/>
              </a:ext>
            </a:extLst>
          </p:cNvPr>
          <p:cNvPicPr>
            <a:picLocks noChangeAspect="1"/>
          </p:cNvPicPr>
          <p:nvPr/>
        </p:nvPicPr>
        <p:blipFill>
          <a:blip r:embed="rId2"/>
          <a:stretch>
            <a:fillRect/>
          </a:stretch>
        </p:blipFill>
        <p:spPr>
          <a:xfrm>
            <a:off x="844819" y="1445491"/>
            <a:ext cx="6060947" cy="4920560"/>
          </a:xfrm>
          <a:prstGeom prst="rect">
            <a:avLst/>
          </a:prstGeom>
        </p:spPr>
      </p:pic>
      <mc:AlternateContent xmlns:mc="http://schemas.openxmlformats.org/markup-compatibility/2006" xmlns:a14="http://schemas.microsoft.com/office/drawing/2010/main">
        <mc:Choice Requires="a14">
          <p:sp>
            <p:nvSpPr>
              <p:cNvPr id="15" name="Text Placeholder 5">
                <a:extLst>
                  <a:ext uri="{FF2B5EF4-FFF2-40B4-BE49-F238E27FC236}">
                    <a16:creationId xmlns:a16="http://schemas.microsoft.com/office/drawing/2014/main" id="{E891F096-28BF-12CF-B103-5297AB196006}"/>
                  </a:ext>
                </a:extLst>
              </p:cNvPr>
              <p:cNvSpPr txBox="1">
                <a:spLocks/>
              </p:cNvSpPr>
              <p:nvPr/>
            </p:nvSpPr>
            <p:spPr>
              <a:xfrm>
                <a:off x="7213420" y="717429"/>
                <a:ext cx="4559479" cy="6054432"/>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285750" indent="-285750">
                  <a:lnSpc>
                    <a:spcPct val="100000"/>
                  </a:lnSpc>
                  <a:buFont typeface="Arial" panose="020B0604020202020204" pitchFamily="34" charset="0"/>
                  <a:buChar char="•"/>
                </a:pPr>
                <a14:m>
                  <m:oMath xmlns:m="http://schemas.openxmlformats.org/officeDocument/2006/math">
                    <m:sSubSup>
                      <m:sSubSupPr>
                        <m:ctrlPr>
                          <a:rPr lang="en-NZ" altLang="ja-JP" sz="1600" i="1" smtClean="0">
                            <a:solidFill>
                              <a:srgbClr val="0070C0"/>
                            </a:solidFill>
                            <a:latin typeface="Cambria Math" panose="02040503050406030204" pitchFamily="18" charset="0"/>
                          </a:rPr>
                        </m:ctrlPr>
                      </m:sSubSupPr>
                      <m:e>
                        <m:acc>
                          <m:accPr>
                            <m:chr m:val="̂"/>
                            <m:ctrlPr>
                              <a:rPr lang="en-NZ" altLang="ja-JP" sz="1600" i="1">
                                <a:solidFill>
                                  <a:srgbClr val="0070C0"/>
                                </a:solidFill>
                                <a:latin typeface="Cambria Math" panose="02040503050406030204" pitchFamily="18" charset="0"/>
                              </a:rPr>
                            </m:ctrlPr>
                          </m:accPr>
                          <m:e>
                            <m:r>
                              <a:rPr lang="en-NZ" altLang="ja-JP" sz="1600" i="1">
                                <a:solidFill>
                                  <a:srgbClr val="0070C0"/>
                                </a:solidFill>
                                <a:latin typeface="Cambria Math" panose="02040503050406030204" pitchFamily="18" charset="0"/>
                              </a:rPr>
                              <m:t>𝜎</m:t>
                            </m:r>
                          </m:e>
                        </m:acc>
                      </m:e>
                      <m:sub>
                        <m:r>
                          <a:rPr lang="en-NZ" altLang="ja-JP" sz="1600" b="0" i="1" smtClean="0">
                            <a:solidFill>
                              <a:srgbClr val="0070C0"/>
                            </a:solidFill>
                            <a:latin typeface="Cambria Math" panose="02040503050406030204" pitchFamily="18" charset="0"/>
                          </a:rPr>
                          <m:t>𝐵</m:t>
                        </m:r>
                      </m:sub>
                      <m:sup>
                        <m:r>
                          <a:rPr lang="en-NZ" altLang="ja-JP" sz="1600" i="1">
                            <a:solidFill>
                              <a:srgbClr val="0070C0"/>
                            </a:solidFill>
                            <a:latin typeface="Cambria Math" panose="02040503050406030204" pitchFamily="18" charset="0"/>
                          </a:rPr>
                          <m:t>2</m:t>
                        </m:r>
                      </m:sup>
                    </m:sSubSup>
                    <m:r>
                      <a:rPr lang="en-NZ" altLang="ja-JP" sz="1600" b="0" i="1" smtClean="0">
                        <a:solidFill>
                          <a:srgbClr val="0070C0"/>
                        </a:solidFill>
                        <a:latin typeface="Cambria Math" panose="02040503050406030204" pitchFamily="18" charset="0"/>
                      </a:rPr>
                      <m:t>=  </m:t>
                    </m:r>
                    <m:sSup>
                      <m:sSupPr>
                        <m:ctrlPr>
                          <a:rPr lang="en-NZ" altLang="ja-JP" sz="1600" b="0" i="1" smtClean="0">
                            <a:solidFill>
                              <a:srgbClr val="0070C0"/>
                            </a:solidFill>
                            <a:latin typeface="Cambria Math" panose="02040503050406030204" pitchFamily="18" charset="0"/>
                          </a:rPr>
                        </m:ctrlPr>
                      </m:sSupPr>
                      <m:e>
                        <m:r>
                          <a:rPr lang="en-NZ" altLang="ja-JP" sz="1600" b="0" i="1" smtClean="0">
                            <a:solidFill>
                              <a:srgbClr val="0070C0"/>
                            </a:solidFill>
                            <a:latin typeface="Cambria Math" panose="02040503050406030204" pitchFamily="18" charset="0"/>
                          </a:rPr>
                          <m:t>1.944218</m:t>
                        </m:r>
                      </m:e>
                      <m:sup>
                        <m:r>
                          <a:rPr lang="en-NZ" altLang="ja-JP" sz="1600" b="0" i="1" smtClean="0">
                            <a:solidFill>
                              <a:srgbClr val="0070C0"/>
                            </a:solidFill>
                            <a:latin typeface="Cambria Math" panose="02040503050406030204" pitchFamily="18" charset="0"/>
                          </a:rPr>
                          <m:t>2</m:t>
                        </m:r>
                      </m:sup>
                    </m:sSup>
                    <m:r>
                      <a:rPr lang="en-NZ" altLang="ja-JP" sz="1600" b="0" i="1" smtClean="0">
                        <a:solidFill>
                          <a:srgbClr val="0070C0"/>
                        </a:solidFill>
                        <a:latin typeface="Cambria Math" panose="02040503050406030204" pitchFamily="18" charset="0"/>
                      </a:rPr>
                      <m:t>=3.7800</m:t>
                    </m:r>
                  </m:oMath>
                </a14:m>
                <a:endParaRPr lang="en-NZ" altLang="ja-JP" sz="1600" b="0" i="1" dirty="0">
                  <a:solidFill>
                    <a:srgbClr val="0070C0"/>
                  </a:solidFill>
                  <a:latin typeface="Cambria Math" panose="02040503050406030204" pitchFamily="18" charset="0"/>
                </a:endParaRPr>
              </a:p>
              <a:p>
                <a:pPr marL="285750" indent="-285750">
                  <a:lnSpc>
                    <a:spcPct val="100000"/>
                  </a:lnSpc>
                  <a:buFont typeface="Arial" panose="020B0604020202020204" pitchFamily="34" charset="0"/>
                  <a:buChar char="•"/>
                </a:pPr>
                <a:endParaRPr lang="en-NZ" altLang="ja-JP" sz="1600" i="1" dirty="0">
                  <a:solidFill>
                    <a:srgbClr val="0070C0"/>
                  </a:solidFill>
                  <a:latin typeface="Cambria Math" panose="02040503050406030204" pitchFamily="18" charset="0"/>
                </a:endParaRPr>
              </a:p>
              <a:p>
                <a:pPr marL="285750" indent="-285750">
                  <a:lnSpc>
                    <a:spcPct val="100000"/>
                  </a:lnSpc>
                  <a:buFont typeface="Arial" panose="020B0604020202020204" pitchFamily="34" charset="0"/>
                  <a:buChar char="•"/>
                </a:pPr>
                <a:endParaRPr lang="en-NZ" altLang="ja-JP" sz="1600" i="1" dirty="0">
                  <a:solidFill>
                    <a:srgbClr val="0070C0"/>
                  </a:solidFill>
                  <a:latin typeface="Cambria Math" panose="02040503050406030204" pitchFamily="18" charset="0"/>
                </a:endParaRPr>
              </a:p>
              <a:p>
                <a:pPr marL="285750" indent="-285750">
                  <a:lnSpc>
                    <a:spcPct val="100000"/>
                  </a:lnSpc>
                  <a:buFont typeface="Arial" panose="020B0604020202020204" pitchFamily="34" charset="0"/>
                  <a:buChar char="•"/>
                </a:pPr>
                <a14:m>
                  <m:oMath xmlns:m="http://schemas.openxmlformats.org/officeDocument/2006/math">
                    <m:sSubSup>
                      <m:sSubSupPr>
                        <m:ctrlPr>
                          <a:rPr lang="en-NZ" altLang="ja-JP" sz="1600" b="0" i="1" smtClean="0">
                            <a:solidFill>
                              <a:srgbClr val="0070C0"/>
                            </a:solidFill>
                            <a:latin typeface="Cambria Math" panose="02040503050406030204" pitchFamily="18" charset="0"/>
                          </a:rPr>
                        </m:ctrlPr>
                      </m:sSubSupPr>
                      <m:e>
                        <m:acc>
                          <m:accPr>
                            <m:chr m:val="̂"/>
                            <m:ctrlPr>
                              <a:rPr lang="en-NZ" altLang="ja-JP" sz="1600" b="0" i="1" smtClean="0">
                                <a:solidFill>
                                  <a:srgbClr val="0070C0"/>
                                </a:solidFill>
                                <a:latin typeface="Cambria Math" panose="02040503050406030204" pitchFamily="18" charset="0"/>
                              </a:rPr>
                            </m:ctrlPr>
                          </m:accPr>
                          <m:e>
                            <m:r>
                              <a:rPr lang="en-NZ" altLang="ja-JP" sz="1600" b="0" i="1" smtClean="0">
                                <a:solidFill>
                                  <a:srgbClr val="0070C0"/>
                                </a:solidFill>
                                <a:latin typeface="Cambria Math" panose="02040503050406030204" pitchFamily="18" charset="0"/>
                              </a:rPr>
                              <m:t>𝜎</m:t>
                            </m:r>
                          </m:e>
                        </m:acc>
                      </m:e>
                      <m:sub>
                        <m:r>
                          <a:rPr lang="en-NZ" altLang="ja-JP" sz="1600" b="0" i="1" smtClean="0">
                            <a:solidFill>
                              <a:srgbClr val="0070C0"/>
                            </a:solidFill>
                            <a:latin typeface="Cambria Math" panose="02040503050406030204" pitchFamily="18" charset="0"/>
                          </a:rPr>
                          <m:t>𝐶</m:t>
                        </m:r>
                      </m:sub>
                      <m:sup>
                        <m:r>
                          <a:rPr lang="en-NZ" altLang="ja-JP" sz="1600" b="0" i="1" smtClean="0">
                            <a:solidFill>
                              <a:srgbClr val="0070C0"/>
                            </a:solidFill>
                            <a:latin typeface="Cambria Math" panose="02040503050406030204" pitchFamily="18" charset="0"/>
                          </a:rPr>
                          <m:t>2</m:t>
                        </m:r>
                      </m:sup>
                    </m:sSubSup>
                    <m:r>
                      <a:rPr lang="en-NZ" altLang="ja-JP" sz="1600" b="0" i="1" smtClean="0">
                        <a:solidFill>
                          <a:srgbClr val="0070C0"/>
                        </a:solidFill>
                        <a:latin typeface="Cambria Math" panose="02040503050406030204" pitchFamily="18" charset="0"/>
                      </a:rPr>
                      <m:t>=  </m:t>
                    </m:r>
                    <m:sSup>
                      <m:sSupPr>
                        <m:ctrlPr>
                          <a:rPr lang="en-NZ" altLang="ja-JP" sz="1600" b="0" i="1" smtClean="0">
                            <a:solidFill>
                              <a:srgbClr val="0070C0"/>
                            </a:solidFill>
                            <a:latin typeface="Cambria Math" panose="02040503050406030204" pitchFamily="18" charset="0"/>
                          </a:rPr>
                        </m:ctrlPr>
                      </m:sSupPr>
                      <m:e>
                        <m:r>
                          <a:rPr lang="en-NZ" altLang="ja-JP" sz="1600" b="0" i="1" smtClean="0">
                            <a:solidFill>
                              <a:srgbClr val="0070C0"/>
                            </a:solidFill>
                            <a:latin typeface="Cambria Math" panose="02040503050406030204" pitchFamily="18" charset="0"/>
                          </a:rPr>
                          <m:t>1.198628</m:t>
                        </m:r>
                      </m:e>
                      <m:sup>
                        <m:r>
                          <a:rPr lang="en-NZ" altLang="ja-JP" sz="1600" b="0" i="1" smtClean="0">
                            <a:solidFill>
                              <a:srgbClr val="0070C0"/>
                            </a:solidFill>
                            <a:latin typeface="Cambria Math" panose="02040503050406030204" pitchFamily="18" charset="0"/>
                          </a:rPr>
                          <m:t>2</m:t>
                        </m:r>
                      </m:sup>
                    </m:sSup>
                    <m:r>
                      <a:rPr lang="en-NZ" altLang="ja-JP" sz="1600" b="0" i="1" smtClean="0">
                        <a:solidFill>
                          <a:srgbClr val="0070C0"/>
                        </a:solidFill>
                        <a:latin typeface="Cambria Math" panose="02040503050406030204" pitchFamily="18" charset="0"/>
                      </a:rPr>
                      <m:t>=1.4367</m:t>
                    </m:r>
                  </m:oMath>
                </a14:m>
                <a:endParaRPr lang="en-NZ" altLang="ja-JP" sz="1600" b="0" i="1" dirty="0">
                  <a:solidFill>
                    <a:srgbClr val="0070C0"/>
                  </a:solidFill>
                  <a:latin typeface="Cambria Math" panose="02040503050406030204" pitchFamily="18" charset="0"/>
                </a:endParaRPr>
              </a:p>
              <a:p>
                <a:pPr marL="285750" indent="-285750">
                  <a:lnSpc>
                    <a:spcPct val="100000"/>
                  </a:lnSpc>
                  <a:buFont typeface="Arial" panose="020B0604020202020204" pitchFamily="34" charset="0"/>
                  <a:buChar char="•"/>
                </a:pPr>
                <a:endParaRPr lang="en-NZ" altLang="ja-JP" sz="1600" b="0" i="1" dirty="0">
                  <a:solidFill>
                    <a:srgbClr val="0070C0"/>
                  </a:solidFill>
                  <a:latin typeface="Cambria Math" panose="02040503050406030204" pitchFamily="18" charset="0"/>
                </a:endParaRPr>
              </a:p>
              <a:p>
                <a:pPr marL="285750" indent="-285750">
                  <a:lnSpc>
                    <a:spcPct val="100000"/>
                  </a:lnSpc>
                  <a:buFont typeface="Arial" panose="020B0604020202020204" pitchFamily="34" charset="0"/>
                  <a:buChar char="•"/>
                </a:pPr>
                <a:endParaRPr lang="en-NZ" altLang="ja-JP" sz="1600" i="1" dirty="0">
                  <a:solidFill>
                    <a:srgbClr val="0070C0"/>
                  </a:solidFill>
                  <a:latin typeface="Cambria Math" panose="02040503050406030204" pitchFamily="18" charset="0"/>
                </a:endParaRPr>
              </a:p>
              <a:p>
                <a:pPr marL="285750" indent="-285750">
                  <a:lnSpc>
                    <a:spcPct val="100000"/>
                  </a:lnSpc>
                  <a:buFont typeface="Arial" panose="020B0604020202020204" pitchFamily="34" charset="0"/>
                  <a:buChar char="•"/>
                </a:pPr>
                <a14:m>
                  <m:oMath xmlns:m="http://schemas.openxmlformats.org/officeDocument/2006/math">
                    <m:sSup>
                      <m:sSupPr>
                        <m:ctrlPr>
                          <a:rPr lang="en-NZ" altLang="ja-JP" sz="1600" b="0" i="1" smtClean="0">
                            <a:solidFill>
                              <a:srgbClr val="0070C0"/>
                            </a:solidFill>
                            <a:latin typeface="Cambria Math" panose="02040503050406030204" pitchFamily="18" charset="0"/>
                          </a:rPr>
                        </m:ctrlPr>
                      </m:sSupPr>
                      <m:e>
                        <m:acc>
                          <m:accPr>
                            <m:chr m:val="̂"/>
                            <m:ctrlPr>
                              <a:rPr lang="en-NZ" altLang="ja-JP" sz="1600" b="0" i="1" smtClean="0">
                                <a:solidFill>
                                  <a:srgbClr val="0070C0"/>
                                </a:solidFill>
                                <a:latin typeface="Cambria Math" panose="02040503050406030204" pitchFamily="18" charset="0"/>
                              </a:rPr>
                            </m:ctrlPr>
                          </m:accPr>
                          <m:e>
                            <m:r>
                              <a:rPr lang="en-NZ" altLang="ja-JP" sz="1600" b="0" i="1" smtClean="0">
                                <a:solidFill>
                                  <a:srgbClr val="0070C0"/>
                                </a:solidFill>
                                <a:latin typeface="Cambria Math" panose="02040503050406030204" pitchFamily="18" charset="0"/>
                              </a:rPr>
                              <m:t>𝜎</m:t>
                            </m:r>
                          </m:e>
                        </m:acc>
                      </m:e>
                      <m:sup>
                        <m:r>
                          <a:rPr lang="en-NZ" altLang="ja-JP" sz="1600" b="0" i="1" smtClean="0">
                            <a:solidFill>
                              <a:srgbClr val="0070C0"/>
                            </a:solidFill>
                            <a:latin typeface="Cambria Math" panose="02040503050406030204" pitchFamily="18" charset="0"/>
                          </a:rPr>
                          <m:t>2</m:t>
                        </m:r>
                      </m:sup>
                    </m:sSup>
                    <m:r>
                      <a:rPr lang="en-NZ" altLang="ja-JP" sz="1600" b="0" i="1" smtClean="0">
                        <a:solidFill>
                          <a:srgbClr val="0070C0"/>
                        </a:solidFill>
                        <a:latin typeface="Cambria Math" panose="02040503050406030204" pitchFamily="18" charset="0"/>
                      </a:rPr>
                      <m:t>= </m:t>
                    </m:r>
                    <m:sSup>
                      <m:sSupPr>
                        <m:ctrlPr>
                          <a:rPr lang="en-NZ" altLang="ja-JP" sz="1600" b="0" i="1" smtClean="0">
                            <a:solidFill>
                              <a:srgbClr val="0070C0"/>
                            </a:solidFill>
                            <a:latin typeface="Cambria Math" panose="02040503050406030204" pitchFamily="18" charset="0"/>
                          </a:rPr>
                        </m:ctrlPr>
                      </m:sSupPr>
                      <m:e>
                        <m:r>
                          <a:rPr lang="en-NZ" altLang="ja-JP" sz="1600" b="0" i="1" smtClean="0">
                            <a:solidFill>
                              <a:srgbClr val="0070C0"/>
                            </a:solidFill>
                            <a:latin typeface="Cambria Math" panose="02040503050406030204" pitchFamily="18" charset="0"/>
                          </a:rPr>
                          <m:t>1.458688</m:t>
                        </m:r>
                      </m:e>
                      <m:sup>
                        <m:r>
                          <a:rPr lang="en-NZ" altLang="ja-JP" sz="1600" b="0" i="1" smtClean="0">
                            <a:solidFill>
                              <a:srgbClr val="0070C0"/>
                            </a:solidFill>
                            <a:latin typeface="Cambria Math" panose="02040503050406030204" pitchFamily="18" charset="0"/>
                          </a:rPr>
                          <m:t>2</m:t>
                        </m:r>
                      </m:sup>
                    </m:sSup>
                    <m:r>
                      <a:rPr lang="en-NZ" altLang="ja-JP" sz="1600" b="0" i="1" smtClean="0">
                        <a:solidFill>
                          <a:srgbClr val="0070C0"/>
                        </a:solidFill>
                        <a:latin typeface="Cambria Math" panose="02040503050406030204" pitchFamily="18" charset="0"/>
                      </a:rPr>
                      <m:t> =2.1278</m:t>
                    </m:r>
                  </m:oMath>
                </a14:m>
                <a:endParaRPr lang="en-NZ" altLang="ja-JP" sz="1600" b="0" dirty="0">
                  <a:solidFill>
                    <a:srgbClr val="0070C0"/>
                  </a:solidFill>
                </a:endParaRPr>
              </a:p>
              <a:p>
                <a:pPr marL="285750" indent="-285750">
                  <a:lnSpc>
                    <a:spcPct val="100000"/>
                  </a:lnSpc>
                  <a:buFont typeface="Arial" panose="020B0604020202020204" pitchFamily="34" charset="0"/>
                  <a:buChar char="•"/>
                </a:pPr>
                <a:endParaRPr lang="en-NZ" altLang="ja-JP" sz="1600" dirty="0">
                  <a:solidFill>
                    <a:srgbClr val="0070C0"/>
                  </a:solidFill>
                </a:endParaRPr>
              </a:p>
              <a:p>
                <a:pPr marL="285750" indent="-285750">
                  <a:lnSpc>
                    <a:spcPct val="100000"/>
                  </a:lnSpc>
                  <a:buFont typeface="Arial" panose="020B0604020202020204" pitchFamily="34" charset="0"/>
                  <a:buChar char="•"/>
                </a:pPr>
                <a:endParaRPr lang="en-NZ" altLang="ja-JP" sz="1600" dirty="0">
                  <a:solidFill>
                    <a:srgbClr val="0070C0"/>
                  </a:solidFill>
                </a:endParaRPr>
              </a:p>
              <a:p>
                <a:pPr marL="285750" indent="-285750">
                  <a:lnSpc>
                    <a:spcPct val="100000"/>
                  </a:lnSpc>
                  <a:buFont typeface="Arial" panose="020B0604020202020204" pitchFamily="34" charset="0"/>
                  <a:buChar char="•"/>
                </a:pPr>
                <a:r>
                  <a:rPr lang="en-NZ" altLang="ja-JP" sz="1600" dirty="0">
                    <a:solidFill>
                      <a:srgbClr val="0070C0"/>
                    </a:solidFill>
                  </a:rPr>
                  <a:t>% of variance (after adjusting for Region) due to town-to-town differences</a:t>
                </a:r>
              </a:p>
              <a:p>
                <a:pPr algn="ctr">
                  <a:lnSpc>
                    <a:spcPct val="100000"/>
                  </a:lnSpc>
                </a:pPr>
                <a:r>
                  <a:rPr lang="en-NZ" altLang="ja-JP" sz="1600" b="1" i="1" dirty="0">
                    <a:solidFill>
                      <a:srgbClr val="0070C0"/>
                    </a:solidFill>
                  </a:rPr>
                  <a:t> </a:t>
                </a:r>
                <a14:m>
                  <m:oMath xmlns:m="http://schemas.openxmlformats.org/officeDocument/2006/math">
                    <m:f>
                      <m:fPr>
                        <m:ctrlPr>
                          <a:rPr lang="en-NZ" altLang="ja-JP" sz="1600" b="1" i="1">
                            <a:solidFill>
                              <a:srgbClr val="0070C0"/>
                            </a:solidFill>
                            <a:latin typeface="Cambria Math" panose="02040503050406030204" pitchFamily="18" charset="0"/>
                          </a:rPr>
                        </m:ctrlPr>
                      </m:fPr>
                      <m:num>
                        <m:sSubSup>
                          <m:sSubSupPr>
                            <m:ctrlPr>
                              <a:rPr lang="en-NZ" altLang="ja-JP" sz="1600" b="1" i="1">
                                <a:solidFill>
                                  <a:srgbClr val="0070C0"/>
                                </a:solidFill>
                                <a:latin typeface="Cambria Math" panose="02040503050406030204" pitchFamily="18" charset="0"/>
                              </a:rPr>
                            </m:ctrlPr>
                          </m:sSubSupPr>
                          <m:e>
                            <m:acc>
                              <m:accPr>
                                <m:chr m:val="̂"/>
                                <m:ctrlPr>
                                  <a:rPr lang="en-NZ" altLang="ja-JP" sz="1600" b="1" i="1">
                                    <a:solidFill>
                                      <a:srgbClr val="0070C0"/>
                                    </a:solidFill>
                                    <a:latin typeface="Cambria Math" panose="02040503050406030204" pitchFamily="18" charset="0"/>
                                  </a:rPr>
                                </m:ctrlPr>
                              </m:accPr>
                              <m:e>
                                <m:r>
                                  <a:rPr lang="en-NZ" altLang="ja-JP" sz="1600" b="1" i="1">
                                    <a:solidFill>
                                      <a:srgbClr val="0070C0"/>
                                    </a:solidFill>
                                    <a:latin typeface="Cambria Math" panose="02040503050406030204" pitchFamily="18" charset="0"/>
                                  </a:rPr>
                                  <m:t>𝝈</m:t>
                                </m:r>
                              </m:e>
                            </m:acc>
                          </m:e>
                          <m:sub>
                            <m:r>
                              <a:rPr lang="en-NZ" altLang="ja-JP" sz="1600" b="1" i="1">
                                <a:solidFill>
                                  <a:srgbClr val="0070C0"/>
                                </a:solidFill>
                                <a:latin typeface="Cambria Math" panose="02040503050406030204" pitchFamily="18" charset="0"/>
                              </a:rPr>
                              <m:t>𝑩</m:t>
                            </m:r>
                          </m:sub>
                          <m:sup>
                            <m:r>
                              <a:rPr lang="en-NZ" altLang="ja-JP" sz="1600" b="1" i="1">
                                <a:solidFill>
                                  <a:srgbClr val="0070C0"/>
                                </a:solidFill>
                                <a:latin typeface="Cambria Math" panose="02040503050406030204" pitchFamily="18" charset="0"/>
                              </a:rPr>
                              <m:t>𝟐</m:t>
                            </m:r>
                          </m:sup>
                        </m:sSubSup>
                      </m:num>
                      <m:den>
                        <m:sSubSup>
                          <m:sSubSupPr>
                            <m:ctrlPr>
                              <a:rPr lang="en-NZ" altLang="ja-JP" sz="1600" b="1" i="1">
                                <a:solidFill>
                                  <a:srgbClr val="0070C0"/>
                                </a:solidFill>
                                <a:latin typeface="Cambria Math" panose="02040503050406030204" pitchFamily="18" charset="0"/>
                              </a:rPr>
                            </m:ctrlPr>
                          </m:sSubSupPr>
                          <m:e>
                            <m:acc>
                              <m:accPr>
                                <m:chr m:val="̂"/>
                                <m:ctrlPr>
                                  <a:rPr lang="en-NZ" altLang="ja-JP" sz="1600" b="1" i="1">
                                    <a:solidFill>
                                      <a:srgbClr val="0070C0"/>
                                    </a:solidFill>
                                    <a:latin typeface="Cambria Math" panose="02040503050406030204" pitchFamily="18" charset="0"/>
                                  </a:rPr>
                                </m:ctrlPr>
                              </m:accPr>
                              <m:e>
                                <m:r>
                                  <a:rPr lang="en-NZ" altLang="ja-JP" sz="1600" b="1" i="1">
                                    <a:solidFill>
                                      <a:srgbClr val="0070C0"/>
                                    </a:solidFill>
                                    <a:latin typeface="Cambria Math" panose="02040503050406030204" pitchFamily="18" charset="0"/>
                                  </a:rPr>
                                  <m:t>𝝈</m:t>
                                </m:r>
                              </m:e>
                            </m:acc>
                          </m:e>
                          <m:sub>
                            <m:r>
                              <a:rPr lang="en-NZ" altLang="ja-JP" sz="1600" b="1" i="1">
                                <a:solidFill>
                                  <a:srgbClr val="0070C0"/>
                                </a:solidFill>
                                <a:latin typeface="Cambria Math" panose="02040503050406030204" pitchFamily="18" charset="0"/>
                              </a:rPr>
                              <m:t>𝑩</m:t>
                            </m:r>
                          </m:sub>
                          <m:sup>
                            <m:r>
                              <a:rPr lang="en-NZ" altLang="ja-JP" sz="1600" b="1" i="1">
                                <a:solidFill>
                                  <a:srgbClr val="0070C0"/>
                                </a:solidFill>
                                <a:latin typeface="Cambria Math" panose="02040503050406030204" pitchFamily="18" charset="0"/>
                              </a:rPr>
                              <m:t>𝟐</m:t>
                            </m:r>
                          </m:sup>
                        </m:sSubSup>
                        <m:r>
                          <a:rPr lang="en-NZ" altLang="ja-JP" sz="1600" b="1" i="1" smtClean="0">
                            <a:solidFill>
                              <a:srgbClr val="0070C0"/>
                            </a:solidFill>
                            <a:latin typeface="Cambria Math" panose="02040503050406030204" pitchFamily="18" charset="0"/>
                          </a:rPr>
                          <m:t>+</m:t>
                        </m:r>
                        <m:sSubSup>
                          <m:sSubSupPr>
                            <m:ctrlPr>
                              <a:rPr lang="en-NZ" altLang="ja-JP" sz="1600" b="1" i="1">
                                <a:solidFill>
                                  <a:srgbClr val="0070C0"/>
                                </a:solidFill>
                                <a:latin typeface="Cambria Math" panose="02040503050406030204" pitchFamily="18" charset="0"/>
                              </a:rPr>
                            </m:ctrlPr>
                          </m:sSubSupPr>
                          <m:e>
                            <m:r>
                              <a:rPr lang="en-NZ" altLang="ja-JP" sz="1600" b="1" i="1" smtClean="0">
                                <a:solidFill>
                                  <a:srgbClr val="0070C0"/>
                                </a:solidFill>
                                <a:latin typeface="Cambria Math" panose="02040503050406030204" pitchFamily="18" charset="0"/>
                              </a:rPr>
                              <m:t> </m:t>
                            </m:r>
                            <m:acc>
                              <m:accPr>
                                <m:chr m:val="̂"/>
                                <m:ctrlPr>
                                  <a:rPr lang="en-NZ" altLang="ja-JP" sz="1600" b="1" i="1">
                                    <a:solidFill>
                                      <a:srgbClr val="0070C0"/>
                                    </a:solidFill>
                                    <a:latin typeface="Cambria Math" panose="02040503050406030204" pitchFamily="18" charset="0"/>
                                  </a:rPr>
                                </m:ctrlPr>
                              </m:accPr>
                              <m:e>
                                <m:r>
                                  <a:rPr lang="en-NZ" altLang="ja-JP" sz="1600" b="1" i="1">
                                    <a:solidFill>
                                      <a:srgbClr val="0070C0"/>
                                    </a:solidFill>
                                    <a:latin typeface="Cambria Math" panose="02040503050406030204" pitchFamily="18" charset="0"/>
                                  </a:rPr>
                                  <m:t>𝝈</m:t>
                                </m:r>
                              </m:e>
                            </m:acc>
                          </m:e>
                          <m:sub>
                            <m:r>
                              <a:rPr lang="en-NZ" altLang="ja-JP" sz="1600" b="1" i="1" smtClean="0">
                                <a:solidFill>
                                  <a:srgbClr val="0070C0"/>
                                </a:solidFill>
                                <a:latin typeface="Cambria Math" panose="02040503050406030204" pitchFamily="18" charset="0"/>
                              </a:rPr>
                              <m:t>𝑪</m:t>
                            </m:r>
                          </m:sub>
                          <m:sup>
                            <m:r>
                              <a:rPr lang="en-NZ" altLang="ja-JP" sz="1600" b="1" i="1">
                                <a:solidFill>
                                  <a:srgbClr val="0070C0"/>
                                </a:solidFill>
                                <a:latin typeface="Cambria Math" panose="02040503050406030204" pitchFamily="18" charset="0"/>
                              </a:rPr>
                              <m:t>𝟐</m:t>
                            </m:r>
                          </m:sup>
                        </m:sSubSup>
                        <m:r>
                          <a:rPr lang="en-NZ" altLang="ja-JP" sz="1600" b="1" i="1" smtClean="0">
                            <a:solidFill>
                              <a:srgbClr val="0070C0"/>
                            </a:solidFill>
                            <a:latin typeface="Cambria Math" panose="02040503050406030204" pitchFamily="18" charset="0"/>
                          </a:rPr>
                          <m:t> </m:t>
                        </m:r>
                        <m:r>
                          <a:rPr lang="en-NZ" altLang="ja-JP" sz="1600" b="1" i="1">
                            <a:solidFill>
                              <a:srgbClr val="0070C0"/>
                            </a:solidFill>
                            <a:latin typeface="Cambria Math" panose="02040503050406030204" pitchFamily="18" charset="0"/>
                          </a:rPr>
                          <m:t>+  </m:t>
                        </m:r>
                        <m:sSup>
                          <m:sSupPr>
                            <m:ctrlPr>
                              <a:rPr lang="en-NZ" altLang="ja-JP" sz="1600" b="1" i="1">
                                <a:solidFill>
                                  <a:srgbClr val="0070C0"/>
                                </a:solidFill>
                                <a:latin typeface="Cambria Math" panose="02040503050406030204" pitchFamily="18" charset="0"/>
                              </a:rPr>
                            </m:ctrlPr>
                          </m:sSupPr>
                          <m:e>
                            <m:acc>
                              <m:accPr>
                                <m:chr m:val="̂"/>
                                <m:ctrlPr>
                                  <a:rPr lang="en-NZ" altLang="ja-JP" sz="1600" b="1" i="1">
                                    <a:solidFill>
                                      <a:srgbClr val="0070C0"/>
                                    </a:solidFill>
                                    <a:latin typeface="Cambria Math" panose="02040503050406030204" pitchFamily="18" charset="0"/>
                                  </a:rPr>
                                </m:ctrlPr>
                              </m:accPr>
                              <m:e>
                                <m:r>
                                  <a:rPr lang="en-NZ" altLang="ja-JP" sz="1600" b="1" i="1">
                                    <a:solidFill>
                                      <a:srgbClr val="0070C0"/>
                                    </a:solidFill>
                                    <a:latin typeface="Cambria Math" panose="02040503050406030204" pitchFamily="18" charset="0"/>
                                  </a:rPr>
                                  <m:t>𝝈</m:t>
                                </m:r>
                              </m:e>
                            </m:acc>
                          </m:e>
                          <m:sup>
                            <m:r>
                              <a:rPr lang="en-NZ" altLang="ja-JP" sz="1600" b="1" i="1">
                                <a:solidFill>
                                  <a:srgbClr val="0070C0"/>
                                </a:solidFill>
                                <a:latin typeface="Cambria Math" panose="02040503050406030204" pitchFamily="18" charset="0"/>
                              </a:rPr>
                              <m:t>𝟐</m:t>
                            </m:r>
                          </m:sup>
                        </m:sSup>
                      </m:den>
                    </m:f>
                    <m:r>
                      <a:rPr lang="en-NZ" altLang="ja-JP" sz="1600" b="1" i="1">
                        <a:solidFill>
                          <a:srgbClr val="0070C0"/>
                        </a:solidFill>
                        <a:latin typeface="Cambria Math" panose="02040503050406030204" pitchFamily="18" charset="0"/>
                      </a:rPr>
                      <m:t> =   </m:t>
                    </m:r>
                    <m:r>
                      <a:rPr lang="en-NZ" altLang="ja-JP" sz="1600" b="0" i="1" smtClean="0">
                        <a:solidFill>
                          <a:srgbClr val="0070C0"/>
                        </a:solidFill>
                        <a:latin typeface="Cambria Math" panose="02040503050406030204" pitchFamily="18" charset="0"/>
                      </a:rPr>
                      <m:t>51.5</m:t>
                    </m:r>
                    <m:r>
                      <a:rPr lang="en-NZ" altLang="ja-JP" sz="1600" b="1" i="1">
                        <a:solidFill>
                          <a:srgbClr val="0070C0"/>
                        </a:solidFill>
                        <a:latin typeface="Cambria Math" panose="02040503050406030204" pitchFamily="18" charset="0"/>
                      </a:rPr>
                      <m:t>%</m:t>
                    </m:r>
                  </m:oMath>
                </a14:m>
                <a:endParaRPr lang="en-NZ" altLang="ja-JP" sz="1600" dirty="0">
                  <a:solidFill>
                    <a:srgbClr val="0070C0"/>
                  </a:solidFill>
                </a:endParaRPr>
              </a:p>
              <a:p>
                <a:pPr algn="ctr">
                  <a:lnSpc>
                    <a:spcPct val="100000"/>
                  </a:lnSpc>
                </a:pPr>
                <a:endParaRPr lang="en-NZ" altLang="ja-JP" sz="1600" dirty="0">
                  <a:solidFill>
                    <a:srgbClr val="0070C0"/>
                  </a:solidFill>
                </a:endParaRPr>
              </a:p>
              <a:p>
                <a:pPr algn="ctr">
                  <a:lnSpc>
                    <a:spcPct val="100000"/>
                  </a:lnSpc>
                </a:pPr>
                <a:endParaRPr lang="en-NZ" altLang="ja-JP" sz="1600" dirty="0">
                  <a:solidFill>
                    <a:srgbClr val="0070C0"/>
                  </a:solidFill>
                </a:endParaRPr>
              </a:p>
              <a:p>
                <a:pPr marL="285750" indent="-285750">
                  <a:lnSpc>
                    <a:spcPct val="100000"/>
                  </a:lnSpc>
                  <a:buFont typeface="Arial" panose="020B0604020202020204" pitchFamily="34" charset="0"/>
                  <a:buChar char="•"/>
                </a:pPr>
                <a:r>
                  <a:rPr lang="en-NZ" altLang="ja-JP" sz="1600" dirty="0">
                    <a:solidFill>
                      <a:srgbClr val="0070C0"/>
                    </a:solidFill>
                  </a:rPr>
                  <a:t>% of variance (after adjusting for Region) due to Restaurant-to-Restaurant differences</a:t>
                </a:r>
              </a:p>
              <a:p>
                <a:pPr algn="ctr">
                  <a:lnSpc>
                    <a:spcPct val="100000"/>
                  </a:lnSpc>
                </a:pPr>
                <a:r>
                  <a:rPr lang="en-NZ" altLang="ja-JP" sz="1600" b="1" i="1" dirty="0">
                    <a:solidFill>
                      <a:srgbClr val="0070C0"/>
                    </a:solidFill>
                  </a:rPr>
                  <a:t> </a:t>
                </a:r>
                <a14:m>
                  <m:oMath xmlns:m="http://schemas.openxmlformats.org/officeDocument/2006/math">
                    <m:f>
                      <m:fPr>
                        <m:ctrlPr>
                          <a:rPr lang="en-NZ" altLang="ja-JP" sz="1600" b="1" i="1">
                            <a:solidFill>
                              <a:srgbClr val="0070C0"/>
                            </a:solidFill>
                            <a:latin typeface="Cambria Math" panose="02040503050406030204" pitchFamily="18" charset="0"/>
                          </a:rPr>
                        </m:ctrlPr>
                      </m:fPr>
                      <m:num>
                        <m:sSubSup>
                          <m:sSubSupPr>
                            <m:ctrlPr>
                              <a:rPr lang="en-NZ" altLang="ja-JP" sz="1600" b="1" i="1">
                                <a:solidFill>
                                  <a:srgbClr val="0070C0"/>
                                </a:solidFill>
                                <a:latin typeface="Cambria Math" panose="02040503050406030204" pitchFamily="18" charset="0"/>
                              </a:rPr>
                            </m:ctrlPr>
                          </m:sSubSupPr>
                          <m:e>
                            <m:acc>
                              <m:accPr>
                                <m:chr m:val="̂"/>
                                <m:ctrlPr>
                                  <a:rPr lang="en-NZ" altLang="ja-JP" sz="1600" b="1" i="1">
                                    <a:solidFill>
                                      <a:srgbClr val="0070C0"/>
                                    </a:solidFill>
                                    <a:latin typeface="Cambria Math" panose="02040503050406030204" pitchFamily="18" charset="0"/>
                                  </a:rPr>
                                </m:ctrlPr>
                              </m:accPr>
                              <m:e>
                                <m:r>
                                  <a:rPr lang="en-NZ" altLang="ja-JP" sz="1600" b="1" i="1">
                                    <a:solidFill>
                                      <a:srgbClr val="0070C0"/>
                                    </a:solidFill>
                                    <a:latin typeface="Cambria Math" panose="02040503050406030204" pitchFamily="18" charset="0"/>
                                  </a:rPr>
                                  <m:t>𝝈</m:t>
                                </m:r>
                              </m:e>
                            </m:acc>
                          </m:e>
                          <m:sub>
                            <m:r>
                              <a:rPr lang="en-NZ" altLang="ja-JP" sz="1600" b="1" i="1" smtClean="0">
                                <a:solidFill>
                                  <a:srgbClr val="0070C0"/>
                                </a:solidFill>
                                <a:latin typeface="Cambria Math" panose="02040503050406030204" pitchFamily="18" charset="0"/>
                              </a:rPr>
                              <m:t>𝑪</m:t>
                            </m:r>
                          </m:sub>
                          <m:sup>
                            <m:r>
                              <a:rPr lang="en-NZ" altLang="ja-JP" sz="1600" b="1" i="1">
                                <a:solidFill>
                                  <a:srgbClr val="0070C0"/>
                                </a:solidFill>
                                <a:latin typeface="Cambria Math" panose="02040503050406030204" pitchFamily="18" charset="0"/>
                              </a:rPr>
                              <m:t>𝟐</m:t>
                            </m:r>
                          </m:sup>
                        </m:sSubSup>
                      </m:num>
                      <m:den>
                        <m:sSubSup>
                          <m:sSubSupPr>
                            <m:ctrlPr>
                              <a:rPr lang="en-NZ" altLang="ja-JP" sz="1600" b="1" i="1">
                                <a:solidFill>
                                  <a:srgbClr val="0070C0"/>
                                </a:solidFill>
                                <a:latin typeface="Cambria Math" panose="02040503050406030204" pitchFamily="18" charset="0"/>
                              </a:rPr>
                            </m:ctrlPr>
                          </m:sSubSupPr>
                          <m:e>
                            <m:acc>
                              <m:accPr>
                                <m:chr m:val="̂"/>
                                <m:ctrlPr>
                                  <a:rPr lang="en-NZ" altLang="ja-JP" sz="1600" b="1" i="1">
                                    <a:solidFill>
                                      <a:srgbClr val="0070C0"/>
                                    </a:solidFill>
                                    <a:latin typeface="Cambria Math" panose="02040503050406030204" pitchFamily="18" charset="0"/>
                                  </a:rPr>
                                </m:ctrlPr>
                              </m:accPr>
                              <m:e>
                                <m:r>
                                  <a:rPr lang="en-NZ" altLang="ja-JP" sz="1600" b="1" i="1">
                                    <a:solidFill>
                                      <a:srgbClr val="0070C0"/>
                                    </a:solidFill>
                                    <a:latin typeface="Cambria Math" panose="02040503050406030204" pitchFamily="18" charset="0"/>
                                  </a:rPr>
                                  <m:t>𝝈</m:t>
                                </m:r>
                              </m:e>
                            </m:acc>
                          </m:e>
                          <m:sub>
                            <m:r>
                              <a:rPr lang="en-NZ" altLang="ja-JP" sz="1600" b="1" i="1">
                                <a:solidFill>
                                  <a:srgbClr val="0070C0"/>
                                </a:solidFill>
                                <a:latin typeface="Cambria Math" panose="02040503050406030204" pitchFamily="18" charset="0"/>
                              </a:rPr>
                              <m:t>𝑩</m:t>
                            </m:r>
                          </m:sub>
                          <m:sup>
                            <m:r>
                              <a:rPr lang="en-NZ" altLang="ja-JP" sz="1600" b="1" i="1">
                                <a:solidFill>
                                  <a:srgbClr val="0070C0"/>
                                </a:solidFill>
                                <a:latin typeface="Cambria Math" panose="02040503050406030204" pitchFamily="18" charset="0"/>
                              </a:rPr>
                              <m:t>𝟐</m:t>
                            </m:r>
                          </m:sup>
                        </m:sSubSup>
                        <m:r>
                          <a:rPr lang="en-NZ" altLang="ja-JP" sz="1600" b="1" i="1">
                            <a:solidFill>
                              <a:srgbClr val="0070C0"/>
                            </a:solidFill>
                            <a:latin typeface="Cambria Math" panose="02040503050406030204" pitchFamily="18" charset="0"/>
                          </a:rPr>
                          <m:t>+</m:t>
                        </m:r>
                        <m:sSubSup>
                          <m:sSubSupPr>
                            <m:ctrlPr>
                              <a:rPr lang="en-NZ" altLang="ja-JP" sz="1600" b="1" i="1">
                                <a:solidFill>
                                  <a:srgbClr val="0070C0"/>
                                </a:solidFill>
                                <a:latin typeface="Cambria Math" panose="02040503050406030204" pitchFamily="18" charset="0"/>
                              </a:rPr>
                            </m:ctrlPr>
                          </m:sSubSupPr>
                          <m:e>
                            <m:r>
                              <a:rPr lang="en-NZ" altLang="ja-JP" sz="1600" b="1" i="1">
                                <a:solidFill>
                                  <a:srgbClr val="0070C0"/>
                                </a:solidFill>
                                <a:latin typeface="Cambria Math" panose="02040503050406030204" pitchFamily="18" charset="0"/>
                              </a:rPr>
                              <m:t> </m:t>
                            </m:r>
                            <m:acc>
                              <m:accPr>
                                <m:chr m:val="̂"/>
                                <m:ctrlPr>
                                  <a:rPr lang="en-NZ" altLang="ja-JP" sz="1600" b="1" i="1">
                                    <a:solidFill>
                                      <a:srgbClr val="0070C0"/>
                                    </a:solidFill>
                                    <a:latin typeface="Cambria Math" panose="02040503050406030204" pitchFamily="18" charset="0"/>
                                  </a:rPr>
                                </m:ctrlPr>
                              </m:accPr>
                              <m:e>
                                <m:r>
                                  <a:rPr lang="en-NZ" altLang="ja-JP" sz="1600" b="1" i="1">
                                    <a:solidFill>
                                      <a:srgbClr val="0070C0"/>
                                    </a:solidFill>
                                    <a:latin typeface="Cambria Math" panose="02040503050406030204" pitchFamily="18" charset="0"/>
                                  </a:rPr>
                                  <m:t>𝝈</m:t>
                                </m:r>
                              </m:e>
                            </m:acc>
                          </m:e>
                          <m:sub>
                            <m:r>
                              <a:rPr lang="en-NZ" altLang="ja-JP" sz="1600" b="1" i="1">
                                <a:solidFill>
                                  <a:srgbClr val="0070C0"/>
                                </a:solidFill>
                                <a:latin typeface="Cambria Math" panose="02040503050406030204" pitchFamily="18" charset="0"/>
                              </a:rPr>
                              <m:t>𝑪</m:t>
                            </m:r>
                          </m:sub>
                          <m:sup>
                            <m:r>
                              <a:rPr lang="en-NZ" altLang="ja-JP" sz="1600" b="1" i="1">
                                <a:solidFill>
                                  <a:srgbClr val="0070C0"/>
                                </a:solidFill>
                                <a:latin typeface="Cambria Math" panose="02040503050406030204" pitchFamily="18" charset="0"/>
                              </a:rPr>
                              <m:t>𝟐</m:t>
                            </m:r>
                          </m:sup>
                        </m:sSubSup>
                        <m:r>
                          <a:rPr lang="en-NZ" altLang="ja-JP" sz="1600" b="1" i="1">
                            <a:solidFill>
                              <a:srgbClr val="0070C0"/>
                            </a:solidFill>
                            <a:latin typeface="Cambria Math" panose="02040503050406030204" pitchFamily="18" charset="0"/>
                          </a:rPr>
                          <m:t> +  </m:t>
                        </m:r>
                        <m:sSup>
                          <m:sSupPr>
                            <m:ctrlPr>
                              <a:rPr lang="en-NZ" altLang="ja-JP" sz="1600" b="1" i="1">
                                <a:solidFill>
                                  <a:srgbClr val="0070C0"/>
                                </a:solidFill>
                                <a:latin typeface="Cambria Math" panose="02040503050406030204" pitchFamily="18" charset="0"/>
                              </a:rPr>
                            </m:ctrlPr>
                          </m:sSupPr>
                          <m:e>
                            <m:acc>
                              <m:accPr>
                                <m:chr m:val="̂"/>
                                <m:ctrlPr>
                                  <a:rPr lang="en-NZ" altLang="ja-JP" sz="1600" b="1" i="1">
                                    <a:solidFill>
                                      <a:srgbClr val="0070C0"/>
                                    </a:solidFill>
                                    <a:latin typeface="Cambria Math" panose="02040503050406030204" pitchFamily="18" charset="0"/>
                                  </a:rPr>
                                </m:ctrlPr>
                              </m:accPr>
                              <m:e>
                                <m:r>
                                  <a:rPr lang="en-NZ" altLang="ja-JP" sz="1600" b="1" i="1">
                                    <a:solidFill>
                                      <a:srgbClr val="0070C0"/>
                                    </a:solidFill>
                                    <a:latin typeface="Cambria Math" panose="02040503050406030204" pitchFamily="18" charset="0"/>
                                  </a:rPr>
                                  <m:t>𝝈</m:t>
                                </m:r>
                              </m:e>
                            </m:acc>
                          </m:e>
                          <m:sup>
                            <m:r>
                              <a:rPr lang="en-NZ" altLang="ja-JP" sz="1600" b="1" i="1">
                                <a:solidFill>
                                  <a:srgbClr val="0070C0"/>
                                </a:solidFill>
                                <a:latin typeface="Cambria Math" panose="02040503050406030204" pitchFamily="18" charset="0"/>
                              </a:rPr>
                              <m:t>𝟐</m:t>
                            </m:r>
                          </m:sup>
                        </m:sSup>
                      </m:den>
                    </m:f>
                    <m:r>
                      <a:rPr lang="en-NZ" altLang="ja-JP" sz="1600" b="1" i="1">
                        <a:solidFill>
                          <a:srgbClr val="0070C0"/>
                        </a:solidFill>
                        <a:latin typeface="Cambria Math" panose="02040503050406030204" pitchFamily="18" charset="0"/>
                      </a:rPr>
                      <m:t> =   </m:t>
                    </m:r>
                    <m:r>
                      <a:rPr lang="en-NZ" altLang="ja-JP" sz="1600" b="0" i="1" smtClean="0">
                        <a:solidFill>
                          <a:srgbClr val="0070C0"/>
                        </a:solidFill>
                        <a:latin typeface="Cambria Math" panose="02040503050406030204" pitchFamily="18" charset="0"/>
                      </a:rPr>
                      <m:t>19.6</m:t>
                    </m:r>
                    <m:r>
                      <a:rPr lang="en-NZ" altLang="ja-JP" sz="1600" b="1" i="1">
                        <a:solidFill>
                          <a:srgbClr val="0070C0"/>
                        </a:solidFill>
                        <a:latin typeface="Cambria Math" panose="02040503050406030204" pitchFamily="18" charset="0"/>
                      </a:rPr>
                      <m:t>%</m:t>
                    </m:r>
                  </m:oMath>
                </a14:m>
                <a:endParaRPr lang="en-NZ" altLang="ja-JP" sz="1600" dirty="0">
                  <a:solidFill>
                    <a:srgbClr val="0070C0"/>
                  </a:solidFill>
                </a:endParaRPr>
              </a:p>
              <a:p>
                <a:pPr algn="ctr">
                  <a:lnSpc>
                    <a:spcPct val="100000"/>
                  </a:lnSpc>
                </a:pPr>
                <a:endParaRPr lang="en-NZ" altLang="ja-JP" sz="1600" dirty="0">
                  <a:solidFill>
                    <a:srgbClr val="0070C0"/>
                  </a:solidFill>
                </a:endParaRPr>
              </a:p>
              <a:p>
                <a:pPr marL="285750" indent="-285750">
                  <a:lnSpc>
                    <a:spcPct val="100000"/>
                  </a:lnSpc>
                  <a:buFont typeface="Arial" panose="020B0604020202020204" pitchFamily="34" charset="0"/>
                  <a:buChar char="•"/>
                </a:pPr>
                <a:r>
                  <a:rPr lang="en-NZ" altLang="ja-JP" sz="1600" dirty="0">
                    <a:solidFill>
                      <a:srgbClr val="0070C0"/>
                    </a:solidFill>
                  </a:rPr>
                  <a:t>% of variance (after adjusting for Region) due to unexplained residual variation</a:t>
                </a:r>
              </a:p>
              <a:p>
                <a:pPr algn="ctr">
                  <a:lnSpc>
                    <a:spcPct val="100000"/>
                  </a:lnSpc>
                </a:pPr>
                <a:r>
                  <a:rPr lang="en-NZ" altLang="ja-JP" sz="1600" b="1" i="1" dirty="0">
                    <a:solidFill>
                      <a:srgbClr val="0070C0"/>
                    </a:solidFill>
                  </a:rPr>
                  <a:t> </a:t>
                </a:r>
                <a14:m>
                  <m:oMath xmlns:m="http://schemas.openxmlformats.org/officeDocument/2006/math">
                    <m:f>
                      <m:fPr>
                        <m:ctrlPr>
                          <a:rPr lang="en-NZ" altLang="ja-JP" sz="1600" b="1" i="1">
                            <a:solidFill>
                              <a:srgbClr val="0070C0"/>
                            </a:solidFill>
                            <a:latin typeface="Cambria Math" panose="02040503050406030204" pitchFamily="18" charset="0"/>
                          </a:rPr>
                        </m:ctrlPr>
                      </m:fPr>
                      <m:num>
                        <m:sSup>
                          <m:sSupPr>
                            <m:ctrlPr>
                              <a:rPr lang="en-NZ" altLang="ja-JP" sz="1600" b="1" i="1">
                                <a:solidFill>
                                  <a:srgbClr val="0070C0"/>
                                </a:solidFill>
                                <a:latin typeface="Cambria Math" panose="02040503050406030204" pitchFamily="18" charset="0"/>
                              </a:rPr>
                            </m:ctrlPr>
                          </m:sSupPr>
                          <m:e>
                            <m:acc>
                              <m:accPr>
                                <m:chr m:val="̂"/>
                                <m:ctrlPr>
                                  <a:rPr lang="en-NZ" altLang="ja-JP" sz="1600" b="1" i="1">
                                    <a:solidFill>
                                      <a:srgbClr val="0070C0"/>
                                    </a:solidFill>
                                    <a:latin typeface="Cambria Math" panose="02040503050406030204" pitchFamily="18" charset="0"/>
                                  </a:rPr>
                                </m:ctrlPr>
                              </m:accPr>
                              <m:e>
                                <m:r>
                                  <a:rPr lang="en-NZ" altLang="ja-JP" sz="1600" b="1" i="1">
                                    <a:solidFill>
                                      <a:srgbClr val="0070C0"/>
                                    </a:solidFill>
                                    <a:latin typeface="Cambria Math" panose="02040503050406030204" pitchFamily="18" charset="0"/>
                                  </a:rPr>
                                  <m:t>𝝈</m:t>
                                </m:r>
                              </m:e>
                            </m:acc>
                          </m:e>
                          <m:sup>
                            <m:r>
                              <a:rPr lang="en-NZ" altLang="ja-JP" sz="1600" b="1" i="1">
                                <a:solidFill>
                                  <a:srgbClr val="0070C0"/>
                                </a:solidFill>
                                <a:latin typeface="Cambria Math" panose="02040503050406030204" pitchFamily="18" charset="0"/>
                              </a:rPr>
                              <m:t>𝟐</m:t>
                            </m:r>
                          </m:sup>
                        </m:sSup>
                      </m:num>
                      <m:den>
                        <m:sSubSup>
                          <m:sSubSupPr>
                            <m:ctrlPr>
                              <a:rPr lang="en-NZ" altLang="ja-JP" sz="1600" b="1" i="1">
                                <a:solidFill>
                                  <a:srgbClr val="0070C0"/>
                                </a:solidFill>
                                <a:latin typeface="Cambria Math" panose="02040503050406030204" pitchFamily="18" charset="0"/>
                              </a:rPr>
                            </m:ctrlPr>
                          </m:sSubSupPr>
                          <m:e>
                            <m:acc>
                              <m:accPr>
                                <m:chr m:val="̂"/>
                                <m:ctrlPr>
                                  <a:rPr lang="en-NZ" altLang="ja-JP" sz="1600" b="1" i="1">
                                    <a:solidFill>
                                      <a:srgbClr val="0070C0"/>
                                    </a:solidFill>
                                    <a:latin typeface="Cambria Math" panose="02040503050406030204" pitchFamily="18" charset="0"/>
                                  </a:rPr>
                                </m:ctrlPr>
                              </m:accPr>
                              <m:e>
                                <m:r>
                                  <a:rPr lang="en-NZ" altLang="ja-JP" sz="1600" b="1" i="1">
                                    <a:solidFill>
                                      <a:srgbClr val="0070C0"/>
                                    </a:solidFill>
                                    <a:latin typeface="Cambria Math" panose="02040503050406030204" pitchFamily="18" charset="0"/>
                                  </a:rPr>
                                  <m:t>𝝈</m:t>
                                </m:r>
                              </m:e>
                            </m:acc>
                          </m:e>
                          <m:sub>
                            <m:r>
                              <a:rPr lang="en-NZ" altLang="ja-JP" sz="1600" b="1" i="1">
                                <a:solidFill>
                                  <a:srgbClr val="0070C0"/>
                                </a:solidFill>
                                <a:latin typeface="Cambria Math" panose="02040503050406030204" pitchFamily="18" charset="0"/>
                              </a:rPr>
                              <m:t>𝑩</m:t>
                            </m:r>
                          </m:sub>
                          <m:sup>
                            <m:r>
                              <a:rPr lang="en-NZ" altLang="ja-JP" sz="1600" b="1" i="1">
                                <a:solidFill>
                                  <a:srgbClr val="0070C0"/>
                                </a:solidFill>
                                <a:latin typeface="Cambria Math" panose="02040503050406030204" pitchFamily="18" charset="0"/>
                              </a:rPr>
                              <m:t>𝟐</m:t>
                            </m:r>
                          </m:sup>
                        </m:sSubSup>
                        <m:r>
                          <a:rPr lang="en-NZ" altLang="ja-JP" sz="1600" b="1" i="1">
                            <a:solidFill>
                              <a:srgbClr val="0070C0"/>
                            </a:solidFill>
                            <a:latin typeface="Cambria Math" panose="02040503050406030204" pitchFamily="18" charset="0"/>
                          </a:rPr>
                          <m:t>+</m:t>
                        </m:r>
                        <m:sSubSup>
                          <m:sSubSupPr>
                            <m:ctrlPr>
                              <a:rPr lang="en-NZ" altLang="ja-JP" sz="1600" b="1" i="1">
                                <a:solidFill>
                                  <a:srgbClr val="0070C0"/>
                                </a:solidFill>
                                <a:latin typeface="Cambria Math" panose="02040503050406030204" pitchFamily="18" charset="0"/>
                              </a:rPr>
                            </m:ctrlPr>
                          </m:sSubSupPr>
                          <m:e>
                            <m:r>
                              <a:rPr lang="en-NZ" altLang="ja-JP" sz="1600" b="1" i="1">
                                <a:solidFill>
                                  <a:srgbClr val="0070C0"/>
                                </a:solidFill>
                                <a:latin typeface="Cambria Math" panose="02040503050406030204" pitchFamily="18" charset="0"/>
                              </a:rPr>
                              <m:t> </m:t>
                            </m:r>
                            <m:acc>
                              <m:accPr>
                                <m:chr m:val="̂"/>
                                <m:ctrlPr>
                                  <a:rPr lang="en-NZ" altLang="ja-JP" sz="1600" b="1" i="1">
                                    <a:solidFill>
                                      <a:srgbClr val="0070C0"/>
                                    </a:solidFill>
                                    <a:latin typeface="Cambria Math" panose="02040503050406030204" pitchFamily="18" charset="0"/>
                                  </a:rPr>
                                </m:ctrlPr>
                              </m:accPr>
                              <m:e>
                                <m:r>
                                  <a:rPr lang="en-NZ" altLang="ja-JP" sz="1600" b="1" i="1">
                                    <a:solidFill>
                                      <a:srgbClr val="0070C0"/>
                                    </a:solidFill>
                                    <a:latin typeface="Cambria Math" panose="02040503050406030204" pitchFamily="18" charset="0"/>
                                  </a:rPr>
                                  <m:t>𝝈</m:t>
                                </m:r>
                              </m:e>
                            </m:acc>
                          </m:e>
                          <m:sub>
                            <m:r>
                              <a:rPr lang="en-NZ" altLang="ja-JP" sz="1600" b="1" i="1">
                                <a:solidFill>
                                  <a:srgbClr val="0070C0"/>
                                </a:solidFill>
                                <a:latin typeface="Cambria Math" panose="02040503050406030204" pitchFamily="18" charset="0"/>
                              </a:rPr>
                              <m:t>𝑪</m:t>
                            </m:r>
                          </m:sub>
                          <m:sup>
                            <m:r>
                              <a:rPr lang="en-NZ" altLang="ja-JP" sz="1600" b="1" i="1">
                                <a:solidFill>
                                  <a:srgbClr val="0070C0"/>
                                </a:solidFill>
                                <a:latin typeface="Cambria Math" panose="02040503050406030204" pitchFamily="18" charset="0"/>
                              </a:rPr>
                              <m:t>𝟐</m:t>
                            </m:r>
                          </m:sup>
                        </m:sSubSup>
                        <m:r>
                          <a:rPr lang="en-NZ" altLang="ja-JP" sz="1600" b="1" i="1">
                            <a:solidFill>
                              <a:srgbClr val="0070C0"/>
                            </a:solidFill>
                            <a:latin typeface="Cambria Math" panose="02040503050406030204" pitchFamily="18" charset="0"/>
                          </a:rPr>
                          <m:t> +  </m:t>
                        </m:r>
                        <m:sSup>
                          <m:sSupPr>
                            <m:ctrlPr>
                              <a:rPr lang="en-NZ" altLang="ja-JP" sz="1600" b="1" i="1">
                                <a:solidFill>
                                  <a:srgbClr val="0070C0"/>
                                </a:solidFill>
                                <a:latin typeface="Cambria Math" panose="02040503050406030204" pitchFamily="18" charset="0"/>
                              </a:rPr>
                            </m:ctrlPr>
                          </m:sSupPr>
                          <m:e>
                            <m:acc>
                              <m:accPr>
                                <m:chr m:val="̂"/>
                                <m:ctrlPr>
                                  <a:rPr lang="en-NZ" altLang="ja-JP" sz="1600" b="1" i="1">
                                    <a:solidFill>
                                      <a:srgbClr val="0070C0"/>
                                    </a:solidFill>
                                    <a:latin typeface="Cambria Math" panose="02040503050406030204" pitchFamily="18" charset="0"/>
                                  </a:rPr>
                                </m:ctrlPr>
                              </m:accPr>
                              <m:e>
                                <m:r>
                                  <a:rPr lang="en-NZ" altLang="ja-JP" sz="1600" b="1" i="1">
                                    <a:solidFill>
                                      <a:srgbClr val="0070C0"/>
                                    </a:solidFill>
                                    <a:latin typeface="Cambria Math" panose="02040503050406030204" pitchFamily="18" charset="0"/>
                                  </a:rPr>
                                  <m:t>𝝈</m:t>
                                </m:r>
                              </m:e>
                            </m:acc>
                          </m:e>
                          <m:sup>
                            <m:r>
                              <a:rPr lang="en-NZ" altLang="ja-JP" sz="1600" b="1" i="1">
                                <a:solidFill>
                                  <a:srgbClr val="0070C0"/>
                                </a:solidFill>
                                <a:latin typeface="Cambria Math" panose="02040503050406030204" pitchFamily="18" charset="0"/>
                              </a:rPr>
                              <m:t>𝟐</m:t>
                            </m:r>
                          </m:sup>
                        </m:sSup>
                      </m:den>
                    </m:f>
                    <m:r>
                      <a:rPr lang="en-NZ" altLang="ja-JP" sz="1600" b="1" i="1">
                        <a:solidFill>
                          <a:srgbClr val="0070C0"/>
                        </a:solidFill>
                        <a:latin typeface="Cambria Math" panose="02040503050406030204" pitchFamily="18" charset="0"/>
                      </a:rPr>
                      <m:t> =   </m:t>
                    </m:r>
                    <m:r>
                      <a:rPr lang="en-NZ" altLang="ja-JP" sz="1600" b="0" i="1" smtClean="0">
                        <a:solidFill>
                          <a:srgbClr val="0070C0"/>
                        </a:solidFill>
                        <a:latin typeface="Cambria Math" panose="02040503050406030204" pitchFamily="18" charset="0"/>
                      </a:rPr>
                      <m:t>28.9</m:t>
                    </m:r>
                    <m:r>
                      <a:rPr lang="en-NZ" altLang="ja-JP" sz="1600" b="1" i="1">
                        <a:solidFill>
                          <a:srgbClr val="0070C0"/>
                        </a:solidFill>
                        <a:latin typeface="Cambria Math" panose="02040503050406030204" pitchFamily="18" charset="0"/>
                      </a:rPr>
                      <m:t>%</m:t>
                    </m:r>
                  </m:oMath>
                </a14:m>
                <a:endParaRPr lang="en-NZ" altLang="ja-JP" sz="1600" dirty="0">
                  <a:solidFill>
                    <a:srgbClr val="0070C0"/>
                  </a:solidFill>
                </a:endParaRPr>
              </a:p>
              <a:p>
                <a:pPr algn="ctr">
                  <a:lnSpc>
                    <a:spcPct val="100000"/>
                  </a:lnSpc>
                </a:pPr>
                <a:endParaRPr lang="en-NZ" altLang="ja-JP" sz="1600" dirty="0">
                  <a:solidFill>
                    <a:srgbClr val="0070C0"/>
                  </a:solidFill>
                </a:endParaRPr>
              </a:p>
              <a:p>
                <a:pPr algn="ctr">
                  <a:lnSpc>
                    <a:spcPct val="100000"/>
                  </a:lnSpc>
                </a:pPr>
                <a:endParaRPr lang="en-NZ" altLang="ja-JP" sz="1800" dirty="0">
                  <a:solidFill>
                    <a:srgbClr val="0070C0"/>
                  </a:solidFill>
                </a:endParaRPr>
              </a:p>
            </p:txBody>
          </p:sp>
        </mc:Choice>
        <mc:Fallback xmlns="">
          <p:sp>
            <p:nvSpPr>
              <p:cNvPr id="15" name="Text Placeholder 5">
                <a:extLst>
                  <a:ext uri="{FF2B5EF4-FFF2-40B4-BE49-F238E27FC236}">
                    <a16:creationId xmlns:a16="http://schemas.microsoft.com/office/drawing/2014/main" id="{E891F096-28BF-12CF-B103-5297AB196006}"/>
                  </a:ext>
                </a:extLst>
              </p:cNvPr>
              <p:cNvSpPr txBox="1">
                <a:spLocks noRot="1" noChangeAspect="1" noMove="1" noResize="1" noEditPoints="1" noAdjustHandles="1" noChangeArrowheads="1" noChangeShapeType="1" noTextEdit="1"/>
              </p:cNvSpPr>
              <p:nvPr/>
            </p:nvSpPr>
            <p:spPr>
              <a:xfrm>
                <a:off x="7213420" y="717429"/>
                <a:ext cx="4559479" cy="6054432"/>
              </a:xfrm>
              <a:prstGeom prst="rect">
                <a:avLst/>
              </a:prstGeom>
              <a:blipFill>
                <a:blip r:embed="rId3"/>
                <a:stretch>
                  <a:fillRect l="-535"/>
                </a:stretch>
              </a:blipFill>
            </p:spPr>
            <p:txBody>
              <a:bodyPr/>
              <a:lstStyle/>
              <a:p>
                <a:r>
                  <a:rPr lang="en-NZ">
                    <a:noFill/>
                  </a:rPr>
                  <a:t> </a:t>
                </a:r>
              </a:p>
            </p:txBody>
          </p:sp>
        </mc:Fallback>
      </mc:AlternateContent>
      <p:cxnSp>
        <p:nvCxnSpPr>
          <p:cNvPr id="16" name="Straight Arrow Connector 15">
            <a:extLst>
              <a:ext uri="{FF2B5EF4-FFF2-40B4-BE49-F238E27FC236}">
                <a16:creationId xmlns:a16="http://schemas.microsoft.com/office/drawing/2014/main" id="{A0B54759-D5C8-C63F-16D4-DD2593D032CD}"/>
              </a:ext>
            </a:extLst>
          </p:cNvPr>
          <p:cNvCxnSpPr>
            <a:cxnSpLocks/>
            <a:stCxn id="19" idx="7"/>
          </p:cNvCxnSpPr>
          <p:nvPr/>
        </p:nvCxnSpPr>
        <p:spPr>
          <a:xfrm flipV="1">
            <a:off x="2568003" y="944012"/>
            <a:ext cx="4645417" cy="1872147"/>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9" name="Oval 18">
            <a:extLst>
              <a:ext uri="{FF2B5EF4-FFF2-40B4-BE49-F238E27FC236}">
                <a16:creationId xmlns:a16="http://schemas.microsoft.com/office/drawing/2014/main" id="{924715A2-10B9-84A3-E6A1-D0F56F6BFB0F}"/>
              </a:ext>
            </a:extLst>
          </p:cNvPr>
          <p:cNvSpPr/>
          <p:nvPr/>
        </p:nvSpPr>
        <p:spPr>
          <a:xfrm>
            <a:off x="1705970" y="2767796"/>
            <a:ext cx="1009935" cy="330246"/>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p>
        </p:txBody>
      </p:sp>
      <p:cxnSp>
        <p:nvCxnSpPr>
          <p:cNvPr id="21" name="Straight Arrow Connector 20">
            <a:extLst>
              <a:ext uri="{FF2B5EF4-FFF2-40B4-BE49-F238E27FC236}">
                <a16:creationId xmlns:a16="http://schemas.microsoft.com/office/drawing/2014/main" id="{A464A6C0-7BF0-E568-5C9E-0E018ECEC323}"/>
              </a:ext>
            </a:extLst>
          </p:cNvPr>
          <p:cNvCxnSpPr>
            <a:cxnSpLocks/>
            <a:stCxn id="22" idx="7"/>
          </p:cNvCxnSpPr>
          <p:nvPr/>
        </p:nvCxnSpPr>
        <p:spPr>
          <a:xfrm flipV="1">
            <a:off x="2441761" y="1651379"/>
            <a:ext cx="4771658" cy="1795084"/>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2" name="Oval 21">
            <a:extLst>
              <a:ext uri="{FF2B5EF4-FFF2-40B4-BE49-F238E27FC236}">
                <a16:creationId xmlns:a16="http://schemas.microsoft.com/office/drawing/2014/main" id="{E6121BDF-AAB9-151B-6C50-0E5D3937B02C}"/>
              </a:ext>
            </a:extLst>
          </p:cNvPr>
          <p:cNvSpPr/>
          <p:nvPr/>
        </p:nvSpPr>
        <p:spPr>
          <a:xfrm>
            <a:off x="1705970" y="3398100"/>
            <a:ext cx="862033" cy="330246"/>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23" name="Oval 22">
            <a:extLst>
              <a:ext uri="{FF2B5EF4-FFF2-40B4-BE49-F238E27FC236}">
                <a16:creationId xmlns:a16="http://schemas.microsoft.com/office/drawing/2014/main" id="{57DBE6DE-5250-0576-3243-626EE35B35FF}"/>
              </a:ext>
            </a:extLst>
          </p:cNvPr>
          <p:cNvSpPr/>
          <p:nvPr/>
        </p:nvSpPr>
        <p:spPr>
          <a:xfrm>
            <a:off x="2568003" y="3442414"/>
            <a:ext cx="765310" cy="256085"/>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p>
        </p:txBody>
      </p:sp>
      <p:cxnSp>
        <p:nvCxnSpPr>
          <p:cNvPr id="24" name="Straight Arrow Connector 23">
            <a:extLst>
              <a:ext uri="{FF2B5EF4-FFF2-40B4-BE49-F238E27FC236}">
                <a16:creationId xmlns:a16="http://schemas.microsoft.com/office/drawing/2014/main" id="{E83F86F6-1248-EC80-3750-E00DEF6F4B72}"/>
              </a:ext>
            </a:extLst>
          </p:cNvPr>
          <p:cNvCxnSpPr>
            <a:cxnSpLocks/>
            <a:stCxn id="23" idx="6"/>
          </p:cNvCxnSpPr>
          <p:nvPr/>
        </p:nvCxnSpPr>
        <p:spPr>
          <a:xfrm flipV="1">
            <a:off x="3333313" y="2347415"/>
            <a:ext cx="3880106" cy="1223042"/>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7" name="Footer Placeholder 2">
            <a:extLst>
              <a:ext uri="{FF2B5EF4-FFF2-40B4-BE49-F238E27FC236}">
                <a16:creationId xmlns:a16="http://schemas.microsoft.com/office/drawing/2014/main" id="{136F78F1-7D77-A90E-CA68-D2661785A5A7}"/>
              </a:ext>
            </a:extLst>
          </p:cNvPr>
          <p:cNvSpPr txBox="1">
            <a:spLocks/>
          </p:cNvSpPr>
          <p:nvPr/>
        </p:nvSpPr>
        <p:spPr>
          <a:xfrm>
            <a:off x="7397088" y="86139"/>
            <a:ext cx="4692278"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rPr>
              <a:t>5.5 – Computational Example 3-Stage Nested Design</a:t>
            </a:r>
            <a:endParaRPr kumimoji="1" lang="ja-JP" altLang="en-US"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endParaRPr>
          </a:p>
        </p:txBody>
      </p:sp>
      <p:sp>
        <p:nvSpPr>
          <p:cNvPr id="2" name="Text Placeholder 5">
            <a:extLst>
              <a:ext uri="{FF2B5EF4-FFF2-40B4-BE49-F238E27FC236}">
                <a16:creationId xmlns:a16="http://schemas.microsoft.com/office/drawing/2014/main" id="{DEC43A40-C3F8-4AFD-F265-EAD5B6641CA8}"/>
              </a:ext>
            </a:extLst>
          </p:cNvPr>
          <p:cNvSpPr txBox="1">
            <a:spLocks/>
          </p:cNvSpPr>
          <p:nvPr/>
        </p:nvSpPr>
        <p:spPr>
          <a:xfrm>
            <a:off x="251223" y="993808"/>
            <a:ext cx="6108633" cy="504967"/>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1800" b="1" dirty="0">
                <a:solidFill>
                  <a:schemeClr val="tx1"/>
                </a:solidFill>
              </a:rPr>
              <a:t>Calculating proportion of variance using the </a:t>
            </a:r>
            <a:r>
              <a:rPr lang="en-NZ" altLang="ja-JP" sz="1800" b="1" dirty="0" err="1">
                <a:solidFill>
                  <a:schemeClr val="tx1"/>
                </a:solidFill>
              </a:rPr>
              <a:t>nlme</a:t>
            </a:r>
            <a:r>
              <a:rPr lang="en-NZ" altLang="ja-JP" sz="1800" b="1" dirty="0">
                <a:solidFill>
                  <a:schemeClr val="tx1"/>
                </a:solidFill>
              </a:rPr>
              <a:t> package </a:t>
            </a:r>
            <a:r>
              <a:rPr lang="en-NZ" altLang="ja-JP" sz="1800" dirty="0">
                <a:solidFill>
                  <a:srgbClr val="00B050"/>
                </a:solidFill>
                <a:sym typeface="Wingdings" panose="05000000000000000000" pitchFamily="2" charset="2"/>
              </a:rPr>
              <a:t></a:t>
            </a:r>
            <a:endParaRPr lang="en-NZ" altLang="ja-JP" sz="1800" b="1" dirty="0">
              <a:solidFill>
                <a:srgbClr val="0070C0"/>
              </a:solidFill>
            </a:endParaRPr>
          </a:p>
        </p:txBody>
      </p:sp>
    </p:spTree>
    <p:extLst>
      <p:ext uri="{BB962C8B-B14F-4D97-AF65-F5344CB8AC3E}">
        <p14:creationId xmlns:p14="http://schemas.microsoft.com/office/powerpoint/2010/main" val="9739355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1"/>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3"/>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9" grpId="0" animBg="1"/>
      <p:bldP spid="22" grpId="0" animBg="1"/>
      <p:bldP spid="23"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BAD7CC0-EFD5-883F-AD46-2AB224EE302F}"/>
              </a:ext>
            </a:extLst>
          </p:cNvPr>
          <p:cNvPicPr>
            <a:picLocks noChangeAspect="1"/>
          </p:cNvPicPr>
          <p:nvPr/>
        </p:nvPicPr>
        <p:blipFill>
          <a:blip r:embed="rId2"/>
          <a:stretch>
            <a:fillRect/>
          </a:stretch>
        </p:blipFill>
        <p:spPr>
          <a:xfrm>
            <a:off x="894231" y="2890956"/>
            <a:ext cx="4624015" cy="2019558"/>
          </a:xfrm>
          <a:prstGeom prst="rect">
            <a:avLst/>
          </a:prstGeom>
        </p:spPr>
      </p:pic>
      <p:pic>
        <p:nvPicPr>
          <p:cNvPr id="6" name="Picture 5">
            <a:extLst>
              <a:ext uri="{FF2B5EF4-FFF2-40B4-BE49-F238E27FC236}">
                <a16:creationId xmlns:a16="http://schemas.microsoft.com/office/drawing/2014/main" id="{E1F2C92C-58ED-6099-2C47-24C1AE22B2AE}"/>
              </a:ext>
            </a:extLst>
          </p:cNvPr>
          <p:cNvPicPr>
            <a:picLocks noChangeAspect="1"/>
          </p:cNvPicPr>
          <p:nvPr/>
        </p:nvPicPr>
        <p:blipFill>
          <a:blip r:embed="rId3"/>
          <a:stretch>
            <a:fillRect/>
          </a:stretch>
        </p:blipFill>
        <p:spPr>
          <a:xfrm>
            <a:off x="506682" y="1357983"/>
            <a:ext cx="7486721" cy="1125910"/>
          </a:xfrm>
          <a:prstGeom prst="rect">
            <a:avLst/>
          </a:prstGeom>
        </p:spPr>
      </p:pic>
      <p:sp>
        <p:nvSpPr>
          <p:cNvPr id="10" name="Slide Number Placeholder 3">
            <a:extLst>
              <a:ext uri="{FF2B5EF4-FFF2-40B4-BE49-F238E27FC236}">
                <a16:creationId xmlns:a16="http://schemas.microsoft.com/office/drawing/2014/main" id="{B0C9041D-77F0-4656-90D4-0E84B7AC6B27}"/>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54AD89C-DF1E-4948-B597-5DD47B34A9CA}" type="slidenum">
              <a:rPr kumimoji="1" lang="ja-JP" altLang="en-US" sz="4000" b="0" i="0" u="none" strike="noStrike" kern="1200" cap="none" spc="0" normalizeH="0" baseline="0" noProof="0" smtClean="0">
                <a:ln>
                  <a:noFill/>
                </a:ln>
                <a:solidFill>
                  <a:srgbClr val="575454">
                    <a:lumMod val="20000"/>
                    <a:lumOff val="80000"/>
                  </a:srgbClr>
                </a:solidFill>
                <a:effectLst/>
                <a:uLnTx/>
                <a:uFillTx/>
                <a:latin typeface="Coo Hew"/>
                <a:ea typeface="游ゴシック" panose="020B0400000000000000"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43</a:t>
            </a:fld>
            <a:endParaRPr kumimoji="1" lang="ja-JP" altLang="en-US" sz="4000" b="0" i="0" u="none" strike="noStrike" kern="1200" cap="none" spc="0" normalizeH="0" baseline="0" noProof="0" dirty="0">
              <a:ln>
                <a:noFill/>
              </a:ln>
              <a:solidFill>
                <a:srgbClr val="575454">
                  <a:lumMod val="20000"/>
                  <a:lumOff val="80000"/>
                </a:srgbClr>
              </a:solidFill>
              <a:effectLst/>
              <a:uLnTx/>
              <a:uFillTx/>
              <a:latin typeface="Coo Hew"/>
              <a:ea typeface="游ゴシック" panose="020B0400000000000000" pitchFamily="34" charset="-128"/>
              <a:cs typeface="+mn-cs"/>
            </a:endParaRPr>
          </a:p>
        </p:txBody>
      </p:sp>
      <p:sp>
        <p:nvSpPr>
          <p:cNvPr id="12" name="Title 6">
            <a:extLst>
              <a:ext uri="{FF2B5EF4-FFF2-40B4-BE49-F238E27FC236}">
                <a16:creationId xmlns:a16="http://schemas.microsoft.com/office/drawing/2014/main" id="{E29C48A5-6C7D-116A-5690-3554252D2CFE}"/>
              </a:ext>
            </a:extLst>
          </p:cNvPr>
          <p:cNvSpPr txBox="1">
            <a:spLocks/>
          </p:cNvSpPr>
          <p:nvPr/>
        </p:nvSpPr>
        <p:spPr>
          <a:xfrm>
            <a:off x="251224" y="237833"/>
            <a:ext cx="6654543" cy="607201"/>
          </a:xfrm>
          <a:prstGeom prst="rect">
            <a:avLst/>
          </a:prstGeom>
        </p:spPr>
        <p:txBody>
          <a:bodyPr anchor="t">
            <a:normAutofit/>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pPr marL="0" marR="0" lvl="0" indent="0" algn="l" defTabSz="914324" rtl="0" eaLnBrk="1" fontAlgn="auto" latinLnBrk="0" hangingPunct="1">
              <a:lnSpc>
                <a:spcPct val="90000"/>
              </a:lnSpc>
              <a:spcBef>
                <a:spcPct val="0"/>
              </a:spcBef>
              <a:spcAft>
                <a:spcPts val="0"/>
              </a:spcAft>
              <a:buClrTx/>
              <a:buSzTx/>
              <a:buFontTx/>
              <a:buNone/>
              <a:tabLst/>
              <a:defRPr/>
            </a:pPr>
            <a:r>
              <a:rPr kumimoji="1" lang="en-US" altLang="ja-JP"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rPr>
              <a:t>5.5a – Burger Fat Example:</a:t>
            </a:r>
            <a:endParaRPr kumimoji="1" lang="ja-JP" altLang="en-US"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endParaRPr>
          </a:p>
        </p:txBody>
      </p:sp>
      <p:sp>
        <p:nvSpPr>
          <p:cNvPr id="14" name="Text Placeholder 5">
            <a:extLst>
              <a:ext uri="{FF2B5EF4-FFF2-40B4-BE49-F238E27FC236}">
                <a16:creationId xmlns:a16="http://schemas.microsoft.com/office/drawing/2014/main" id="{AB91BE18-6422-025C-1A72-2B5785815ECA}"/>
              </a:ext>
            </a:extLst>
          </p:cNvPr>
          <p:cNvSpPr txBox="1">
            <a:spLocks/>
          </p:cNvSpPr>
          <p:nvPr/>
        </p:nvSpPr>
        <p:spPr>
          <a:xfrm>
            <a:off x="3011606" y="6520328"/>
            <a:ext cx="6168789" cy="30855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200" b="0" i="0"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rPr>
              <a:t>Associated code = 5.5 - Burger Fat (Three Stage Nested Design Example)</a:t>
            </a:r>
            <a:endParaRPr kumimoji="1" lang="en-US" altLang="ja-JP" sz="1200" b="1"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p:cxnSp>
        <p:nvCxnSpPr>
          <p:cNvPr id="16" name="Straight Arrow Connector 15">
            <a:extLst>
              <a:ext uri="{FF2B5EF4-FFF2-40B4-BE49-F238E27FC236}">
                <a16:creationId xmlns:a16="http://schemas.microsoft.com/office/drawing/2014/main" id="{A0B54759-D5C8-C63F-16D4-DD2593D032CD}"/>
              </a:ext>
            </a:extLst>
          </p:cNvPr>
          <p:cNvCxnSpPr>
            <a:cxnSpLocks/>
            <a:stCxn id="19" idx="6"/>
          </p:cNvCxnSpPr>
          <p:nvPr/>
        </p:nvCxnSpPr>
        <p:spPr>
          <a:xfrm flipV="1">
            <a:off x="4790364" y="3104926"/>
            <a:ext cx="1561973" cy="165123"/>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9" name="Oval 18">
            <a:extLst>
              <a:ext uri="{FF2B5EF4-FFF2-40B4-BE49-F238E27FC236}">
                <a16:creationId xmlns:a16="http://schemas.microsoft.com/office/drawing/2014/main" id="{924715A2-10B9-84A3-E6A1-D0F56F6BFB0F}"/>
              </a:ext>
            </a:extLst>
          </p:cNvPr>
          <p:cNvSpPr/>
          <p:nvPr/>
        </p:nvSpPr>
        <p:spPr>
          <a:xfrm>
            <a:off x="3515446" y="3104926"/>
            <a:ext cx="1274918" cy="330246"/>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17" name="Text Placeholder 5">
            <a:extLst>
              <a:ext uri="{FF2B5EF4-FFF2-40B4-BE49-F238E27FC236}">
                <a16:creationId xmlns:a16="http://schemas.microsoft.com/office/drawing/2014/main" id="{FE3DD500-8D57-C16B-FAD0-985172BAE145}"/>
              </a:ext>
            </a:extLst>
          </p:cNvPr>
          <p:cNvSpPr txBox="1">
            <a:spLocks/>
          </p:cNvSpPr>
          <p:nvPr/>
        </p:nvSpPr>
        <p:spPr>
          <a:xfrm>
            <a:off x="6352337" y="2910038"/>
            <a:ext cx="5375823" cy="1589099"/>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285750" indent="-285750">
              <a:lnSpc>
                <a:spcPct val="100000"/>
              </a:lnSpc>
              <a:buFont typeface="Symbol" panose="05050102010706020507" pitchFamily="18" charset="2"/>
              <a:buChar char="Þ"/>
            </a:pPr>
            <a:r>
              <a:rPr lang="en-NZ" altLang="ja-JP" sz="1800" dirty="0">
                <a:solidFill>
                  <a:srgbClr val="0070C0"/>
                </a:solidFill>
              </a:rPr>
              <a:t>F-value = 0.16176,  p-value = 0.7081.</a:t>
            </a:r>
            <a:br>
              <a:rPr lang="en-NZ" altLang="ja-JP" sz="1800" dirty="0">
                <a:solidFill>
                  <a:srgbClr val="0070C0"/>
                </a:solidFill>
              </a:rPr>
            </a:br>
            <a:r>
              <a:rPr lang="en-NZ" altLang="ja-JP" sz="1800" dirty="0">
                <a:solidFill>
                  <a:srgbClr val="0070C0"/>
                </a:solidFill>
              </a:rPr>
              <a:t>No evidence against the null hypothesis</a:t>
            </a:r>
            <a:br>
              <a:rPr lang="en-NZ" altLang="ja-JP" sz="1800" dirty="0">
                <a:solidFill>
                  <a:srgbClr val="0070C0"/>
                </a:solidFill>
              </a:rPr>
            </a:br>
            <a:r>
              <a:rPr lang="en-NZ" altLang="ja-JP" sz="1800" dirty="0">
                <a:solidFill>
                  <a:srgbClr val="0070C0"/>
                </a:solidFill>
              </a:rPr>
              <a:t>No evidence that fat content differs between region</a:t>
            </a:r>
          </a:p>
          <a:p>
            <a:pPr marL="285750" indent="-285750">
              <a:lnSpc>
                <a:spcPct val="100000"/>
              </a:lnSpc>
              <a:buFont typeface="Symbol" panose="05050102010706020507" pitchFamily="18" charset="2"/>
              <a:buChar char="Þ"/>
            </a:pPr>
            <a:endParaRPr lang="en-NZ" altLang="ja-JP" sz="1800" dirty="0">
              <a:solidFill>
                <a:srgbClr val="0070C0"/>
              </a:solidFill>
            </a:endParaRPr>
          </a:p>
          <a:p>
            <a:pPr>
              <a:lnSpc>
                <a:spcPct val="100000"/>
              </a:lnSpc>
            </a:pPr>
            <a:r>
              <a:rPr lang="en-NZ" altLang="ja-JP" sz="1800" dirty="0">
                <a:solidFill>
                  <a:srgbClr val="0070C0"/>
                </a:solidFill>
              </a:rPr>
              <a:t>Same as before!</a:t>
            </a:r>
          </a:p>
        </p:txBody>
      </p:sp>
      <p:sp>
        <p:nvSpPr>
          <p:cNvPr id="15" name="Footer Placeholder 2">
            <a:extLst>
              <a:ext uri="{FF2B5EF4-FFF2-40B4-BE49-F238E27FC236}">
                <a16:creationId xmlns:a16="http://schemas.microsoft.com/office/drawing/2014/main" id="{516FDF25-F6FC-043A-A3E5-03AC0DC6FCA5}"/>
              </a:ext>
            </a:extLst>
          </p:cNvPr>
          <p:cNvSpPr txBox="1">
            <a:spLocks/>
          </p:cNvSpPr>
          <p:nvPr/>
        </p:nvSpPr>
        <p:spPr>
          <a:xfrm>
            <a:off x="7397088" y="86139"/>
            <a:ext cx="4692278"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rPr>
              <a:t>5.5 – Computational Example 3-Stage Nested Design</a:t>
            </a:r>
            <a:endParaRPr kumimoji="1" lang="ja-JP" altLang="en-US"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endParaRPr>
          </a:p>
        </p:txBody>
      </p:sp>
      <p:sp>
        <p:nvSpPr>
          <p:cNvPr id="2" name="Text Placeholder 5">
            <a:extLst>
              <a:ext uri="{FF2B5EF4-FFF2-40B4-BE49-F238E27FC236}">
                <a16:creationId xmlns:a16="http://schemas.microsoft.com/office/drawing/2014/main" id="{1D6F6DD1-EE25-3ACE-94DC-D1CEC828CE82}"/>
              </a:ext>
            </a:extLst>
          </p:cNvPr>
          <p:cNvSpPr txBox="1">
            <a:spLocks/>
          </p:cNvSpPr>
          <p:nvPr/>
        </p:nvSpPr>
        <p:spPr>
          <a:xfrm>
            <a:off x="418458" y="1006751"/>
            <a:ext cx="5894348" cy="504967"/>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1800" b="1" dirty="0">
                <a:solidFill>
                  <a:schemeClr val="tx1"/>
                </a:solidFill>
              </a:rPr>
              <a:t>Test of Factor A effects using the </a:t>
            </a:r>
            <a:r>
              <a:rPr lang="en-NZ" altLang="ja-JP" sz="1800" b="1" dirty="0" err="1">
                <a:solidFill>
                  <a:schemeClr val="tx1"/>
                </a:solidFill>
              </a:rPr>
              <a:t>aov</a:t>
            </a:r>
            <a:r>
              <a:rPr lang="en-NZ" altLang="ja-JP" sz="1800" b="1" dirty="0">
                <a:solidFill>
                  <a:schemeClr val="tx1"/>
                </a:solidFill>
              </a:rPr>
              <a:t>() command </a:t>
            </a:r>
            <a:r>
              <a:rPr lang="en-NZ" altLang="ja-JP" sz="1800" dirty="0">
                <a:solidFill>
                  <a:srgbClr val="C00000"/>
                </a:solidFill>
                <a:sym typeface="Wingdings" panose="05000000000000000000" pitchFamily="2" charset="2"/>
              </a:rPr>
              <a:t></a:t>
            </a:r>
            <a:endParaRPr lang="en-NZ" altLang="ja-JP" sz="1800" dirty="0">
              <a:solidFill>
                <a:srgbClr val="C00000"/>
              </a:solidFill>
            </a:endParaRPr>
          </a:p>
        </p:txBody>
      </p:sp>
    </p:spTree>
    <p:extLst>
      <p:ext uri="{BB962C8B-B14F-4D97-AF65-F5344CB8AC3E}">
        <p14:creationId xmlns:p14="http://schemas.microsoft.com/office/powerpoint/2010/main" val="12834632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17"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BAD7CC0-EFD5-883F-AD46-2AB224EE302F}"/>
              </a:ext>
            </a:extLst>
          </p:cNvPr>
          <p:cNvPicPr>
            <a:picLocks noChangeAspect="1"/>
          </p:cNvPicPr>
          <p:nvPr/>
        </p:nvPicPr>
        <p:blipFill>
          <a:blip r:embed="rId2"/>
          <a:stretch>
            <a:fillRect/>
          </a:stretch>
        </p:blipFill>
        <p:spPr>
          <a:xfrm>
            <a:off x="894231" y="2890956"/>
            <a:ext cx="4624015" cy="2019558"/>
          </a:xfrm>
          <a:prstGeom prst="rect">
            <a:avLst/>
          </a:prstGeom>
        </p:spPr>
      </p:pic>
      <p:pic>
        <p:nvPicPr>
          <p:cNvPr id="6" name="Picture 5">
            <a:extLst>
              <a:ext uri="{FF2B5EF4-FFF2-40B4-BE49-F238E27FC236}">
                <a16:creationId xmlns:a16="http://schemas.microsoft.com/office/drawing/2014/main" id="{E1F2C92C-58ED-6099-2C47-24C1AE22B2AE}"/>
              </a:ext>
            </a:extLst>
          </p:cNvPr>
          <p:cNvPicPr>
            <a:picLocks noChangeAspect="1"/>
          </p:cNvPicPr>
          <p:nvPr/>
        </p:nvPicPr>
        <p:blipFill>
          <a:blip r:embed="rId3"/>
          <a:stretch>
            <a:fillRect/>
          </a:stretch>
        </p:blipFill>
        <p:spPr>
          <a:xfrm>
            <a:off x="506683" y="1357983"/>
            <a:ext cx="6890406" cy="1125910"/>
          </a:xfrm>
          <a:prstGeom prst="rect">
            <a:avLst/>
          </a:prstGeom>
        </p:spPr>
      </p:pic>
      <p:sp>
        <p:nvSpPr>
          <p:cNvPr id="10" name="Slide Number Placeholder 3">
            <a:extLst>
              <a:ext uri="{FF2B5EF4-FFF2-40B4-BE49-F238E27FC236}">
                <a16:creationId xmlns:a16="http://schemas.microsoft.com/office/drawing/2014/main" id="{B0C9041D-77F0-4656-90D4-0E84B7AC6B27}"/>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54AD89C-DF1E-4948-B597-5DD47B34A9CA}" type="slidenum">
              <a:rPr kumimoji="1" lang="ja-JP" altLang="en-US" sz="4000" b="0" i="0" u="none" strike="noStrike" kern="1200" cap="none" spc="0" normalizeH="0" baseline="0" noProof="0" smtClean="0">
                <a:ln>
                  <a:noFill/>
                </a:ln>
                <a:solidFill>
                  <a:srgbClr val="575454">
                    <a:lumMod val="20000"/>
                    <a:lumOff val="80000"/>
                  </a:srgbClr>
                </a:solidFill>
                <a:effectLst/>
                <a:uLnTx/>
                <a:uFillTx/>
                <a:latin typeface="Coo Hew"/>
                <a:ea typeface="游ゴシック" panose="020B0400000000000000"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44</a:t>
            </a:fld>
            <a:endParaRPr kumimoji="1" lang="ja-JP" altLang="en-US" sz="4000" b="0" i="0" u="none" strike="noStrike" kern="1200" cap="none" spc="0" normalizeH="0" baseline="0" noProof="0" dirty="0">
              <a:ln>
                <a:noFill/>
              </a:ln>
              <a:solidFill>
                <a:srgbClr val="575454">
                  <a:lumMod val="20000"/>
                  <a:lumOff val="80000"/>
                </a:srgbClr>
              </a:solidFill>
              <a:effectLst/>
              <a:uLnTx/>
              <a:uFillTx/>
              <a:latin typeface="Coo Hew"/>
              <a:ea typeface="游ゴシック" panose="020B0400000000000000" pitchFamily="34" charset="-128"/>
              <a:cs typeface="+mn-cs"/>
            </a:endParaRPr>
          </a:p>
        </p:txBody>
      </p:sp>
      <p:sp>
        <p:nvSpPr>
          <p:cNvPr id="12" name="Title 6">
            <a:extLst>
              <a:ext uri="{FF2B5EF4-FFF2-40B4-BE49-F238E27FC236}">
                <a16:creationId xmlns:a16="http://schemas.microsoft.com/office/drawing/2014/main" id="{E29C48A5-6C7D-116A-5690-3554252D2CFE}"/>
              </a:ext>
            </a:extLst>
          </p:cNvPr>
          <p:cNvSpPr txBox="1">
            <a:spLocks/>
          </p:cNvSpPr>
          <p:nvPr/>
        </p:nvSpPr>
        <p:spPr>
          <a:xfrm>
            <a:off x="251224" y="237833"/>
            <a:ext cx="6654543" cy="607201"/>
          </a:xfrm>
          <a:prstGeom prst="rect">
            <a:avLst/>
          </a:prstGeom>
        </p:spPr>
        <p:txBody>
          <a:bodyPr anchor="t">
            <a:normAutofit/>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pPr marL="0" marR="0" lvl="0" indent="0" algn="l" defTabSz="914324" rtl="0" eaLnBrk="1" fontAlgn="auto" latinLnBrk="0" hangingPunct="1">
              <a:lnSpc>
                <a:spcPct val="90000"/>
              </a:lnSpc>
              <a:spcBef>
                <a:spcPct val="0"/>
              </a:spcBef>
              <a:spcAft>
                <a:spcPts val="0"/>
              </a:spcAft>
              <a:buClrTx/>
              <a:buSzTx/>
              <a:buFontTx/>
              <a:buNone/>
              <a:tabLst/>
              <a:defRPr/>
            </a:pPr>
            <a:r>
              <a:rPr kumimoji="1" lang="en-US" altLang="ja-JP"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rPr>
              <a:t>5.5a – Burger Fat Example:</a:t>
            </a:r>
            <a:endParaRPr kumimoji="1" lang="ja-JP" altLang="en-US"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endParaRPr>
          </a:p>
        </p:txBody>
      </p:sp>
      <p:sp>
        <p:nvSpPr>
          <p:cNvPr id="14" name="Text Placeholder 5">
            <a:extLst>
              <a:ext uri="{FF2B5EF4-FFF2-40B4-BE49-F238E27FC236}">
                <a16:creationId xmlns:a16="http://schemas.microsoft.com/office/drawing/2014/main" id="{AB91BE18-6422-025C-1A72-2B5785815ECA}"/>
              </a:ext>
            </a:extLst>
          </p:cNvPr>
          <p:cNvSpPr txBox="1">
            <a:spLocks/>
          </p:cNvSpPr>
          <p:nvPr/>
        </p:nvSpPr>
        <p:spPr>
          <a:xfrm>
            <a:off x="3011606" y="6520328"/>
            <a:ext cx="6168789" cy="30855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200" b="0" i="0"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rPr>
              <a:t>Associated code = 5.5 - Burger Fat (Three Stage Nested Design Example)</a:t>
            </a:r>
            <a:endParaRPr kumimoji="1" lang="en-US" altLang="ja-JP" sz="1200" b="1"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p:cxnSp>
        <p:nvCxnSpPr>
          <p:cNvPr id="16" name="Straight Arrow Connector 15">
            <a:extLst>
              <a:ext uri="{FF2B5EF4-FFF2-40B4-BE49-F238E27FC236}">
                <a16:creationId xmlns:a16="http://schemas.microsoft.com/office/drawing/2014/main" id="{A0B54759-D5C8-C63F-16D4-DD2593D032CD}"/>
              </a:ext>
            </a:extLst>
          </p:cNvPr>
          <p:cNvCxnSpPr>
            <a:cxnSpLocks/>
            <a:stCxn id="19" idx="7"/>
          </p:cNvCxnSpPr>
          <p:nvPr/>
        </p:nvCxnSpPr>
        <p:spPr>
          <a:xfrm flipV="1">
            <a:off x="3309045" y="753717"/>
            <a:ext cx="3573421" cy="2399572"/>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9" name="Oval 18">
            <a:extLst>
              <a:ext uri="{FF2B5EF4-FFF2-40B4-BE49-F238E27FC236}">
                <a16:creationId xmlns:a16="http://schemas.microsoft.com/office/drawing/2014/main" id="{924715A2-10B9-84A3-E6A1-D0F56F6BFB0F}"/>
              </a:ext>
            </a:extLst>
          </p:cNvPr>
          <p:cNvSpPr/>
          <p:nvPr/>
        </p:nvSpPr>
        <p:spPr>
          <a:xfrm>
            <a:off x="2795523" y="3104926"/>
            <a:ext cx="601629" cy="330246"/>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25" name="Oval 24">
            <a:extLst>
              <a:ext uri="{FF2B5EF4-FFF2-40B4-BE49-F238E27FC236}">
                <a16:creationId xmlns:a16="http://schemas.microsoft.com/office/drawing/2014/main" id="{D2285703-9DA5-5763-4F35-77EAB56B8F43}"/>
              </a:ext>
            </a:extLst>
          </p:cNvPr>
          <p:cNvSpPr/>
          <p:nvPr/>
        </p:nvSpPr>
        <p:spPr>
          <a:xfrm>
            <a:off x="2795523" y="3318896"/>
            <a:ext cx="601629" cy="330246"/>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p>
        </p:txBody>
      </p:sp>
      <p:cxnSp>
        <p:nvCxnSpPr>
          <p:cNvPr id="26" name="Straight Arrow Connector 25">
            <a:extLst>
              <a:ext uri="{FF2B5EF4-FFF2-40B4-BE49-F238E27FC236}">
                <a16:creationId xmlns:a16="http://schemas.microsoft.com/office/drawing/2014/main" id="{26E4FC05-2D88-4169-A418-D7D575CA1A24}"/>
              </a:ext>
            </a:extLst>
          </p:cNvPr>
          <p:cNvCxnSpPr>
            <a:cxnSpLocks/>
          </p:cNvCxnSpPr>
          <p:nvPr/>
        </p:nvCxnSpPr>
        <p:spPr>
          <a:xfrm flipV="1">
            <a:off x="3397152" y="1144013"/>
            <a:ext cx="3508615" cy="2284987"/>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7" name="Text Placeholder 5">
                <a:extLst>
                  <a:ext uri="{FF2B5EF4-FFF2-40B4-BE49-F238E27FC236}">
                    <a16:creationId xmlns:a16="http://schemas.microsoft.com/office/drawing/2014/main" id="{0C788C68-34C1-76A3-67A3-CD1E5ADA4112}"/>
                  </a:ext>
                </a:extLst>
              </p:cNvPr>
              <p:cNvSpPr txBox="1">
                <a:spLocks/>
              </p:cNvSpPr>
              <p:nvPr/>
            </p:nvSpPr>
            <p:spPr>
              <a:xfrm>
                <a:off x="6810637" y="559558"/>
                <a:ext cx="5278729" cy="621230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285750" indent="-285750">
                  <a:lnSpc>
                    <a:spcPct val="100000"/>
                  </a:lnSpc>
                  <a:buFont typeface="Arial" panose="020B0604020202020204" pitchFamily="34" charset="0"/>
                  <a:buChar char="•"/>
                </a:pPr>
                <a14:m>
                  <m:oMath xmlns:m="http://schemas.openxmlformats.org/officeDocument/2006/math">
                    <m:r>
                      <a:rPr lang="en-NZ" altLang="ja-JP" sz="1700" b="0" i="1" smtClean="0">
                        <a:solidFill>
                          <a:srgbClr val="0070C0"/>
                        </a:solidFill>
                        <a:latin typeface="Cambria Math" panose="02040503050406030204" pitchFamily="18" charset="0"/>
                      </a:rPr>
                      <m:t>𝑀</m:t>
                    </m:r>
                    <m:sSub>
                      <m:sSubPr>
                        <m:ctrlPr>
                          <a:rPr lang="en-NZ" altLang="ja-JP" sz="1700" b="0" i="1" smtClean="0">
                            <a:solidFill>
                              <a:srgbClr val="0070C0"/>
                            </a:solidFill>
                            <a:latin typeface="Cambria Math" panose="02040503050406030204" pitchFamily="18" charset="0"/>
                          </a:rPr>
                        </m:ctrlPr>
                      </m:sSubPr>
                      <m:e>
                        <m:r>
                          <a:rPr lang="en-NZ" altLang="ja-JP" sz="1700" b="0" i="1" smtClean="0">
                            <a:solidFill>
                              <a:srgbClr val="0070C0"/>
                            </a:solidFill>
                            <a:latin typeface="Cambria Math" panose="02040503050406030204" pitchFamily="18" charset="0"/>
                          </a:rPr>
                          <m:t>𝑆</m:t>
                        </m:r>
                      </m:e>
                      <m:sub>
                        <m:r>
                          <a:rPr lang="en-NZ" altLang="ja-JP" sz="1700" b="0" i="1" smtClean="0">
                            <a:solidFill>
                              <a:srgbClr val="0070C0"/>
                            </a:solidFill>
                            <a:latin typeface="Cambria Math" panose="02040503050406030204" pitchFamily="18" charset="0"/>
                          </a:rPr>
                          <m:t>𝐴</m:t>
                        </m:r>
                      </m:sub>
                    </m:sSub>
                    <m:r>
                      <a:rPr lang="en-NZ" altLang="ja-JP" sz="1700" b="0" i="1" smtClean="0">
                        <a:solidFill>
                          <a:srgbClr val="0070C0"/>
                        </a:solidFill>
                        <a:latin typeface="Cambria Math" panose="02040503050406030204" pitchFamily="18" charset="0"/>
                      </a:rPr>
                      <m:t>= </m:t>
                    </m:r>
                    <m:sSup>
                      <m:sSupPr>
                        <m:ctrlPr>
                          <a:rPr lang="en-NZ" altLang="ja-JP" sz="1700" b="0" i="1" smtClean="0">
                            <a:solidFill>
                              <a:srgbClr val="0070C0"/>
                            </a:solidFill>
                            <a:latin typeface="Cambria Math" panose="02040503050406030204" pitchFamily="18" charset="0"/>
                          </a:rPr>
                        </m:ctrlPr>
                      </m:sSupPr>
                      <m:e>
                        <m:acc>
                          <m:accPr>
                            <m:chr m:val="̂"/>
                            <m:ctrlPr>
                              <a:rPr lang="en-NZ" altLang="ja-JP" sz="1700" b="0" i="1" smtClean="0">
                                <a:solidFill>
                                  <a:srgbClr val="0070C0"/>
                                </a:solidFill>
                                <a:latin typeface="Cambria Math" panose="02040503050406030204" pitchFamily="18" charset="0"/>
                              </a:rPr>
                            </m:ctrlPr>
                          </m:accPr>
                          <m:e>
                            <m:r>
                              <a:rPr lang="en-NZ" altLang="ja-JP" sz="1700" b="0" i="1" smtClean="0">
                                <a:solidFill>
                                  <a:srgbClr val="0070C0"/>
                                </a:solidFill>
                                <a:latin typeface="Cambria Math" panose="02040503050406030204" pitchFamily="18" charset="0"/>
                              </a:rPr>
                              <m:t>𝜎</m:t>
                            </m:r>
                          </m:e>
                        </m:acc>
                      </m:e>
                      <m:sup>
                        <m:r>
                          <a:rPr lang="en-NZ" altLang="ja-JP" sz="1700" b="0" i="1" smtClean="0">
                            <a:solidFill>
                              <a:srgbClr val="0070C0"/>
                            </a:solidFill>
                            <a:latin typeface="Cambria Math" panose="02040503050406030204" pitchFamily="18" charset="0"/>
                          </a:rPr>
                          <m:t>2</m:t>
                        </m:r>
                      </m:sup>
                    </m:sSup>
                    <m:r>
                      <a:rPr lang="en-NZ" sz="1700" i="1">
                        <a:solidFill>
                          <a:srgbClr val="0070C0"/>
                        </a:solidFill>
                        <a:latin typeface="Cambria Math" panose="02040503050406030204" pitchFamily="18" charset="0"/>
                      </a:rPr>
                      <m:t>+  </m:t>
                    </m:r>
                    <m:r>
                      <a:rPr lang="en-NZ" sz="1700" i="1">
                        <a:solidFill>
                          <a:srgbClr val="0070C0"/>
                        </a:solidFill>
                        <a:latin typeface="Cambria Math" panose="02040503050406030204" pitchFamily="18" charset="0"/>
                      </a:rPr>
                      <m:t>𝑛</m:t>
                    </m:r>
                    <m:sSubSup>
                      <m:sSubSupPr>
                        <m:ctrlPr>
                          <a:rPr lang="en-NZ" altLang="ja-JP" sz="1700" b="0" i="1" smtClean="0">
                            <a:solidFill>
                              <a:srgbClr val="0070C0"/>
                            </a:solidFill>
                            <a:latin typeface="Cambria Math" panose="02040503050406030204" pitchFamily="18" charset="0"/>
                          </a:rPr>
                        </m:ctrlPr>
                      </m:sSubSupPr>
                      <m:e>
                        <m:r>
                          <a:rPr lang="en-NZ" altLang="ja-JP" sz="1700" b="0" i="1" smtClean="0">
                            <a:solidFill>
                              <a:srgbClr val="0070C0"/>
                            </a:solidFill>
                            <a:latin typeface="Cambria Math" panose="02040503050406030204" pitchFamily="18" charset="0"/>
                          </a:rPr>
                          <m:t> </m:t>
                        </m:r>
                        <m:acc>
                          <m:accPr>
                            <m:chr m:val="̂"/>
                            <m:ctrlPr>
                              <a:rPr lang="en-NZ" altLang="ja-JP" sz="1700" i="1">
                                <a:solidFill>
                                  <a:srgbClr val="0070C0"/>
                                </a:solidFill>
                                <a:latin typeface="Cambria Math" panose="02040503050406030204" pitchFamily="18" charset="0"/>
                              </a:rPr>
                            </m:ctrlPr>
                          </m:accPr>
                          <m:e>
                            <m:r>
                              <a:rPr lang="en-NZ" altLang="ja-JP" sz="1700" i="1">
                                <a:solidFill>
                                  <a:srgbClr val="0070C0"/>
                                </a:solidFill>
                                <a:latin typeface="Cambria Math" panose="02040503050406030204" pitchFamily="18" charset="0"/>
                              </a:rPr>
                              <m:t>𝜎</m:t>
                            </m:r>
                          </m:e>
                        </m:acc>
                      </m:e>
                      <m:sub>
                        <m:r>
                          <a:rPr lang="en-NZ" altLang="ja-JP" sz="1700" b="0" i="1" smtClean="0">
                            <a:solidFill>
                              <a:srgbClr val="0070C0"/>
                            </a:solidFill>
                            <a:latin typeface="Cambria Math" panose="02040503050406030204" pitchFamily="18" charset="0"/>
                          </a:rPr>
                          <m:t>𝐶</m:t>
                        </m:r>
                      </m:sub>
                      <m:sup>
                        <m:r>
                          <a:rPr lang="en-NZ" altLang="ja-JP" sz="1700" i="1">
                            <a:solidFill>
                              <a:srgbClr val="0070C0"/>
                            </a:solidFill>
                            <a:latin typeface="Cambria Math" panose="02040503050406030204" pitchFamily="18" charset="0"/>
                          </a:rPr>
                          <m:t>2</m:t>
                        </m:r>
                      </m:sup>
                    </m:sSubSup>
                    <m:r>
                      <a:rPr lang="en-NZ" altLang="ja-JP" sz="1700" b="0" i="1" smtClean="0">
                        <a:solidFill>
                          <a:srgbClr val="0070C0"/>
                        </a:solidFill>
                        <a:latin typeface="Cambria Math" panose="02040503050406030204" pitchFamily="18" charset="0"/>
                      </a:rPr>
                      <m:t> </m:t>
                    </m:r>
                    <m:r>
                      <a:rPr lang="en-NZ" sz="1700" i="1">
                        <a:solidFill>
                          <a:srgbClr val="0070C0"/>
                        </a:solidFill>
                        <a:latin typeface="Cambria Math" panose="02040503050406030204" pitchFamily="18" charset="0"/>
                      </a:rPr>
                      <m:t>+</m:t>
                    </m:r>
                    <m:r>
                      <a:rPr lang="en-NZ" sz="1700" b="0" i="1" smtClean="0">
                        <a:solidFill>
                          <a:srgbClr val="0070C0"/>
                        </a:solidFill>
                        <a:latin typeface="Cambria Math" panose="02040503050406030204" pitchFamily="18" charset="0"/>
                      </a:rPr>
                      <m:t> </m:t>
                    </m:r>
                    <m:r>
                      <a:rPr lang="en-NZ" sz="1700" b="0" i="1" smtClean="0">
                        <a:solidFill>
                          <a:srgbClr val="0070C0"/>
                        </a:solidFill>
                        <a:latin typeface="Cambria Math" panose="02040503050406030204" pitchFamily="18" charset="0"/>
                      </a:rPr>
                      <m:t>𝑐𝑛</m:t>
                    </m:r>
                    <m:sSubSup>
                      <m:sSubSupPr>
                        <m:ctrlPr>
                          <a:rPr lang="en-NZ" altLang="ja-JP" sz="1700" i="1">
                            <a:solidFill>
                              <a:srgbClr val="0070C0"/>
                            </a:solidFill>
                            <a:latin typeface="Cambria Math" panose="02040503050406030204" pitchFamily="18" charset="0"/>
                          </a:rPr>
                        </m:ctrlPr>
                      </m:sSubSupPr>
                      <m:e>
                        <m:r>
                          <a:rPr lang="en-NZ" altLang="ja-JP" sz="1700" i="1">
                            <a:solidFill>
                              <a:srgbClr val="0070C0"/>
                            </a:solidFill>
                            <a:latin typeface="Cambria Math" panose="02040503050406030204" pitchFamily="18" charset="0"/>
                          </a:rPr>
                          <m:t> </m:t>
                        </m:r>
                        <m:acc>
                          <m:accPr>
                            <m:chr m:val="̂"/>
                            <m:ctrlPr>
                              <a:rPr lang="en-NZ" altLang="ja-JP" sz="1700" i="1">
                                <a:solidFill>
                                  <a:srgbClr val="0070C0"/>
                                </a:solidFill>
                                <a:latin typeface="Cambria Math" panose="02040503050406030204" pitchFamily="18" charset="0"/>
                              </a:rPr>
                            </m:ctrlPr>
                          </m:accPr>
                          <m:e>
                            <m:r>
                              <a:rPr lang="en-NZ" altLang="ja-JP" sz="1700" i="1">
                                <a:solidFill>
                                  <a:srgbClr val="0070C0"/>
                                </a:solidFill>
                                <a:latin typeface="Cambria Math" panose="02040503050406030204" pitchFamily="18" charset="0"/>
                              </a:rPr>
                              <m:t>𝜎</m:t>
                            </m:r>
                          </m:e>
                        </m:acc>
                      </m:e>
                      <m:sub>
                        <m:r>
                          <a:rPr lang="en-NZ" altLang="ja-JP" sz="1700" b="0" i="1" smtClean="0">
                            <a:solidFill>
                              <a:srgbClr val="0070C0"/>
                            </a:solidFill>
                            <a:latin typeface="Cambria Math" panose="02040503050406030204" pitchFamily="18" charset="0"/>
                          </a:rPr>
                          <m:t>𝐵</m:t>
                        </m:r>
                      </m:sub>
                      <m:sup>
                        <m:r>
                          <a:rPr lang="en-NZ" altLang="ja-JP" sz="1700" i="1">
                            <a:solidFill>
                              <a:srgbClr val="0070C0"/>
                            </a:solidFill>
                            <a:latin typeface="Cambria Math" panose="02040503050406030204" pitchFamily="18" charset="0"/>
                          </a:rPr>
                          <m:t>2</m:t>
                        </m:r>
                      </m:sup>
                    </m:sSubSup>
                    <m:r>
                      <a:rPr lang="en-NZ" sz="1700" b="0" i="1" smtClean="0">
                        <a:solidFill>
                          <a:srgbClr val="0070C0"/>
                        </a:solidFill>
                        <a:latin typeface="Cambria Math" panose="02040503050406030204" pitchFamily="18" charset="0"/>
                      </a:rPr>
                      <m:t>+</m:t>
                    </m:r>
                    <m:r>
                      <a:rPr lang="en-NZ" sz="1700" i="1">
                        <a:solidFill>
                          <a:srgbClr val="0070C0"/>
                        </a:solidFill>
                        <a:latin typeface="Cambria Math" panose="02040503050406030204" pitchFamily="18" charset="0"/>
                      </a:rPr>
                      <m:t> </m:t>
                    </m:r>
                    <m:r>
                      <a:rPr lang="en-NZ" sz="1700" i="1">
                        <a:solidFill>
                          <a:srgbClr val="0070C0"/>
                        </a:solidFill>
                        <a:latin typeface="Cambria Math" panose="02040503050406030204" pitchFamily="18" charset="0"/>
                      </a:rPr>
                      <m:t>𝑏𝑐𝑛</m:t>
                    </m:r>
                    <m:r>
                      <a:rPr lang="en-NZ" sz="1700" i="1">
                        <a:solidFill>
                          <a:srgbClr val="0070C0"/>
                        </a:solidFill>
                        <a:latin typeface="Cambria Math" panose="02040503050406030204" pitchFamily="18" charset="0"/>
                      </a:rPr>
                      <m:t> </m:t>
                    </m:r>
                    <m:r>
                      <a:rPr lang="en-NZ" sz="1700" i="1">
                        <a:solidFill>
                          <a:srgbClr val="0070C0"/>
                        </a:solidFill>
                        <a:latin typeface="Cambria Math" panose="02040503050406030204" pitchFamily="18" charset="0"/>
                      </a:rPr>
                      <m:t>𝑣</m:t>
                    </m:r>
                    <m:d>
                      <m:dPr>
                        <m:ctrlPr>
                          <a:rPr lang="en-NZ" sz="1700" i="1">
                            <a:solidFill>
                              <a:srgbClr val="0070C0"/>
                            </a:solidFill>
                            <a:latin typeface="Cambria Math" panose="02040503050406030204" pitchFamily="18" charset="0"/>
                          </a:rPr>
                        </m:ctrlPr>
                      </m:dPr>
                      <m:e>
                        <m:acc>
                          <m:accPr>
                            <m:chr m:val="̂"/>
                            <m:ctrlPr>
                              <a:rPr lang="en-NZ" altLang="ja-JP" sz="1700" b="0" i="1" smtClean="0">
                                <a:solidFill>
                                  <a:srgbClr val="0070C0"/>
                                </a:solidFill>
                                <a:latin typeface="Cambria Math" panose="02040503050406030204" pitchFamily="18" charset="0"/>
                              </a:rPr>
                            </m:ctrlPr>
                          </m:accPr>
                          <m:e>
                            <m:r>
                              <a:rPr lang="en-NZ" altLang="ja-JP" sz="1700" b="0" i="1" smtClean="0">
                                <a:solidFill>
                                  <a:srgbClr val="0070C0"/>
                                </a:solidFill>
                                <a:latin typeface="Cambria Math" panose="02040503050406030204" pitchFamily="18" charset="0"/>
                              </a:rPr>
                              <m:t>𝛼</m:t>
                            </m:r>
                          </m:e>
                        </m:acc>
                      </m:e>
                    </m:d>
                    <m:r>
                      <a:rPr lang="en-NZ" sz="1700" b="0" i="1" smtClean="0">
                        <a:solidFill>
                          <a:srgbClr val="0070C0"/>
                        </a:solidFill>
                        <a:latin typeface="Cambria Math" panose="02040503050406030204" pitchFamily="18" charset="0"/>
                      </a:rPr>
                      <m:t> =  10.68</m:t>
                    </m:r>
                  </m:oMath>
                </a14:m>
                <a:endParaRPr lang="en-NZ" altLang="ja-JP" sz="1700" dirty="0">
                  <a:solidFill>
                    <a:srgbClr val="0070C0"/>
                  </a:solidFill>
                </a:endParaRPr>
              </a:p>
              <a:p>
                <a:pPr marL="285750" indent="-285750">
                  <a:lnSpc>
                    <a:spcPct val="100000"/>
                  </a:lnSpc>
                  <a:buFont typeface="Arial" panose="020B0604020202020204" pitchFamily="34" charset="0"/>
                  <a:buChar char="•"/>
                </a:pPr>
                <a:endParaRPr lang="en-NZ" altLang="ja-JP" sz="800" dirty="0">
                  <a:solidFill>
                    <a:srgbClr val="0070C0"/>
                  </a:solidFill>
                </a:endParaRPr>
              </a:p>
              <a:p>
                <a:pPr marL="285750" indent="-285750">
                  <a:lnSpc>
                    <a:spcPct val="100000"/>
                  </a:lnSpc>
                  <a:buFont typeface="Arial" panose="020B0604020202020204" pitchFamily="34" charset="0"/>
                  <a:buChar char="•"/>
                </a:pPr>
                <a14:m>
                  <m:oMath xmlns:m="http://schemas.openxmlformats.org/officeDocument/2006/math">
                    <m:r>
                      <a:rPr lang="en-NZ" altLang="ja-JP" sz="1700" b="0" i="1" smtClean="0">
                        <a:solidFill>
                          <a:srgbClr val="0070C0"/>
                        </a:solidFill>
                        <a:latin typeface="Cambria Math" panose="02040503050406030204" pitchFamily="18" charset="0"/>
                      </a:rPr>
                      <m:t>𝑀</m:t>
                    </m:r>
                    <m:sSub>
                      <m:sSubPr>
                        <m:ctrlPr>
                          <a:rPr lang="en-NZ" altLang="ja-JP" sz="1700" b="0" i="1" smtClean="0">
                            <a:solidFill>
                              <a:srgbClr val="0070C0"/>
                            </a:solidFill>
                            <a:latin typeface="Cambria Math" panose="02040503050406030204" pitchFamily="18" charset="0"/>
                          </a:rPr>
                        </m:ctrlPr>
                      </m:sSubPr>
                      <m:e>
                        <m:r>
                          <a:rPr lang="en-NZ" altLang="ja-JP" sz="1700" b="0" i="1" smtClean="0">
                            <a:solidFill>
                              <a:srgbClr val="0070C0"/>
                            </a:solidFill>
                            <a:latin typeface="Cambria Math" panose="02040503050406030204" pitchFamily="18" charset="0"/>
                          </a:rPr>
                          <m:t>𝑆</m:t>
                        </m:r>
                      </m:e>
                      <m:sub>
                        <m:r>
                          <a:rPr lang="en-NZ" altLang="ja-JP" sz="1700" b="0" i="1" smtClean="0">
                            <a:solidFill>
                              <a:srgbClr val="0070C0"/>
                            </a:solidFill>
                            <a:latin typeface="Cambria Math" panose="02040503050406030204" pitchFamily="18" charset="0"/>
                          </a:rPr>
                          <m:t>𝐵</m:t>
                        </m:r>
                        <m:d>
                          <m:dPr>
                            <m:ctrlPr>
                              <a:rPr lang="en-NZ" altLang="ja-JP" sz="1700" b="0" i="1" smtClean="0">
                                <a:solidFill>
                                  <a:srgbClr val="0070C0"/>
                                </a:solidFill>
                                <a:latin typeface="Cambria Math" panose="02040503050406030204" pitchFamily="18" charset="0"/>
                              </a:rPr>
                            </m:ctrlPr>
                          </m:dPr>
                          <m:e>
                            <m:r>
                              <a:rPr lang="en-NZ" altLang="ja-JP" sz="1700" b="0" i="1" smtClean="0">
                                <a:solidFill>
                                  <a:srgbClr val="0070C0"/>
                                </a:solidFill>
                                <a:latin typeface="Cambria Math" panose="02040503050406030204" pitchFamily="18" charset="0"/>
                              </a:rPr>
                              <m:t>𝐴</m:t>
                            </m:r>
                          </m:e>
                        </m:d>
                      </m:sub>
                    </m:sSub>
                    <m:r>
                      <a:rPr lang="en-NZ" altLang="ja-JP" sz="1700" b="0" i="1" smtClean="0">
                        <a:solidFill>
                          <a:srgbClr val="0070C0"/>
                        </a:solidFill>
                        <a:latin typeface="Cambria Math" panose="02040503050406030204" pitchFamily="18" charset="0"/>
                      </a:rPr>
                      <m:t> =</m:t>
                    </m:r>
                    <m:sSup>
                      <m:sSupPr>
                        <m:ctrlPr>
                          <a:rPr lang="en-NZ" altLang="ja-JP" sz="1700" i="1">
                            <a:solidFill>
                              <a:srgbClr val="0070C0"/>
                            </a:solidFill>
                            <a:latin typeface="Cambria Math" panose="02040503050406030204" pitchFamily="18" charset="0"/>
                          </a:rPr>
                        </m:ctrlPr>
                      </m:sSupPr>
                      <m:e>
                        <m:acc>
                          <m:accPr>
                            <m:chr m:val="̂"/>
                            <m:ctrlPr>
                              <a:rPr lang="en-NZ" altLang="ja-JP" sz="1700" i="1">
                                <a:solidFill>
                                  <a:srgbClr val="0070C0"/>
                                </a:solidFill>
                                <a:latin typeface="Cambria Math" panose="02040503050406030204" pitchFamily="18" charset="0"/>
                              </a:rPr>
                            </m:ctrlPr>
                          </m:accPr>
                          <m:e>
                            <m:r>
                              <a:rPr lang="en-NZ" altLang="ja-JP" sz="1700" i="1">
                                <a:solidFill>
                                  <a:srgbClr val="0070C0"/>
                                </a:solidFill>
                                <a:latin typeface="Cambria Math" panose="02040503050406030204" pitchFamily="18" charset="0"/>
                              </a:rPr>
                              <m:t>𝜎</m:t>
                            </m:r>
                          </m:e>
                        </m:acc>
                      </m:e>
                      <m:sup>
                        <m:r>
                          <a:rPr lang="en-NZ" altLang="ja-JP" sz="1700" i="1">
                            <a:solidFill>
                              <a:srgbClr val="0070C0"/>
                            </a:solidFill>
                            <a:latin typeface="Cambria Math" panose="02040503050406030204" pitchFamily="18" charset="0"/>
                          </a:rPr>
                          <m:t>2</m:t>
                        </m:r>
                      </m:sup>
                    </m:sSup>
                    <m:r>
                      <a:rPr lang="en-NZ" sz="1700" i="1">
                        <a:solidFill>
                          <a:srgbClr val="0070C0"/>
                        </a:solidFill>
                        <a:latin typeface="Cambria Math" panose="02040503050406030204" pitchFamily="18" charset="0"/>
                      </a:rPr>
                      <m:t>+  </m:t>
                    </m:r>
                    <m:r>
                      <a:rPr lang="en-NZ" sz="1700" i="1">
                        <a:solidFill>
                          <a:srgbClr val="0070C0"/>
                        </a:solidFill>
                        <a:latin typeface="Cambria Math" panose="02040503050406030204" pitchFamily="18" charset="0"/>
                      </a:rPr>
                      <m:t>𝑛</m:t>
                    </m:r>
                    <m:sSubSup>
                      <m:sSubSupPr>
                        <m:ctrlPr>
                          <a:rPr lang="en-NZ" altLang="ja-JP" sz="1700" i="1">
                            <a:solidFill>
                              <a:srgbClr val="0070C0"/>
                            </a:solidFill>
                            <a:latin typeface="Cambria Math" panose="02040503050406030204" pitchFamily="18" charset="0"/>
                          </a:rPr>
                        </m:ctrlPr>
                      </m:sSubSupPr>
                      <m:e>
                        <m:r>
                          <a:rPr lang="en-NZ" altLang="ja-JP" sz="1700" i="1">
                            <a:solidFill>
                              <a:srgbClr val="0070C0"/>
                            </a:solidFill>
                            <a:latin typeface="Cambria Math" panose="02040503050406030204" pitchFamily="18" charset="0"/>
                          </a:rPr>
                          <m:t> </m:t>
                        </m:r>
                        <m:acc>
                          <m:accPr>
                            <m:chr m:val="̂"/>
                            <m:ctrlPr>
                              <a:rPr lang="en-NZ" altLang="ja-JP" sz="1700" i="1">
                                <a:solidFill>
                                  <a:srgbClr val="0070C0"/>
                                </a:solidFill>
                                <a:latin typeface="Cambria Math" panose="02040503050406030204" pitchFamily="18" charset="0"/>
                              </a:rPr>
                            </m:ctrlPr>
                          </m:accPr>
                          <m:e>
                            <m:r>
                              <a:rPr lang="en-NZ" altLang="ja-JP" sz="1700" i="1">
                                <a:solidFill>
                                  <a:srgbClr val="0070C0"/>
                                </a:solidFill>
                                <a:latin typeface="Cambria Math" panose="02040503050406030204" pitchFamily="18" charset="0"/>
                              </a:rPr>
                              <m:t>𝜎</m:t>
                            </m:r>
                          </m:e>
                        </m:acc>
                      </m:e>
                      <m:sub>
                        <m:r>
                          <a:rPr lang="en-NZ" altLang="ja-JP" sz="1700" i="1">
                            <a:solidFill>
                              <a:srgbClr val="0070C0"/>
                            </a:solidFill>
                            <a:latin typeface="Cambria Math" panose="02040503050406030204" pitchFamily="18" charset="0"/>
                          </a:rPr>
                          <m:t>𝐶</m:t>
                        </m:r>
                      </m:sub>
                      <m:sup>
                        <m:r>
                          <a:rPr lang="en-NZ" altLang="ja-JP" sz="1700" i="1">
                            <a:solidFill>
                              <a:srgbClr val="0070C0"/>
                            </a:solidFill>
                            <a:latin typeface="Cambria Math" panose="02040503050406030204" pitchFamily="18" charset="0"/>
                          </a:rPr>
                          <m:t>2</m:t>
                        </m:r>
                      </m:sup>
                    </m:sSubSup>
                    <m:r>
                      <a:rPr lang="en-NZ" altLang="ja-JP" sz="1700" b="0" i="1" smtClean="0">
                        <a:solidFill>
                          <a:srgbClr val="0070C0"/>
                        </a:solidFill>
                        <a:latin typeface="Cambria Math" panose="02040503050406030204" pitchFamily="18" charset="0"/>
                      </a:rPr>
                      <m:t> </m:t>
                    </m:r>
                    <m:r>
                      <a:rPr lang="en-NZ" sz="1700" i="1">
                        <a:solidFill>
                          <a:srgbClr val="0070C0"/>
                        </a:solidFill>
                        <a:latin typeface="Cambria Math" panose="02040503050406030204" pitchFamily="18" charset="0"/>
                      </a:rPr>
                      <m:t>+</m:t>
                    </m:r>
                    <m:r>
                      <a:rPr lang="en-NZ" sz="1700" b="0" i="1" smtClean="0">
                        <a:solidFill>
                          <a:srgbClr val="0070C0"/>
                        </a:solidFill>
                        <a:latin typeface="Cambria Math" panose="02040503050406030204" pitchFamily="18" charset="0"/>
                      </a:rPr>
                      <m:t> </m:t>
                    </m:r>
                    <m:r>
                      <a:rPr lang="en-NZ" sz="1700" i="1">
                        <a:solidFill>
                          <a:srgbClr val="0070C0"/>
                        </a:solidFill>
                        <a:latin typeface="Cambria Math" panose="02040503050406030204" pitchFamily="18" charset="0"/>
                      </a:rPr>
                      <m:t>𝑐𝑛</m:t>
                    </m:r>
                    <m:sSubSup>
                      <m:sSubSupPr>
                        <m:ctrlPr>
                          <a:rPr lang="en-NZ" altLang="ja-JP" sz="1700" i="1">
                            <a:solidFill>
                              <a:srgbClr val="0070C0"/>
                            </a:solidFill>
                            <a:latin typeface="Cambria Math" panose="02040503050406030204" pitchFamily="18" charset="0"/>
                          </a:rPr>
                        </m:ctrlPr>
                      </m:sSubSupPr>
                      <m:e>
                        <m:r>
                          <a:rPr lang="en-NZ" altLang="ja-JP" sz="1700" i="1">
                            <a:solidFill>
                              <a:srgbClr val="0070C0"/>
                            </a:solidFill>
                            <a:latin typeface="Cambria Math" panose="02040503050406030204" pitchFamily="18" charset="0"/>
                          </a:rPr>
                          <m:t> </m:t>
                        </m:r>
                        <m:acc>
                          <m:accPr>
                            <m:chr m:val="̂"/>
                            <m:ctrlPr>
                              <a:rPr lang="en-NZ" altLang="ja-JP" sz="1700" i="1">
                                <a:solidFill>
                                  <a:srgbClr val="0070C0"/>
                                </a:solidFill>
                                <a:latin typeface="Cambria Math" panose="02040503050406030204" pitchFamily="18" charset="0"/>
                              </a:rPr>
                            </m:ctrlPr>
                          </m:accPr>
                          <m:e>
                            <m:r>
                              <a:rPr lang="en-NZ" altLang="ja-JP" sz="1700" i="1">
                                <a:solidFill>
                                  <a:srgbClr val="0070C0"/>
                                </a:solidFill>
                                <a:latin typeface="Cambria Math" panose="02040503050406030204" pitchFamily="18" charset="0"/>
                              </a:rPr>
                              <m:t>𝜎</m:t>
                            </m:r>
                          </m:e>
                        </m:acc>
                      </m:e>
                      <m:sub>
                        <m:r>
                          <a:rPr lang="en-NZ" altLang="ja-JP" sz="1700" i="1">
                            <a:solidFill>
                              <a:srgbClr val="0070C0"/>
                            </a:solidFill>
                            <a:latin typeface="Cambria Math" panose="02040503050406030204" pitchFamily="18" charset="0"/>
                          </a:rPr>
                          <m:t>𝐵</m:t>
                        </m:r>
                      </m:sub>
                      <m:sup>
                        <m:r>
                          <a:rPr lang="en-NZ" altLang="ja-JP" sz="1700" i="1">
                            <a:solidFill>
                              <a:srgbClr val="0070C0"/>
                            </a:solidFill>
                            <a:latin typeface="Cambria Math" panose="02040503050406030204" pitchFamily="18" charset="0"/>
                          </a:rPr>
                          <m:t>2</m:t>
                        </m:r>
                      </m:sup>
                    </m:sSubSup>
                    <m:r>
                      <a:rPr lang="en-NZ" altLang="ja-JP" sz="1700" b="0" i="1" smtClean="0">
                        <a:solidFill>
                          <a:srgbClr val="0070C0"/>
                        </a:solidFill>
                        <a:latin typeface="Cambria Math" panose="02040503050406030204" pitchFamily="18" charset="0"/>
                      </a:rPr>
                      <m:t>=   66.01</m:t>
                    </m:r>
                  </m:oMath>
                </a14:m>
                <a:endParaRPr lang="en-NZ" altLang="ja-JP" sz="1700" dirty="0">
                  <a:solidFill>
                    <a:srgbClr val="0070C0"/>
                  </a:solidFill>
                </a:endParaRPr>
              </a:p>
              <a:p>
                <a:pPr marL="285750" indent="-285750">
                  <a:lnSpc>
                    <a:spcPct val="100000"/>
                  </a:lnSpc>
                  <a:buFont typeface="Arial" panose="020B0604020202020204" pitchFamily="34" charset="0"/>
                  <a:buChar char="•"/>
                </a:pPr>
                <a:endParaRPr lang="en-NZ" altLang="ja-JP" sz="800" dirty="0">
                  <a:solidFill>
                    <a:srgbClr val="0070C0"/>
                  </a:solidFill>
                </a:endParaRPr>
              </a:p>
              <a:p>
                <a:pPr marL="285750" indent="-285750">
                  <a:lnSpc>
                    <a:spcPct val="100000"/>
                  </a:lnSpc>
                  <a:buFont typeface="Arial" panose="020B0604020202020204" pitchFamily="34" charset="0"/>
                  <a:buChar char="•"/>
                </a:pPr>
                <a14:m>
                  <m:oMath xmlns:m="http://schemas.openxmlformats.org/officeDocument/2006/math">
                    <m:r>
                      <a:rPr lang="en-NZ" altLang="ja-JP" sz="1700" b="0" i="1" smtClean="0">
                        <a:solidFill>
                          <a:srgbClr val="0070C0"/>
                        </a:solidFill>
                        <a:latin typeface="Cambria Math" panose="02040503050406030204" pitchFamily="18" charset="0"/>
                      </a:rPr>
                      <m:t>𝑀</m:t>
                    </m:r>
                    <m:sSub>
                      <m:sSubPr>
                        <m:ctrlPr>
                          <a:rPr lang="en-NZ" altLang="ja-JP" sz="1700" b="0" i="1" smtClean="0">
                            <a:solidFill>
                              <a:srgbClr val="0070C0"/>
                            </a:solidFill>
                            <a:latin typeface="Cambria Math" panose="02040503050406030204" pitchFamily="18" charset="0"/>
                          </a:rPr>
                        </m:ctrlPr>
                      </m:sSubPr>
                      <m:e>
                        <m:r>
                          <a:rPr lang="en-NZ" altLang="ja-JP" sz="1700" b="0" i="1" smtClean="0">
                            <a:solidFill>
                              <a:srgbClr val="0070C0"/>
                            </a:solidFill>
                            <a:latin typeface="Cambria Math" panose="02040503050406030204" pitchFamily="18" charset="0"/>
                          </a:rPr>
                          <m:t>𝑆</m:t>
                        </m:r>
                      </m:e>
                      <m:sub>
                        <m:r>
                          <a:rPr lang="en-NZ" altLang="ja-JP" sz="1700" b="0" i="1" smtClean="0">
                            <a:solidFill>
                              <a:srgbClr val="0070C0"/>
                            </a:solidFill>
                            <a:latin typeface="Cambria Math" panose="02040503050406030204" pitchFamily="18" charset="0"/>
                          </a:rPr>
                          <m:t>𝐶</m:t>
                        </m:r>
                        <m:r>
                          <a:rPr lang="en-NZ" altLang="ja-JP" sz="1700" b="0" i="1" smtClean="0">
                            <a:solidFill>
                              <a:srgbClr val="0070C0"/>
                            </a:solidFill>
                            <a:latin typeface="Cambria Math" panose="02040503050406030204" pitchFamily="18" charset="0"/>
                          </a:rPr>
                          <m:t>(</m:t>
                        </m:r>
                        <m:r>
                          <a:rPr lang="en-NZ" altLang="ja-JP" sz="1700" b="0" i="1" smtClean="0">
                            <a:solidFill>
                              <a:srgbClr val="0070C0"/>
                            </a:solidFill>
                            <a:latin typeface="Cambria Math" panose="02040503050406030204" pitchFamily="18" charset="0"/>
                          </a:rPr>
                          <m:t>𝐵</m:t>
                        </m:r>
                        <m:d>
                          <m:dPr>
                            <m:ctrlPr>
                              <a:rPr lang="en-NZ" altLang="ja-JP" sz="1700" b="0" i="1" smtClean="0">
                                <a:solidFill>
                                  <a:srgbClr val="0070C0"/>
                                </a:solidFill>
                                <a:latin typeface="Cambria Math" panose="02040503050406030204" pitchFamily="18" charset="0"/>
                              </a:rPr>
                            </m:ctrlPr>
                          </m:dPr>
                          <m:e>
                            <m:r>
                              <a:rPr lang="en-NZ" altLang="ja-JP" sz="1700" b="0" i="1" smtClean="0">
                                <a:solidFill>
                                  <a:srgbClr val="0070C0"/>
                                </a:solidFill>
                                <a:latin typeface="Cambria Math" panose="02040503050406030204" pitchFamily="18" charset="0"/>
                              </a:rPr>
                              <m:t>𝐴</m:t>
                            </m:r>
                          </m:e>
                        </m:d>
                        <m:r>
                          <a:rPr lang="en-NZ" altLang="ja-JP" sz="1700" b="0" i="1" smtClean="0">
                            <a:solidFill>
                              <a:srgbClr val="0070C0"/>
                            </a:solidFill>
                            <a:latin typeface="Cambria Math" panose="02040503050406030204" pitchFamily="18" charset="0"/>
                          </a:rPr>
                          <m:t>)</m:t>
                        </m:r>
                      </m:sub>
                    </m:sSub>
                    <m:r>
                      <a:rPr lang="en-NZ" altLang="ja-JP" sz="1700" b="0" i="1" smtClean="0">
                        <a:solidFill>
                          <a:srgbClr val="0070C0"/>
                        </a:solidFill>
                        <a:latin typeface="Cambria Math" panose="02040503050406030204" pitchFamily="18" charset="0"/>
                      </a:rPr>
                      <m:t> =</m:t>
                    </m:r>
                    <m:sSup>
                      <m:sSupPr>
                        <m:ctrlPr>
                          <a:rPr lang="en-NZ" altLang="ja-JP" sz="1700" i="1">
                            <a:solidFill>
                              <a:srgbClr val="0070C0"/>
                            </a:solidFill>
                            <a:latin typeface="Cambria Math" panose="02040503050406030204" pitchFamily="18" charset="0"/>
                          </a:rPr>
                        </m:ctrlPr>
                      </m:sSupPr>
                      <m:e>
                        <m:acc>
                          <m:accPr>
                            <m:chr m:val="̂"/>
                            <m:ctrlPr>
                              <a:rPr lang="en-NZ" altLang="ja-JP" sz="1700" i="1">
                                <a:solidFill>
                                  <a:srgbClr val="0070C0"/>
                                </a:solidFill>
                                <a:latin typeface="Cambria Math" panose="02040503050406030204" pitchFamily="18" charset="0"/>
                              </a:rPr>
                            </m:ctrlPr>
                          </m:accPr>
                          <m:e>
                            <m:r>
                              <a:rPr lang="en-NZ" altLang="ja-JP" sz="1700" i="1">
                                <a:solidFill>
                                  <a:srgbClr val="0070C0"/>
                                </a:solidFill>
                                <a:latin typeface="Cambria Math" panose="02040503050406030204" pitchFamily="18" charset="0"/>
                              </a:rPr>
                              <m:t>𝜎</m:t>
                            </m:r>
                          </m:e>
                        </m:acc>
                      </m:e>
                      <m:sup>
                        <m:r>
                          <a:rPr lang="en-NZ" altLang="ja-JP" sz="1700" i="1">
                            <a:solidFill>
                              <a:srgbClr val="0070C0"/>
                            </a:solidFill>
                            <a:latin typeface="Cambria Math" panose="02040503050406030204" pitchFamily="18" charset="0"/>
                          </a:rPr>
                          <m:t>2</m:t>
                        </m:r>
                      </m:sup>
                    </m:sSup>
                    <m:r>
                      <a:rPr lang="en-NZ" sz="1700" i="1">
                        <a:solidFill>
                          <a:srgbClr val="0070C0"/>
                        </a:solidFill>
                        <a:latin typeface="Cambria Math" panose="02040503050406030204" pitchFamily="18" charset="0"/>
                      </a:rPr>
                      <m:t>+  </m:t>
                    </m:r>
                    <m:r>
                      <a:rPr lang="en-NZ" sz="1700" i="1">
                        <a:solidFill>
                          <a:srgbClr val="0070C0"/>
                        </a:solidFill>
                        <a:latin typeface="Cambria Math" panose="02040503050406030204" pitchFamily="18" charset="0"/>
                      </a:rPr>
                      <m:t>𝑛</m:t>
                    </m:r>
                    <m:sSubSup>
                      <m:sSubSupPr>
                        <m:ctrlPr>
                          <a:rPr lang="en-NZ" altLang="ja-JP" sz="1700" i="1">
                            <a:solidFill>
                              <a:srgbClr val="0070C0"/>
                            </a:solidFill>
                            <a:latin typeface="Cambria Math" panose="02040503050406030204" pitchFamily="18" charset="0"/>
                          </a:rPr>
                        </m:ctrlPr>
                      </m:sSubSupPr>
                      <m:e>
                        <m:r>
                          <a:rPr lang="en-NZ" altLang="ja-JP" sz="1700" i="1">
                            <a:solidFill>
                              <a:srgbClr val="0070C0"/>
                            </a:solidFill>
                            <a:latin typeface="Cambria Math" panose="02040503050406030204" pitchFamily="18" charset="0"/>
                          </a:rPr>
                          <m:t> </m:t>
                        </m:r>
                        <m:acc>
                          <m:accPr>
                            <m:chr m:val="̂"/>
                            <m:ctrlPr>
                              <a:rPr lang="en-NZ" altLang="ja-JP" sz="1700" i="1">
                                <a:solidFill>
                                  <a:srgbClr val="0070C0"/>
                                </a:solidFill>
                                <a:latin typeface="Cambria Math" panose="02040503050406030204" pitchFamily="18" charset="0"/>
                              </a:rPr>
                            </m:ctrlPr>
                          </m:accPr>
                          <m:e>
                            <m:r>
                              <a:rPr lang="en-NZ" altLang="ja-JP" sz="1700" i="1">
                                <a:solidFill>
                                  <a:srgbClr val="0070C0"/>
                                </a:solidFill>
                                <a:latin typeface="Cambria Math" panose="02040503050406030204" pitchFamily="18" charset="0"/>
                              </a:rPr>
                              <m:t>𝜎</m:t>
                            </m:r>
                          </m:e>
                        </m:acc>
                      </m:e>
                      <m:sub>
                        <m:r>
                          <a:rPr lang="en-NZ" altLang="ja-JP" sz="1700" i="1">
                            <a:solidFill>
                              <a:srgbClr val="0070C0"/>
                            </a:solidFill>
                            <a:latin typeface="Cambria Math" panose="02040503050406030204" pitchFamily="18" charset="0"/>
                          </a:rPr>
                          <m:t>𝐶</m:t>
                        </m:r>
                      </m:sub>
                      <m:sup>
                        <m:r>
                          <a:rPr lang="en-NZ" altLang="ja-JP" sz="1700" i="1">
                            <a:solidFill>
                              <a:srgbClr val="0070C0"/>
                            </a:solidFill>
                            <a:latin typeface="Cambria Math" panose="02040503050406030204" pitchFamily="18" charset="0"/>
                          </a:rPr>
                          <m:t>2</m:t>
                        </m:r>
                      </m:sup>
                    </m:sSubSup>
                    <m:r>
                      <a:rPr lang="en-NZ" altLang="ja-JP" sz="1700" b="0" i="1" smtClean="0">
                        <a:solidFill>
                          <a:srgbClr val="0070C0"/>
                        </a:solidFill>
                        <a:latin typeface="Cambria Math" panose="02040503050406030204" pitchFamily="18" charset="0"/>
                      </a:rPr>
                      <m:t> =   9.311</m:t>
                    </m:r>
                  </m:oMath>
                </a14:m>
                <a:endParaRPr lang="en-NZ" altLang="ja-JP" sz="1700" dirty="0">
                  <a:solidFill>
                    <a:srgbClr val="0070C0"/>
                  </a:solidFill>
                </a:endParaRPr>
              </a:p>
              <a:p>
                <a:pPr marL="285750" indent="-285750">
                  <a:lnSpc>
                    <a:spcPct val="100000"/>
                  </a:lnSpc>
                  <a:buFont typeface="Arial" panose="020B0604020202020204" pitchFamily="34" charset="0"/>
                  <a:buChar char="•"/>
                </a:pPr>
                <a:endParaRPr lang="en-NZ" altLang="ja-JP" sz="800" dirty="0">
                  <a:solidFill>
                    <a:srgbClr val="0070C0"/>
                  </a:solidFill>
                </a:endParaRPr>
              </a:p>
              <a:p>
                <a:pPr marL="285750" indent="-285750">
                  <a:lnSpc>
                    <a:spcPct val="100000"/>
                  </a:lnSpc>
                  <a:buFont typeface="Arial" panose="020B0604020202020204" pitchFamily="34" charset="0"/>
                  <a:buChar char="•"/>
                </a:pPr>
                <a14:m>
                  <m:oMath xmlns:m="http://schemas.openxmlformats.org/officeDocument/2006/math">
                    <m:r>
                      <a:rPr lang="en-NZ" altLang="ja-JP" sz="1700" i="1">
                        <a:solidFill>
                          <a:srgbClr val="0070C0"/>
                        </a:solidFill>
                        <a:latin typeface="Cambria Math" panose="02040503050406030204" pitchFamily="18" charset="0"/>
                      </a:rPr>
                      <m:t>𝑀</m:t>
                    </m:r>
                    <m:r>
                      <a:rPr lang="en-NZ" altLang="ja-JP" sz="1700" b="0" i="1" smtClean="0">
                        <a:solidFill>
                          <a:srgbClr val="0070C0"/>
                        </a:solidFill>
                        <a:latin typeface="Cambria Math" panose="02040503050406030204" pitchFamily="18" charset="0"/>
                      </a:rPr>
                      <m:t>𝑆𝐸</m:t>
                    </m:r>
                    <m:r>
                      <a:rPr lang="en-NZ" altLang="ja-JP" sz="1700" i="1">
                        <a:solidFill>
                          <a:srgbClr val="0070C0"/>
                        </a:solidFill>
                        <a:latin typeface="Cambria Math" panose="02040503050406030204" pitchFamily="18" charset="0"/>
                      </a:rPr>
                      <m:t>  = </m:t>
                    </m:r>
                    <m:sSup>
                      <m:sSupPr>
                        <m:ctrlPr>
                          <a:rPr lang="en-NZ" altLang="ja-JP" sz="1700" i="1">
                            <a:solidFill>
                              <a:srgbClr val="0070C0"/>
                            </a:solidFill>
                            <a:latin typeface="Cambria Math" panose="02040503050406030204" pitchFamily="18" charset="0"/>
                          </a:rPr>
                        </m:ctrlPr>
                      </m:sSupPr>
                      <m:e>
                        <m:acc>
                          <m:accPr>
                            <m:chr m:val="̂"/>
                            <m:ctrlPr>
                              <a:rPr lang="en-NZ" altLang="ja-JP" sz="1700" i="1">
                                <a:solidFill>
                                  <a:srgbClr val="0070C0"/>
                                </a:solidFill>
                                <a:latin typeface="Cambria Math" panose="02040503050406030204" pitchFamily="18" charset="0"/>
                              </a:rPr>
                            </m:ctrlPr>
                          </m:accPr>
                          <m:e>
                            <m:r>
                              <a:rPr lang="en-NZ" altLang="ja-JP" sz="1700" i="1">
                                <a:solidFill>
                                  <a:srgbClr val="0070C0"/>
                                </a:solidFill>
                                <a:latin typeface="Cambria Math" panose="02040503050406030204" pitchFamily="18" charset="0"/>
                              </a:rPr>
                              <m:t> </m:t>
                            </m:r>
                            <m:r>
                              <a:rPr lang="en-NZ" altLang="ja-JP" sz="1700" i="1">
                                <a:solidFill>
                                  <a:srgbClr val="0070C0"/>
                                </a:solidFill>
                                <a:latin typeface="Cambria Math" panose="02040503050406030204" pitchFamily="18" charset="0"/>
                              </a:rPr>
                              <m:t>𝜎</m:t>
                            </m:r>
                          </m:e>
                        </m:acc>
                      </m:e>
                      <m:sup>
                        <m:r>
                          <a:rPr lang="en-NZ" altLang="ja-JP" sz="1700" i="1">
                            <a:solidFill>
                              <a:srgbClr val="0070C0"/>
                            </a:solidFill>
                            <a:latin typeface="Cambria Math" panose="02040503050406030204" pitchFamily="18" charset="0"/>
                          </a:rPr>
                          <m:t>2</m:t>
                        </m:r>
                      </m:sup>
                    </m:sSup>
                    <m:r>
                      <a:rPr lang="en-NZ" altLang="ja-JP" sz="1700" b="0" i="1" smtClean="0">
                        <a:solidFill>
                          <a:srgbClr val="0070C0"/>
                        </a:solidFill>
                        <a:latin typeface="Cambria Math" panose="02040503050406030204" pitchFamily="18" charset="0"/>
                      </a:rPr>
                      <m:t> </m:t>
                    </m:r>
                    <m:r>
                      <a:rPr lang="en-NZ" altLang="ja-JP" sz="1700" i="1">
                        <a:solidFill>
                          <a:srgbClr val="0070C0"/>
                        </a:solidFill>
                        <a:latin typeface="Cambria Math" panose="02040503050406030204" pitchFamily="18" charset="0"/>
                      </a:rPr>
                      <m:t>=   </m:t>
                    </m:r>
                    <m:r>
                      <a:rPr lang="en-NZ" altLang="ja-JP" sz="1700" b="0" i="1" smtClean="0">
                        <a:solidFill>
                          <a:srgbClr val="0070C0"/>
                        </a:solidFill>
                        <a:latin typeface="Cambria Math" panose="02040503050406030204" pitchFamily="18" charset="0"/>
                      </a:rPr>
                      <m:t>2.128</m:t>
                    </m:r>
                  </m:oMath>
                </a14:m>
                <a:endParaRPr lang="en-NZ" altLang="ja-JP" sz="1700" dirty="0">
                  <a:solidFill>
                    <a:srgbClr val="0070C0"/>
                  </a:solidFill>
                </a:endParaRPr>
              </a:p>
              <a:p>
                <a:pPr marL="285750" indent="-285750">
                  <a:lnSpc>
                    <a:spcPct val="100000"/>
                  </a:lnSpc>
                  <a:buFont typeface="Arial" panose="020B0604020202020204" pitchFamily="34" charset="0"/>
                  <a:buChar char="•"/>
                </a:pPr>
                <a:endParaRPr lang="en-NZ" altLang="ja-JP" sz="800" dirty="0">
                  <a:solidFill>
                    <a:srgbClr val="0070C0"/>
                  </a:solidFill>
                </a:endParaRPr>
              </a:p>
              <a:p>
                <a:pPr marL="285750" indent="-285750">
                  <a:lnSpc>
                    <a:spcPct val="100000"/>
                  </a:lnSpc>
                  <a:buFont typeface="Arial" panose="020B0604020202020204" pitchFamily="34" charset="0"/>
                  <a:buChar char="•"/>
                </a:pPr>
                <a:r>
                  <a:rPr lang="en-NZ" altLang="ja-JP" sz="1600" dirty="0">
                    <a:solidFill>
                      <a:srgbClr val="0070C0"/>
                    </a:solidFill>
                  </a:rPr>
                  <a:t>Rearranging the 3</a:t>
                </a:r>
                <a:r>
                  <a:rPr lang="en-NZ" altLang="ja-JP" sz="1600" baseline="30000" dirty="0">
                    <a:solidFill>
                      <a:srgbClr val="0070C0"/>
                    </a:solidFill>
                  </a:rPr>
                  <a:t>rd</a:t>
                </a:r>
                <a:r>
                  <a:rPr lang="en-NZ" altLang="ja-JP" sz="1600" dirty="0">
                    <a:solidFill>
                      <a:srgbClr val="0070C0"/>
                    </a:solidFill>
                  </a:rPr>
                  <a:t> equation for </a:t>
                </a:r>
                <a14:m>
                  <m:oMath xmlns:m="http://schemas.openxmlformats.org/officeDocument/2006/math">
                    <m:sSubSup>
                      <m:sSubSupPr>
                        <m:ctrlPr>
                          <a:rPr lang="en-NZ" altLang="ja-JP" sz="1600" i="1">
                            <a:solidFill>
                              <a:srgbClr val="0070C0"/>
                            </a:solidFill>
                            <a:latin typeface="Cambria Math" panose="02040503050406030204" pitchFamily="18" charset="0"/>
                          </a:rPr>
                        </m:ctrlPr>
                      </m:sSubSupPr>
                      <m:e>
                        <m:r>
                          <a:rPr lang="en-NZ" altLang="ja-JP" sz="1600" i="1">
                            <a:solidFill>
                              <a:srgbClr val="0070C0"/>
                            </a:solidFill>
                            <a:latin typeface="Cambria Math" panose="02040503050406030204" pitchFamily="18" charset="0"/>
                          </a:rPr>
                          <m:t> </m:t>
                        </m:r>
                        <m:acc>
                          <m:accPr>
                            <m:chr m:val="̂"/>
                            <m:ctrlPr>
                              <a:rPr lang="en-NZ" altLang="ja-JP" sz="1600" i="1">
                                <a:solidFill>
                                  <a:srgbClr val="0070C0"/>
                                </a:solidFill>
                                <a:latin typeface="Cambria Math" panose="02040503050406030204" pitchFamily="18" charset="0"/>
                              </a:rPr>
                            </m:ctrlPr>
                          </m:accPr>
                          <m:e>
                            <m:r>
                              <a:rPr lang="en-NZ" altLang="ja-JP" sz="1600" i="1">
                                <a:solidFill>
                                  <a:srgbClr val="0070C0"/>
                                </a:solidFill>
                                <a:latin typeface="Cambria Math" panose="02040503050406030204" pitchFamily="18" charset="0"/>
                              </a:rPr>
                              <m:t>𝜎</m:t>
                            </m:r>
                          </m:e>
                        </m:acc>
                      </m:e>
                      <m:sub>
                        <m:r>
                          <a:rPr lang="en-NZ" altLang="ja-JP" sz="1600" b="0" i="1" smtClean="0">
                            <a:solidFill>
                              <a:srgbClr val="0070C0"/>
                            </a:solidFill>
                            <a:latin typeface="Cambria Math" panose="02040503050406030204" pitchFamily="18" charset="0"/>
                          </a:rPr>
                          <m:t>𝐶</m:t>
                        </m:r>
                      </m:sub>
                      <m:sup>
                        <m:r>
                          <a:rPr lang="en-NZ" altLang="ja-JP" sz="1600" i="1">
                            <a:solidFill>
                              <a:srgbClr val="0070C0"/>
                            </a:solidFill>
                            <a:latin typeface="Cambria Math" panose="02040503050406030204" pitchFamily="18" charset="0"/>
                          </a:rPr>
                          <m:t>2</m:t>
                        </m:r>
                      </m:sup>
                    </m:sSubSup>
                    <m:r>
                      <a:rPr lang="en-NZ" altLang="ja-JP" sz="1600" i="1">
                        <a:solidFill>
                          <a:srgbClr val="0070C0"/>
                        </a:solidFill>
                        <a:latin typeface="Cambria Math" panose="02040503050406030204" pitchFamily="18" charset="0"/>
                      </a:rPr>
                      <m:t> </m:t>
                    </m:r>
                  </m:oMath>
                </a14:m>
                <a:r>
                  <a:rPr lang="en-NZ" altLang="ja-JP" sz="1600" dirty="0">
                    <a:solidFill>
                      <a:srgbClr val="0070C0"/>
                    </a:solidFill>
                  </a:rPr>
                  <a:t>gives</a:t>
                </a:r>
                <a:br>
                  <a:rPr lang="en-NZ" altLang="ja-JP" sz="1600" dirty="0">
                    <a:solidFill>
                      <a:srgbClr val="0070C0"/>
                    </a:solidFill>
                  </a:rPr>
                </a:br>
                <a14:m>
                  <m:oMath xmlns:m="http://schemas.openxmlformats.org/officeDocument/2006/math">
                    <m:sSubSup>
                      <m:sSubSupPr>
                        <m:ctrlPr>
                          <a:rPr lang="en-NZ" altLang="ja-JP" sz="1600" i="1">
                            <a:solidFill>
                              <a:srgbClr val="0070C0"/>
                            </a:solidFill>
                            <a:latin typeface="Cambria Math" panose="02040503050406030204" pitchFamily="18" charset="0"/>
                          </a:rPr>
                        </m:ctrlPr>
                      </m:sSubSupPr>
                      <m:e>
                        <m:r>
                          <a:rPr lang="en-NZ" altLang="ja-JP" sz="1600" i="1">
                            <a:solidFill>
                              <a:srgbClr val="0070C0"/>
                            </a:solidFill>
                            <a:latin typeface="Cambria Math" panose="02040503050406030204" pitchFamily="18" charset="0"/>
                          </a:rPr>
                          <m:t> </m:t>
                        </m:r>
                        <m:acc>
                          <m:accPr>
                            <m:chr m:val="̂"/>
                            <m:ctrlPr>
                              <a:rPr lang="en-NZ" altLang="ja-JP" sz="1600" i="1">
                                <a:solidFill>
                                  <a:srgbClr val="0070C0"/>
                                </a:solidFill>
                                <a:latin typeface="Cambria Math" panose="02040503050406030204" pitchFamily="18" charset="0"/>
                              </a:rPr>
                            </m:ctrlPr>
                          </m:accPr>
                          <m:e>
                            <m:r>
                              <a:rPr lang="en-NZ" altLang="ja-JP" sz="1600" i="1">
                                <a:solidFill>
                                  <a:srgbClr val="0070C0"/>
                                </a:solidFill>
                                <a:latin typeface="Cambria Math" panose="02040503050406030204" pitchFamily="18" charset="0"/>
                              </a:rPr>
                              <m:t>𝜎</m:t>
                            </m:r>
                          </m:e>
                        </m:acc>
                      </m:e>
                      <m:sub>
                        <m:r>
                          <a:rPr lang="en-NZ" altLang="ja-JP" sz="1600" b="0" i="1" smtClean="0">
                            <a:solidFill>
                              <a:srgbClr val="0070C0"/>
                            </a:solidFill>
                            <a:latin typeface="Cambria Math" panose="02040503050406030204" pitchFamily="18" charset="0"/>
                          </a:rPr>
                          <m:t>𝐶</m:t>
                        </m:r>
                      </m:sub>
                      <m:sup>
                        <m:r>
                          <a:rPr lang="en-NZ" altLang="ja-JP" sz="1600" i="1">
                            <a:solidFill>
                              <a:srgbClr val="0070C0"/>
                            </a:solidFill>
                            <a:latin typeface="Cambria Math" panose="02040503050406030204" pitchFamily="18" charset="0"/>
                          </a:rPr>
                          <m:t>2</m:t>
                        </m:r>
                      </m:sup>
                    </m:sSubSup>
                    <m:r>
                      <a:rPr lang="en-NZ" altLang="ja-JP" sz="1600" b="0" i="1" smtClean="0">
                        <a:solidFill>
                          <a:srgbClr val="0070C0"/>
                        </a:solidFill>
                        <a:latin typeface="Cambria Math" panose="02040503050406030204" pitchFamily="18" charset="0"/>
                      </a:rPr>
                      <m:t> =1.4366</m:t>
                    </m:r>
                  </m:oMath>
                </a14:m>
                <a:endParaRPr lang="en-NZ" altLang="ja-JP" sz="1600" dirty="0">
                  <a:solidFill>
                    <a:srgbClr val="0070C0"/>
                  </a:solidFill>
                </a:endParaRPr>
              </a:p>
              <a:p>
                <a:pPr marL="285750" indent="-285750">
                  <a:lnSpc>
                    <a:spcPct val="100000"/>
                  </a:lnSpc>
                  <a:buFont typeface="Arial" panose="020B0604020202020204" pitchFamily="34" charset="0"/>
                  <a:buChar char="•"/>
                </a:pPr>
                <a:endParaRPr lang="en-NZ" altLang="ja-JP" sz="800" dirty="0">
                  <a:solidFill>
                    <a:srgbClr val="0070C0"/>
                  </a:solidFill>
                </a:endParaRPr>
              </a:p>
              <a:p>
                <a:pPr marL="285750" indent="-285750">
                  <a:lnSpc>
                    <a:spcPct val="100000"/>
                  </a:lnSpc>
                  <a:buFont typeface="Arial" panose="020B0604020202020204" pitchFamily="34" charset="0"/>
                  <a:buChar char="•"/>
                </a:pPr>
                <a:r>
                  <a:rPr lang="en-NZ" altLang="ja-JP" sz="1600" dirty="0">
                    <a:solidFill>
                      <a:srgbClr val="0070C0"/>
                    </a:solidFill>
                  </a:rPr>
                  <a:t>Then rearranging the 2</a:t>
                </a:r>
                <a:r>
                  <a:rPr lang="en-NZ" altLang="ja-JP" sz="1600" baseline="30000" dirty="0">
                    <a:solidFill>
                      <a:srgbClr val="0070C0"/>
                    </a:solidFill>
                  </a:rPr>
                  <a:t>nd</a:t>
                </a:r>
                <a:r>
                  <a:rPr lang="en-NZ" altLang="ja-JP" sz="1600" dirty="0">
                    <a:solidFill>
                      <a:srgbClr val="0070C0"/>
                    </a:solidFill>
                  </a:rPr>
                  <a:t> equation for </a:t>
                </a:r>
                <a14:m>
                  <m:oMath xmlns:m="http://schemas.openxmlformats.org/officeDocument/2006/math">
                    <m:sSubSup>
                      <m:sSubSupPr>
                        <m:ctrlPr>
                          <a:rPr lang="en-NZ" altLang="ja-JP" sz="1600" i="1">
                            <a:solidFill>
                              <a:srgbClr val="0070C0"/>
                            </a:solidFill>
                            <a:latin typeface="Cambria Math" panose="02040503050406030204" pitchFamily="18" charset="0"/>
                          </a:rPr>
                        </m:ctrlPr>
                      </m:sSubSupPr>
                      <m:e>
                        <m:r>
                          <a:rPr lang="en-NZ" altLang="ja-JP" sz="1600" i="1">
                            <a:solidFill>
                              <a:srgbClr val="0070C0"/>
                            </a:solidFill>
                            <a:latin typeface="Cambria Math" panose="02040503050406030204" pitchFamily="18" charset="0"/>
                          </a:rPr>
                          <m:t> </m:t>
                        </m:r>
                        <m:acc>
                          <m:accPr>
                            <m:chr m:val="̂"/>
                            <m:ctrlPr>
                              <a:rPr lang="en-NZ" altLang="ja-JP" sz="1600" i="1">
                                <a:solidFill>
                                  <a:srgbClr val="0070C0"/>
                                </a:solidFill>
                                <a:latin typeface="Cambria Math" panose="02040503050406030204" pitchFamily="18" charset="0"/>
                              </a:rPr>
                            </m:ctrlPr>
                          </m:accPr>
                          <m:e>
                            <m:r>
                              <a:rPr lang="en-NZ" altLang="ja-JP" sz="1600" i="1">
                                <a:solidFill>
                                  <a:srgbClr val="0070C0"/>
                                </a:solidFill>
                                <a:latin typeface="Cambria Math" panose="02040503050406030204" pitchFamily="18" charset="0"/>
                              </a:rPr>
                              <m:t>𝜎</m:t>
                            </m:r>
                          </m:e>
                        </m:acc>
                      </m:e>
                      <m:sub>
                        <m:r>
                          <a:rPr lang="en-NZ" altLang="ja-JP" sz="1600" b="0" i="1" smtClean="0">
                            <a:solidFill>
                              <a:srgbClr val="0070C0"/>
                            </a:solidFill>
                            <a:latin typeface="Cambria Math" panose="02040503050406030204" pitchFamily="18" charset="0"/>
                          </a:rPr>
                          <m:t>𝐵</m:t>
                        </m:r>
                      </m:sub>
                      <m:sup>
                        <m:r>
                          <a:rPr lang="en-NZ" altLang="ja-JP" sz="1600" i="1">
                            <a:solidFill>
                              <a:srgbClr val="0070C0"/>
                            </a:solidFill>
                            <a:latin typeface="Cambria Math" panose="02040503050406030204" pitchFamily="18" charset="0"/>
                          </a:rPr>
                          <m:t>2</m:t>
                        </m:r>
                      </m:sup>
                    </m:sSubSup>
                    <m:r>
                      <a:rPr lang="en-NZ" altLang="ja-JP" sz="1600" i="1">
                        <a:solidFill>
                          <a:srgbClr val="0070C0"/>
                        </a:solidFill>
                        <a:latin typeface="Cambria Math" panose="02040503050406030204" pitchFamily="18" charset="0"/>
                      </a:rPr>
                      <m:t> </m:t>
                    </m:r>
                  </m:oMath>
                </a14:m>
                <a:r>
                  <a:rPr lang="en-NZ" altLang="ja-JP" sz="1600" dirty="0">
                    <a:solidFill>
                      <a:srgbClr val="0070C0"/>
                    </a:solidFill>
                  </a:rPr>
                  <a:t>gives</a:t>
                </a:r>
                <a:br>
                  <a:rPr lang="en-NZ" altLang="ja-JP" sz="1600" dirty="0">
                    <a:solidFill>
                      <a:srgbClr val="0070C0"/>
                    </a:solidFill>
                  </a:rPr>
                </a:br>
                <a14:m>
                  <m:oMath xmlns:m="http://schemas.openxmlformats.org/officeDocument/2006/math">
                    <m:sSubSup>
                      <m:sSubSupPr>
                        <m:ctrlPr>
                          <a:rPr lang="en-NZ" altLang="ja-JP" sz="1600" i="1">
                            <a:solidFill>
                              <a:srgbClr val="0070C0"/>
                            </a:solidFill>
                            <a:latin typeface="Cambria Math" panose="02040503050406030204" pitchFamily="18" charset="0"/>
                          </a:rPr>
                        </m:ctrlPr>
                      </m:sSubSupPr>
                      <m:e>
                        <m:r>
                          <a:rPr lang="en-NZ" altLang="ja-JP" sz="1600" i="1">
                            <a:solidFill>
                              <a:srgbClr val="0070C0"/>
                            </a:solidFill>
                            <a:latin typeface="Cambria Math" panose="02040503050406030204" pitchFamily="18" charset="0"/>
                          </a:rPr>
                          <m:t> </m:t>
                        </m:r>
                        <m:acc>
                          <m:accPr>
                            <m:chr m:val="̂"/>
                            <m:ctrlPr>
                              <a:rPr lang="en-NZ" altLang="ja-JP" sz="1600" i="1">
                                <a:solidFill>
                                  <a:srgbClr val="0070C0"/>
                                </a:solidFill>
                                <a:latin typeface="Cambria Math" panose="02040503050406030204" pitchFamily="18" charset="0"/>
                              </a:rPr>
                            </m:ctrlPr>
                          </m:accPr>
                          <m:e>
                            <m:r>
                              <a:rPr lang="en-NZ" altLang="ja-JP" sz="1600" i="1">
                                <a:solidFill>
                                  <a:srgbClr val="0070C0"/>
                                </a:solidFill>
                                <a:latin typeface="Cambria Math" panose="02040503050406030204" pitchFamily="18" charset="0"/>
                              </a:rPr>
                              <m:t>𝜎</m:t>
                            </m:r>
                          </m:e>
                        </m:acc>
                      </m:e>
                      <m:sub>
                        <m:r>
                          <a:rPr lang="en-NZ" altLang="ja-JP" sz="1600" b="0" i="1" smtClean="0">
                            <a:solidFill>
                              <a:srgbClr val="0070C0"/>
                            </a:solidFill>
                            <a:latin typeface="Cambria Math" panose="02040503050406030204" pitchFamily="18" charset="0"/>
                          </a:rPr>
                          <m:t>𝐵</m:t>
                        </m:r>
                      </m:sub>
                      <m:sup>
                        <m:r>
                          <a:rPr lang="en-NZ" altLang="ja-JP" sz="1600" i="1">
                            <a:solidFill>
                              <a:srgbClr val="0070C0"/>
                            </a:solidFill>
                            <a:latin typeface="Cambria Math" panose="02040503050406030204" pitchFamily="18" charset="0"/>
                          </a:rPr>
                          <m:t>2</m:t>
                        </m:r>
                      </m:sup>
                    </m:sSubSup>
                    <m:r>
                      <a:rPr lang="en-NZ" altLang="ja-JP" sz="1600" b="0" i="1" smtClean="0">
                        <a:solidFill>
                          <a:srgbClr val="0070C0"/>
                        </a:solidFill>
                        <a:latin typeface="Cambria Math" panose="02040503050406030204" pitchFamily="18" charset="0"/>
                      </a:rPr>
                      <m:t> =3.7800</m:t>
                    </m:r>
                  </m:oMath>
                </a14:m>
                <a:endParaRPr lang="en-NZ" altLang="ja-JP" sz="1600" dirty="0">
                  <a:solidFill>
                    <a:srgbClr val="0070C0"/>
                  </a:solidFill>
                </a:endParaRPr>
              </a:p>
              <a:p>
                <a:pPr marL="285750" indent="-285750">
                  <a:lnSpc>
                    <a:spcPct val="100000"/>
                  </a:lnSpc>
                  <a:buFont typeface="Arial" panose="020B0604020202020204" pitchFamily="34" charset="0"/>
                  <a:buChar char="•"/>
                </a:pPr>
                <a:endParaRPr lang="en-NZ" altLang="ja-JP" sz="800" dirty="0">
                  <a:solidFill>
                    <a:srgbClr val="0070C0"/>
                  </a:solidFill>
                </a:endParaRPr>
              </a:p>
              <a:p>
                <a:pPr marL="285750" indent="-285750">
                  <a:lnSpc>
                    <a:spcPct val="100000"/>
                  </a:lnSpc>
                  <a:buFont typeface="Arial" panose="020B0604020202020204" pitchFamily="34" charset="0"/>
                  <a:buChar char="•"/>
                </a:pPr>
                <a:r>
                  <a:rPr lang="en-NZ" altLang="ja-JP" sz="1600" dirty="0">
                    <a:solidFill>
                      <a:srgbClr val="0070C0"/>
                    </a:solidFill>
                  </a:rPr>
                  <a:t>% of variance (after adjusting for Region) due to town-to-town differences</a:t>
                </a:r>
              </a:p>
              <a:p>
                <a:pPr algn="ctr">
                  <a:lnSpc>
                    <a:spcPct val="100000"/>
                  </a:lnSpc>
                </a:pPr>
                <a:r>
                  <a:rPr lang="en-NZ" altLang="ja-JP" sz="1600" b="1" i="1" dirty="0">
                    <a:solidFill>
                      <a:srgbClr val="0070C0"/>
                    </a:solidFill>
                  </a:rPr>
                  <a:t> </a:t>
                </a:r>
                <a14:m>
                  <m:oMath xmlns:m="http://schemas.openxmlformats.org/officeDocument/2006/math">
                    <m:f>
                      <m:fPr>
                        <m:ctrlPr>
                          <a:rPr lang="en-NZ" altLang="ja-JP" sz="1600" b="1" i="1">
                            <a:solidFill>
                              <a:srgbClr val="0070C0"/>
                            </a:solidFill>
                            <a:latin typeface="Cambria Math" panose="02040503050406030204" pitchFamily="18" charset="0"/>
                          </a:rPr>
                        </m:ctrlPr>
                      </m:fPr>
                      <m:num>
                        <m:sSubSup>
                          <m:sSubSupPr>
                            <m:ctrlPr>
                              <a:rPr lang="en-NZ" altLang="ja-JP" sz="1600" b="1" i="1">
                                <a:solidFill>
                                  <a:srgbClr val="0070C0"/>
                                </a:solidFill>
                                <a:latin typeface="Cambria Math" panose="02040503050406030204" pitchFamily="18" charset="0"/>
                              </a:rPr>
                            </m:ctrlPr>
                          </m:sSubSupPr>
                          <m:e>
                            <m:acc>
                              <m:accPr>
                                <m:chr m:val="̂"/>
                                <m:ctrlPr>
                                  <a:rPr lang="en-NZ" altLang="ja-JP" sz="1600" b="1" i="1">
                                    <a:solidFill>
                                      <a:srgbClr val="0070C0"/>
                                    </a:solidFill>
                                    <a:latin typeface="Cambria Math" panose="02040503050406030204" pitchFamily="18" charset="0"/>
                                  </a:rPr>
                                </m:ctrlPr>
                              </m:accPr>
                              <m:e>
                                <m:r>
                                  <a:rPr lang="en-NZ" altLang="ja-JP" sz="1600" b="1" i="1">
                                    <a:solidFill>
                                      <a:srgbClr val="0070C0"/>
                                    </a:solidFill>
                                    <a:latin typeface="Cambria Math" panose="02040503050406030204" pitchFamily="18" charset="0"/>
                                  </a:rPr>
                                  <m:t>𝝈</m:t>
                                </m:r>
                              </m:e>
                            </m:acc>
                          </m:e>
                          <m:sub>
                            <m:r>
                              <a:rPr lang="en-NZ" altLang="ja-JP" sz="1600" b="1" i="1">
                                <a:solidFill>
                                  <a:srgbClr val="0070C0"/>
                                </a:solidFill>
                                <a:latin typeface="Cambria Math" panose="02040503050406030204" pitchFamily="18" charset="0"/>
                              </a:rPr>
                              <m:t>𝑩</m:t>
                            </m:r>
                          </m:sub>
                          <m:sup>
                            <m:r>
                              <a:rPr lang="en-NZ" altLang="ja-JP" sz="1600" b="1" i="1">
                                <a:solidFill>
                                  <a:srgbClr val="0070C0"/>
                                </a:solidFill>
                                <a:latin typeface="Cambria Math" panose="02040503050406030204" pitchFamily="18" charset="0"/>
                              </a:rPr>
                              <m:t>𝟐</m:t>
                            </m:r>
                          </m:sup>
                        </m:sSubSup>
                      </m:num>
                      <m:den>
                        <m:sSubSup>
                          <m:sSubSupPr>
                            <m:ctrlPr>
                              <a:rPr lang="en-NZ" altLang="ja-JP" sz="1600" b="1" i="1">
                                <a:solidFill>
                                  <a:srgbClr val="0070C0"/>
                                </a:solidFill>
                                <a:latin typeface="Cambria Math" panose="02040503050406030204" pitchFamily="18" charset="0"/>
                              </a:rPr>
                            </m:ctrlPr>
                          </m:sSubSupPr>
                          <m:e>
                            <m:acc>
                              <m:accPr>
                                <m:chr m:val="̂"/>
                                <m:ctrlPr>
                                  <a:rPr lang="en-NZ" altLang="ja-JP" sz="1600" b="1" i="1">
                                    <a:solidFill>
                                      <a:srgbClr val="0070C0"/>
                                    </a:solidFill>
                                    <a:latin typeface="Cambria Math" panose="02040503050406030204" pitchFamily="18" charset="0"/>
                                  </a:rPr>
                                </m:ctrlPr>
                              </m:accPr>
                              <m:e>
                                <m:r>
                                  <a:rPr lang="en-NZ" altLang="ja-JP" sz="1600" b="1" i="1">
                                    <a:solidFill>
                                      <a:srgbClr val="0070C0"/>
                                    </a:solidFill>
                                    <a:latin typeface="Cambria Math" panose="02040503050406030204" pitchFamily="18" charset="0"/>
                                  </a:rPr>
                                  <m:t>𝝈</m:t>
                                </m:r>
                              </m:e>
                            </m:acc>
                          </m:e>
                          <m:sub>
                            <m:r>
                              <a:rPr lang="en-NZ" altLang="ja-JP" sz="1600" b="1" i="1">
                                <a:solidFill>
                                  <a:srgbClr val="0070C0"/>
                                </a:solidFill>
                                <a:latin typeface="Cambria Math" panose="02040503050406030204" pitchFamily="18" charset="0"/>
                              </a:rPr>
                              <m:t>𝑩</m:t>
                            </m:r>
                          </m:sub>
                          <m:sup>
                            <m:r>
                              <a:rPr lang="en-NZ" altLang="ja-JP" sz="1600" b="1" i="1">
                                <a:solidFill>
                                  <a:srgbClr val="0070C0"/>
                                </a:solidFill>
                                <a:latin typeface="Cambria Math" panose="02040503050406030204" pitchFamily="18" charset="0"/>
                              </a:rPr>
                              <m:t>𝟐</m:t>
                            </m:r>
                          </m:sup>
                        </m:sSubSup>
                        <m:r>
                          <a:rPr lang="en-NZ" altLang="ja-JP" sz="1600" b="1" i="1" smtClean="0">
                            <a:solidFill>
                              <a:srgbClr val="0070C0"/>
                            </a:solidFill>
                            <a:latin typeface="Cambria Math" panose="02040503050406030204" pitchFamily="18" charset="0"/>
                          </a:rPr>
                          <m:t>+</m:t>
                        </m:r>
                        <m:sSubSup>
                          <m:sSubSupPr>
                            <m:ctrlPr>
                              <a:rPr lang="en-NZ" altLang="ja-JP" sz="1600" b="1" i="1">
                                <a:solidFill>
                                  <a:srgbClr val="0070C0"/>
                                </a:solidFill>
                                <a:latin typeface="Cambria Math" panose="02040503050406030204" pitchFamily="18" charset="0"/>
                              </a:rPr>
                            </m:ctrlPr>
                          </m:sSubSupPr>
                          <m:e>
                            <m:r>
                              <a:rPr lang="en-NZ" altLang="ja-JP" sz="1600" b="1" i="1" smtClean="0">
                                <a:solidFill>
                                  <a:srgbClr val="0070C0"/>
                                </a:solidFill>
                                <a:latin typeface="Cambria Math" panose="02040503050406030204" pitchFamily="18" charset="0"/>
                              </a:rPr>
                              <m:t> </m:t>
                            </m:r>
                            <m:acc>
                              <m:accPr>
                                <m:chr m:val="̂"/>
                                <m:ctrlPr>
                                  <a:rPr lang="en-NZ" altLang="ja-JP" sz="1600" b="1" i="1">
                                    <a:solidFill>
                                      <a:srgbClr val="0070C0"/>
                                    </a:solidFill>
                                    <a:latin typeface="Cambria Math" panose="02040503050406030204" pitchFamily="18" charset="0"/>
                                  </a:rPr>
                                </m:ctrlPr>
                              </m:accPr>
                              <m:e>
                                <m:r>
                                  <a:rPr lang="en-NZ" altLang="ja-JP" sz="1600" b="1" i="1">
                                    <a:solidFill>
                                      <a:srgbClr val="0070C0"/>
                                    </a:solidFill>
                                    <a:latin typeface="Cambria Math" panose="02040503050406030204" pitchFamily="18" charset="0"/>
                                  </a:rPr>
                                  <m:t>𝝈</m:t>
                                </m:r>
                              </m:e>
                            </m:acc>
                          </m:e>
                          <m:sub>
                            <m:r>
                              <a:rPr lang="en-NZ" altLang="ja-JP" sz="1600" b="1" i="1" smtClean="0">
                                <a:solidFill>
                                  <a:srgbClr val="0070C0"/>
                                </a:solidFill>
                                <a:latin typeface="Cambria Math" panose="02040503050406030204" pitchFamily="18" charset="0"/>
                              </a:rPr>
                              <m:t>𝑪</m:t>
                            </m:r>
                          </m:sub>
                          <m:sup>
                            <m:r>
                              <a:rPr lang="en-NZ" altLang="ja-JP" sz="1600" b="1" i="1">
                                <a:solidFill>
                                  <a:srgbClr val="0070C0"/>
                                </a:solidFill>
                                <a:latin typeface="Cambria Math" panose="02040503050406030204" pitchFamily="18" charset="0"/>
                              </a:rPr>
                              <m:t>𝟐</m:t>
                            </m:r>
                          </m:sup>
                        </m:sSubSup>
                        <m:r>
                          <a:rPr lang="en-NZ" altLang="ja-JP" sz="1600" b="1" i="1" smtClean="0">
                            <a:solidFill>
                              <a:srgbClr val="0070C0"/>
                            </a:solidFill>
                            <a:latin typeface="Cambria Math" panose="02040503050406030204" pitchFamily="18" charset="0"/>
                          </a:rPr>
                          <m:t> </m:t>
                        </m:r>
                        <m:r>
                          <a:rPr lang="en-NZ" altLang="ja-JP" sz="1600" b="1" i="1">
                            <a:solidFill>
                              <a:srgbClr val="0070C0"/>
                            </a:solidFill>
                            <a:latin typeface="Cambria Math" panose="02040503050406030204" pitchFamily="18" charset="0"/>
                          </a:rPr>
                          <m:t>+  </m:t>
                        </m:r>
                        <m:sSup>
                          <m:sSupPr>
                            <m:ctrlPr>
                              <a:rPr lang="en-NZ" altLang="ja-JP" sz="1600" b="1" i="1">
                                <a:solidFill>
                                  <a:srgbClr val="0070C0"/>
                                </a:solidFill>
                                <a:latin typeface="Cambria Math" panose="02040503050406030204" pitchFamily="18" charset="0"/>
                              </a:rPr>
                            </m:ctrlPr>
                          </m:sSupPr>
                          <m:e>
                            <m:acc>
                              <m:accPr>
                                <m:chr m:val="̂"/>
                                <m:ctrlPr>
                                  <a:rPr lang="en-NZ" altLang="ja-JP" sz="1600" b="1" i="1">
                                    <a:solidFill>
                                      <a:srgbClr val="0070C0"/>
                                    </a:solidFill>
                                    <a:latin typeface="Cambria Math" panose="02040503050406030204" pitchFamily="18" charset="0"/>
                                  </a:rPr>
                                </m:ctrlPr>
                              </m:accPr>
                              <m:e>
                                <m:r>
                                  <a:rPr lang="en-NZ" altLang="ja-JP" sz="1600" b="1" i="1">
                                    <a:solidFill>
                                      <a:srgbClr val="0070C0"/>
                                    </a:solidFill>
                                    <a:latin typeface="Cambria Math" panose="02040503050406030204" pitchFamily="18" charset="0"/>
                                  </a:rPr>
                                  <m:t>𝝈</m:t>
                                </m:r>
                              </m:e>
                            </m:acc>
                          </m:e>
                          <m:sup>
                            <m:r>
                              <a:rPr lang="en-NZ" altLang="ja-JP" sz="1600" b="1" i="1">
                                <a:solidFill>
                                  <a:srgbClr val="0070C0"/>
                                </a:solidFill>
                                <a:latin typeface="Cambria Math" panose="02040503050406030204" pitchFamily="18" charset="0"/>
                              </a:rPr>
                              <m:t>𝟐</m:t>
                            </m:r>
                          </m:sup>
                        </m:sSup>
                      </m:den>
                    </m:f>
                    <m:r>
                      <a:rPr lang="en-NZ" altLang="ja-JP" sz="1600" b="1" i="1">
                        <a:solidFill>
                          <a:srgbClr val="0070C0"/>
                        </a:solidFill>
                        <a:latin typeface="Cambria Math" panose="02040503050406030204" pitchFamily="18" charset="0"/>
                      </a:rPr>
                      <m:t> =   </m:t>
                    </m:r>
                    <m:r>
                      <a:rPr lang="en-NZ" altLang="ja-JP" sz="1600" b="0" i="1" smtClean="0">
                        <a:solidFill>
                          <a:srgbClr val="0070C0"/>
                        </a:solidFill>
                        <a:latin typeface="Cambria Math" panose="02040503050406030204" pitchFamily="18" charset="0"/>
                      </a:rPr>
                      <m:t>51.5</m:t>
                    </m:r>
                    <m:r>
                      <a:rPr lang="en-NZ" altLang="ja-JP" sz="1600" b="1" i="1">
                        <a:solidFill>
                          <a:srgbClr val="0070C0"/>
                        </a:solidFill>
                        <a:latin typeface="Cambria Math" panose="02040503050406030204" pitchFamily="18" charset="0"/>
                      </a:rPr>
                      <m:t>%</m:t>
                    </m:r>
                  </m:oMath>
                </a14:m>
                <a:endParaRPr lang="en-NZ" altLang="ja-JP" sz="1600" dirty="0">
                  <a:solidFill>
                    <a:srgbClr val="0070C0"/>
                  </a:solidFill>
                </a:endParaRPr>
              </a:p>
              <a:p>
                <a:pPr algn="ctr">
                  <a:lnSpc>
                    <a:spcPct val="100000"/>
                  </a:lnSpc>
                </a:pPr>
                <a:endParaRPr lang="en-NZ" altLang="ja-JP" sz="800" dirty="0">
                  <a:solidFill>
                    <a:srgbClr val="0070C0"/>
                  </a:solidFill>
                </a:endParaRPr>
              </a:p>
              <a:p>
                <a:pPr marL="285750" indent="-285750">
                  <a:lnSpc>
                    <a:spcPct val="100000"/>
                  </a:lnSpc>
                  <a:buFont typeface="Arial" panose="020B0604020202020204" pitchFamily="34" charset="0"/>
                  <a:buChar char="•"/>
                </a:pPr>
                <a:r>
                  <a:rPr lang="en-NZ" altLang="ja-JP" sz="1600" dirty="0">
                    <a:solidFill>
                      <a:srgbClr val="0070C0"/>
                    </a:solidFill>
                  </a:rPr>
                  <a:t>% of variance (after adjusting for Region) due to Restaurant-to-Restaurant</a:t>
                </a:r>
              </a:p>
              <a:p>
                <a:pPr algn="ctr">
                  <a:lnSpc>
                    <a:spcPct val="100000"/>
                  </a:lnSpc>
                </a:pPr>
                <a:r>
                  <a:rPr lang="en-NZ" altLang="ja-JP" sz="1600" b="1" i="1" dirty="0">
                    <a:solidFill>
                      <a:srgbClr val="0070C0"/>
                    </a:solidFill>
                  </a:rPr>
                  <a:t> </a:t>
                </a:r>
                <a14:m>
                  <m:oMath xmlns:m="http://schemas.openxmlformats.org/officeDocument/2006/math">
                    <m:f>
                      <m:fPr>
                        <m:ctrlPr>
                          <a:rPr lang="en-NZ" altLang="ja-JP" sz="1600" b="1" i="1">
                            <a:solidFill>
                              <a:srgbClr val="0070C0"/>
                            </a:solidFill>
                            <a:latin typeface="Cambria Math" panose="02040503050406030204" pitchFamily="18" charset="0"/>
                          </a:rPr>
                        </m:ctrlPr>
                      </m:fPr>
                      <m:num>
                        <m:sSubSup>
                          <m:sSubSupPr>
                            <m:ctrlPr>
                              <a:rPr lang="en-NZ" altLang="ja-JP" sz="1600" b="1" i="1">
                                <a:solidFill>
                                  <a:srgbClr val="0070C0"/>
                                </a:solidFill>
                                <a:latin typeface="Cambria Math" panose="02040503050406030204" pitchFamily="18" charset="0"/>
                              </a:rPr>
                            </m:ctrlPr>
                          </m:sSubSupPr>
                          <m:e>
                            <m:acc>
                              <m:accPr>
                                <m:chr m:val="̂"/>
                                <m:ctrlPr>
                                  <a:rPr lang="en-NZ" altLang="ja-JP" sz="1600" b="1" i="1">
                                    <a:solidFill>
                                      <a:srgbClr val="0070C0"/>
                                    </a:solidFill>
                                    <a:latin typeface="Cambria Math" panose="02040503050406030204" pitchFamily="18" charset="0"/>
                                  </a:rPr>
                                </m:ctrlPr>
                              </m:accPr>
                              <m:e>
                                <m:r>
                                  <a:rPr lang="en-NZ" altLang="ja-JP" sz="1600" b="1" i="1">
                                    <a:solidFill>
                                      <a:srgbClr val="0070C0"/>
                                    </a:solidFill>
                                    <a:latin typeface="Cambria Math" panose="02040503050406030204" pitchFamily="18" charset="0"/>
                                  </a:rPr>
                                  <m:t>𝝈</m:t>
                                </m:r>
                              </m:e>
                            </m:acc>
                          </m:e>
                          <m:sub>
                            <m:r>
                              <a:rPr lang="en-NZ" altLang="ja-JP" sz="1600" b="1" i="1" smtClean="0">
                                <a:solidFill>
                                  <a:srgbClr val="0070C0"/>
                                </a:solidFill>
                                <a:latin typeface="Cambria Math" panose="02040503050406030204" pitchFamily="18" charset="0"/>
                              </a:rPr>
                              <m:t>𝑪</m:t>
                            </m:r>
                          </m:sub>
                          <m:sup>
                            <m:r>
                              <a:rPr lang="en-NZ" altLang="ja-JP" sz="1600" b="1" i="1">
                                <a:solidFill>
                                  <a:srgbClr val="0070C0"/>
                                </a:solidFill>
                                <a:latin typeface="Cambria Math" panose="02040503050406030204" pitchFamily="18" charset="0"/>
                              </a:rPr>
                              <m:t>𝟐</m:t>
                            </m:r>
                          </m:sup>
                        </m:sSubSup>
                      </m:num>
                      <m:den>
                        <m:sSubSup>
                          <m:sSubSupPr>
                            <m:ctrlPr>
                              <a:rPr lang="en-NZ" altLang="ja-JP" sz="1600" b="1" i="1">
                                <a:solidFill>
                                  <a:srgbClr val="0070C0"/>
                                </a:solidFill>
                                <a:latin typeface="Cambria Math" panose="02040503050406030204" pitchFamily="18" charset="0"/>
                              </a:rPr>
                            </m:ctrlPr>
                          </m:sSubSupPr>
                          <m:e>
                            <m:acc>
                              <m:accPr>
                                <m:chr m:val="̂"/>
                                <m:ctrlPr>
                                  <a:rPr lang="en-NZ" altLang="ja-JP" sz="1600" b="1" i="1">
                                    <a:solidFill>
                                      <a:srgbClr val="0070C0"/>
                                    </a:solidFill>
                                    <a:latin typeface="Cambria Math" panose="02040503050406030204" pitchFamily="18" charset="0"/>
                                  </a:rPr>
                                </m:ctrlPr>
                              </m:accPr>
                              <m:e>
                                <m:r>
                                  <a:rPr lang="en-NZ" altLang="ja-JP" sz="1600" b="1" i="1">
                                    <a:solidFill>
                                      <a:srgbClr val="0070C0"/>
                                    </a:solidFill>
                                    <a:latin typeface="Cambria Math" panose="02040503050406030204" pitchFamily="18" charset="0"/>
                                  </a:rPr>
                                  <m:t>𝝈</m:t>
                                </m:r>
                              </m:e>
                            </m:acc>
                          </m:e>
                          <m:sub>
                            <m:r>
                              <a:rPr lang="en-NZ" altLang="ja-JP" sz="1600" b="1" i="1">
                                <a:solidFill>
                                  <a:srgbClr val="0070C0"/>
                                </a:solidFill>
                                <a:latin typeface="Cambria Math" panose="02040503050406030204" pitchFamily="18" charset="0"/>
                              </a:rPr>
                              <m:t>𝑩</m:t>
                            </m:r>
                          </m:sub>
                          <m:sup>
                            <m:r>
                              <a:rPr lang="en-NZ" altLang="ja-JP" sz="1600" b="1" i="1">
                                <a:solidFill>
                                  <a:srgbClr val="0070C0"/>
                                </a:solidFill>
                                <a:latin typeface="Cambria Math" panose="02040503050406030204" pitchFamily="18" charset="0"/>
                              </a:rPr>
                              <m:t>𝟐</m:t>
                            </m:r>
                          </m:sup>
                        </m:sSubSup>
                        <m:r>
                          <a:rPr lang="en-NZ" altLang="ja-JP" sz="1600" b="1" i="1">
                            <a:solidFill>
                              <a:srgbClr val="0070C0"/>
                            </a:solidFill>
                            <a:latin typeface="Cambria Math" panose="02040503050406030204" pitchFamily="18" charset="0"/>
                          </a:rPr>
                          <m:t>+</m:t>
                        </m:r>
                        <m:sSubSup>
                          <m:sSubSupPr>
                            <m:ctrlPr>
                              <a:rPr lang="en-NZ" altLang="ja-JP" sz="1600" b="1" i="1">
                                <a:solidFill>
                                  <a:srgbClr val="0070C0"/>
                                </a:solidFill>
                                <a:latin typeface="Cambria Math" panose="02040503050406030204" pitchFamily="18" charset="0"/>
                              </a:rPr>
                            </m:ctrlPr>
                          </m:sSubSupPr>
                          <m:e>
                            <m:r>
                              <a:rPr lang="en-NZ" altLang="ja-JP" sz="1600" b="1" i="1">
                                <a:solidFill>
                                  <a:srgbClr val="0070C0"/>
                                </a:solidFill>
                                <a:latin typeface="Cambria Math" panose="02040503050406030204" pitchFamily="18" charset="0"/>
                              </a:rPr>
                              <m:t> </m:t>
                            </m:r>
                            <m:acc>
                              <m:accPr>
                                <m:chr m:val="̂"/>
                                <m:ctrlPr>
                                  <a:rPr lang="en-NZ" altLang="ja-JP" sz="1600" b="1" i="1">
                                    <a:solidFill>
                                      <a:srgbClr val="0070C0"/>
                                    </a:solidFill>
                                    <a:latin typeface="Cambria Math" panose="02040503050406030204" pitchFamily="18" charset="0"/>
                                  </a:rPr>
                                </m:ctrlPr>
                              </m:accPr>
                              <m:e>
                                <m:r>
                                  <a:rPr lang="en-NZ" altLang="ja-JP" sz="1600" b="1" i="1">
                                    <a:solidFill>
                                      <a:srgbClr val="0070C0"/>
                                    </a:solidFill>
                                    <a:latin typeface="Cambria Math" panose="02040503050406030204" pitchFamily="18" charset="0"/>
                                  </a:rPr>
                                  <m:t>𝝈</m:t>
                                </m:r>
                              </m:e>
                            </m:acc>
                          </m:e>
                          <m:sub>
                            <m:r>
                              <a:rPr lang="en-NZ" altLang="ja-JP" sz="1600" b="1" i="1">
                                <a:solidFill>
                                  <a:srgbClr val="0070C0"/>
                                </a:solidFill>
                                <a:latin typeface="Cambria Math" panose="02040503050406030204" pitchFamily="18" charset="0"/>
                              </a:rPr>
                              <m:t>𝑪</m:t>
                            </m:r>
                          </m:sub>
                          <m:sup>
                            <m:r>
                              <a:rPr lang="en-NZ" altLang="ja-JP" sz="1600" b="1" i="1">
                                <a:solidFill>
                                  <a:srgbClr val="0070C0"/>
                                </a:solidFill>
                                <a:latin typeface="Cambria Math" panose="02040503050406030204" pitchFamily="18" charset="0"/>
                              </a:rPr>
                              <m:t>𝟐</m:t>
                            </m:r>
                          </m:sup>
                        </m:sSubSup>
                        <m:r>
                          <a:rPr lang="en-NZ" altLang="ja-JP" sz="1600" b="1" i="1">
                            <a:solidFill>
                              <a:srgbClr val="0070C0"/>
                            </a:solidFill>
                            <a:latin typeface="Cambria Math" panose="02040503050406030204" pitchFamily="18" charset="0"/>
                          </a:rPr>
                          <m:t> +  </m:t>
                        </m:r>
                        <m:sSup>
                          <m:sSupPr>
                            <m:ctrlPr>
                              <a:rPr lang="en-NZ" altLang="ja-JP" sz="1600" b="1" i="1">
                                <a:solidFill>
                                  <a:srgbClr val="0070C0"/>
                                </a:solidFill>
                                <a:latin typeface="Cambria Math" panose="02040503050406030204" pitchFamily="18" charset="0"/>
                              </a:rPr>
                            </m:ctrlPr>
                          </m:sSupPr>
                          <m:e>
                            <m:acc>
                              <m:accPr>
                                <m:chr m:val="̂"/>
                                <m:ctrlPr>
                                  <a:rPr lang="en-NZ" altLang="ja-JP" sz="1600" b="1" i="1">
                                    <a:solidFill>
                                      <a:srgbClr val="0070C0"/>
                                    </a:solidFill>
                                    <a:latin typeface="Cambria Math" panose="02040503050406030204" pitchFamily="18" charset="0"/>
                                  </a:rPr>
                                </m:ctrlPr>
                              </m:accPr>
                              <m:e>
                                <m:r>
                                  <a:rPr lang="en-NZ" altLang="ja-JP" sz="1600" b="1" i="1">
                                    <a:solidFill>
                                      <a:srgbClr val="0070C0"/>
                                    </a:solidFill>
                                    <a:latin typeface="Cambria Math" panose="02040503050406030204" pitchFamily="18" charset="0"/>
                                  </a:rPr>
                                  <m:t>𝝈</m:t>
                                </m:r>
                              </m:e>
                            </m:acc>
                          </m:e>
                          <m:sup>
                            <m:r>
                              <a:rPr lang="en-NZ" altLang="ja-JP" sz="1600" b="1" i="1">
                                <a:solidFill>
                                  <a:srgbClr val="0070C0"/>
                                </a:solidFill>
                                <a:latin typeface="Cambria Math" panose="02040503050406030204" pitchFamily="18" charset="0"/>
                              </a:rPr>
                              <m:t>𝟐</m:t>
                            </m:r>
                          </m:sup>
                        </m:sSup>
                      </m:den>
                    </m:f>
                    <m:r>
                      <a:rPr lang="en-NZ" altLang="ja-JP" sz="1600" b="1" i="1">
                        <a:solidFill>
                          <a:srgbClr val="0070C0"/>
                        </a:solidFill>
                        <a:latin typeface="Cambria Math" panose="02040503050406030204" pitchFamily="18" charset="0"/>
                      </a:rPr>
                      <m:t> =   </m:t>
                    </m:r>
                    <m:r>
                      <a:rPr lang="en-NZ" altLang="ja-JP" sz="1600" b="0" i="1" smtClean="0">
                        <a:solidFill>
                          <a:srgbClr val="0070C0"/>
                        </a:solidFill>
                        <a:latin typeface="Cambria Math" panose="02040503050406030204" pitchFamily="18" charset="0"/>
                      </a:rPr>
                      <m:t>19.6</m:t>
                    </m:r>
                    <m:r>
                      <a:rPr lang="en-NZ" altLang="ja-JP" sz="1600" b="1" i="1">
                        <a:solidFill>
                          <a:srgbClr val="0070C0"/>
                        </a:solidFill>
                        <a:latin typeface="Cambria Math" panose="02040503050406030204" pitchFamily="18" charset="0"/>
                      </a:rPr>
                      <m:t>%</m:t>
                    </m:r>
                  </m:oMath>
                </a14:m>
                <a:endParaRPr lang="en-NZ" altLang="ja-JP" sz="1600" dirty="0">
                  <a:solidFill>
                    <a:srgbClr val="0070C0"/>
                  </a:solidFill>
                </a:endParaRPr>
              </a:p>
              <a:p>
                <a:pPr algn="ctr">
                  <a:lnSpc>
                    <a:spcPct val="100000"/>
                  </a:lnSpc>
                </a:pPr>
                <a:endParaRPr lang="en-NZ" altLang="ja-JP" sz="1600" dirty="0">
                  <a:solidFill>
                    <a:srgbClr val="0070C0"/>
                  </a:solidFill>
                </a:endParaRPr>
              </a:p>
              <a:p>
                <a:pPr marL="285750" indent="-285750">
                  <a:lnSpc>
                    <a:spcPct val="100000"/>
                  </a:lnSpc>
                  <a:buFont typeface="Arial" panose="020B0604020202020204" pitchFamily="34" charset="0"/>
                  <a:buChar char="•"/>
                </a:pPr>
                <a:r>
                  <a:rPr lang="en-NZ" altLang="ja-JP" sz="1600" dirty="0">
                    <a:solidFill>
                      <a:srgbClr val="0070C0"/>
                    </a:solidFill>
                  </a:rPr>
                  <a:t>% of variance (after adjusting for Region) due to unexplained residual variation</a:t>
                </a:r>
              </a:p>
              <a:p>
                <a:pPr algn="ctr">
                  <a:lnSpc>
                    <a:spcPct val="100000"/>
                  </a:lnSpc>
                </a:pPr>
                <a:r>
                  <a:rPr lang="en-NZ" altLang="ja-JP" sz="1600" b="1" i="1" dirty="0">
                    <a:solidFill>
                      <a:srgbClr val="0070C0"/>
                    </a:solidFill>
                  </a:rPr>
                  <a:t> </a:t>
                </a:r>
                <a14:m>
                  <m:oMath xmlns:m="http://schemas.openxmlformats.org/officeDocument/2006/math">
                    <m:f>
                      <m:fPr>
                        <m:ctrlPr>
                          <a:rPr lang="en-NZ" altLang="ja-JP" sz="1600" b="1" i="1">
                            <a:solidFill>
                              <a:srgbClr val="0070C0"/>
                            </a:solidFill>
                            <a:latin typeface="Cambria Math" panose="02040503050406030204" pitchFamily="18" charset="0"/>
                          </a:rPr>
                        </m:ctrlPr>
                      </m:fPr>
                      <m:num>
                        <m:sSup>
                          <m:sSupPr>
                            <m:ctrlPr>
                              <a:rPr lang="en-NZ" altLang="ja-JP" sz="1600" b="1" i="1">
                                <a:solidFill>
                                  <a:srgbClr val="0070C0"/>
                                </a:solidFill>
                                <a:latin typeface="Cambria Math" panose="02040503050406030204" pitchFamily="18" charset="0"/>
                              </a:rPr>
                            </m:ctrlPr>
                          </m:sSupPr>
                          <m:e>
                            <m:acc>
                              <m:accPr>
                                <m:chr m:val="̂"/>
                                <m:ctrlPr>
                                  <a:rPr lang="en-NZ" altLang="ja-JP" sz="1600" b="1" i="1">
                                    <a:solidFill>
                                      <a:srgbClr val="0070C0"/>
                                    </a:solidFill>
                                    <a:latin typeface="Cambria Math" panose="02040503050406030204" pitchFamily="18" charset="0"/>
                                  </a:rPr>
                                </m:ctrlPr>
                              </m:accPr>
                              <m:e>
                                <m:r>
                                  <a:rPr lang="en-NZ" altLang="ja-JP" sz="1600" b="1" i="1">
                                    <a:solidFill>
                                      <a:srgbClr val="0070C0"/>
                                    </a:solidFill>
                                    <a:latin typeface="Cambria Math" panose="02040503050406030204" pitchFamily="18" charset="0"/>
                                  </a:rPr>
                                  <m:t>𝝈</m:t>
                                </m:r>
                              </m:e>
                            </m:acc>
                          </m:e>
                          <m:sup>
                            <m:r>
                              <a:rPr lang="en-NZ" altLang="ja-JP" sz="1600" b="1" i="1">
                                <a:solidFill>
                                  <a:srgbClr val="0070C0"/>
                                </a:solidFill>
                                <a:latin typeface="Cambria Math" panose="02040503050406030204" pitchFamily="18" charset="0"/>
                              </a:rPr>
                              <m:t>𝟐</m:t>
                            </m:r>
                          </m:sup>
                        </m:sSup>
                      </m:num>
                      <m:den>
                        <m:sSubSup>
                          <m:sSubSupPr>
                            <m:ctrlPr>
                              <a:rPr lang="en-NZ" altLang="ja-JP" sz="1600" b="1" i="1">
                                <a:solidFill>
                                  <a:srgbClr val="0070C0"/>
                                </a:solidFill>
                                <a:latin typeface="Cambria Math" panose="02040503050406030204" pitchFamily="18" charset="0"/>
                              </a:rPr>
                            </m:ctrlPr>
                          </m:sSubSupPr>
                          <m:e>
                            <m:acc>
                              <m:accPr>
                                <m:chr m:val="̂"/>
                                <m:ctrlPr>
                                  <a:rPr lang="en-NZ" altLang="ja-JP" sz="1600" b="1" i="1">
                                    <a:solidFill>
                                      <a:srgbClr val="0070C0"/>
                                    </a:solidFill>
                                    <a:latin typeface="Cambria Math" panose="02040503050406030204" pitchFamily="18" charset="0"/>
                                  </a:rPr>
                                </m:ctrlPr>
                              </m:accPr>
                              <m:e>
                                <m:r>
                                  <a:rPr lang="en-NZ" altLang="ja-JP" sz="1600" b="1" i="1">
                                    <a:solidFill>
                                      <a:srgbClr val="0070C0"/>
                                    </a:solidFill>
                                    <a:latin typeface="Cambria Math" panose="02040503050406030204" pitchFamily="18" charset="0"/>
                                  </a:rPr>
                                  <m:t>𝝈</m:t>
                                </m:r>
                              </m:e>
                            </m:acc>
                          </m:e>
                          <m:sub>
                            <m:r>
                              <a:rPr lang="en-NZ" altLang="ja-JP" sz="1600" b="1" i="1">
                                <a:solidFill>
                                  <a:srgbClr val="0070C0"/>
                                </a:solidFill>
                                <a:latin typeface="Cambria Math" panose="02040503050406030204" pitchFamily="18" charset="0"/>
                              </a:rPr>
                              <m:t>𝑩</m:t>
                            </m:r>
                          </m:sub>
                          <m:sup>
                            <m:r>
                              <a:rPr lang="en-NZ" altLang="ja-JP" sz="1600" b="1" i="1">
                                <a:solidFill>
                                  <a:srgbClr val="0070C0"/>
                                </a:solidFill>
                                <a:latin typeface="Cambria Math" panose="02040503050406030204" pitchFamily="18" charset="0"/>
                              </a:rPr>
                              <m:t>𝟐</m:t>
                            </m:r>
                          </m:sup>
                        </m:sSubSup>
                        <m:r>
                          <a:rPr lang="en-NZ" altLang="ja-JP" sz="1600" b="1" i="1">
                            <a:solidFill>
                              <a:srgbClr val="0070C0"/>
                            </a:solidFill>
                            <a:latin typeface="Cambria Math" panose="02040503050406030204" pitchFamily="18" charset="0"/>
                          </a:rPr>
                          <m:t>+</m:t>
                        </m:r>
                        <m:sSubSup>
                          <m:sSubSupPr>
                            <m:ctrlPr>
                              <a:rPr lang="en-NZ" altLang="ja-JP" sz="1600" b="1" i="1">
                                <a:solidFill>
                                  <a:srgbClr val="0070C0"/>
                                </a:solidFill>
                                <a:latin typeface="Cambria Math" panose="02040503050406030204" pitchFamily="18" charset="0"/>
                              </a:rPr>
                            </m:ctrlPr>
                          </m:sSubSupPr>
                          <m:e>
                            <m:r>
                              <a:rPr lang="en-NZ" altLang="ja-JP" sz="1600" b="1" i="1">
                                <a:solidFill>
                                  <a:srgbClr val="0070C0"/>
                                </a:solidFill>
                                <a:latin typeface="Cambria Math" panose="02040503050406030204" pitchFamily="18" charset="0"/>
                              </a:rPr>
                              <m:t> </m:t>
                            </m:r>
                            <m:acc>
                              <m:accPr>
                                <m:chr m:val="̂"/>
                                <m:ctrlPr>
                                  <a:rPr lang="en-NZ" altLang="ja-JP" sz="1600" b="1" i="1">
                                    <a:solidFill>
                                      <a:srgbClr val="0070C0"/>
                                    </a:solidFill>
                                    <a:latin typeface="Cambria Math" panose="02040503050406030204" pitchFamily="18" charset="0"/>
                                  </a:rPr>
                                </m:ctrlPr>
                              </m:accPr>
                              <m:e>
                                <m:r>
                                  <a:rPr lang="en-NZ" altLang="ja-JP" sz="1600" b="1" i="1">
                                    <a:solidFill>
                                      <a:srgbClr val="0070C0"/>
                                    </a:solidFill>
                                    <a:latin typeface="Cambria Math" panose="02040503050406030204" pitchFamily="18" charset="0"/>
                                  </a:rPr>
                                  <m:t>𝝈</m:t>
                                </m:r>
                              </m:e>
                            </m:acc>
                          </m:e>
                          <m:sub>
                            <m:r>
                              <a:rPr lang="en-NZ" altLang="ja-JP" sz="1600" b="1" i="1">
                                <a:solidFill>
                                  <a:srgbClr val="0070C0"/>
                                </a:solidFill>
                                <a:latin typeface="Cambria Math" panose="02040503050406030204" pitchFamily="18" charset="0"/>
                              </a:rPr>
                              <m:t>𝑪</m:t>
                            </m:r>
                          </m:sub>
                          <m:sup>
                            <m:r>
                              <a:rPr lang="en-NZ" altLang="ja-JP" sz="1600" b="1" i="1">
                                <a:solidFill>
                                  <a:srgbClr val="0070C0"/>
                                </a:solidFill>
                                <a:latin typeface="Cambria Math" panose="02040503050406030204" pitchFamily="18" charset="0"/>
                              </a:rPr>
                              <m:t>𝟐</m:t>
                            </m:r>
                          </m:sup>
                        </m:sSubSup>
                        <m:r>
                          <a:rPr lang="en-NZ" altLang="ja-JP" sz="1600" b="1" i="1">
                            <a:solidFill>
                              <a:srgbClr val="0070C0"/>
                            </a:solidFill>
                            <a:latin typeface="Cambria Math" panose="02040503050406030204" pitchFamily="18" charset="0"/>
                          </a:rPr>
                          <m:t> +  </m:t>
                        </m:r>
                        <m:sSup>
                          <m:sSupPr>
                            <m:ctrlPr>
                              <a:rPr lang="en-NZ" altLang="ja-JP" sz="1600" b="1" i="1">
                                <a:solidFill>
                                  <a:srgbClr val="0070C0"/>
                                </a:solidFill>
                                <a:latin typeface="Cambria Math" panose="02040503050406030204" pitchFamily="18" charset="0"/>
                              </a:rPr>
                            </m:ctrlPr>
                          </m:sSupPr>
                          <m:e>
                            <m:acc>
                              <m:accPr>
                                <m:chr m:val="̂"/>
                                <m:ctrlPr>
                                  <a:rPr lang="en-NZ" altLang="ja-JP" sz="1600" b="1" i="1">
                                    <a:solidFill>
                                      <a:srgbClr val="0070C0"/>
                                    </a:solidFill>
                                    <a:latin typeface="Cambria Math" panose="02040503050406030204" pitchFamily="18" charset="0"/>
                                  </a:rPr>
                                </m:ctrlPr>
                              </m:accPr>
                              <m:e>
                                <m:r>
                                  <a:rPr lang="en-NZ" altLang="ja-JP" sz="1600" b="1" i="1">
                                    <a:solidFill>
                                      <a:srgbClr val="0070C0"/>
                                    </a:solidFill>
                                    <a:latin typeface="Cambria Math" panose="02040503050406030204" pitchFamily="18" charset="0"/>
                                  </a:rPr>
                                  <m:t>𝝈</m:t>
                                </m:r>
                              </m:e>
                            </m:acc>
                          </m:e>
                          <m:sup>
                            <m:r>
                              <a:rPr lang="en-NZ" altLang="ja-JP" sz="1600" b="1" i="1">
                                <a:solidFill>
                                  <a:srgbClr val="0070C0"/>
                                </a:solidFill>
                                <a:latin typeface="Cambria Math" panose="02040503050406030204" pitchFamily="18" charset="0"/>
                              </a:rPr>
                              <m:t>𝟐</m:t>
                            </m:r>
                          </m:sup>
                        </m:sSup>
                      </m:den>
                    </m:f>
                    <m:r>
                      <a:rPr lang="en-NZ" altLang="ja-JP" sz="1600" b="1" i="1">
                        <a:solidFill>
                          <a:srgbClr val="0070C0"/>
                        </a:solidFill>
                        <a:latin typeface="Cambria Math" panose="02040503050406030204" pitchFamily="18" charset="0"/>
                      </a:rPr>
                      <m:t> =   </m:t>
                    </m:r>
                    <m:r>
                      <a:rPr lang="en-NZ" altLang="ja-JP" sz="1600" i="1">
                        <a:solidFill>
                          <a:srgbClr val="0070C0"/>
                        </a:solidFill>
                        <a:latin typeface="Cambria Math" panose="02040503050406030204" pitchFamily="18" charset="0"/>
                      </a:rPr>
                      <m:t>28.9</m:t>
                    </m:r>
                    <m:r>
                      <a:rPr lang="en-NZ" altLang="ja-JP" sz="1600" b="1" i="1">
                        <a:solidFill>
                          <a:srgbClr val="0070C0"/>
                        </a:solidFill>
                        <a:latin typeface="Cambria Math" panose="02040503050406030204" pitchFamily="18" charset="0"/>
                      </a:rPr>
                      <m:t>%</m:t>
                    </m:r>
                  </m:oMath>
                </a14:m>
                <a:endParaRPr lang="en-NZ" altLang="ja-JP" sz="1600" dirty="0">
                  <a:solidFill>
                    <a:srgbClr val="0070C0"/>
                  </a:solidFill>
                </a:endParaRPr>
              </a:p>
              <a:p>
                <a:pPr algn="ctr">
                  <a:lnSpc>
                    <a:spcPct val="100000"/>
                  </a:lnSpc>
                </a:pPr>
                <a:endParaRPr lang="en-NZ" altLang="ja-JP" sz="1700" dirty="0">
                  <a:solidFill>
                    <a:srgbClr val="0070C0"/>
                  </a:solidFill>
                </a:endParaRPr>
              </a:p>
              <a:p>
                <a:pPr algn="ctr">
                  <a:lnSpc>
                    <a:spcPct val="100000"/>
                  </a:lnSpc>
                </a:pPr>
                <a:endParaRPr lang="en-NZ" altLang="ja-JP" sz="1700" dirty="0">
                  <a:solidFill>
                    <a:srgbClr val="0070C0"/>
                  </a:solidFill>
                </a:endParaRPr>
              </a:p>
              <a:p>
                <a:pPr marL="285750" indent="-285750">
                  <a:lnSpc>
                    <a:spcPct val="100000"/>
                  </a:lnSpc>
                  <a:buFont typeface="Arial" panose="020B0604020202020204" pitchFamily="34" charset="0"/>
                  <a:buChar char="•"/>
                </a:pPr>
                <a:endParaRPr lang="en-NZ" altLang="ja-JP" sz="1800" dirty="0">
                  <a:solidFill>
                    <a:srgbClr val="0070C0"/>
                  </a:solidFill>
                </a:endParaRPr>
              </a:p>
            </p:txBody>
          </p:sp>
        </mc:Choice>
        <mc:Fallback xmlns="">
          <p:sp>
            <p:nvSpPr>
              <p:cNvPr id="27" name="Text Placeholder 5">
                <a:extLst>
                  <a:ext uri="{FF2B5EF4-FFF2-40B4-BE49-F238E27FC236}">
                    <a16:creationId xmlns:a16="http://schemas.microsoft.com/office/drawing/2014/main" id="{0C788C68-34C1-76A3-67A3-CD1E5ADA4112}"/>
                  </a:ext>
                </a:extLst>
              </p:cNvPr>
              <p:cNvSpPr txBox="1">
                <a:spLocks noRot="1" noChangeAspect="1" noMove="1" noResize="1" noEditPoints="1" noAdjustHandles="1" noChangeArrowheads="1" noChangeShapeType="1" noTextEdit="1"/>
              </p:cNvSpPr>
              <p:nvPr/>
            </p:nvSpPr>
            <p:spPr>
              <a:xfrm>
                <a:off x="6810637" y="559558"/>
                <a:ext cx="5278729" cy="6212303"/>
              </a:xfrm>
              <a:prstGeom prst="rect">
                <a:avLst/>
              </a:prstGeom>
              <a:blipFill>
                <a:blip r:embed="rId4"/>
                <a:stretch>
                  <a:fillRect l="-577" t="-98"/>
                </a:stretch>
              </a:blipFill>
            </p:spPr>
            <p:txBody>
              <a:bodyPr/>
              <a:lstStyle/>
              <a:p>
                <a:r>
                  <a:rPr lang="en-NZ">
                    <a:noFill/>
                  </a:rPr>
                  <a:t> </a:t>
                </a:r>
              </a:p>
            </p:txBody>
          </p:sp>
        </mc:Fallback>
      </mc:AlternateContent>
      <p:sp>
        <p:nvSpPr>
          <p:cNvPr id="29" name="Oval 28">
            <a:extLst>
              <a:ext uri="{FF2B5EF4-FFF2-40B4-BE49-F238E27FC236}">
                <a16:creationId xmlns:a16="http://schemas.microsoft.com/office/drawing/2014/main" id="{5150FE00-9856-1C08-3F57-67A64807911E}"/>
              </a:ext>
            </a:extLst>
          </p:cNvPr>
          <p:cNvSpPr/>
          <p:nvPr/>
        </p:nvSpPr>
        <p:spPr>
          <a:xfrm>
            <a:off x="2795523" y="4664994"/>
            <a:ext cx="601629" cy="330246"/>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p>
        </p:txBody>
      </p:sp>
      <p:cxnSp>
        <p:nvCxnSpPr>
          <p:cNvPr id="30" name="Straight Arrow Connector 29">
            <a:extLst>
              <a:ext uri="{FF2B5EF4-FFF2-40B4-BE49-F238E27FC236}">
                <a16:creationId xmlns:a16="http://schemas.microsoft.com/office/drawing/2014/main" id="{D3AF4EA4-F72A-A20A-3CF9-CA747921C83D}"/>
              </a:ext>
            </a:extLst>
          </p:cNvPr>
          <p:cNvCxnSpPr>
            <a:cxnSpLocks/>
          </p:cNvCxnSpPr>
          <p:nvPr/>
        </p:nvCxnSpPr>
        <p:spPr>
          <a:xfrm flipV="1">
            <a:off x="3397152" y="1991775"/>
            <a:ext cx="3508615" cy="2838998"/>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3" name="Oval 32">
            <a:extLst>
              <a:ext uri="{FF2B5EF4-FFF2-40B4-BE49-F238E27FC236}">
                <a16:creationId xmlns:a16="http://schemas.microsoft.com/office/drawing/2014/main" id="{46C33C0D-ABED-3F2F-728C-C9E12F559E7D}"/>
              </a:ext>
            </a:extLst>
          </p:cNvPr>
          <p:cNvSpPr/>
          <p:nvPr/>
        </p:nvSpPr>
        <p:spPr>
          <a:xfrm>
            <a:off x="2835326" y="3957773"/>
            <a:ext cx="601629" cy="330246"/>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p>
        </p:txBody>
      </p:sp>
      <p:cxnSp>
        <p:nvCxnSpPr>
          <p:cNvPr id="34" name="Straight Arrow Connector 33">
            <a:extLst>
              <a:ext uri="{FF2B5EF4-FFF2-40B4-BE49-F238E27FC236}">
                <a16:creationId xmlns:a16="http://schemas.microsoft.com/office/drawing/2014/main" id="{67B27FE0-97E0-771B-75BC-8864D1BEA0FC}"/>
              </a:ext>
            </a:extLst>
          </p:cNvPr>
          <p:cNvCxnSpPr>
            <a:cxnSpLocks/>
          </p:cNvCxnSpPr>
          <p:nvPr/>
        </p:nvCxnSpPr>
        <p:spPr>
          <a:xfrm flipV="1">
            <a:off x="3436955" y="1607651"/>
            <a:ext cx="3445511" cy="2515901"/>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8" name="Footer Placeholder 2">
            <a:extLst>
              <a:ext uri="{FF2B5EF4-FFF2-40B4-BE49-F238E27FC236}">
                <a16:creationId xmlns:a16="http://schemas.microsoft.com/office/drawing/2014/main" id="{EA7BB3DE-D8C9-4A6F-4140-7228C3570FE5}"/>
              </a:ext>
            </a:extLst>
          </p:cNvPr>
          <p:cNvSpPr txBox="1">
            <a:spLocks/>
          </p:cNvSpPr>
          <p:nvPr/>
        </p:nvSpPr>
        <p:spPr>
          <a:xfrm>
            <a:off x="7397088" y="86139"/>
            <a:ext cx="4692278"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rPr>
              <a:t>5.5 – Computational Example 3-Stage Nested Design</a:t>
            </a:r>
            <a:endParaRPr kumimoji="1" lang="ja-JP" altLang="en-US"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endParaRPr>
          </a:p>
        </p:txBody>
      </p:sp>
      <p:sp>
        <p:nvSpPr>
          <p:cNvPr id="2" name="Text Placeholder 5">
            <a:extLst>
              <a:ext uri="{FF2B5EF4-FFF2-40B4-BE49-F238E27FC236}">
                <a16:creationId xmlns:a16="http://schemas.microsoft.com/office/drawing/2014/main" id="{43FB4866-CD3E-24CC-FE18-CA5EFDEBECC5}"/>
              </a:ext>
            </a:extLst>
          </p:cNvPr>
          <p:cNvSpPr txBox="1">
            <a:spLocks/>
          </p:cNvSpPr>
          <p:nvPr/>
        </p:nvSpPr>
        <p:spPr>
          <a:xfrm>
            <a:off x="418458" y="1006751"/>
            <a:ext cx="6270052" cy="504967"/>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1800" b="1" dirty="0">
                <a:solidFill>
                  <a:schemeClr val="tx1"/>
                </a:solidFill>
              </a:rPr>
              <a:t>Calculating proportion of variance using the </a:t>
            </a:r>
            <a:r>
              <a:rPr lang="en-NZ" altLang="ja-JP" sz="1800" b="1" dirty="0" err="1">
                <a:solidFill>
                  <a:schemeClr val="tx1"/>
                </a:solidFill>
              </a:rPr>
              <a:t>aov</a:t>
            </a:r>
            <a:r>
              <a:rPr lang="en-NZ" altLang="ja-JP" sz="1800" b="1" dirty="0">
                <a:solidFill>
                  <a:schemeClr val="tx1"/>
                </a:solidFill>
              </a:rPr>
              <a:t>() command </a:t>
            </a:r>
            <a:r>
              <a:rPr lang="en-NZ" altLang="ja-JP" sz="1800" dirty="0">
                <a:solidFill>
                  <a:srgbClr val="C00000"/>
                </a:solidFill>
                <a:sym typeface="Wingdings" panose="05000000000000000000" pitchFamily="2" charset="2"/>
              </a:rPr>
              <a:t></a:t>
            </a:r>
            <a:endParaRPr lang="en-NZ" altLang="ja-JP" sz="1800" dirty="0">
              <a:solidFill>
                <a:srgbClr val="C00000"/>
              </a:solidFill>
            </a:endParaRPr>
          </a:p>
        </p:txBody>
      </p:sp>
      <mc:AlternateContent xmlns:mc="http://schemas.openxmlformats.org/markup-compatibility/2006" xmlns:a14="http://schemas.microsoft.com/office/drawing/2010/main">
        <mc:Choice Requires="a14">
          <p:graphicFrame>
            <p:nvGraphicFramePr>
              <p:cNvPr id="3" name="Table 2">
                <a:extLst>
                  <a:ext uri="{FF2B5EF4-FFF2-40B4-BE49-F238E27FC236}">
                    <a16:creationId xmlns:a16="http://schemas.microsoft.com/office/drawing/2014/main" id="{3178A1CE-5CCF-DFF8-CF1D-688484820892}"/>
                  </a:ext>
                </a:extLst>
              </p:cNvPr>
              <p:cNvGraphicFramePr>
                <a:graphicFrameLocks noGrp="1"/>
              </p:cNvGraphicFramePr>
              <p:nvPr>
                <p:extLst>
                  <p:ext uri="{D42A27DB-BD31-4B8C-83A1-F6EECF244321}">
                    <p14:modId xmlns:p14="http://schemas.microsoft.com/office/powerpoint/2010/main" val="2403472777"/>
                  </p:ext>
                </p:extLst>
              </p:nvPr>
            </p:nvGraphicFramePr>
            <p:xfrm>
              <a:off x="603527" y="4995240"/>
              <a:ext cx="5166911" cy="1525089"/>
            </p:xfrm>
            <a:graphic>
              <a:graphicData uri="http://schemas.openxmlformats.org/drawingml/2006/table">
                <a:tbl>
                  <a:tblPr firstRow="1" bandRow="1">
                    <a:tableStyleId>{5C22544A-7EE6-4342-B048-85BDC9FD1C3A}</a:tableStyleId>
                  </a:tblPr>
                  <a:tblGrid>
                    <a:gridCol w="716524">
                      <a:extLst>
                        <a:ext uri="{9D8B030D-6E8A-4147-A177-3AD203B41FA5}">
                          <a16:colId xmlns:a16="http://schemas.microsoft.com/office/drawing/2014/main" val="4198110682"/>
                        </a:ext>
                      </a:extLst>
                    </a:gridCol>
                    <a:gridCol w="1983587">
                      <a:extLst>
                        <a:ext uri="{9D8B030D-6E8A-4147-A177-3AD203B41FA5}">
                          <a16:colId xmlns:a16="http://schemas.microsoft.com/office/drawing/2014/main" val="477450593"/>
                        </a:ext>
                      </a:extLst>
                    </a:gridCol>
                    <a:gridCol w="2466800">
                      <a:extLst>
                        <a:ext uri="{9D8B030D-6E8A-4147-A177-3AD203B41FA5}">
                          <a16:colId xmlns:a16="http://schemas.microsoft.com/office/drawing/2014/main" val="3785429377"/>
                        </a:ext>
                      </a:extLst>
                    </a:gridCol>
                  </a:tblGrid>
                  <a:tr h="251936">
                    <a:tc>
                      <a:txBody>
                        <a:bodyPr/>
                        <a:lstStyle/>
                        <a:p>
                          <a:pPr algn="ctr"/>
                          <a:r>
                            <a:rPr lang="en-NZ" sz="1000" dirty="0"/>
                            <a:t>Source</a:t>
                          </a:r>
                        </a:p>
                      </a:txBody>
                      <a:tcPr anchor="ctr"/>
                    </a:tc>
                    <a:tc>
                      <a:txBody>
                        <a:bodyPr/>
                        <a:lstStyle/>
                        <a:p>
                          <a:pPr algn="ctr"/>
                          <a:r>
                            <a:rPr lang="en-NZ" sz="1000" dirty="0"/>
                            <a:t>Mean Square</a:t>
                          </a:r>
                        </a:p>
                      </a:txBody>
                      <a:tcPr anchor="ctr"/>
                    </a:tc>
                    <a:tc>
                      <a:txBody>
                        <a:bodyPr/>
                        <a:lstStyle/>
                        <a:p>
                          <a:pPr algn="ctr"/>
                          <a:r>
                            <a:rPr lang="en-NZ" sz="1000" dirty="0"/>
                            <a:t>E [ Mean Squares ]</a:t>
                          </a:r>
                        </a:p>
                      </a:txBody>
                      <a:tcPr anchor="ctr"/>
                    </a:tc>
                    <a:extLst>
                      <a:ext uri="{0D108BD9-81ED-4DB2-BD59-A6C34878D82A}">
                        <a16:rowId xmlns:a16="http://schemas.microsoft.com/office/drawing/2014/main" val="3666350365"/>
                      </a:ext>
                    </a:extLst>
                  </a:tr>
                  <a:tr h="251936">
                    <a:tc>
                      <a:txBody>
                        <a:bodyPr/>
                        <a:lstStyle/>
                        <a:p>
                          <a:pPr algn="ctr"/>
                          <a:r>
                            <a:rPr lang="en-NZ" sz="1000" dirty="0"/>
                            <a:t>Total</a:t>
                          </a:r>
                        </a:p>
                      </a:txBody>
                      <a:tcPr anchor="ctr"/>
                    </a:tc>
                    <a:tc>
                      <a:txBody>
                        <a:bodyPr/>
                        <a:lstStyle/>
                        <a:p>
                          <a:pPr algn="ctr"/>
                          <a:endParaRPr lang="en-NZ" sz="1000" dirty="0"/>
                        </a:p>
                      </a:txBody>
                      <a:tcPr anchor="ctr"/>
                    </a:tc>
                    <a:tc>
                      <a:txBody>
                        <a:bodyPr/>
                        <a:lstStyle/>
                        <a:p>
                          <a:pPr algn="ctr"/>
                          <a:endParaRPr lang="en-NZ" sz="1000" dirty="0"/>
                        </a:p>
                      </a:txBody>
                      <a:tcPr anchor="ctr"/>
                    </a:tc>
                    <a:extLst>
                      <a:ext uri="{0D108BD9-81ED-4DB2-BD59-A6C34878D82A}">
                        <a16:rowId xmlns:a16="http://schemas.microsoft.com/office/drawing/2014/main" val="3341485952"/>
                      </a:ext>
                    </a:extLst>
                  </a:tr>
                  <a:tr h="256427">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NZ" sz="1000" dirty="0"/>
                            <a:t>A</a:t>
                          </a:r>
                        </a:p>
                      </a:txBody>
                      <a:tcPr anchor="ctr"/>
                    </a:tc>
                    <a:tc>
                      <a:txBody>
                        <a:bodyPr/>
                        <a:lstStyle/>
                        <a:p>
                          <a:pPr algn="ctr"/>
                          <a:r>
                            <a:rPr lang="en-NZ" sz="1000" dirty="0"/>
                            <a:t>MS</a:t>
                          </a:r>
                          <a:r>
                            <a:rPr lang="en-NZ" sz="1000" baseline="-25000" dirty="0"/>
                            <a:t>A</a:t>
                          </a:r>
                          <a:r>
                            <a:rPr lang="en-NZ" sz="1000" dirty="0"/>
                            <a:t> = SS</a:t>
                          </a:r>
                          <a:r>
                            <a:rPr lang="en-NZ" sz="1000" baseline="-25000" dirty="0"/>
                            <a:t>A</a:t>
                          </a:r>
                          <a:r>
                            <a:rPr lang="en-NZ" sz="1000" dirty="0"/>
                            <a:t> / (a-1)</a:t>
                          </a:r>
                        </a:p>
                      </a:txBody>
                      <a:tcPr anchor="ctr"/>
                    </a:tc>
                    <a:tc>
                      <a:txBody>
                        <a:bodyPr/>
                        <a:lstStyle/>
                        <a:p>
                          <a:pPr algn="ctr"/>
                          <a14:m>
                            <m:oMathPara xmlns:m="http://schemas.openxmlformats.org/officeDocument/2006/math">
                              <m:oMathParaPr>
                                <m:jc m:val="centerGroup"/>
                              </m:oMathParaPr>
                              <m:oMath xmlns:m="http://schemas.openxmlformats.org/officeDocument/2006/math">
                                <m:sSup>
                                  <m:sSupPr>
                                    <m:ctrlPr>
                                      <a:rPr lang="en-NZ" sz="1000" b="0" i="1" smtClean="0">
                                        <a:latin typeface="Cambria Math" panose="02040503050406030204" pitchFamily="18" charset="0"/>
                                      </a:rPr>
                                    </m:ctrlPr>
                                  </m:sSupPr>
                                  <m:e>
                                    <m:r>
                                      <a:rPr lang="en-NZ" sz="1000" b="0" i="1" smtClean="0">
                                        <a:latin typeface="Cambria Math" panose="02040503050406030204" pitchFamily="18" charset="0"/>
                                      </a:rPr>
                                      <m:t>𝜎</m:t>
                                    </m:r>
                                  </m:e>
                                  <m:sup>
                                    <m:r>
                                      <a:rPr lang="en-NZ" sz="1000" b="0" i="1" smtClean="0">
                                        <a:latin typeface="Cambria Math" panose="02040503050406030204" pitchFamily="18" charset="0"/>
                                      </a:rPr>
                                      <m:t>2</m:t>
                                    </m:r>
                                  </m:sup>
                                </m:sSup>
                                <m:r>
                                  <a:rPr lang="en-NZ" sz="1000" b="0" i="1" smtClean="0">
                                    <a:latin typeface="Cambria Math" panose="02040503050406030204" pitchFamily="18" charset="0"/>
                                  </a:rPr>
                                  <m:t>+  </m:t>
                                </m:r>
                                <m:r>
                                  <a:rPr lang="en-NZ" sz="1000" b="0" i="1" smtClean="0">
                                    <a:latin typeface="Cambria Math" panose="02040503050406030204" pitchFamily="18" charset="0"/>
                                  </a:rPr>
                                  <m:t>𝑛</m:t>
                                </m:r>
                                <m:r>
                                  <a:rPr lang="en-NZ" sz="1000" b="0" i="1" smtClean="0">
                                    <a:latin typeface="Cambria Math" panose="02040503050406030204" pitchFamily="18" charset="0"/>
                                  </a:rPr>
                                  <m:t> </m:t>
                                </m:r>
                                <m:sSubSup>
                                  <m:sSubSupPr>
                                    <m:ctrlPr>
                                      <a:rPr lang="en-NZ" sz="1000" b="0" i="1" smtClean="0">
                                        <a:latin typeface="Cambria Math" panose="02040503050406030204" pitchFamily="18" charset="0"/>
                                      </a:rPr>
                                    </m:ctrlPr>
                                  </m:sSubSupPr>
                                  <m:e>
                                    <m:r>
                                      <a:rPr lang="en-NZ" sz="1000" b="0" i="1" smtClean="0">
                                        <a:latin typeface="Cambria Math" panose="02040503050406030204" pitchFamily="18" charset="0"/>
                                      </a:rPr>
                                      <m:t>𝜎</m:t>
                                    </m:r>
                                  </m:e>
                                  <m:sub>
                                    <m:r>
                                      <a:rPr lang="en-NZ" sz="1000" b="0" i="1" smtClean="0">
                                        <a:latin typeface="Cambria Math" panose="02040503050406030204" pitchFamily="18" charset="0"/>
                                      </a:rPr>
                                      <m:t>𝐶</m:t>
                                    </m:r>
                                  </m:sub>
                                  <m:sup>
                                    <m:r>
                                      <a:rPr lang="en-NZ" sz="1000" b="0" i="1" smtClean="0">
                                        <a:latin typeface="Cambria Math" panose="02040503050406030204" pitchFamily="18" charset="0"/>
                                      </a:rPr>
                                      <m:t>2</m:t>
                                    </m:r>
                                  </m:sup>
                                </m:sSubSup>
                                <m:r>
                                  <a:rPr lang="en-NZ" sz="1000" b="0" i="1" smtClean="0">
                                    <a:latin typeface="Cambria Math" panose="02040503050406030204" pitchFamily="18" charset="0"/>
                                  </a:rPr>
                                  <m:t>  +  </m:t>
                                </m:r>
                                <m:r>
                                  <a:rPr lang="en-NZ" sz="1000" b="0" i="1" smtClean="0">
                                    <a:latin typeface="Cambria Math" panose="02040503050406030204" pitchFamily="18" charset="0"/>
                                  </a:rPr>
                                  <m:t>𝑐𝑛</m:t>
                                </m:r>
                                <m:r>
                                  <a:rPr lang="en-NZ" sz="1000" b="0" i="1" smtClean="0">
                                    <a:latin typeface="Cambria Math" panose="02040503050406030204" pitchFamily="18" charset="0"/>
                                  </a:rPr>
                                  <m:t> </m:t>
                                </m:r>
                                <m:sSubSup>
                                  <m:sSubSupPr>
                                    <m:ctrlPr>
                                      <a:rPr lang="en-NZ" sz="1000" b="0" i="1" smtClean="0">
                                        <a:latin typeface="Cambria Math" panose="02040503050406030204" pitchFamily="18" charset="0"/>
                                      </a:rPr>
                                    </m:ctrlPr>
                                  </m:sSubSupPr>
                                  <m:e>
                                    <m:r>
                                      <a:rPr lang="en-NZ" sz="1000" b="0" i="1" smtClean="0">
                                        <a:latin typeface="Cambria Math" panose="02040503050406030204" pitchFamily="18" charset="0"/>
                                      </a:rPr>
                                      <m:t>𝜎</m:t>
                                    </m:r>
                                  </m:e>
                                  <m:sub>
                                    <m:r>
                                      <a:rPr lang="en-NZ" sz="1000" b="0" i="1" smtClean="0">
                                        <a:latin typeface="Cambria Math" panose="02040503050406030204" pitchFamily="18" charset="0"/>
                                      </a:rPr>
                                      <m:t>𝐵</m:t>
                                    </m:r>
                                  </m:sub>
                                  <m:sup>
                                    <m:r>
                                      <a:rPr lang="en-NZ" sz="1000" b="0" i="1" smtClean="0">
                                        <a:latin typeface="Cambria Math" panose="02040503050406030204" pitchFamily="18" charset="0"/>
                                      </a:rPr>
                                      <m:t>2</m:t>
                                    </m:r>
                                  </m:sup>
                                </m:sSubSup>
                                <m:r>
                                  <a:rPr lang="en-NZ" sz="1000" b="0" i="1" smtClean="0">
                                    <a:latin typeface="Cambria Math" panose="02040503050406030204" pitchFamily="18" charset="0"/>
                                  </a:rPr>
                                  <m:t> +  </m:t>
                                </m:r>
                                <m:r>
                                  <a:rPr lang="en-NZ" sz="1000" b="0" i="1" smtClean="0">
                                    <a:latin typeface="Cambria Math" panose="02040503050406030204" pitchFamily="18" charset="0"/>
                                  </a:rPr>
                                  <m:t>𝑏𝑐𝑛</m:t>
                                </m:r>
                                <m:r>
                                  <a:rPr lang="en-NZ" sz="1000" b="0" i="1" smtClean="0">
                                    <a:latin typeface="Cambria Math" panose="02040503050406030204" pitchFamily="18" charset="0"/>
                                  </a:rPr>
                                  <m:t> </m:t>
                                </m:r>
                                <m:r>
                                  <a:rPr lang="en-NZ" sz="1000" b="0" i="1" smtClean="0">
                                    <a:latin typeface="Cambria Math" panose="02040503050406030204" pitchFamily="18" charset="0"/>
                                  </a:rPr>
                                  <m:t>𝑣</m:t>
                                </m:r>
                                <m:d>
                                  <m:dPr>
                                    <m:ctrlPr>
                                      <a:rPr lang="en-NZ" sz="1000" b="0" i="1" smtClean="0">
                                        <a:latin typeface="Cambria Math" panose="02040503050406030204" pitchFamily="18" charset="0"/>
                                      </a:rPr>
                                    </m:ctrlPr>
                                  </m:dPr>
                                  <m:e>
                                    <m:r>
                                      <a:rPr lang="en-NZ" sz="1000" b="0" i="1" smtClean="0">
                                        <a:latin typeface="Cambria Math" panose="02040503050406030204" pitchFamily="18" charset="0"/>
                                      </a:rPr>
                                      <m:t>𝛼</m:t>
                                    </m:r>
                                  </m:e>
                                </m:d>
                              </m:oMath>
                            </m:oMathPara>
                          </a14:m>
                          <a:endParaRPr lang="en-NZ" sz="1000" dirty="0"/>
                        </a:p>
                      </a:txBody>
                      <a:tcPr anchor="ctr"/>
                    </a:tc>
                    <a:extLst>
                      <a:ext uri="{0D108BD9-81ED-4DB2-BD59-A6C34878D82A}">
                        <a16:rowId xmlns:a16="http://schemas.microsoft.com/office/drawing/2014/main" val="443198030"/>
                      </a:ext>
                    </a:extLst>
                  </a:tr>
                  <a:tr h="256427">
                    <a:tc>
                      <a:txBody>
                        <a:bodyPr/>
                        <a:lstStyle/>
                        <a:p>
                          <a:pPr algn="ctr"/>
                          <a:r>
                            <a:rPr lang="en-NZ" sz="1000" dirty="0"/>
                            <a:t>B(A)</a:t>
                          </a:r>
                        </a:p>
                      </a:txBody>
                      <a:tcPr anchor="ctr"/>
                    </a:tc>
                    <a:tc>
                      <a:txBody>
                        <a:bodyPr/>
                        <a:lstStyle/>
                        <a:p>
                          <a:pPr algn="ctr"/>
                          <a:r>
                            <a:rPr lang="en-NZ" sz="1000" dirty="0"/>
                            <a:t>MS</a:t>
                          </a:r>
                          <a:r>
                            <a:rPr lang="en-NZ" sz="1000" baseline="-25000" dirty="0"/>
                            <a:t>B(A)</a:t>
                          </a:r>
                          <a:r>
                            <a:rPr lang="en-NZ" sz="1000" dirty="0"/>
                            <a:t> = SS</a:t>
                          </a:r>
                          <a:r>
                            <a:rPr lang="en-NZ" sz="1000" baseline="-25000" dirty="0"/>
                            <a:t>B(A)</a:t>
                          </a:r>
                          <a:r>
                            <a:rPr lang="en-NZ" sz="1000" dirty="0"/>
                            <a:t> / [ a(b-1) ]</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p>
                                  <m:sSupPr>
                                    <m:ctrlPr>
                                      <a:rPr lang="en-NZ" sz="1000" b="0" i="1" smtClean="0">
                                        <a:latin typeface="Cambria Math" panose="02040503050406030204" pitchFamily="18" charset="0"/>
                                      </a:rPr>
                                    </m:ctrlPr>
                                  </m:sSupPr>
                                  <m:e>
                                    <m:r>
                                      <a:rPr lang="en-NZ" sz="1000" b="0" i="1" smtClean="0">
                                        <a:latin typeface="Cambria Math" panose="02040503050406030204" pitchFamily="18" charset="0"/>
                                      </a:rPr>
                                      <m:t>𝜎</m:t>
                                    </m:r>
                                  </m:e>
                                  <m:sup>
                                    <m:r>
                                      <a:rPr lang="en-NZ" sz="1000" b="0" i="1" smtClean="0">
                                        <a:latin typeface="Cambria Math" panose="02040503050406030204" pitchFamily="18" charset="0"/>
                                      </a:rPr>
                                      <m:t>2</m:t>
                                    </m:r>
                                  </m:sup>
                                </m:sSup>
                                <m:r>
                                  <a:rPr lang="en-NZ" sz="1000" b="0" i="1" smtClean="0">
                                    <a:latin typeface="Cambria Math" panose="02040503050406030204" pitchFamily="18" charset="0"/>
                                  </a:rPr>
                                  <m:t>+  </m:t>
                                </m:r>
                                <m:r>
                                  <a:rPr lang="en-NZ" sz="1000" b="0" i="1" smtClean="0">
                                    <a:latin typeface="Cambria Math" panose="02040503050406030204" pitchFamily="18" charset="0"/>
                                  </a:rPr>
                                  <m:t>𝑛</m:t>
                                </m:r>
                                <m:r>
                                  <a:rPr lang="en-NZ" sz="1000" b="0" i="1" smtClean="0">
                                    <a:latin typeface="Cambria Math" panose="02040503050406030204" pitchFamily="18" charset="0"/>
                                  </a:rPr>
                                  <m:t> </m:t>
                                </m:r>
                                <m:sSubSup>
                                  <m:sSubSupPr>
                                    <m:ctrlPr>
                                      <a:rPr lang="en-NZ" sz="1000" b="0" i="1" smtClean="0">
                                        <a:latin typeface="Cambria Math" panose="02040503050406030204" pitchFamily="18" charset="0"/>
                                      </a:rPr>
                                    </m:ctrlPr>
                                  </m:sSubSupPr>
                                  <m:e>
                                    <m:r>
                                      <a:rPr lang="en-NZ" sz="1000" b="0" i="1" smtClean="0">
                                        <a:latin typeface="Cambria Math" panose="02040503050406030204" pitchFamily="18" charset="0"/>
                                      </a:rPr>
                                      <m:t>𝜎</m:t>
                                    </m:r>
                                  </m:e>
                                  <m:sub>
                                    <m:r>
                                      <a:rPr lang="en-NZ" sz="1000" b="0" i="1" smtClean="0">
                                        <a:latin typeface="Cambria Math" panose="02040503050406030204" pitchFamily="18" charset="0"/>
                                      </a:rPr>
                                      <m:t>𝐶</m:t>
                                    </m:r>
                                  </m:sub>
                                  <m:sup>
                                    <m:r>
                                      <a:rPr lang="en-NZ" sz="1000" b="0" i="1" smtClean="0">
                                        <a:latin typeface="Cambria Math" panose="02040503050406030204" pitchFamily="18" charset="0"/>
                                      </a:rPr>
                                      <m:t>2</m:t>
                                    </m:r>
                                  </m:sup>
                                </m:sSubSup>
                                <m:r>
                                  <a:rPr lang="en-NZ" sz="1000" b="0" i="1" smtClean="0">
                                    <a:latin typeface="Cambria Math" panose="02040503050406030204" pitchFamily="18" charset="0"/>
                                  </a:rPr>
                                  <m:t>  +   </m:t>
                                </m:r>
                                <m:r>
                                  <a:rPr lang="en-NZ" sz="1000" b="0" i="1" smtClean="0">
                                    <a:latin typeface="Cambria Math" panose="02040503050406030204" pitchFamily="18" charset="0"/>
                                  </a:rPr>
                                  <m:t>𝑐𝑛</m:t>
                                </m:r>
                                <m:r>
                                  <a:rPr lang="en-NZ" sz="1000" b="0" i="1" smtClean="0">
                                    <a:latin typeface="Cambria Math" panose="02040503050406030204" pitchFamily="18" charset="0"/>
                                  </a:rPr>
                                  <m:t> </m:t>
                                </m:r>
                                <m:sSubSup>
                                  <m:sSubSupPr>
                                    <m:ctrlPr>
                                      <a:rPr lang="en-NZ" sz="1000" b="0" i="1" smtClean="0">
                                        <a:latin typeface="Cambria Math" panose="02040503050406030204" pitchFamily="18" charset="0"/>
                                      </a:rPr>
                                    </m:ctrlPr>
                                  </m:sSubSupPr>
                                  <m:e>
                                    <m:r>
                                      <a:rPr lang="en-NZ" sz="1000" b="0" i="1" smtClean="0">
                                        <a:latin typeface="Cambria Math" panose="02040503050406030204" pitchFamily="18" charset="0"/>
                                      </a:rPr>
                                      <m:t>𝜎</m:t>
                                    </m:r>
                                  </m:e>
                                  <m:sub>
                                    <m:r>
                                      <a:rPr lang="en-NZ" sz="1000" b="0" i="1" smtClean="0">
                                        <a:latin typeface="Cambria Math" panose="02040503050406030204" pitchFamily="18" charset="0"/>
                                      </a:rPr>
                                      <m:t>𝐵</m:t>
                                    </m:r>
                                  </m:sub>
                                  <m:sup>
                                    <m:r>
                                      <a:rPr lang="en-NZ" sz="1000" b="0" i="1" smtClean="0">
                                        <a:latin typeface="Cambria Math" panose="02040503050406030204" pitchFamily="18" charset="0"/>
                                      </a:rPr>
                                      <m:t>2</m:t>
                                    </m:r>
                                  </m:sup>
                                </m:sSubSup>
                              </m:oMath>
                            </m:oMathPara>
                          </a14:m>
                          <a:endParaRPr lang="en-NZ" sz="1000" dirty="0"/>
                        </a:p>
                      </a:txBody>
                      <a:tcPr anchor="ctr"/>
                    </a:tc>
                    <a:extLst>
                      <a:ext uri="{0D108BD9-81ED-4DB2-BD59-A6C34878D82A}">
                        <a16:rowId xmlns:a16="http://schemas.microsoft.com/office/drawing/2014/main" val="3427382577"/>
                      </a:ext>
                    </a:extLst>
                  </a:tr>
                  <a:tr h="256427">
                    <a:tc>
                      <a:txBody>
                        <a:bodyPr/>
                        <a:lstStyle/>
                        <a:p>
                          <a:pPr algn="ctr"/>
                          <a:r>
                            <a:rPr lang="en-NZ" sz="1000" dirty="0"/>
                            <a:t>C(B(A))</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NZ" sz="1000" dirty="0"/>
                            <a:t>MS</a:t>
                          </a:r>
                          <a:r>
                            <a:rPr lang="en-NZ" sz="1000" baseline="-25000" dirty="0"/>
                            <a:t>C(B(A))</a:t>
                          </a:r>
                          <a:r>
                            <a:rPr lang="en-NZ" sz="1000" baseline="0" dirty="0"/>
                            <a:t> = </a:t>
                          </a:r>
                          <a:r>
                            <a:rPr lang="en-NZ" sz="1000" dirty="0"/>
                            <a:t>SS</a:t>
                          </a:r>
                          <a:r>
                            <a:rPr lang="en-NZ" sz="1000" baseline="-25000" dirty="0"/>
                            <a:t>C(B(A))</a:t>
                          </a:r>
                          <a:r>
                            <a:rPr lang="en-NZ" sz="1000" baseline="0" dirty="0"/>
                            <a:t> / [ ab(c-1) ]</a:t>
                          </a:r>
                          <a:endParaRPr lang="en-NZ" sz="100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p>
                                  <m:sSupPr>
                                    <m:ctrlPr>
                                      <a:rPr lang="en-NZ" sz="1000" b="0" i="1" smtClean="0">
                                        <a:latin typeface="Cambria Math" panose="02040503050406030204" pitchFamily="18" charset="0"/>
                                      </a:rPr>
                                    </m:ctrlPr>
                                  </m:sSupPr>
                                  <m:e>
                                    <m:r>
                                      <a:rPr lang="en-NZ" sz="1000" b="0" i="1" smtClean="0">
                                        <a:latin typeface="Cambria Math" panose="02040503050406030204" pitchFamily="18" charset="0"/>
                                      </a:rPr>
                                      <m:t>𝜎</m:t>
                                    </m:r>
                                  </m:e>
                                  <m:sup>
                                    <m:r>
                                      <a:rPr lang="en-NZ" sz="1000" b="0" i="1" smtClean="0">
                                        <a:latin typeface="Cambria Math" panose="02040503050406030204" pitchFamily="18" charset="0"/>
                                      </a:rPr>
                                      <m:t>2</m:t>
                                    </m:r>
                                  </m:sup>
                                </m:sSup>
                                <m:r>
                                  <a:rPr lang="en-NZ" sz="1000" b="0" i="1" smtClean="0">
                                    <a:latin typeface="Cambria Math" panose="02040503050406030204" pitchFamily="18" charset="0"/>
                                  </a:rPr>
                                  <m:t>  +  </m:t>
                                </m:r>
                                <m:r>
                                  <a:rPr lang="en-NZ" sz="1000" b="0" i="1" smtClean="0">
                                    <a:latin typeface="Cambria Math" panose="02040503050406030204" pitchFamily="18" charset="0"/>
                                  </a:rPr>
                                  <m:t>𝑛</m:t>
                                </m:r>
                                <m:r>
                                  <a:rPr lang="en-NZ" sz="1000" b="0" i="1" smtClean="0">
                                    <a:latin typeface="Cambria Math" panose="02040503050406030204" pitchFamily="18" charset="0"/>
                                  </a:rPr>
                                  <m:t> </m:t>
                                </m:r>
                                <m:sSubSup>
                                  <m:sSubSupPr>
                                    <m:ctrlPr>
                                      <a:rPr lang="en-NZ" sz="1000" b="0" i="1" smtClean="0">
                                        <a:latin typeface="Cambria Math" panose="02040503050406030204" pitchFamily="18" charset="0"/>
                                      </a:rPr>
                                    </m:ctrlPr>
                                  </m:sSubSupPr>
                                  <m:e>
                                    <m:r>
                                      <a:rPr lang="en-NZ" sz="1000" b="0" i="1" smtClean="0">
                                        <a:latin typeface="Cambria Math" panose="02040503050406030204" pitchFamily="18" charset="0"/>
                                      </a:rPr>
                                      <m:t>𝜎</m:t>
                                    </m:r>
                                  </m:e>
                                  <m:sub>
                                    <m:r>
                                      <a:rPr lang="en-NZ" sz="1000" b="0" i="1" smtClean="0">
                                        <a:latin typeface="Cambria Math" panose="02040503050406030204" pitchFamily="18" charset="0"/>
                                      </a:rPr>
                                      <m:t>𝐶</m:t>
                                    </m:r>
                                  </m:sub>
                                  <m:sup>
                                    <m:r>
                                      <a:rPr lang="en-NZ" sz="1000" b="0" i="1" smtClean="0">
                                        <a:latin typeface="Cambria Math" panose="02040503050406030204" pitchFamily="18" charset="0"/>
                                      </a:rPr>
                                      <m:t>2</m:t>
                                    </m:r>
                                  </m:sup>
                                </m:sSubSup>
                              </m:oMath>
                            </m:oMathPara>
                          </a14:m>
                          <a:endParaRPr lang="en-NZ" sz="1000" dirty="0"/>
                        </a:p>
                      </a:txBody>
                      <a:tcPr anchor="ctr"/>
                    </a:tc>
                    <a:extLst>
                      <a:ext uri="{0D108BD9-81ED-4DB2-BD59-A6C34878D82A}">
                        <a16:rowId xmlns:a16="http://schemas.microsoft.com/office/drawing/2014/main" val="547130166"/>
                      </a:ext>
                    </a:extLst>
                  </a:tr>
                  <a:tr h="251936">
                    <a:tc>
                      <a:txBody>
                        <a:bodyPr/>
                        <a:lstStyle/>
                        <a:p>
                          <a:pPr algn="ctr"/>
                          <a:r>
                            <a:rPr lang="en-NZ" sz="1000" dirty="0"/>
                            <a:t>Residual</a:t>
                          </a:r>
                        </a:p>
                      </a:txBody>
                      <a:tcPr anchor="ctr"/>
                    </a:tc>
                    <a:tc>
                      <a:txBody>
                        <a:bodyPr/>
                        <a:lstStyle/>
                        <a:p>
                          <a:pPr algn="ctr"/>
                          <a:r>
                            <a:rPr lang="en-NZ" sz="1000" dirty="0"/>
                            <a:t>MSE = SSE / [ ab(n-1) ]</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p>
                                  <m:sSupPr>
                                    <m:ctrlPr>
                                      <a:rPr lang="en-NZ" sz="1000" b="0" i="1" smtClean="0">
                                        <a:latin typeface="Cambria Math" panose="02040503050406030204" pitchFamily="18" charset="0"/>
                                      </a:rPr>
                                    </m:ctrlPr>
                                  </m:sSupPr>
                                  <m:e>
                                    <m:r>
                                      <a:rPr lang="en-NZ" sz="1000" b="0" i="1" smtClean="0">
                                        <a:latin typeface="Cambria Math" panose="02040503050406030204" pitchFamily="18" charset="0"/>
                                      </a:rPr>
                                      <m:t>𝜎</m:t>
                                    </m:r>
                                  </m:e>
                                  <m:sup>
                                    <m:r>
                                      <a:rPr lang="en-NZ" sz="1000" b="0" i="1" smtClean="0">
                                        <a:latin typeface="Cambria Math" panose="02040503050406030204" pitchFamily="18" charset="0"/>
                                      </a:rPr>
                                      <m:t>2</m:t>
                                    </m:r>
                                  </m:sup>
                                </m:sSup>
                              </m:oMath>
                            </m:oMathPara>
                          </a14:m>
                          <a:endParaRPr lang="en-NZ" sz="1000" dirty="0"/>
                        </a:p>
                      </a:txBody>
                      <a:tcPr anchor="ctr"/>
                    </a:tc>
                    <a:extLst>
                      <a:ext uri="{0D108BD9-81ED-4DB2-BD59-A6C34878D82A}">
                        <a16:rowId xmlns:a16="http://schemas.microsoft.com/office/drawing/2014/main" val="3328376915"/>
                      </a:ext>
                    </a:extLst>
                  </a:tr>
                </a:tbl>
              </a:graphicData>
            </a:graphic>
          </p:graphicFrame>
        </mc:Choice>
        <mc:Fallback xmlns="">
          <p:graphicFrame>
            <p:nvGraphicFramePr>
              <p:cNvPr id="3" name="Table 2">
                <a:extLst>
                  <a:ext uri="{FF2B5EF4-FFF2-40B4-BE49-F238E27FC236}">
                    <a16:creationId xmlns:a16="http://schemas.microsoft.com/office/drawing/2014/main" id="{3178A1CE-5CCF-DFF8-CF1D-688484820892}"/>
                  </a:ext>
                </a:extLst>
              </p:cNvPr>
              <p:cNvGraphicFramePr>
                <a:graphicFrameLocks noGrp="1"/>
              </p:cNvGraphicFramePr>
              <p:nvPr>
                <p:extLst>
                  <p:ext uri="{D42A27DB-BD31-4B8C-83A1-F6EECF244321}">
                    <p14:modId xmlns:p14="http://schemas.microsoft.com/office/powerpoint/2010/main" val="2403472777"/>
                  </p:ext>
                </p:extLst>
              </p:nvPr>
            </p:nvGraphicFramePr>
            <p:xfrm>
              <a:off x="603527" y="4995240"/>
              <a:ext cx="5166911" cy="1525089"/>
            </p:xfrm>
            <a:graphic>
              <a:graphicData uri="http://schemas.openxmlformats.org/drawingml/2006/table">
                <a:tbl>
                  <a:tblPr firstRow="1" bandRow="1">
                    <a:tableStyleId>{5C22544A-7EE6-4342-B048-85BDC9FD1C3A}</a:tableStyleId>
                  </a:tblPr>
                  <a:tblGrid>
                    <a:gridCol w="716524">
                      <a:extLst>
                        <a:ext uri="{9D8B030D-6E8A-4147-A177-3AD203B41FA5}">
                          <a16:colId xmlns:a16="http://schemas.microsoft.com/office/drawing/2014/main" val="4198110682"/>
                        </a:ext>
                      </a:extLst>
                    </a:gridCol>
                    <a:gridCol w="1983587">
                      <a:extLst>
                        <a:ext uri="{9D8B030D-6E8A-4147-A177-3AD203B41FA5}">
                          <a16:colId xmlns:a16="http://schemas.microsoft.com/office/drawing/2014/main" val="477450593"/>
                        </a:ext>
                      </a:extLst>
                    </a:gridCol>
                    <a:gridCol w="2466800">
                      <a:extLst>
                        <a:ext uri="{9D8B030D-6E8A-4147-A177-3AD203B41FA5}">
                          <a16:colId xmlns:a16="http://schemas.microsoft.com/office/drawing/2014/main" val="3785429377"/>
                        </a:ext>
                      </a:extLst>
                    </a:gridCol>
                  </a:tblGrid>
                  <a:tr h="251936">
                    <a:tc>
                      <a:txBody>
                        <a:bodyPr/>
                        <a:lstStyle/>
                        <a:p>
                          <a:pPr algn="ctr"/>
                          <a:r>
                            <a:rPr lang="en-NZ" sz="1000" dirty="0"/>
                            <a:t>Source</a:t>
                          </a:r>
                        </a:p>
                      </a:txBody>
                      <a:tcPr anchor="ctr"/>
                    </a:tc>
                    <a:tc>
                      <a:txBody>
                        <a:bodyPr/>
                        <a:lstStyle/>
                        <a:p>
                          <a:pPr algn="ctr"/>
                          <a:r>
                            <a:rPr lang="en-NZ" sz="1000" dirty="0"/>
                            <a:t>Mean Square</a:t>
                          </a:r>
                        </a:p>
                      </a:txBody>
                      <a:tcPr anchor="ctr"/>
                    </a:tc>
                    <a:tc>
                      <a:txBody>
                        <a:bodyPr/>
                        <a:lstStyle/>
                        <a:p>
                          <a:pPr algn="ctr"/>
                          <a:r>
                            <a:rPr lang="en-NZ" sz="1000" dirty="0"/>
                            <a:t>E [ Mean Squares ]</a:t>
                          </a:r>
                        </a:p>
                      </a:txBody>
                      <a:tcPr anchor="ctr"/>
                    </a:tc>
                    <a:extLst>
                      <a:ext uri="{0D108BD9-81ED-4DB2-BD59-A6C34878D82A}">
                        <a16:rowId xmlns:a16="http://schemas.microsoft.com/office/drawing/2014/main" val="3666350365"/>
                      </a:ext>
                    </a:extLst>
                  </a:tr>
                  <a:tr h="251936">
                    <a:tc>
                      <a:txBody>
                        <a:bodyPr/>
                        <a:lstStyle/>
                        <a:p>
                          <a:pPr algn="ctr"/>
                          <a:r>
                            <a:rPr lang="en-NZ" sz="1000" dirty="0"/>
                            <a:t>Total</a:t>
                          </a:r>
                        </a:p>
                      </a:txBody>
                      <a:tcPr anchor="ctr"/>
                    </a:tc>
                    <a:tc>
                      <a:txBody>
                        <a:bodyPr/>
                        <a:lstStyle/>
                        <a:p>
                          <a:pPr algn="ctr"/>
                          <a:endParaRPr lang="en-NZ" sz="1000" dirty="0"/>
                        </a:p>
                      </a:txBody>
                      <a:tcPr anchor="ctr"/>
                    </a:tc>
                    <a:tc>
                      <a:txBody>
                        <a:bodyPr/>
                        <a:lstStyle/>
                        <a:p>
                          <a:pPr algn="ctr"/>
                          <a:endParaRPr lang="en-NZ" sz="1000" dirty="0"/>
                        </a:p>
                      </a:txBody>
                      <a:tcPr anchor="ctr"/>
                    </a:tc>
                    <a:extLst>
                      <a:ext uri="{0D108BD9-81ED-4DB2-BD59-A6C34878D82A}">
                        <a16:rowId xmlns:a16="http://schemas.microsoft.com/office/drawing/2014/main" val="3341485952"/>
                      </a:ext>
                    </a:extLst>
                  </a:tr>
                  <a:tr h="256427">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NZ" sz="1000" dirty="0"/>
                            <a:t>A</a:t>
                          </a:r>
                        </a:p>
                      </a:txBody>
                      <a:tcPr anchor="ctr"/>
                    </a:tc>
                    <a:tc>
                      <a:txBody>
                        <a:bodyPr/>
                        <a:lstStyle/>
                        <a:p>
                          <a:pPr algn="ctr"/>
                          <a:r>
                            <a:rPr lang="en-NZ" sz="1000" dirty="0"/>
                            <a:t>MS</a:t>
                          </a:r>
                          <a:r>
                            <a:rPr lang="en-NZ" sz="1000" baseline="-25000" dirty="0"/>
                            <a:t>A</a:t>
                          </a:r>
                          <a:r>
                            <a:rPr lang="en-NZ" sz="1000" dirty="0"/>
                            <a:t> = SS</a:t>
                          </a:r>
                          <a:r>
                            <a:rPr lang="en-NZ" sz="1000" baseline="-25000" dirty="0"/>
                            <a:t>A</a:t>
                          </a:r>
                          <a:r>
                            <a:rPr lang="en-NZ" sz="1000" dirty="0"/>
                            <a:t> / (a-1)</a:t>
                          </a:r>
                        </a:p>
                      </a:txBody>
                      <a:tcPr anchor="ctr"/>
                    </a:tc>
                    <a:tc>
                      <a:txBody>
                        <a:bodyPr/>
                        <a:lstStyle/>
                        <a:p>
                          <a:endParaRPr lang="en-US"/>
                        </a:p>
                      </a:txBody>
                      <a:tcPr anchor="ctr">
                        <a:blipFill>
                          <a:blip r:embed="rId5"/>
                          <a:stretch>
                            <a:fillRect l="-109877" t="-200000" r="-988" b="-311905"/>
                          </a:stretch>
                        </a:blipFill>
                      </a:tcPr>
                    </a:tc>
                    <a:extLst>
                      <a:ext uri="{0D108BD9-81ED-4DB2-BD59-A6C34878D82A}">
                        <a16:rowId xmlns:a16="http://schemas.microsoft.com/office/drawing/2014/main" val="443198030"/>
                      </a:ext>
                    </a:extLst>
                  </a:tr>
                  <a:tr h="256427">
                    <a:tc>
                      <a:txBody>
                        <a:bodyPr/>
                        <a:lstStyle/>
                        <a:p>
                          <a:pPr algn="ctr"/>
                          <a:r>
                            <a:rPr lang="en-NZ" sz="1000" dirty="0"/>
                            <a:t>B(A)</a:t>
                          </a:r>
                        </a:p>
                      </a:txBody>
                      <a:tcPr anchor="ctr"/>
                    </a:tc>
                    <a:tc>
                      <a:txBody>
                        <a:bodyPr/>
                        <a:lstStyle/>
                        <a:p>
                          <a:pPr algn="ctr"/>
                          <a:r>
                            <a:rPr lang="en-NZ" sz="1000" dirty="0"/>
                            <a:t>MS</a:t>
                          </a:r>
                          <a:r>
                            <a:rPr lang="en-NZ" sz="1000" baseline="-25000" dirty="0"/>
                            <a:t>B(A)</a:t>
                          </a:r>
                          <a:r>
                            <a:rPr lang="en-NZ" sz="1000" dirty="0"/>
                            <a:t> = SS</a:t>
                          </a:r>
                          <a:r>
                            <a:rPr lang="en-NZ" sz="1000" baseline="-25000" dirty="0"/>
                            <a:t>B(A)</a:t>
                          </a:r>
                          <a:r>
                            <a:rPr lang="en-NZ" sz="1000" dirty="0"/>
                            <a:t> / [ a(b-1) ]</a:t>
                          </a:r>
                        </a:p>
                      </a:txBody>
                      <a:tcPr anchor="ctr"/>
                    </a:tc>
                    <a:tc>
                      <a:txBody>
                        <a:bodyPr/>
                        <a:lstStyle/>
                        <a:p>
                          <a:endParaRPr lang="en-US"/>
                        </a:p>
                      </a:txBody>
                      <a:tcPr anchor="ctr">
                        <a:blipFill>
                          <a:blip r:embed="rId5"/>
                          <a:stretch>
                            <a:fillRect l="-109877" t="-300000" r="-988" b="-211905"/>
                          </a:stretch>
                        </a:blipFill>
                      </a:tcPr>
                    </a:tc>
                    <a:extLst>
                      <a:ext uri="{0D108BD9-81ED-4DB2-BD59-A6C34878D82A}">
                        <a16:rowId xmlns:a16="http://schemas.microsoft.com/office/drawing/2014/main" val="3427382577"/>
                      </a:ext>
                    </a:extLst>
                  </a:tr>
                  <a:tr h="256427">
                    <a:tc>
                      <a:txBody>
                        <a:bodyPr/>
                        <a:lstStyle/>
                        <a:p>
                          <a:pPr algn="ctr"/>
                          <a:r>
                            <a:rPr lang="en-NZ" sz="1000" dirty="0"/>
                            <a:t>C(B(A))</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NZ" sz="1000" dirty="0"/>
                            <a:t>MS</a:t>
                          </a:r>
                          <a:r>
                            <a:rPr lang="en-NZ" sz="1000" baseline="-25000" dirty="0"/>
                            <a:t>C(B(A))</a:t>
                          </a:r>
                          <a:r>
                            <a:rPr lang="en-NZ" sz="1000" baseline="0" dirty="0"/>
                            <a:t> = </a:t>
                          </a:r>
                          <a:r>
                            <a:rPr lang="en-NZ" sz="1000" dirty="0"/>
                            <a:t>SS</a:t>
                          </a:r>
                          <a:r>
                            <a:rPr lang="en-NZ" sz="1000" baseline="-25000" dirty="0"/>
                            <a:t>C(B(A))</a:t>
                          </a:r>
                          <a:r>
                            <a:rPr lang="en-NZ" sz="1000" baseline="0" dirty="0"/>
                            <a:t> / [ ab(c-1) ]</a:t>
                          </a:r>
                          <a:endParaRPr lang="en-NZ" sz="1000" dirty="0"/>
                        </a:p>
                      </a:txBody>
                      <a:tcPr anchor="ctr"/>
                    </a:tc>
                    <a:tc>
                      <a:txBody>
                        <a:bodyPr/>
                        <a:lstStyle/>
                        <a:p>
                          <a:endParaRPr lang="en-US"/>
                        </a:p>
                      </a:txBody>
                      <a:tcPr anchor="ctr">
                        <a:blipFill>
                          <a:blip r:embed="rId5"/>
                          <a:stretch>
                            <a:fillRect l="-109877" t="-390698" r="-988" b="-106977"/>
                          </a:stretch>
                        </a:blipFill>
                      </a:tcPr>
                    </a:tc>
                    <a:extLst>
                      <a:ext uri="{0D108BD9-81ED-4DB2-BD59-A6C34878D82A}">
                        <a16:rowId xmlns:a16="http://schemas.microsoft.com/office/drawing/2014/main" val="547130166"/>
                      </a:ext>
                    </a:extLst>
                  </a:tr>
                  <a:tr h="251936">
                    <a:tc>
                      <a:txBody>
                        <a:bodyPr/>
                        <a:lstStyle/>
                        <a:p>
                          <a:pPr algn="ctr"/>
                          <a:r>
                            <a:rPr lang="en-NZ" sz="1000" dirty="0"/>
                            <a:t>Residual</a:t>
                          </a:r>
                        </a:p>
                      </a:txBody>
                      <a:tcPr anchor="ctr"/>
                    </a:tc>
                    <a:tc>
                      <a:txBody>
                        <a:bodyPr/>
                        <a:lstStyle/>
                        <a:p>
                          <a:pPr algn="ctr"/>
                          <a:r>
                            <a:rPr lang="en-NZ" sz="1000" dirty="0"/>
                            <a:t>MSE = SSE / [ ab(n-1) ]</a:t>
                          </a:r>
                        </a:p>
                      </a:txBody>
                      <a:tcPr anchor="ctr"/>
                    </a:tc>
                    <a:tc>
                      <a:txBody>
                        <a:bodyPr/>
                        <a:lstStyle/>
                        <a:p>
                          <a:endParaRPr lang="en-US"/>
                        </a:p>
                      </a:txBody>
                      <a:tcPr anchor="ctr">
                        <a:blipFill>
                          <a:blip r:embed="rId5"/>
                          <a:stretch>
                            <a:fillRect l="-109877" t="-514634" r="-988" b="-12195"/>
                          </a:stretch>
                        </a:blipFill>
                      </a:tcPr>
                    </a:tc>
                    <a:extLst>
                      <a:ext uri="{0D108BD9-81ED-4DB2-BD59-A6C34878D82A}">
                        <a16:rowId xmlns:a16="http://schemas.microsoft.com/office/drawing/2014/main" val="3328376915"/>
                      </a:ext>
                    </a:extLst>
                  </a:tr>
                </a:tbl>
              </a:graphicData>
            </a:graphic>
          </p:graphicFrame>
        </mc:Fallback>
      </mc:AlternateContent>
    </p:spTree>
    <p:extLst>
      <p:ext uri="{BB962C8B-B14F-4D97-AF65-F5344CB8AC3E}">
        <p14:creationId xmlns:p14="http://schemas.microsoft.com/office/powerpoint/2010/main" val="3078888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7">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7">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7">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7">
                                            <p:txEl>
                                              <p:pRg st="6" end="6"/>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9"/>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6"/>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5"/>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9"/>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3"/>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4"/>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27">
                                            <p:txEl>
                                              <p:pRg st="8" end="8"/>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27">
                                            <p:txEl>
                                              <p:pRg st="10" end="10"/>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27">
                                            <p:txEl>
                                              <p:pRg st="12" end="12"/>
                                            </p:txEl>
                                          </p:spTgt>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27">
                                            <p:txEl>
                                              <p:pRg st="13" end="13"/>
                                            </p:txEl>
                                          </p:spTgt>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27">
                                            <p:txEl>
                                              <p:pRg st="15" end="15"/>
                                            </p:txEl>
                                          </p:spTgt>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27">
                                            <p:txEl>
                                              <p:pRg st="16" end="16"/>
                                            </p:txEl>
                                          </p:spTgt>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27">
                                            <p:txEl>
                                              <p:pRg st="18" end="18"/>
                                            </p:txEl>
                                          </p:spTgt>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27">
                                            <p:txEl>
                                              <p:pRg st="19" end="1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25" grpId="0" animBg="1"/>
      <p:bldP spid="29" grpId="0" animBg="1"/>
      <p:bldP spid="33" grpId="0" animBg="1"/>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1609</TotalTime>
  <Words>7546</Words>
  <Application>Microsoft Office PowerPoint</Application>
  <PresentationFormat>Widescreen</PresentationFormat>
  <Paragraphs>1391</Paragraphs>
  <Slides>44</Slides>
  <Notes>0</Notes>
  <HiddenSlides>1</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44</vt:i4>
      </vt:variant>
    </vt:vector>
  </HeadingPairs>
  <TitlesOfParts>
    <vt:vector size="52" baseType="lpstr">
      <vt:lpstr>Arial</vt:lpstr>
      <vt:lpstr>Calibri</vt:lpstr>
      <vt:lpstr>Calibri Light</vt:lpstr>
      <vt:lpstr>Cambria Math</vt:lpstr>
      <vt:lpstr>Coo Hew</vt:lpstr>
      <vt:lpstr>Gidole</vt:lpstr>
      <vt:lpstr>Symbol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Adam Ward</dc:creator>
  <cp:lastModifiedBy>Adam Ward</cp:lastModifiedBy>
  <cp:revision>42</cp:revision>
  <dcterms:created xsi:type="dcterms:W3CDTF">2022-05-08T03:34:26Z</dcterms:created>
  <dcterms:modified xsi:type="dcterms:W3CDTF">2022-08-10T03:02:34Z</dcterms:modified>
</cp:coreProperties>
</file>